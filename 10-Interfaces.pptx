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9" r:id="rId5"/>
    <p:sldId id="790" r:id="rId6"/>
    <p:sldId id="810" r:id="rId7"/>
    <p:sldId id="801" r:id="rId8"/>
    <p:sldId id="802" r:id="rId9"/>
    <p:sldId id="803" r:id="rId10"/>
    <p:sldId id="804" r:id="rId11"/>
    <p:sldId id="805" r:id="rId12"/>
    <p:sldId id="811" r:id="rId13"/>
    <p:sldId id="824" r:id="rId14"/>
    <p:sldId id="823" r:id="rId15"/>
  </p:sldIdLst>
  <p:sldSz cx="12192000" cy="6858000"/>
  <p:notesSz cx="6645275" cy="9775825"/>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299"/>
            <p14:sldId id="790"/>
            <p14:sldId id="810"/>
            <p14:sldId id="801"/>
            <p14:sldId id="802"/>
            <p14:sldId id="803"/>
            <p14:sldId id="804"/>
            <p14:sldId id="805"/>
            <p14:sldId id="811"/>
            <p14:sldId id="824"/>
            <p14:sldId id="823"/>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7E007C"/>
    <a:srgbClr val="09EDB8"/>
    <a:srgbClr val="F3622C"/>
    <a:srgbClr val="FDE0D5"/>
    <a:srgbClr val="28CFF9"/>
    <a:srgbClr val="F91258"/>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71630" autoAdjust="0"/>
  </p:normalViewPr>
  <p:slideViewPr>
    <p:cSldViewPr snapToGrid="0" snapToObjects="1" showGuides="1">
      <p:cViewPr varScale="1">
        <p:scale>
          <a:sx n="73" d="100"/>
          <a:sy n="73" d="100"/>
        </p:scale>
        <p:origin x="918" y="294"/>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156" y="12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    Interfaces</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60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custLinFactNeighborX="5708" custLinFactNeighborY="595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custLinFactNeighborX="984"/>
      <dgm:spPr/>
    </dgm:pt>
    <dgm:pt modelId="{319A5AB9-5146-4CC8-9B3C-F5994CAAC7CB}" type="pres">
      <dgm:prSet presAssocID="{EB544CAE-C268-4556-8B77-B6AF41E0C21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31310" y="618168"/>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109802" y="871888"/>
          <a:ext cx="620205" cy="620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605952" y="685319"/>
          <a:ext cx="6190939"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    Interfaces</a:t>
          </a:r>
          <a:endParaRPr lang="en-US" sz="1600" b="1" kern="1200" dirty="0"/>
        </a:p>
      </dsp:txBody>
      <dsp:txXfrm>
        <a:off x="605952" y="685319"/>
        <a:ext cx="6190939" cy="1127646"/>
      </dsp:txXfrm>
    </dsp:sp>
    <dsp:sp modelId="{A30C6321-6940-4E9D-84D1-CFF719883A23}">
      <dsp:nvSpPr>
        <dsp:cNvPr id="0" name=""/>
        <dsp:cNvSpPr/>
      </dsp:nvSpPr>
      <dsp:spPr>
        <a:xfrm>
          <a:off x="-166705" y="2027726"/>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109802" y="2281447"/>
          <a:ext cx="620205" cy="620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071121" y="2027726"/>
          <a:ext cx="5260602"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Duration 60 minutes</a:t>
          </a:r>
          <a:endParaRPr lang="en-US" sz="2400" b="0" kern="1200" dirty="0"/>
        </a:p>
      </dsp:txBody>
      <dsp:txXfrm>
        <a:off x="1071121" y="2027726"/>
        <a:ext cx="5260602" cy="11276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05/12/2025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05/12/2025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r>
              <a:rPr lang="en-GB" dirty="0"/>
              <a:t>So far, you have learned how to extend a class to provide more specialised derived classes with more functionality. In this chapter, we are going to look at how to design and implement higher-level abstract classes that derived classes can use. We will also look at interfaces, which are collections of abstract methods.</a:t>
            </a:r>
          </a:p>
          <a:p>
            <a:r>
              <a:rPr lang="en-GB" dirty="0"/>
              <a:t>By the end of this chapter, you will be able to:</a:t>
            </a:r>
          </a:p>
          <a:p>
            <a:pPr marL="619125" lvl="1" indent="-171450">
              <a:buFont typeface="Arial" panose="020B0604020202020204" pitchFamily="34" charset="0"/>
              <a:buChar char="•"/>
            </a:pPr>
            <a:r>
              <a:rPr lang="en-GB" dirty="0"/>
              <a:t>Design and implement an abstract class</a:t>
            </a:r>
          </a:p>
          <a:p>
            <a:pPr marL="619125" lvl="1" indent="-171450">
              <a:buFont typeface="Arial" panose="020B0604020202020204" pitchFamily="34" charset="0"/>
              <a:buChar char="•"/>
            </a:pPr>
            <a:r>
              <a:rPr lang="en-GB" dirty="0"/>
              <a:t>Define and use an interface</a:t>
            </a:r>
          </a:p>
          <a:p>
            <a:r>
              <a:rPr lang="en-GB" dirty="0"/>
              <a:t> </a:t>
            </a:r>
          </a:p>
        </p:txBody>
      </p:sp>
    </p:spTree>
    <p:extLst>
      <p:ext uri="{BB962C8B-B14F-4D97-AF65-F5344CB8AC3E}">
        <p14:creationId xmlns:p14="http://schemas.microsoft.com/office/powerpoint/2010/main" val="107934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r>
              <a:rPr lang="en-GB" dirty="0"/>
              <a:t>An interface is conceptually similar to a abstract class, except that it cannot have any concrete methods or instance variables. In other words, it is simply a collection of abstract methods. Any class that implements an interface must implement all of the methods specified in that interface. The class can be marked abstract and can implement a method of the interface using the abstract keyword, thus delegating the implementation to its concrete derived classes.</a:t>
            </a:r>
          </a:p>
          <a:p>
            <a:r>
              <a:rPr lang="en-GB" dirty="0"/>
              <a:t>Note: it is very important to remember the difference between an abstract base class and an interface. An abstract base class can have instance fields and can provide implementation for a number of methods. An interface does not have fields, and can never provide an implementation for any of its methods.</a:t>
            </a:r>
          </a:p>
        </p:txBody>
      </p:sp>
    </p:spTree>
    <p:extLst>
      <p:ext uri="{BB962C8B-B14F-4D97-AF65-F5344CB8AC3E}">
        <p14:creationId xmlns:p14="http://schemas.microsoft.com/office/powerpoint/2010/main" val="2377988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p:spPr>
        <p:txBody>
          <a:bodyPr/>
          <a:lstStyle/>
          <a:p>
            <a:r>
              <a:rPr lang="en-GB" dirty="0"/>
              <a:t>As shown on the slide, an interface is defined using the keyword interface. Any methods or properties are implicitly publicly accessible and abstract. Interface names often end with ‘able’ such as the standard java interfaces Comparable and </a:t>
            </a:r>
            <a:r>
              <a:rPr lang="en-GB" dirty="0" err="1"/>
              <a:t>Serializable</a:t>
            </a:r>
            <a:r>
              <a:rPr lang="en-GB" dirty="0"/>
              <a:t>.</a:t>
            </a:r>
          </a:p>
        </p:txBody>
      </p:sp>
    </p:spTree>
    <p:extLst>
      <p:ext uri="{BB962C8B-B14F-4D97-AF65-F5344CB8AC3E}">
        <p14:creationId xmlns:p14="http://schemas.microsoft.com/office/powerpoint/2010/main" val="1347457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r>
              <a:rPr lang="en-GB" dirty="0"/>
              <a:t>Both concrete and abstract classes can implement an interface, and both must implement all the methods defined in the interface (an abstract class can implement the methods abstractly).</a:t>
            </a:r>
          </a:p>
          <a:p>
            <a:r>
              <a:rPr lang="en-GB" dirty="0"/>
              <a:t>A class specifies that it implements an interface after its base-class specification using keyword implements. A class can also implement more than one interface by specifying a list of interfaces, separated by commas. For example:</a:t>
            </a:r>
          </a:p>
          <a:p>
            <a:endParaRPr lang="en-GB" dirty="0"/>
          </a:p>
          <a:p>
            <a:r>
              <a:rPr lang="en-GB" dirty="0"/>
              <a:t>	public class Rectangle implements</a:t>
            </a:r>
            <a:r>
              <a:rPr lang="en-GB" baseline="0" dirty="0"/>
              <a:t> </a:t>
            </a:r>
            <a:r>
              <a:rPr lang="en-GB" dirty="0" err="1"/>
              <a:t>Renderable</a:t>
            </a:r>
            <a:r>
              <a:rPr lang="en-GB" dirty="0"/>
              <a:t>, </a:t>
            </a:r>
            <a:r>
              <a:rPr lang="en-GB" dirty="0" err="1"/>
              <a:t>Serializable</a:t>
            </a:r>
            <a:r>
              <a:rPr lang="en-GB" dirty="0"/>
              <a:t> {</a:t>
            </a:r>
          </a:p>
          <a:p>
            <a:r>
              <a:rPr lang="en-GB" dirty="0"/>
              <a:t>		...</a:t>
            </a:r>
          </a:p>
          <a:p>
            <a:r>
              <a:rPr lang="en-GB" dirty="0"/>
              <a:t>	}</a:t>
            </a:r>
          </a:p>
          <a:p>
            <a:r>
              <a:rPr lang="en-GB" dirty="0"/>
              <a:t>Any class can implement an interface, regardless of whether its base class does or not. However, you must implement all of the methods on the interface, otherwise you will get a compiler error.</a:t>
            </a:r>
          </a:p>
          <a:p>
            <a:endParaRPr lang="en-GB" dirty="0"/>
          </a:p>
        </p:txBody>
      </p:sp>
    </p:spTree>
    <p:extLst>
      <p:ext uri="{BB962C8B-B14F-4D97-AF65-F5344CB8AC3E}">
        <p14:creationId xmlns:p14="http://schemas.microsoft.com/office/powerpoint/2010/main" val="144196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p:spPr>
        <p:txBody>
          <a:bodyPr/>
          <a:lstStyle/>
          <a:p>
            <a:r>
              <a:rPr lang="en-GB" dirty="0"/>
              <a:t>Remember that an object reference has a type, and that type may be either a class or an interface. If it is a class type, the reference may refer to an object of that class or any of its derived classes. If it is an interface, the reference may refer to an object of any class that implements the interface or any class that derives from that class, e.g. if a Rectangle is </a:t>
            </a:r>
            <a:r>
              <a:rPr lang="en-GB" dirty="0" err="1"/>
              <a:t>Renderable</a:t>
            </a:r>
            <a:r>
              <a:rPr lang="en-GB" dirty="0"/>
              <a:t> then so is a Square (a specialism of Rectangle). </a:t>
            </a:r>
          </a:p>
        </p:txBody>
      </p:sp>
    </p:spTree>
    <p:extLst>
      <p:ext uri="{BB962C8B-B14F-4D97-AF65-F5344CB8AC3E}">
        <p14:creationId xmlns:p14="http://schemas.microsoft.com/office/powerpoint/2010/main" val="3876167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r>
              <a:rPr lang="en-GB"/>
              <a:t>Here's the big difference between implementing interfaces and performing inheritance. A type can only derive from one base class, but it can implement multiple interfaces. Of course, a base class can have implementation, whereas an interface provides no default implementation. </a:t>
            </a:r>
          </a:p>
          <a:p>
            <a:endParaRPr lang="en-GB"/>
          </a:p>
        </p:txBody>
      </p:sp>
    </p:spTree>
    <p:extLst>
      <p:ext uri="{BB962C8B-B14F-4D97-AF65-F5344CB8AC3E}">
        <p14:creationId xmlns:p14="http://schemas.microsoft.com/office/powerpoint/2010/main" val="1248636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endParaRPr lang="en-GB"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280072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235038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6966" y="785794"/>
            <a:ext cx="965844" cy="707136"/>
          </a:xfrm>
          <a:prstGeom prst="rect">
            <a:avLst/>
          </a:prstGeom>
        </p:spPr>
      </p:pic>
    </p:spTree>
    <p:extLst>
      <p:ext uri="{BB962C8B-B14F-4D97-AF65-F5344CB8AC3E}">
        <p14:creationId xmlns:p14="http://schemas.microsoft.com/office/powerpoint/2010/main" val="2351574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4730998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 id="2147483906" r:id="rId37"/>
    <p:sldLayoutId id="2147483907" r:id="rId38"/>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Interfaces</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Interfaces</a:t>
            </a:r>
            <a:endParaRPr lang="en-IN" dirty="0"/>
          </a:p>
        </p:txBody>
      </p:sp>
      <p:sp>
        <p:nvSpPr>
          <p:cNvPr id="3" name="Text Placeholder 2"/>
          <p:cNvSpPr>
            <a:spLocks noGrp="1"/>
          </p:cNvSpPr>
          <p:nvPr>
            <p:ph type="body" sz="quarter" idx="15"/>
          </p:nvPr>
        </p:nvSpPr>
        <p:spPr>
          <a:xfrm>
            <a:off x="5037138" y="1349984"/>
            <a:ext cx="6548726" cy="4427361"/>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Improve design by using interfaces</a:t>
            </a:r>
          </a:p>
          <a:p>
            <a:pPr marL="342900" indent="-342900">
              <a:buChar char="•"/>
            </a:pPr>
            <a:endParaRPr lang="en-GB" b="1" dirty="0"/>
          </a:p>
          <a:p>
            <a:pPr marL="342900" indent="-342900">
              <a:buChar char="•"/>
            </a:pPr>
            <a:r>
              <a:rPr lang="en-GB" b="1" dirty="0"/>
              <a:t>Contents</a:t>
            </a:r>
          </a:p>
          <a:p>
            <a:pPr marL="684000" lvl="1" indent="-342900">
              <a:buSzPct val="115000"/>
            </a:pPr>
            <a:r>
              <a:rPr lang="en-GB" dirty="0"/>
              <a:t>Create and use interfaces</a:t>
            </a:r>
          </a:p>
          <a:p>
            <a:pPr marL="684000" lvl="1" indent="-342900">
              <a:buSzPct val="115000"/>
            </a:pPr>
            <a:r>
              <a:rPr lang="en-GB" dirty="0"/>
              <a:t>Polymorphism</a:t>
            </a:r>
          </a:p>
          <a:p>
            <a:pPr marL="342900" indent="-342900">
              <a:buChar char="•"/>
            </a:pPr>
            <a:endParaRPr lang="en-GB" b="1" dirty="0"/>
          </a:p>
          <a:p>
            <a:pPr marL="342900" indent="-342900">
              <a:buChar char="•"/>
            </a:pPr>
            <a:r>
              <a:rPr lang="en-GB" b="1" dirty="0"/>
              <a:t>Hands-on labs</a:t>
            </a:r>
          </a:p>
          <a:p>
            <a:pPr marL="684000" lvl="1" indent="-342900">
              <a:buSzPct val="115000"/>
            </a:pPr>
            <a:r>
              <a:rPr lang="en-GB" dirty="0"/>
              <a:t>Implementing interfaces</a:t>
            </a:r>
          </a:p>
          <a:p>
            <a:pPr marL="342900" indent="-342900">
              <a:buChar char="•"/>
            </a:pPr>
            <a:endParaRPr lang="en-IN" b="1" dirty="0"/>
          </a:p>
        </p:txBody>
      </p:sp>
      <p:sp>
        <p:nvSpPr>
          <p:cNvPr id="4" name="Rectangle 3" descr="Document">
            <a:extLst>
              <a:ext uri="{FF2B5EF4-FFF2-40B4-BE49-F238E27FC236}">
                <a16:creationId xmlns:a16="http://schemas.microsoft.com/office/drawing/2014/main" id="{7492E75B-EF1E-843D-570E-4262029F187E}"/>
              </a:ext>
            </a:extLst>
          </p:cNvPr>
          <p:cNvSpPr/>
          <p:nvPr/>
        </p:nvSpPr>
        <p:spPr>
          <a:xfrm>
            <a:off x="4215204" y="2981387"/>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Rectangle 4" descr="Bullseye">
            <a:extLst>
              <a:ext uri="{FF2B5EF4-FFF2-40B4-BE49-F238E27FC236}">
                <a16:creationId xmlns:a16="http://schemas.microsoft.com/office/drawing/2014/main" id="{FD67A4FB-3043-6714-9B60-C4EE00EF0486}"/>
              </a:ext>
            </a:extLst>
          </p:cNvPr>
          <p:cNvSpPr/>
          <p:nvPr/>
        </p:nvSpPr>
        <p:spPr>
          <a:xfrm>
            <a:off x="4235524" y="1548827"/>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2133147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C6C007-7A70-4801-0F5E-BD5F724BD307}"/>
              </a:ext>
            </a:extLst>
          </p:cNvPr>
          <p:cNvSpPr>
            <a:spLocks noGrp="1"/>
          </p:cNvSpPr>
          <p:nvPr>
            <p:ph type="title"/>
          </p:nvPr>
        </p:nvSpPr>
        <p:spPr/>
        <p:txBody>
          <a:bodyPr/>
          <a:lstStyle/>
          <a:p>
            <a:pPr algn="ctr"/>
            <a:r>
              <a:rPr lang="en-GB" sz="3200" b="1" dirty="0"/>
              <a:t>Interface shows the capabilities of the class which implements it</a:t>
            </a:r>
            <a:endParaRPr lang="en-GB" b="1" dirty="0"/>
          </a:p>
        </p:txBody>
      </p:sp>
      <p:graphicFrame>
        <p:nvGraphicFramePr>
          <p:cNvPr id="6" name="Table 6">
            <a:extLst>
              <a:ext uri="{FF2B5EF4-FFF2-40B4-BE49-F238E27FC236}">
                <a16:creationId xmlns:a16="http://schemas.microsoft.com/office/drawing/2014/main" id="{FF8189E7-8FD2-CD81-A9B6-A461C0CA07B1}"/>
              </a:ext>
            </a:extLst>
          </p:cNvPr>
          <p:cNvGraphicFramePr>
            <a:graphicFrameLocks noGrp="1"/>
          </p:cNvGraphicFramePr>
          <p:nvPr>
            <p:extLst>
              <p:ext uri="{D42A27DB-BD31-4B8C-83A1-F6EECF244321}">
                <p14:modId xmlns:p14="http://schemas.microsoft.com/office/powerpoint/2010/main" val="3583768155"/>
              </p:ext>
            </p:extLst>
          </p:nvPr>
        </p:nvGraphicFramePr>
        <p:xfrm>
          <a:off x="2273300" y="1392766"/>
          <a:ext cx="6540500" cy="2225040"/>
        </p:xfrm>
        <a:graphic>
          <a:graphicData uri="http://schemas.openxmlformats.org/drawingml/2006/table">
            <a:tbl>
              <a:tblPr firstRow="1" bandRow="1">
                <a:tableStyleId>{9D7B26C5-4107-4FEC-AEDC-1716B250A1EF}</a:tableStyleId>
              </a:tblPr>
              <a:tblGrid>
                <a:gridCol w="2057400">
                  <a:extLst>
                    <a:ext uri="{9D8B030D-6E8A-4147-A177-3AD203B41FA5}">
                      <a16:colId xmlns:a16="http://schemas.microsoft.com/office/drawing/2014/main" val="2756276661"/>
                    </a:ext>
                  </a:extLst>
                </a:gridCol>
                <a:gridCol w="4483100">
                  <a:extLst>
                    <a:ext uri="{9D8B030D-6E8A-4147-A177-3AD203B41FA5}">
                      <a16:colId xmlns:a16="http://schemas.microsoft.com/office/drawing/2014/main" val="1863557108"/>
                    </a:ext>
                  </a:extLst>
                </a:gridCol>
              </a:tblGrid>
              <a:tr h="370840">
                <a:tc>
                  <a:txBody>
                    <a:bodyPr/>
                    <a:lstStyle/>
                    <a:p>
                      <a:r>
                        <a:rPr lang="en-GB" b="1" dirty="0"/>
                        <a:t>Drawable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dirty="0"/>
                        <a:t>Has a method called </a:t>
                      </a:r>
                      <a:r>
                        <a:rPr lang="en-GB" b="1" dirty="0"/>
                        <a:t>draw()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6115994"/>
                  </a:ext>
                </a:extLst>
              </a:tr>
              <a:tr h="370840">
                <a:tc>
                  <a:txBody>
                    <a:bodyPr/>
                    <a:lstStyle/>
                    <a:p>
                      <a:r>
                        <a:rPr lang="en-GB" b="1" dirty="0"/>
                        <a:t>Closable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dirty="0"/>
                        <a:t>Has a </a:t>
                      </a:r>
                      <a:r>
                        <a:rPr lang="en-GB" b="1" dirty="0"/>
                        <a:t>close()</a:t>
                      </a:r>
                      <a:r>
                        <a:rPr lang="en-GB" dirty="0"/>
                        <a:t>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1469591"/>
                  </a:ext>
                </a:extLst>
              </a:tr>
              <a:tr h="370840">
                <a:tc>
                  <a:txBody>
                    <a:bodyPr/>
                    <a:lstStyle/>
                    <a:p>
                      <a:r>
                        <a:rPr lang="en-GB" b="1" dirty="0"/>
                        <a:t>Disposable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dirty="0"/>
                        <a:t>Has a </a:t>
                      </a:r>
                      <a:r>
                        <a:rPr lang="en-GB" b="1" dirty="0"/>
                        <a:t>dispose()</a:t>
                      </a:r>
                      <a:r>
                        <a:rPr lang="en-GB" dirty="0"/>
                        <a:t>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407390"/>
                  </a:ext>
                </a:extLst>
              </a:tr>
              <a:tr h="370840">
                <a:tc>
                  <a:txBody>
                    <a:bodyPr/>
                    <a:lstStyle/>
                    <a:p>
                      <a:r>
                        <a:rPr lang="en-GB" b="1" dirty="0"/>
                        <a:t>Runnable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dirty="0"/>
                        <a:t>Has a </a:t>
                      </a:r>
                      <a:r>
                        <a:rPr lang="en-GB" b="1" dirty="0"/>
                        <a:t>run()</a:t>
                      </a:r>
                      <a:r>
                        <a:rPr lang="en-GB" dirty="0"/>
                        <a:t>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997957"/>
                  </a:ext>
                </a:extLst>
              </a:tr>
              <a:tr h="370840">
                <a:tc>
                  <a:txBody>
                    <a:bodyPr/>
                    <a:lstStyle/>
                    <a:p>
                      <a:r>
                        <a:rPr lang="en-GB" b="1" dirty="0"/>
                        <a:t>Playable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dirty="0"/>
                        <a:t>Has a </a:t>
                      </a:r>
                      <a:r>
                        <a:rPr lang="en-GB" b="1" dirty="0"/>
                        <a:t>Play()</a:t>
                      </a:r>
                      <a:r>
                        <a:rPr lang="en-GB" dirty="0"/>
                        <a:t> </a:t>
                      </a:r>
                      <a:r>
                        <a:rPr lang="en-GB" dirty="0" err="1"/>
                        <a:t>stopPlay</a:t>
                      </a:r>
                      <a:r>
                        <a:rPr lang="en-GB" dirty="0"/>
                        <a:t>() methods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5089244"/>
                  </a:ext>
                </a:extLst>
              </a:tr>
              <a:tr h="370840">
                <a:tc>
                  <a:txBody>
                    <a:bodyPr/>
                    <a:lstStyle/>
                    <a:p>
                      <a:r>
                        <a:rPr lang="en-GB" b="1" dirty="0"/>
                        <a:t>Transferable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t>Has a </a:t>
                      </a:r>
                      <a:r>
                        <a:rPr lang="en-GB" b="1" dirty="0"/>
                        <a:t>transfer()</a:t>
                      </a:r>
                      <a:r>
                        <a:rPr lang="en-GB" dirty="0"/>
                        <a:t>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3815134"/>
                  </a:ext>
                </a:extLst>
              </a:tr>
            </a:tbl>
          </a:graphicData>
        </a:graphic>
      </p:graphicFrame>
      <p:sp>
        <p:nvSpPr>
          <p:cNvPr id="8" name="TextBox 7">
            <a:extLst>
              <a:ext uri="{FF2B5EF4-FFF2-40B4-BE49-F238E27FC236}">
                <a16:creationId xmlns:a16="http://schemas.microsoft.com/office/drawing/2014/main" id="{182385C7-946F-728E-EE91-4E32AB4A270D}"/>
              </a:ext>
            </a:extLst>
          </p:cNvPr>
          <p:cNvSpPr txBox="1"/>
          <p:nvPr/>
        </p:nvSpPr>
        <p:spPr>
          <a:xfrm>
            <a:off x="1435100" y="4794935"/>
            <a:ext cx="9207500" cy="1015663"/>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txBody>
          <a:bodyPr wrap="square">
            <a:spAutoFit/>
          </a:bodyPr>
          <a:lstStyle/>
          <a:p>
            <a:pPr algn="l"/>
            <a:r>
              <a:rPr lang="en-GB" sz="2000" b="1" dirty="0">
                <a:solidFill>
                  <a:srgbClr val="7F0055"/>
                </a:solidFill>
                <a:latin typeface="Consolas" panose="020B0609020204030204" pitchFamily="49" charset="0"/>
              </a:rPr>
              <a:t>class</a:t>
            </a:r>
            <a:r>
              <a:rPr lang="en-GB" sz="2000" b="1" dirty="0">
                <a:solidFill>
                  <a:srgbClr val="000000"/>
                </a:solidFill>
                <a:latin typeface="Consolas" panose="020B0609020204030204" pitchFamily="49" charset="0"/>
              </a:rPr>
              <a:t> Account </a:t>
            </a:r>
            <a:r>
              <a:rPr lang="en-GB" sz="2000" b="1" dirty="0">
                <a:solidFill>
                  <a:srgbClr val="7F0055"/>
                </a:solidFill>
                <a:latin typeface="Consolas" panose="020B0609020204030204" pitchFamily="49" charset="0"/>
              </a:rPr>
              <a:t>:</a:t>
            </a:r>
            <a:r>
              <a:rPr lang="en-GB" sz="2000" b="1" dirty="0">
                <a:solidFill>
                  <a:srgbClr val="000000"/>
                </a:solidFill>
                <a:latin typeface="Consolas" panose="020B0609020204030204" pitchFamily="49" charset="0"/>
              </a:rPr>
              <a:t> Closable , Transferable, Disposable {</a:t>
            </a:r>
          </a:p>
          <a:p>
            <a:pPr algn="l"/>
            <a:endParaRPr lang="en-GB" sz="2000" b="1" dirty="0">
              <a:solidFill>
                <a:srgbClr val="000000"/>
              </a:solidFill>
              <a:latin typeface="Consolas" panose="020B0609020204030204" pitchFamily="49" charset="0"/>
            </a:endParaRPr>
          </a:p>
          <a:p>
            <a:pPr algn="l"/>
            <a:r>
              <a:rPr lang="en-GB" sz="2000" b="1" dirty="0">
                <a:solidFill>
                  <a:srgbClr val="000000"/>
                </a:solidFill>
                <a:latin typeface="Consolas" panose="020B0609020204030204" pitchFamily="49" charset="0"/>
              </a:rPr>
              <a:t>}</a:t>
            </a:r>
          </a:p>
        </p:txBody>
      </p:sp>
      <p:sp>
        <p:nvSpPr>
          <p:cNvPr id="9" name="TextBox 8">
            <a:extLst>
              <a:ext uri="{FF2B5EF4-FFF2-40B4-BE49-F238E27FC236}">
                <a16:creationId xmlns:a16="http://schemas.microsoft.com/office/drawing/2014/main" id="{FD7931AE-977F-1C50-46A3-BF1F458B2DF2}"/>
              </a:ext>
            </a:extLst>
          </p:cNvPr>
          <p:cNvSpPr txBox="1"/>
          <p:nvPr/>
        </p:nvSpPr>
        <p:spPr>
          <a:xfrm>
            <a:off x="1180822" y="3978444"/>
            <a:ext cx="9576078" cy="901700"/>
          </a:xfrm>
          <a:prstGeom prst="rect">
            <a:avLst/>
          </a:prstGeom>
        </p:spPr>
        <p:txBody>
          <a:bodyPr vert="horz" wrap="square" lIns="0" tIns="0" rIns="0" bIns="0" rtlCol="0" anchor="t" anchorCtr="0">
            <a:normAutofit/>
          </a:bodyPr>
          <a:lstStyle/>
          <a:p>
            <a:r>
              <a:rPr lang="en-GB" b="1" dirty="0"/>
              <a:t>A class may implement many interfaces for example a bank Account can be </a:t>
            </a:r>
          </a:p>
          <a:p>
            <a:r>
              <a:rPr lang="en-GB" b="1" dirty="0">
                <a:solidFill>
                  <a:srgbClr val="C00000"/>
                </a:solidFill>
              </a:rPr>
              <a:t>Closable</a:t>
            </a:r>
            <a:r>
              <a:rPr lang="en-GB" b="1" dirty="0"/>
              <a:t>, </a:t>
            </a:r>
            <a:r>
              <a:rPr lang="en-GB" b="1" dirty="0">
                <a:solidFill>
                  <a:srgbClr val="C00000"/>
                </a:solidFill>
              </a:rPr>
              <a:t>Transferable</a:t>
            </a:r>
            <a:r>
              <a:rPr lang="en-GB" b="1" dirty="0"/>
              <a:t>, </a:t>
            </a:r>
            <a:r>
              <a:rPr lang="en-GB" b="1" dirty="0">
                <a:solidFill>
                  <a:srgbClr val="C00000"/>
                </a:solidFill>
              </a:rPr>
              <a:t>Disposable</a:t>
            </a:r>
            <a:r>
              <a:rPr lang="en-GB" b="1" dirty="0"/>
              <a:t>…</a:t>
            </a:r>
          </a:p>
          <a:p>
            <a:pPr algn="l"/>
            <a:endParaRPr lang="en-GB" dirty="0"/>
          </a:p>
        </p:txBody>
      </p:sp>
    </p:spTree>
    <p:extLst>
      <p:ext uri="{BB962C8B-B14F-4D97-AF65-F5344CB8AC3E}">
        <p14:creationId xmlns:p14="http://schemas.microsoft.com/office/powerpoint/2010/main" val="236457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t>Interfaces</a:t>
            </a:r>
          </a:p>
        </p:txBody>
      </p:sp>
      <p:sp>
        <p:nvSpPr>
          <p:cNvPr id="8195" name="Rectangle 3"/>
          <p:cNvSpPr>
            <a:spLocks noGrp="1" noChangeArrowheads="1"/>
          </p:cNvSpPr>
          <p:nvPr>
            <p:ph idx="1"/>
          </p:nvPr>
        </p:nvSpPr>
        <p:spPr>
          <a:xfrm>
            <a:off x="339971" y="1368256"/>
            <a:ext cx="10560093" cy="1931243"/>
          </a:xfrm>
        </p:spPr>
        <p:txBody>
          <a:bodyPr vert="horz" lIns="0" tIns="0" rIns="0" bIns="0" rtlCol="0" anchor="t" anchorCtr="0">
            <a:noAutofit/>
          </a:bodyPr>
          <a:lstStyle/>
          <a:p>
            <a:r>
              <a:rPr lang="en-GB" b="1" dirty="0"/>
              <a:t>An interface is similar to a fully abstract class</a:t>
            </a:r>
          </a:p>
          <a:p>
            <a:pPr marL="342000" lvl="1" indent="-342900">
              <a:buSzPct val="115000"/>
              <a:buFont typeface="Arial" panose="020B0604020202020204" pitchFamily="34" charset="0"/>
              <a:buChar char="•"/>
            </a:pPr>
            <a:r>
              <a:rPr lang="en-GB" dirty="0"/>
              <a:t>All of its members are abstract, no implementation code </a:t>
            </a:r>
          </a:p>
          <a:p>
            <a:pPr marL="342000" lvl="1" indent="-342900">
              <a:buSzPct val="115000"/>
              <a:buFont typeface="Arial" panose="020B0604020202020204" pitchFamily="34" charset="0"/>
              <a:buChar char="•"/>
            </a:pPr>
            <a:r>
              <a:rPr lang="en-GB" dirty="0"/>
              <a:t>Can have no instance fields, although constants allowed</a:t>
            </a:r>
          </a:p>
          <a:p>
            <a:pPr marL="342000" lvl="1" indent="-342900">
              <a:buSzPct val="115000"/>
              <a:buFont typeface="Arial" panose="020B0604020202020204" pitchFamily="34" charset="0"/>
              <a:buChar char="•"/>
            </a:pPr>
            <a:r>
              <a:rPr lang="en-GB" dirty="0"/>
              <a:t>Clearly cannot be instantiated</a:t>
            </a:r>
          </a:p>
          <a:p>
            <a:pPr marL="342000" lvl="1" indent="-342900">
              <a:buSzPct val="115000"/>
              <a:buFont typeface="Arial" panose="020B0604020202020204" pitchFamily="34" charset="0"/>
              <a:buChar char="•"/>
            </a:pPr>
            <a:r>
              <a:rPr lang="en-GB" dirty="0"/>
              <a:t>Useful if you want to define a role that could be played by class</a:t>
            </a:r>
          </a:p>
          <a:p>
            <a:pPr marL="180000" lvl="1" indent="-180000">
              <a:buFont typeface="Arial" panose="020B0604020202020204" pitchFamily="34" charset="0"/>
              <a:buChar char="•"/>
            </a:pPr>
            <a:endParaRPr lang="en-GB" dirty="0"/>
          </a:p>
        </p:txBody>
      </p:sp>
      <p:sp>
        <p:nvSpPr>
          <p:cNvPr id="5" name="Isosceles Triangle 4"/>
          <p:cNvSpPr/>
          <p:nvPr/>
        </p:nvSpPr>
        <p:spPr>
          <a:xfrm>
            <a:off x="3778599" y="4095621"/>
            <a:ext cx="358696" cy="342900"/>
          </a:xfrm>
          <a:prstGeom prst="triangle">
            <a:avLst/>
          </a:prstGeom>
          <a:no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cxnSp>
        <p:nvCxnSpPr>
          <p:cNvPr id="7" name="Straight Connector 6"/>
          <p:cNvCxnSpPr>
            <a:cxnSpLocks/>
            <a:stCxn id="5" idx="3"/>
            <a:endCxn id="11" idx="0"/>
          </p:cNvCxnSpPr>
          <p:nvPr/>
        </p:nvCxnSpPr>
        <p:spPr>
          <a:xfrm>
            <a:off x="3957947" y="4438521"/>
            <a:ext cx="1" cy="623585"/>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72196" y="5062106"/>
            <a:ext cx="5571504" cy="1028700"/>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C00000"/>
                </a:solidFill>
                <a:latin typeface="Arial" pitchFamily="34" charset="0"/>
                <a:cs typeface="Arial" pitchFamily="34" charset="0"/>
              </a:rPr>
              <a:t>class</a:t>
            </a:r>
            <a:r>
              <a:rPr lang="en-GB" b="1" dirty="0">
                <a:solidFill>
                  <a:schemeClr val="tx1"/>
                </a:solidFill>
                <a:latin typeface="Arial" pitchFamily="34" charset="0"/>
                <a:cs typeface="Arial" pitchFamily="34" charset="0"/>
              </a:rPr>
              <a:t> </a:t>
            </a:r>
            <a:r>
              <a:rPr lang="en-GB" b="1" dirty="0" err="1">
                <a:solidFill>
                  <a:schemeClr val="tx1"/>
                </a:solidFill>
                <a:latin typeface="Arial" pitchFamily="34" charset="0"/>
                <a:cs typeface="Arial" pitchFamily="34" charset="0"/>
              </a:rPr>
              <a:t>MediaPlayer</a:t>
            </a:r>
            <a:r>
              <a:rPr lang="en-GB" b="1" dirty="0">
                <a:solidFill>
                  <a:schemeClr val="tx1"/>
                </a:solidFill>
                <a:latin typeface="Arial" pitchFamily="34" charset="0"/>
                <a:cs typeface="Arial" pitchFamily="34" charset="0"/>
              </a:rPr>
              <a:t> </a:t>
            </a:r>
            <a:r>
              <a:rPr lang="en-GB" b="1" dirty="0">
                <a:solidFill>
                  <a:srgbClr val="C00000"/>
                </a:solidFill>
                <a:latin typeface="Arial" pitchFamily="34" charset="0"/>
                <a:cs typeface="Arial" pitchFamily="34" charset="0"/>
              </a:rPr>
              <a:t>:</a:t>
            </a:r>
            <a:r>
              <a:rPr lang="en-GB" b="1" dirty="0">
                <a:solidFill>
                  <a:schemeClr val="tx1"/>
                </a:solidFill>
                <a:latin typeface="Arial" pitchFamily="34" charset="0"/>
                <a:cs typeface="Arial" pitchFamily="34" charset="0"/>
              </a:rPr>
              <a:t> Playable  {</a:t>
            </a:r>
          </a:p>
          <a:p>
            <a:r>
              <a:rPr lang="en-GB" b="1" dirty="0">
                <a:solidFill>
                  <a:schemeClr val="tx1"/>
                </a:solidFill>
                <a:latin typeface="Arial" pitchFamily="34" charset="0"/>
                <a:cs typeface="Arial" pitchFamily="34" charset="0"/>
              </a:rPr>
              <a:t>}</a:t>
            </a:r>
            <a:endParaRPr lang="en-GB" sz="1600" b="1" dirty="0">
              <a:solidFill>
                <a:schemeClr val="tx1"/>
              </a:solidFill>
              <a:latin typeface="Arial" pitchFamily="34" charset="0"/>
              <a:cs typeface="Arial" pitchFamily="34" charset="0"/>
            </a:endParaRPr>
          </a:p>
        </p:txBody>
      </p:sp>
      <p:sp>
        <p:nvSpPr>
          <p:cNvPr id="17" name="Rectangular Callout 16"/>
          <p:cNvSpPr/>
          <p:nvPr/>
        </p:nvSpPr>
        <p:spPr>
          <a:xfrm>
            <a:off x="7031722" y="3683314"/>
            <a:ext cx="3868338" cy="2407492"/>
          </a:xfrm>
          <a:prstGeom prst="wedgeRectCallout">
            <a:avLst>
              <a:gd name="adj1" fmla="val -60411"/>
              <a:gd name="adj2" fmla="val -33737"/>
            </a:avLst>
          </a:prstGeom>
          <a:solidFill>
            <a:schemeClr val="bg1"/>
          </a:solid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C00000"/>
                </a:solidFill>
                <a:latin typeface="Arial" pitchFamily="34" charset="0"/>
                <a:cs typeface="Arial" pitchFamily="34" charset="0"/>
              </a:rPr>
              <a:t>  interface</a:t>
            </a:r>
            <a:r>
              <a:rPr lang="en-GB" b="1" dirty="0">
                <a:solidFill>
                  <a:schemeClr val="tx1"/>
                </a:solidFill>
                <a:latin typeface="Arial" pitchFamily="34" charset="0"/>
                <a:cs typeface="Arial" pitchFamily="34" charset="0"/>
              </a:rPr>
              <a:t> Playable {</a:t>
            </a:r>
          </a:p>
          <a:p>
            <a:r>
              <a:rPr lang="en-GB" b="1" dirty="0">
                <a:solidFill>
                  <a:srgbClr val="7F0055"/>
                </a:solidFill>
                <a:latin typeface="Consolas" panose="020B0609020204030204" pitchFamily="49" charset="0"/>
              </a:rPr>
              <a:t>    void</a:t>
            </a:r>
            <a:r>
              <a:rPr lang="en-GB" b="1" dirty="0">
                <a:solidFill>
                  <a:srgbClr val="000000"/>
                </a:solidFill>
                <a:latin typeface="Consolas" panose="020B0609020204030204" pitchFamily="49" charset="0"/>
              </a:rPr>
              <a:t> play(); </a:t>
            </a:r>
            <a:endParaRPr lang="en-GB" b="1" dirty="0">
              <a:solidFill>
                <a:srgbClr val="000000"/>
              </a:solidFill>
              <a:highlight>
                <a:srgbClr val="D4D4D4"/>
              </a:highlight>
              <a:latin typeface="Consolas" panose="020B0609020204030204" pitchFamily="49" charset="0"/>
            </a:endParaRPr>
          </a:p>
          <a:p>
            <a:r>
              <a:rPr lang="en-GB" b="1" dirty="0">
                <a:solidFill>
                  <a:srgbClr val="7F0055"/>
                </a:solidFill>
                <a:latin typeface="Consolas" panose="020B0609020204030204" pitchFamily="49" charset="0"/>
              </a:rPr>
              <a:t>    void</a:t>
            </a:r>
            <a:r>
              <a:rPr lang="en-GB" b="1" dirty="0">
                <a:solidFill>
                  <a:srgbClr val="000000"/>
                </a:solidFill>
                <a:latin typeface="Consolas" panose="020B0609020204030204" pitchFamily="49" charset="0"/>
              </a:rPr>
              <a:t> pause();</a:t>
            </a:r>
          </a:p>
          <a:p>
            <a:r>
              <a:rPr lang="en-GB" b="1" dirty="0">
                <a:solidFill>
                  <a:srgbClr val="7F0055"/>
                </a:solidFill>
                <a:latin typeface="Consolas" panose="020B0609020204030204" pitchFamily="49" charset="0"/>
              </a:rPr>
              <a:t>    void</a:t>
            </a:r>
            <a:r>
              <a:rPr lang="en-GB" b="1" dirty="0">
                <a:solidFill>
                  <a:srgbClr val="000000"/>
                </a:solidFill>
                <a:latin typeface="Consolas" panose="020B0609020204030204" pitchFamily="49" charset="0"/>
              </a:rPr>
              <a:t> stop();</a:t>
            </a:r>
          </a:p>
          <a:p>
            <a:r>
              <a:rPr lang="en-GB" b="1" dirty="0">
                <a:solidFill>
                  <a:srgbClr val="7F0055"/>
                </a:solidFill>
                <a:latin typeface="Consolas" panose="020B0609020204030204" pitchFamily="49" charset="0"/>
              </a:rPr>
              <a:t>    void</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fastRewinde</a:t>
            </a:r>
            <a:r>
              <a:rPr lang="en-GB" b="1" dirty="0">
                <a:solidFill>
                  <a:srgbClr val="000000"/>
                </a:solidFill>
                <a:latin typeface="Consolas" panose="020B0609020204030204" pitchFamily="49" charset="0"/>
              </a:rPr>
              <a:t>();</a:t>
            </a:r>
            <a:r>
              <a:rPr lang="en-GB" b="1" dirty="0">
                <a:solidFill>
                  <a:srgbClr val="7F0055"/>
                </a:solidFill>
                <a:latin typeface="Consolas" panose="020B0609020204030204" pitchFamily="49" charset="0"/>
              </a:rPr>
              <a:t>    </a:t>
            </a:r>
          </a:p>
          <a:p>
            <a:r>
              <a:rPr lang="en-GB" b="1" dirty="0">
                <a:solidFill>
                  <a:srgbClr val="7F0055"/>
                </a:solidFill>
                <a:latin typeface="Consolas" panose="020B0609020204030204" pitchFamily="49" charset="0"/>
              </a:rPr>
              <a:t>    void</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fastForward</a:t>
            </a:r>
            <a:r>
              <a:rPr lang="en-GB" b="1" dirty="0">
                <a:solidFill>
                  <a:srgbClr val="000000"/>
                </a:solidFill>
                <a:latin typeface="Consolas" panose="020B0609020204030204" pitchFamily="49" charset="0"/>
              </a:rPr>
              <a:t>(int x);</a:t>
            </a:r>
          </a:p>
          <a:p>
            <a:r>
              <a:rPr lang="en-GB" dirty="0">
                <a:solidFill>
                  <a:schemeClr val="tx1"/>
                </a:solidFill>
                <a:latin typeface="Arial" pitchFamily="34" charset="0"/>
                <a:cs typeface="Arial" pitchFamily="34" charset="0"/>
              </a:rPr>
              <a:t>  </a:t>
            </a:r>
            <a:r>
              <a:rPr lang="en-GB" b="1" dirty="0">
                <a:solidFill>
                  <a:schemeClr val="tx1"/>
                </a:solidFill>
                <a:latin typeface="Arial" pitchFamily="34" charset="0"/>
                <a:cs typeface="Arial" pitchFamily="34" charset="0"/>
              </a:rPr>
              <a:t>}</a:t>
            </a:r>
          </a:p>
        </p:txBody>
      </p:sp>
      <p:pic>
        <p:nvPicPr>
          <p:cNvPr id="8" name="Picture 7">
            <a:extLst>
              <a:ext uri="{FF2B5EF4-FFF2-40B4-BE49-F238E27FC236}">
                <a16:creationId xmlns:a16="http://schemas.microsoft.com/office/drawing/2014/main" id="{13D3C989-2806-124A-EF8F-3F34872AAA1E}"/>
              </a:ext>
            </a:extLst>
          </p:cNvPr>
          <p:cNvPicPr>
            <a:picLocks noChangeAspect="1"/>
          </p:cNvPicPr>
          <p:nvPr/>
        </p:nvPicPr>
        <p:blipFill>
          <a:blip r:embed="rId3"/>
          <a:stretch>
            <a:fillRect/>
          </a:stretch>
        </p:blipFill>
        <p:spPr>
          <a:xfrm>
            <a:off x="2543485" y="3683314"/>
            <a:ext cx="2828925" cy="457200"/>
          </a:xfrm>
          <a:prstGeom prst="rect">
            <a:avLst/>
          </a:prstGeom>
        </p:spPr>
      </p:pic>
    </p:spTree>
    <p:extLst>
      <p:ext uri="{BB962C8B-B14F-4D97-AF65-F5344CB8AC3E}">
        <p14:creationId xmlns:p14="http://schemas.microsoft.com/office/powerpoint/2010/main" val="297403487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dirty="0"/>
              <a:t>Defining an interface type</a:t>
            </a:r>
          </a:p>
        </p:txBody>
      </p:sp>
      <p:sp>
        <p:nvSpPr>
          <p:cNvPr id="9219" name="Rectangle 3"/>
          <p:cNvSpPr>
            <a:spLocks noGrp="1" noChangeArrowheads="1"/>
          </p:cNvSpPr>
          <p:nvPr>
            <p:ph idx="1"/>
          </p:nvPr>
        </p:nvSpPr>
        <p:spPr>
          <a:xfrm>
            <a:off x="341273" y="1368256"/>
            <a:ext cx="9467746" cy="2133480"/>
          </a:xfrm>
        </p:spPr>
        <p:txBody>
          <a:bodyPr vert="horz" lIns="0" tIns="0" rIns="0" bIns="0" rtlCol="0" anchor="t" anchorCtr="0">
            <a:noAutofit/>
          </a:bodyPr>
          <a:lstStyle/>
          <a:p>
            <a:pPr marL="342900" indent="-342900">
              <a:buFont typeface="Arial" panose="020B0604020202020204" pitchFamily="34" charset="0"/>
              <a:buChar char="•"/>
            </a:pPr>
            <a:r>
              <a:rPr lang="en-GB" b="1" dirty="0"/>
              <a:t>Interface defined using keyword </a:t>
            </a:r>
            <a:r>
              <a:rPr lang="en-GB" b="1" dirty="0">
                <a:latin typeface="Lucida Console" panose="020B0609040504020204" pitchFamily="49" charset="0"/>
              </a:rPr>
              <a:t>interface</a:t>
            </a:r>
          </a:p>
          <a:p>
            <a:pPr marL="684000" lvl="1" indent="-342900">
              <a:buSzPct val="115000"/>
              <a:buFont typeface="Arial" panose="020B0604020202020204" pitchFamily="34" charset="0"/>
              <a:buChar char="•"/>
            </a:pPr>
            <a:r>
              <a:rPr lang="en-GB" dirty="0"/>
              <a:t>Often end in ‘...able’ no specific naming convention otherwise</a:t>
            </a:r>
          </a:p>
          <a:p>
            <a:pPr marL="684000" lvl="1" indent="-342900">
              <a:buSzPct val="115000"/>
              <a:buFont typeface="Arial" panose="020B0604020202020204" pitchFamily="34" charset="0"/>
              <a:buChar char="•"/>
            </a:pPr>
            <a:endParaRPr lang="en-GB" dirty="0"/>
          </a:p>
          <a:p>
            <a:pPr marL="342900" indent="-342900">
              <a:buFont typeface="Arial" panose="020B0604020202020204" pitchFamily="34" charset="0"/>
              <a:buChar char="•"/>
            </a:pPr>
            <a:r>
              <a:rPr lang="en-GB" b="1" dirty="0"/>
              <a:t>Interface members</a:t>
            </a:r>
          </a:p>
          <a:p>
            <a:pPr marL="684000" lvl="1" indent="-342900">
              <a:buSzPct val="115000"/>
              <a:buFont typeface="Arial" panose="020B0604020202020204" pitchFamily="34" charset="0"/>
              <a:buChar char="•"/>
            </a:pPr>
            <a:r>
              <a:rPr lang="en-GB" dirty="0"/>
              <a:t>All methods are implicitly </a:t>
            </a:r>
            <a:r>
              <a:rPr lang="en-GB" dirty="0">
                <a:latin typeface="Lucida Console" panose="020B0609040504020204" pitchFamily="49" charset="0"/>
              </a:rPr>
              <a:t>public, abstract and non-static</a:t>
            </a:r>
            <a:endParaRPr lang="en-GB" b="1" dirty="0">
              <a:latin typeface="Lucida Console" panose="020B0609040504020204" pitchFamily="49" charset="0"/>
            </a:endParaRPr>
          </a:p>
        </p:txBody>
      </p:sp>
      <p:sp>
        <p:nvSpPr>
          <p:cNvPr id="814084" name="Rectangle 4"/>
          <p:cNvSpPr>
            <a:spLocks noChangeArrowheads="1"/>
          </p:cNvSpPr>
          <p:nvPr/>
        </p:nvSpPr>
        <p:spPr bwMode="auto">
          <a:xfrm>
            <a:off x="2930524" y="3646489"/>
            <a:ext cx="5337176" cy="221342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endParaRPr lang="en-GB" sz="2000" dirty="0">
              <a:solidFill>
                <a:srgbClr val="0000C8"/>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2000" dirty="0">
                <a:solidFill>
                  <a:srgbClr val="0000C8"/>
                </a:solidFill>
                <a:latin typeface="Lucida Console" pitchFamily="49" charset="0"/>
              </a:rPr>
              <a:t> public</a:t>
            </a:r>
            <a:r>
              <a:rPr lang="en-GB" sz="2000" dirty="0">
                <a:solidFill>
                  <a:srgbClr val="0000FF"/>
                </a:solidFill>
                <a:latin typeface="Lucida Console" pitchFamily="49" charset="0"/>
              </a:rPr>
              <a:t> </a:t>
            </a:r>
            <a:r>
              <a:rPr lang="en-GB" sz="2000" dirty="0">
                <a:solidFill>
                  <a:srgbClr val="FF0000"/>
                </a:solidFill>
                <a:latin typeface="Lucida Console" pitchFamily="49" charset="0"/>
              </a:rPr>
              <a:t>interface </a:t>
            </a:r>
            <a:r>
              <a:rPr lang="en-GB" sz="2000" dirty="0" err="1">
                <a:latin typeface="Lucida Console" pitchFamily="49" charset="0"/>
              </a:rPr>
              <a:t>Renderable</a:t>
            </a:r>
            <a:r>
              <a:rPr lang="en-GB" sz="20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endParaRPr lang="en-GB" sz="2000"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2000" dirty="0">
                <a:solidFill>
                  <a:srgbClr val="000000"/>
                </a:solidFill>
                <a:latin typeface="Lucida Console" pitchFamily="49" charset="0"/>
              </a:rPr>
              <a:t>     </a:t>
            </a:r>
            <a:r>
              <a:rPr lang="en-GB" sz="2000" dirty="0">
                <a:solidFill>
                  <a:srgbClr val="0000C8"/>
                </a:solidFill>
                <a:latin typeface="Lucida Console" pitchFamily="49" charset="0"/>
              </a:rPr>
              <a:t>void</a:t>
            </a:r>
            <a:r>
              <a:rPr lang="en-GB" sz="20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endParaRPr lang="en-GB" sz="2000"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20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endParaRPr lang="en-GB" dirty="0">
              <a:solidFill>
                <a:srgbClr val="000046"/>
              </a:solidFill>
              <a:latin typeface="Lucida Console" pitchFamily="49" charset="0"/>
            </a:endParaRPr>
          </a:p>
        </p:txBody>
      </p:sp>
    </p:spTree>
    <p:extLst>
      <p:ext uri="{BB962C8B-B14F-4D97-AF65-F5344CB8AC3E}">
        <p14:creationId xmlns:p14="http://schemas.microsoft.com/office/powerpoint/2010/main" val="20764377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dirty="0"/>
              <a:t>Implementing an interface</a:t>
            </a:r>
          </a:p>
        </p:txBody>
      </p:sp>
      <p:sp>
        <p:nvSpPr>
          <p:cNvPr id="10243" name="Rectangle 3"/>
          <p:cNvSpPr>
            <a:spLocks noGrp="1" noChangeArrowheads="1"/>
          </p:cNvSpPr>
          <p:nvPr>
            <p:ph idx="1"/>
          </p:nvPr>
        </p:nvSpPr>
        <p:spPr>
          <a:xfrm>
            <a:off x="341272" y="1368256"/>
            <a:ext cx="10132363" cy="741099"/>
          </a:xfrm>
        </p:spPr>
        <p:txBody>
          <a:bodyPr vert="horz" lIns="0" tIns="0" rIns="0" bIns="0" rtlCol="0" anchor="t" anchorCtr="0">
            <a:noAutofit/>
          </a:bodyPr>
          <a:lstStyle/>
          <a:p>
            <a:r>
              <a:rPr lang="en-GB" b="1" dirty="0"/>
              <a:t>List interfaces after the base class (if any) via keyword implements </a:t>
            </a:r>
          </a:p>
          <a:p>
            <a:pPr marL="342900" lvl="1" indent="-342900">
              <a:buSzPct val="115000"/>
              <a:buFont typeface="Arial" panose="020B0604020202020204" pitchFamily="34" charset="0"/>
              <a:buChar char="•"/>
            </a:pPr>
            <a:r>
              <a:rPr lang="en-GB" dirty="0"/>
              <a:t>All members must be implemented</a:t>
            </a:r>
          </a:p>
        </p:txBody>
      </p:sp>
      <p:sp>
        <p:nvSpPr>
          <p:cNvPr id="816132" name="Rectangle 4"/>
          <p:cNvSpPr>
            <a:spLocks noChangeArrowheads="1"/>
          </p:cNvSpPr>
          <p:nvPr/>
        </p:nvSpPr>
        <p:spPr bwMode="auto">
          <a:xfrm>
            <a:off x="1892300" y="2643440"/>
            <a:ext cx="4322970" cy="1320874"/>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abstract class</a:t>
            </a:r>
            <a:r>
              <a:rPr lang="en-GB" sz="1600" dirty="0">
                <a:latin typeface="Lucida Console" pitchFamily="49" charset="0"/>
              </a:rPr>
              <a:t> </a:t>
            </a:r>
            <a:r>
              <a:rPr lang="en-GB" sz="1600" dirty="0">
                <a:solidFill>
                  <a:srgbClr val="000000"/>
                </a:solidFill>
                <a:latin typeface="Lucida Console" pitchFamily="49" charset="0"/>
              </a:rPr>
              <a:t>Shape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height;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width;</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abstract float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getArea</a:t>
            </a:r>
            <a:r>
              <a:rPr lang="en-GB" sz="1600" dirty="0">
                <a:solidFill>
                  <a:srgbClr val="000000"/>
                </a:solidFill>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6133" name="Rectangle 5"/>
          <p:cNvSpPr>
            <a:spLocks noChangeArrowheads="1"/>
          </p:cNvSpPr>
          <p:nvPr/>
        </p:nvSpPr>
        <p:spPr bwMode="auto">
          <a:xfrm>
            <a:off x="6396935" y="2649971"/>
            <a:ext cx="4076700" cy="83502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void</a:t>
            </a:r>
            <a:r>
              <a:rPr lang="en-GB" sz="16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
        <p:nvSpPr>
          <p:cNvPr id="816134" name="Rectangle 6"/>
          <p:cNvSpPr>
            <a:spLocks noChangeArrowheads="1"/>
          </p:cNvSpPr>
          <p:nvPr/>
        </p:nvSpPr>
        <p:spPr bwMode="auto">
          <a:xfrm>
            <a:off x="2259496" y="4380239"/>
            <a:ext cx="7593495" cy="205953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Rectangle </a:t>
            </a:r>
            <a:r>
              <a:rPr lang="en-GB" sz="1600" dirty="0">
                <a:solidFill>
                  <a:srgbClr val="0000C8"/>
                </a:solidFill>
                <a:latin typeface="Lucida Console" pitchFamily="49" charset="0"/>
              </a:rPr>
              <a:t>:</a:t>
            </a:r>
            <a:r>
              <a:rPr lang="en-GB" sz="1600" dirty="0">
                <a:solidFill>
                  <a:srgbClr val="000000"/>
                </a:solidFill>
                <a:latin typeface="Lucida Console" pitchFamily="49" charset="0"/>
              </a:rPr>
              <a:t> </a:t>
            </a:r>
            <a:r>
              <a:rPr lang="en-GB" sz="1600" dirty="0">
                <a:solidFill>
                  <a:srgbClr val="FF0000"/>
                </a:solidFill>
                <a:latin typeface="Lucida Console" pitchFamily="49" charset="0"/>
              </a:rPr>
              <a:t>Shape </a:t>
            </a:r>
            <a:r>
              <a:rPr lang="en-GB" sz="1600" dirty="0">
                <a:solidFill>
                  <a:srgbClr val="0000C8"/>
                </a:solidFill>
                <a:latin typeface="Lucida Console" pitchFamily="49" charset="0"/>
              </a:rPr>
              <a:t>,</a:t>
            </a:r>
            <a:r>
              <a:rPr lang="en-GB" sz="1600" dirty="0">
                <a:solidFill>
                  <a:srgbClr val="FF0000"/>
                </a:solidFill>
                <a:latin typeface="Lucida Console" pitchFamily="49" charset="0"/>
              </a:rPr>
              <a:t> </a:t>
            </a:r>
            <a:r>
              <a:rPr lang="en-GB" sz="1600" dirty="0" err="1">
                <a:solidFill>
                  <a:srgbClr val="FF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a:t>
            </a:r>
            <a:r>
              <a:rPr lang="en-GB" sz="1600" dirty="0">
                <a:solidFill>
                  <a:srgbClr val="0000C8"/>
                </a:solidFill>
                <a:latin typeface="Lucida Console" pitchFamily="49" charset="0"/>
              </a:rPr>
              <a:t>public void</a:t>
            </a:r>
            <a:r>
              <a:rPr lang="en-GB" sz="1600" dirty="0">
                <a:solidFill>
                  <a:srgbClr val="000000"/>
                </a:solidFill>
                <a:latin typeface="Lucida Console" pitchFamily="49" charset="0"/>
              </a:rPr>
              <a:t> draw()</a:t>
            </a:r>
            <a:r>
              <a:rPr lang="en-GB" sz="1600" dirty="0">
                <a:solidFill>
                  <a:srgbClr val="FF0000"/>
                </a:solidFill>
                <a:latin typeface="Lucida Console" pitchFamily="49" charset="0"/>
              </a:rPr>
              <a:t> </a:t>
            </a:r>
            <a:r>
              <a:rPr lang="en-GB" sz="1600" dirty="0">
                <a:latin typeface="Lucida Console" pitchFamily="49" charset="0"/>
              </a:rPr>
              <a:t>{</a:t>
            </a:r>
            <a:r>
              <a:rPr lang="en-GB" sz="1600" dirty="0">
                <a:solidFill>
                  <a:srgbClr val="FF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a:t>
            </a:r>
            <a:r>
              <a:rPr lang="en-GB" sz="1600" dirty="0">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t>
            </a:r>
            <a:r>
              <a:rPr lang="en-GB" sz="1600" b="1" dirty="0">
                <a:solidFill>
                  <a:srgbClr val="0000C8"/>
                </a:solidFill>
                <a:latin typeface="Lucida Console" pitchFamily="49" charset="0"/>
              </a:rPr>
              <a:t>override </a:t>
            </a:r>
            <a:r>
              <a:rPr lang="en-GB" sz="1600" dirty="0">
                <a:solidFill>
                  <a:srgbClr val="0000C8"/>
                </a:solidFill>
                <a:latin typeface="Lucida Console" pitchFamily="49" charset="0"/>
              </a:rPr>
              <a:t>float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getArea</a:t>
            </a: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		return</a:t>
            </a:r>
            <a:r>
              <a:rPr lang="en-GB" sz="1600" dirty="0">
                <a:solidFill>
                  <a:srgbClr val="000000"/>
                </a:solidFill>
                <a:latin typeface="Lucida Console" pitchFamily="49" charset="0"/>
              </a:rPr>
              <a:t> height * width;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p:txBody>
      </p:sp>
      <p:sp>
        <p:nvSpPr>
          <p:cNvPr id="816135" name="AutoShape 7"/>
          <p:cNvSpPr>
            <a:spLocks/>
          </p:cNvSpPr>
          <p:nvPr/>
        </p:nvSpPr>
        <p:spPr bwMode="auto">
          <a:xfrm>
            <a:off x="8457579" y="3964314"/>
            <a:ext cx="1395412" cy="404812"/>
          </a:xfrm>
          <a:prstGeom prst="borderCallout2">
            <a:avLst>
              <a:gd name="adj1" fmla="val 28236"/>
              <a:gd name="adj2" fmla="val -5463"/>
              <a:gd name="adj3" fmla="val 28236"/>
              <a:gd name="adj4" fmla="val -57338"/>
              <a:gd name="adj5" fmla="val 101176"/>
              <a:gd name="adj6" fmla="val -90218"/>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eaLnBrk="0" hangingPunct="0">
              <a:defRPr/>
            </a:pPr>
            <a:r>
              <a:rPr lang="en-GB" dirty="0"/>
              <a:t>Base class</a:t>
            </a:r>
          </a:p>
        </p:txBody>
      </p:sp>
      <p:sp>
        <p:nvSpPr>
          <p:cNvPr id="816136" name="AutoShape 8"/>
          <p:cNvSpPr>
            <a:spLocks/>
          </p:cNvSpPr>
          <p:nvPr/>
        </p:nvSpPr>
        <p:spPr bwMode="auto">
          <a:xfrm>
            <a:off x="8097148" y="5463765"/>
            <a:ext cx="1309687" cy="404812"/>
          </a:xfrm>
          <a:prstGeom prst="borderCallout2">
            <a:avLst>
              <a:gd name="adj1" fmla="val 28236"/>
              <a:gd name="adj2" fmla="val -5819"/>
              <a:gd name="adj3" fmla="val 28236"/>
              <a:gd name="adj4" fmla="val -28606"/>
              <a:gd name="adj5" fmla="val -41943"/>
              <a:gd name="adj6" fmla="val -50684"/>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eaLnBrk="0" hangingPunct="0">
              <a:defRPr/>
            </a:pPr>
            <a:r>
              <a:rPr lang="en-GB" dirty="0"/>
              <a:t>Interface</a:t>
            </a:r>
          </a:p>
        </p:txBody>
      </p:sp>
    </p:spTree>
    <p:extLst>
      <p:ext uri="{BB962C8B-B14F-4D97-AF65-F5344CB8AC3E}">
        <p14:creationId xmlns:p14="http://schemas.microsoft.com/office/powerpoint/2010/main" val="151610532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dirty="0"/>
              <a:t>Polymorphism again</a:t>
            </a:r>
          </a:p>
        </p:txBody>
      </p:sp>
      <p:sp>
        <p:nvSpPr>
          <p:cNvPr id="11267" name="Rectangle 3"/>
          <p:cNvSpPr>
            <a:spLocks noGrp="1" noChangeArrowheads="1"/>
          </p:cNvSpPr>
          <p:nvPr>
            <p:ph idx="1"/>
          </p:nvPr>
        </p:nvSpPr>
        <p:spPr>
          <a:xfrm>
            <a:off x="341273" y="1368256"/>
            <a:ext cx="11338110" cy="1351770"/>
          </a:xfrm>
        </p:spPr>
        <p:txBody>
          <a:bodyPr vert="horz" lIns="0" tIns="0" rIns="0" bIns="0" rtlCol="0" anchor="t" anchorCtr="0">
            <a:noAutofit/>
          </a:bodyPr>
          <a:lstStyle/>
          <a:p>
            <a:r>
              <a:rPr lang="en-GB" b="1" dirty="0"/>
              <a:t>An interface defines a new type, just like a class</a:t>
            </a:r>
          </a:p>
          <a:p>
            <a:pPr marL="342900" lvl="1" indent="-342900">
              <a:buSzPct val="115000"/>
              <a:buFont typeface="Arial" panose="020B0604020202020204" pitchFamily="34" charset="0"/>
              <a:buChar char="•"/>
            </a:pPr>
            <a:r>
              <a:rPr lang="en-GB" dirty="0"/>
              <a:t>If method has parameter of an interface type, it can be passed a reference to an object of any class that implements the interface</a:t>
            </a:r>
          </a:p>
          <a:p>
            <a:pPr marL="342900" lvl="1" indent="-342900">
              <a:buSzPct val="115000"/>
              <a:buFont typeface="Arial" panose="020B0604020202020204" pitchFamily="34" charset="0"/>
              <a:buChar char="•"/>
            </a:pPr>
            <a:r>
              <a:rPr lang="en-GB" dirty="0"/>
              <a:t>Can also have collections of objects that implement a specific interface  </a:t>
            </a:r>
          </a:p>
        </p:txBody>
      </p:sp>
      <p:sp>
        <p:nvSpPr>
          <p:cNvPr id="818180" name="Rectangle 4"/>
          <p:cNvSpPr>
            <a:spLocks noChangeArrowheads="1"/>
          </p:cNvSpPr>
          <p:nvPr/>
        </p:nvSpPr>
        <p:spPr bwMode="auto">
          <a:xfrm>
            <a:off x="2022186" y="3168136"/>
            <a:ext cx="5645150" cy="255198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public class</a:t>
            </a:r>
            <a:r>
              <a:rPr lang="en-GB" sz="1600" dirty="0">
                <a:latin typeface="Lucida Console" pitchFamily="49" charset="0"/>
              </a:rPr>
              <a:t> </a:t>
            </a:r>
            <a:r>
              <a:rPr lang="en-GB" sz="1600" dirty="0">
                <a:solidFill>
                  <a:srgbClr val="000000"/>
                </a:solidFill>
                <a:latin typeface="Lucida Console" pitchFamily="49" charset="0"/>
              </a:rPr>
              <a:t>Canvas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private</a:t>
            </a:r>
            <a:r>
              <a:rPr lang="en-GB" sz="1600" dirty="0">
                <a:solidFill>
                  <a:srgbClr val="000000"/>
                </a:solidFill>
                <a:latin typeface="Lucida Console" pitchFamily="49" charset="0"/>
              </a:rPr>
              <a:t> Shape[] shapes;</a:t>
            </a:r>
            <a:br>
              <a:rPr lang="en-GB" sz="1600" dirty="0">
                <a:solidFill>
                  <a:srgbClr val="000000"/>
                </a:solidFill>
                <a:latin typeface="Lucida Console" pitchFamily="49" charset="0"/>
              </a:rPr>
            </a:br>
            <a:endParaRPr lang="en-GB" sz="1600" dirty="0">
              <a:solidFill>
                <a:srgbClr val="008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private void</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renderRenderables</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foreach</a:t>
            </a:r>
            <a:r>
              <a:rPr lang="en-GB" sz="1600" dirty="0">
                <a:solidFill>
                  <a:srgbClr val="000000"/>
                </a:solidFill>
                <a:latin typeface="Lucida Console" pitchFamily="49" charset="0"/>
              </a:rPr>
              <a:t>( </a:t>
            </a:r>
            <a:r>
              <a:rPr lang="en-GB" sz="1600" dirty="0">
                <a:solidFill>
                  <a:srgbClr val="FF0000"/>
                </a:solidFill>
                <a:latin typeface="Lucida Console" pitchFamily="49" charset="0"/>
              </a:rPr>
              <a:t>Shape</a:t>
            </a:r>
            <a:r>
              <a:rPr lang="en-GB" sz="1600" dirty="0">
                <a:solidFill>
                  <a:srgbClr val="000000"/>
                </a:solidFill>
                <a:latin typeface="Lucida Console" pitchFamily="49" charset="0"/>
              </a:rPr>
              <a:t> s in shapes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if</a:t>
            </a:r>
            <a:r>
              <a:rPr lang="en-GB" sz="1600" dirty="0">
                <a:solidFill>
                  <a:srgbClr val="000000"/>
                </a:solidFill>
                <a:latin typeface="Lucida Console" pitchFamily="49" charset="0"/>
              </a:rPr>
              <a:t> (s </a:t>
            </a:r>
            <a:r>
              <a:rPr lang="en-GB" sz="1600" dirty="0">
                <a:solidFill>
                  <a:srgbClr val="0000FF"/>
                </a:solidFill>
                <a:latin typeface="Lucida Console" pitchFamily="49" charset="0"/>
              </a:rPr>
              <a:t>is</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)s).draw();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8181" name="Rectangle 5"/>
          <p:cNvSpPr>
            <a:spLocks noChangeArrowheads="1"/>
          </p:cNvSpPr>
          <p:nvPr/>
        </p:nvSpPr>
        <p:spPr bwMode="auto">
          <a:xfrm>
            <a:off x="4844761" y="5489744"/>
            <a:ext cx="5879845" cy="82843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private void</a:t>
            </a:r>
            <a:r>
              <a:rPr lang="en-GB" sz="1600" dirty="0">
                <a:solidFill>
                  <a:srgbClr val="000000"/>
                </a:solidFill>
                <a:latin typeface="Lucida Console" pitchFamily="49" charset="0"/>
              </a:rPr>
              <a:t> </a:t>
            </a:r>
            <a:r>
              <a:rPr lang="en-GB" sz="1600" dirty="0">
                <a:solidFill>
                  <a:srgbClr val="0000FF"/>
                </a:solidFill>
                <a:latin typeface="Lucida Console" pitchFamily="49" charset="0"/>
              </a:rPr>
              <a:t>public </a:t>
            </a:r>
            <a:r>
              <a:rPr lang="en-GB" sz="1600" dirty="0">
                <a:solidFill>
                  <a:srgbClr val="000000"/>
                </a:solidFill>
                <a:latin typeface="Lucida Console" pitchFamily="49" charset="0"/>
              </a:rPr>
              <a:t>Painter(</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ir</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err="1">
                <a:latin typeface="Lucida Console" pitchFamily="49" charset="0"/>
              </a:rPr>
              <a:t>ir.draw</a:t>
            </a:r>
            <a:r>
              <a:rPr lang="en-GB" sz="1600" dirty="0">
                <a:latin typeface="Lucida Console" pitchFamily="49" charset="0"/>
              </a:rPr>
              <a:t>();</a:t>
            </a:r>
            <a:endParaRPr lang="en-GB" sz="1600" dirty="0">
              <a:solidFill>
                <a:srgbClr val="000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8183" name="AutoShape 7"/>
          <p:cNvSpPr>
            <a:spLocks/>
          </p:cNvSpPr>
          <p:nvPr/>
        </p:nvSpPr>
        <p:spPr bwMode="auto">
          <a:xfrm>
            <a:off x="7164139" y="3481333"/>
            <a:ext cx="2689225" cy="384175"/>
          </a:xfrm>
          <a:prstGeom prst="borderCallout2">
            <a:avLst>
              <a:gd name="adj1" fmla="val 29750"/>
              <a:gd name="adj2" fmla="val -2833"/>
              <a:gd name="adj3" fmla="val 29750"/>
              <a:gd name="adj4" fmla="val -2833"/>
              <a:gd name="adj5" fmla="val 33058"/>
              <a:gd name="adj6" fmla="val -63637"/>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eaLnBrk="0" hangingPunct="0">
              <a:defRPr/>
            </a:pPr>
            <a:r>
              <a:rPr lang="en-GB" sz="1600" dirty="0"/>
              <a:t>Stores ‘shape’ refs</a:t>
            </a:r>
          </a:p>
        </p:txBody>
      </p:sp>
      <p:sp>
        <p:nvSpPr>
          <p:cNvPr id="9" name="AutoShape 7"/>
          <p:cNvSpPr>
            <a:spLocks/>
          </p:cNvSpPr>
          <p:nvPr/>
        </p:nvSpPr>
        <p:spPr bwMode="auto">
          <a:xfrm>
            <a:off x="6669874" y="4534373"/>
            <a:ext cx="3677753" cy="384175"/>
          </a:xfrm>
          <a:prstGeom prst="borderCallout2">
            <a:avLst>
              <a:gd name="adj1" fmla="val 29750"/>
              <a:gd name="adj2" fmla="val -2833"/>
              <a:gd name="adj3" fmla="val 29750"/>
              <a:gd name="adj4" fmla="val -2833"/>
              <a:gd name="adj5" fmla="val 31167"/>
              <a:gd name="adj6" fmla="val -24709"/>
            </a:avLst>
          </a:prstGeom>
          <a:solidFill>
            <a:srgbClr val="FFCCFF"/>
          </a:solidFill>
          <a:ln w="19050">
            <a:noFill/>
            <a:miter lim="800000"/>
            <a:headEnd/>
            <a:tailEnd/>
          </a:ln>
          <a:effectLst>
            <a:outerShdw blurRad="50800" dist="38100" algn="l" rotWithShape="0">
              <a:prstClr val="black">
                <a:alpha val="40000"/>
              </a:prstClr>
            </a:outerShdw>
          </a:effectLst>
        </p:spPr>
        <p:txBody>
          <a:bodyPr/>
          <a:lstStyle/>
          <a:p>
            <a:pPr algn="ctr" eaLnBrk="0" hangingPunct="0">
              <a:defRPr/>
            </a:pPr>
            <a:r>
              <a:rPr lang="en-GB" sz="1400" dirty="0"/>
              <a:t>Cast produces  a </a:t>
            </a:r>
            <a:r>
              <a:rPr lang="en-GB" sz="1400" dirty="0" err="1"/>
              <a:t>Renderable</a:t>
            </a:r>
            <a:r>
              <a:rPr lang="en-GB" sz="1400" dirty="0"/>
              <a:t> reference </a:t>
            </a:r>
          </a:p>
        </p:txBody>
      </p:sp>
    </p:spTree>
    <p:extLst>
      <p:ext uri="{BB962C8B-B14F-4D97-AF65-F5344CB8AC3E}">
        <p14:creationId xmlns:p14="http://schemas.microsoft.com/office/powerpoint/2010/main" val="3502602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dirty="0"/>
              <a:t>Multiple interfaces</a:t>
            </a:r>
          </a:p>
        </p:txBody>
      </p:sp>
      <p:sp>
        <p:nvSpPr>
          <p:cNvPr id="12291" name="Rectangle 3"/>
          <p:cNvSpPr>
            <a:spLocks noGrp="1" noChangeArrowheads="1"/>
          </p:cNvSpPr>
          <p:nvPr>
            <p:ph idx="1"/>
          </p:nvPr>
        </p:nvSpPr>
        <p:spPr>
          <a:xfrm>
            <a:off x="341272" y="1368256"/>
            <a:ext cx="10693873" cy="772271"/>
          </a:xfrm>
        </p:spPr>
        <p:txBody>
          <a:bodyPr vert="horz" lIns="0" tIns="0" rIns="0" bIns="0" rtlCol="0" anchor="t" anchorCtr="0">
            <a:noAutofit/>
          </a:bodyPr>
          <a:lstStyle/>
          <a:p>
            <a:r>
              <a:rPr lang="en-GB" b="1" dirty="0"/>
              <a:t>A class can implement multiple interfaces</a:t>
            </a:r>
          </a:p>
          <a:p>
            <a:pPr marL="342900" lvl="1" indent="-342900">
              <a:buSzPct val="115000"/>
              <a:buFont typeface="Arial" panose="020B0604020202020204" pitchFamily="34" charset="0"/>
              <a:buChar char="•"/>
            </a:pPr>
            <a:r>
              <a:rPr lang="en-GB" dirty="0"/>
              <a:t>You do not </a:t>
            </a:r>
            <a:r>
              <a:rPr lang="en-GB" i="1" dirty="0"/>
              <a:t>inherit</a:t>
            </a:r>
            <a:r>
              <a:rPr lang="en-GB" dirty="0"/>
              <a:t> from an interface, you </a:t>
            </a:r>
            <a:r>
              <a:rPr lang="en-GB" i="1" dirty="0"/>
              <a:t>implement</a:t>
            </a:r>
            <a:r>
              <a:rPr lang="en-GB" dirty="0"/>
              <a:t> it</a:t>
            </a:r>
          </a:p>
        </p:txBody>
      </p:sp>
      <p:sp>
        <p:nvSpPr>
          <p:cNvPr id="820228" name="Rectangle 4"/>
          <p:cNvSpPr>
            <a:spLocks noChangeArrowheads="1"/>
          </p:cNvSpPr>
          <p:nvPr/>
        </p:nvSpPr>
        <p:spPr bwMode="auto">
          <a:xfrm>
            <a:off x="6254750" y="2224089"/>
            <a:ext cx="4076700" cy="83502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void</a:t>
            </a:r>
            <a:r>
              <a:rPr lang="en-GB" sz="16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
        <p:nvSpPr>
          <p:cNvPr id="820229" name="Rectangle 5"/>
          <p:cNvSpPr>
            <a:spLocks noChangeArrowheads="1"/>
          </p:cNvSpPr>
          <p:nvPr/>
        </p:nvSpPr>
        <p:spPr bwMode="auto">
          <a:xfrm>
            <a:off x="2446339" y="3314700"/>
            <a:ext cx="7392987" cy="304442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Rectangle </a:t>
            </a:r>
            <a:r>
              <a:rPr lang="en-GB" sz="1600" dirty="0">
                <a:solidFill>
                  <a:srgbClr val="0000C8"/>
                </a:solidFill>
                <a:latin typeface="Lucida Console" pitchFamily="49" charset="0"/>
              </a:rPr>
              <a:t>:</a:t>
            </a:r>
            <a:r>
              <a:rPr lang="en-GB" sz="1600" dirty="0">
                <a:solidFill>
                  <a:srgbClr val="000000"/>
                </a:solidFill>
                <a:latin typeface="Lucida Console" pitchFamily="49" charset="0"/>
              </a:rPr>
              <a:t> Shape</a:t>
            </a:r>
            <a:r>
              <a:rPr lang="en-GB" sz="1600" dirty="0">
                <a:solidFill>
                  <a:srgbClr val="0000C8"/>
                </a:solidFill>
                <a:latin typeface="Lucida Console" pitchFamily="49" charset="0"/>
              </a:rPr>
              <a:t>,</a:t>
            </a:r>
            <a:r>
              <a:rPr lang="en-GB" sz="1600" dirty="0">
                <a:solidFill>
                  <a:srgbClr val="000000"/>
                </a:solidFill>
                <a:latin typeface="Lucida Console" pitchFamily="49" charset="0"/>
              </a:rPr>
              <a:t> Comparable,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height;</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width;</a:t>
            </a:r>
            <a:br>
              <a:rPr lang="en-GB" sz="1600" dirty="0">
                <a:solidFill>
                  <a:srgbClr val="000000"/>
                </a:solidFill>
                <a:latin typeface="Lucida Console" pitchFamily="49" charset="0"/>
              </a:rPr>
            </a:br>
            <a:br>
              <a:rPr lang="en-GB" sz="1600" dirty="0">
                <a:solidFill>
                  <a:srgbClr val="000000"/>
                </a:solidFill>
                <a:latin typeface="Lucida Console" pitchFamily="49" charset="0"/>
              </a:rPr>
            </a:br>
            <a:r>
              <a:rPr lang="en-GB" sz="1600" dirty="0">
                <a:solidFill>
                  <a:srgbClr val="0000FF"/>
                </a:solidFill>
                <a:latin typeface="Lucida Console" pitchFamily="49" charset="0"/>
              </a:rPr>
              <a:t>  </a:t>
            </a:r>
            <a:r>
              <a:rPr lang="en-GB" sz="1600" dirty="0">
                <a:solidFill>
                  <a:srgbClr val="0000C8"/>
                </a:solidFill>
                <a:latin typeface="Lucida Console" pitchFamily="49" charset="0"/>
              </a:rPr>
              <a:t>public void</a:t>
            </a:r>
            <a:r>
              <a:rPr lang="en-GB" sz="1600" dirty="0">
                <a:solidFill>
                  <a:srgbClr val="0000FF"/>
                </a:solidFill>
                <a:latin typeface="Lucida Console" pitchFamily="49" charset="0"/>
              </a:rPr>
              <a:t> </a:t>
            </a:r>
            <a:r>
              <a:rPr lang="en-GB" sz="1600" dirty="0">
                <a:solidFill>
                  <a:srgbClr val="FF0000"/>
                </a:solidFill>
                <a:latin typeface="Lucida Console" pitchFamily="49" charset="0"/>
              </a:rPr>
              <a:t>draw</a:t>
            </a: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a:solidFill>
                  <a:srgbClr val="0000C8"/>
                </a:solidFill>
                <a:latin typeface="Lucida Console" pitchFamily="49" charset="0"/>
              </a:rPr>
              <a:t>public </a:t>
            </a:r>
            <a:r>
              <a:rPr lang="en-GB" sz="1600" dirty="0" err="1">
                <a:solidFill>
                  <a:srgbClr val="0000C8"/>
                </a:solidFill>
                <a:latin typeface="Lucida Console" pitchFamily="49" charset="0"/>
              </a:rPr>
              <a:t>int</a:t>
            </a:r>
            <a:r>
              <a:rPr lang="en-GB" sz="1600" dirty="0">
                <a:solidFill>
                  <a:srgbClr val="0000FF"/>
                </a:solidFill>
                <a:latin typeface="Lucida Console" pitchFamily="49" charset="0"/>
              </a:rPr>
              <a:t> </a:t>
            </a:r>
            <a:r>
              <a:rPr lang="en-GB" sz="1600" dirty="0" err="1">
                <a:solidFill>
                  <a:srgbClr val="FF0000"/>
                </a:solidFill>
                <a:latin typeface="Lucida Console" pitchFamily="49" charset="0"/>
              </a:rPr>
              <a:t>compareTo</a:t>
            </a:r>
            <a:r>
              <a:rPr lang="en-GB" sz="1600" dirty="0">
                <a:solidFill>
                  <a:srgbClr val="000000"/>
                </a:solidFill>
                <a:latin typeface="Lucida Console" pitchFamily="49" charset="0"/>
              </a:rPr>
              <a:t>( </a:t>
            </a:r>
            <a:r>
              <a:rPr lang="en-GB" sz="1600" dirty="0">
                <a:latin typeface="Lucida Console" pitchFamily="49" charset="0"/>
              </a:rPr>
              <a:t>Object</a:t>
            </a:r>
            <a:r>
              <a:rPr lang="en-GB" sz="1600" dirty="0">
                <a:solidFill>
                  <a:srgbClr val="000000"/>
                </a:solidFill>
                <a:latin typeface="Lucida Console" pitchFamily="49" charset="0"/>
              </a:rPr>
              <a:t> o )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Rectangle</a:t>
            </a:r>
            <a:r>
              <a:rPr lang="en-GB" sz="1600" dirty="0">
                <a:solidFill>
                  <a:srgbClr val="0000FF"/>
                </a:solidFill>
                <a:latin typeface="Lucida Console" pitchFamily="49" charset="0"/>
              </a:rPr>
              <a:t> </a:t>
            </a:r>
            <a:r>
              <a:rPr lang="en-GB" sz="1600" dirty="0">
                <a:solidFill>
                  <a:srgbClr val="000000"/>
                </a:solidFill>
                <a:latin typeface="Lucida Console" pitchFamily="49" charset="0"/>
              </a:rPr>
              <a:t>r = (Rectangle)o;</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a:solidFill>
                  <a:srgbClr val="0000C8"/>
                </a:solidFill>
                <a:latin typeface="Lucida Console" pitchFamily="49" charset="0"/>
              </a:rPr>
              <a:t>return</a:t>
            </a:r>
            <a:r>
              <a:rPr lang="en-GB" sz="1600" dirty="0">
                <a:solidFill>
                  <a:srgbClr val="0000FF"/>
                </a:solidFill>
                <a:latin typeface="Lucida Console" pitchFamily="49" charset="0"/>
              </a:rPr>
              <a:t> </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p:txBody>
      </p:sp>
      <p:sp>
        <p:nvSpPr>
          <p:cNvPr id="820230" name="Rectangle 6"/>
          <p:cNvSpPr>
            <a:spLocks noChangeArrowheads="1"/>
          </p:cNvSpPr>
          <p:nvPr/>
        </p:nvSpPr>
        <p:spPr bwMode="auto">
          <a:xfrm>
            <a:off x="1914525" y="2224089"/>
            <a:ext cx="4076700" cy="83502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Comparable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compareTo</a:t>
            </a:r>
            <a:r>
              <a:rPr lang="en-GB" sz="1600" dirty="0">
                <a:solidFill>
                  <a:srgbClr val="000000"/>
                </a:solidFill>
                <a:latin typeface="Lucida Console" pitchFamily="49" charset="0"/>
              </a:rPr>
              <a:t>( </a:t>
            </a:r>
            <a:r>
              <a:rPr lang="en-GB" sz="1600" dirty="0">
                <a:latin typeface="Lucida Console" pitchFamily="49" charset="0"/>
              </a:rPr>
              <a:t>Object</a:t>
            </a:r>
            <a:r>
              <a:rPr lang="en-GB" sz="1600" dirty="0">
                <a:solidFill>
                  <a:srgbClr val="000000"/>
                </a:solidFill>
                <a:latin typeface="Lucida Console" pitchFamily="49" charset="0"/>
              </a:rPr>
              <a:t> o1 );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Tree>
    <p:extLst>
      <p:ext uri="{BB962C8B-B14F-4D97-AF65-F5344CB8AC3E}">
        <p14:creationId xmlns:p14="http://schemas.microsoft.com/office/powerpoint/2010/main" val="307950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A65B5B-1413-AFEE-1B19-E1C311D99BC2}"/>
              </a:ext>
            </a:extLst>
          </p:cNvPr>
          <p:cNvSpPr>
            <a:spLocks noGrp="1"/>
          </p:cNvSpPr>
          <p:nvPr>
            <p:ph type="sldNum" sz="quarter" idx="4"/>
          </p:nvPr>
        </p:nvSpPr>
        <p:spPr/>
        <p:txBody>
          <a:bodyPr/>
          <a:lstStyle/>
          <a:p>
            <a:fld id="{EF892D59-8F09-EF4B-AD6D-DA609442F868}" type="slidenum">
              <a:rPr lang="en-GB" smtClean="0"/>
              <a:pPr/>
              <a:t>9</a:t>
            </a:fld>
            <a:endParaRPr lang="en-GB" dirty="0"/>
          </a:p>
        </p:txBody>
      </p:sp>
      <p:sp>
        <p:nvSpPr>
          <p:cNvPr id="3" name="Title 2">
            <a:extLst>
              <a:ext uri="{FF2B5EF4-FFF2-40B4-BE49-F238E27FC236}">
                <a16:creationId xmlns:a16="http://schemas.microsoft.com/office/drawing/2014/main" id="{2B46FBA8-7D51-749A-AE93-EF85E4F8EBDE}"/>
              </a:ext>
            </a:extLst>
          </p:cNvPr>
          <p:cNvSpPr>
            <a:spLocks noGrp="1"/>
          </p:cNvSpPr>
          <p:nvPr>
            <p:ph type="title"/>
          </p:nvPr>
        </p:nvSpPr>
        <p:spPr/>
        <p:txBody>
          <a:bodyPr/>
          <a:lstStyle/>
          <a:p>
            <a:r>
              <a:rPr lang="en-GB" dirty="0"/>
              <a:t>Extending Interfaces</a:t>
            </a:r>
          </a:p>
        </p:txBody>
      </p:sp>
      <p:pic>
        <p:nvPicPr>
          <p:cNvPr id="6" name="Picture 5">
            <a:extLst>
              <a:ext uri="{FF2B5EF4-FFF2-40B4-BE49-F238E27FC236}">
                <a16:creationId xmlns:a16="http://schemas.microsoft.com/office/drawing/2014/main" id="{168F9B9A-F556-86B2-5A3C-918DF879D30D}"/>
              </a:ext>
            </a:extLst>
          </p:cNvPr>
          <p:cNvPicPr>
            <a:picLocks noChangeAspect="1"/>
          </p:cNvPicPr>
          <p:nvPr/>
        </p:nvPicPr>
        <p:blipFill>
          <a:blip r:embed="rId2"/>
          <a:stretch>
            <a:fillRect/>
          </a:stretch>
        </p:blipFill>
        <p:spPr>
          <a:xfrm>
            <a:off x="527050" y="1368256"/>
            <a:ext cx="1943100" cy="4648200"/>
          </a:xfrm>
          <a:prstGeom prst="rect">
            <a:avLst/>
          </a:prstGeom>
        </p:spPr>
      </p:pic>
      <p:sp>
        <p:nvSpPr>
          <p:cNvPr id="8" name="TextBox 7">
            <a:extLst>
              <a:ext uri="{FF2B5EF4-FFF2-40B4-BE49-F238E27FC236}">
                <a16:creationId xmlns:a16="http://schemas.microsoft.com/office/drawing/2014/main" id="{F4C25988-E75E-1F39-3DB1-FEBE36A503FC}"/>
              </a:ext>
            </a:extLst>
          </p:cNvPr>
          <p:cNvSpPr txBox="1"/>
          <p:nvPr/>
        </p:nvSpPr>
        <p:spPr>
          <a:xfrm>
            <a:off x="5513427" y="1544018"/>
            <a:ext cx="6287177" cy="4493538"/>
          </a:xfrm>
          <a:prstGeom prst="rect">
            <a:avLst/>
          </a:prstGeom>
          <a:solidFill>
            <a:schemeClr val="accent5">
              <a:lumMod val="20000"/>
              <a:lumOff val="80000"/>
            </a:schemeClr>
          </a:solidFill>
          <a:effectLst>
            <a:outerShdw blurRad="50800" dist="38100" algn="l" rotWithShape="0">
              <a:prstClr val="black">
                <a:alpha val="40000"/>
              </a:prstClr>
            </a:outerShdw>
          </a:effectLst>
        </p:spPr>
        <p:txBody>
          <a:bodyPr wrap="square">
            <a:spAutoFit/>
          </a:bodyPr>
          <a:lstStyle/>
          <a:p>
            <a:r>
              <a:rPr lang="en-GB" sz="1600" b="1" dirty="0">
                <a:solidFill>
                  <a:srgbClr val="0000FF"/>
                </a:solidFill>
                <a:latin typeface="Cascadia Mono" panose="020B0609020000020004" pitchFamily="49" charset="0"/>
              </a:rPr>
              <a:t>public</a:t>
            </a:r>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class</a:t>
            </a:r>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BankAccount</a:t>
            </a:r>
            <a:r>
              <a:rPr lang="en-GB" sz="1600" b="1" dirty="0">
                <a:solidFill>
                  <a:srgbClr val="000000"/>
                </a:solidFill>
                <a:latin typeface="Cascadia Mono" panose="020B0609020000020004" pitchFamily="49" charset="0"/>
              </a:rPr>
              <a:t> </a:t>
            </a:r>
            <a:r>
              <a:rPr lang="en-GB" sz="2000" b="1" dirty="0">
                <a:solidFill>
                  <a:srgbClr val="7F0055"/>
                </a:solidFill>
                <a:latin typeface="Consolas" panose="020B0609020204030204" pitchFamily="49" charset="0"/>
              </a:rPr>
              <a:t>:</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IAdminAccount</a:t>
            </a:r>
            <a:endParaRPr lang="en-GB" sz="1600" b="1"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a:t>
            </a: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a:t>
            </a:r>
            <a:r>
              <a:rPr lang="en-GB" sz="1400" dirty="0" err="1">
                <a:solidFill>
                  <a:srgbClr val="000000"/>
                </a:solidFill>
                <a:latin typeface="Cascadia Mono" panose="020B0609020000020004" pitchFamily="49" charset="0"/>
              </a:rPr>
              <a:t>changeID</a:t>
            </a:r>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    }</a:t>
            </a:r>
          </a:p>
          <a:p>
            <a:endParaRPr lang="en-GB" sz="1400"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a:t>
            </a:r>
            <a:r>
              <a:rPr lang="en-GB" sz="1400" dirty="0" err="1">
                <a:solidFill>
                  <a:srgbClr val="000000"/>
                </a:solidFill>
                <a:latin typeface="Cascadia Mono" panose="020B0609020000020004" pitchFamily="49" charset="0"/>
              </a:rPr>
              <a:t>closeAccount</a:t>
            </a:r>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    }</a:t>
            </a:r>
          </a:p>
          <a:p>
            <a:endParaRPr lang="en-GB" sz="1400"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a:t>
            </a:r>
            <a:r>
              <a:rPr lang="en-GB" sz="1400" dirty="0" err="1">
                <a:solidFill>
                  <a:srgbClr val="000000"/>
                </a:solidFill>
                <a:latin typeface="Cascadia Mono" panose="020B0609020000020004" pitchFamily="49" charset="0"/>
              </a:rPr>
              <a:t>deposite</a:t>
            </a:r>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    }</a:t>
            </a:r>
          </a:p>
          <a:p>
            <a:endParaRPr lang="en-GB" sz="1400"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a:t>
            </a:r>
            <a:r>
              <a:rPr lang="en-GB" sz="1400" dirty="0" err="1">
                <a:solidFill>
                  <a:srgbClr val="000000"/>
                </a:solidFill>
                <a:latin typeface="Cascadia Mono" panose="020B0609020000020004" pitchFamily="49" charset="0"/>
              </a:rPr>
              <a:t>sendNotification</a:t>
            </a:r>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    }</a:t>
            </a:r>
          </a:p>
          <a:p>
            <a:endParaRPr lang="en-GB" sz="1400"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a:t>
            </a:r>
            <a:r>
              <a:rPr lang="en-GB" sz="1400" dirty="0" err="1">
                <a:solidFill>
                  <a:srgbClr val="000000"/>
                </a:solidFill>
                <a:latin typeface="Cascadia Mono" panose="020B0609020000020004" pitchFamily="49" charset="0"/>
              </a:rPr>
              <a:t>viewStatement</a:t>
            </a:r>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    }</a:t>
            </a:r>
          </a:p>
          <a:p>
            <a:endParaRPr lang="en-GB" sz="1400" dirty="0">
              <a:solidFill>
                <a:srgbClr val="000000"/>
              </a:solidFill>
              <a:latin typeface="Cascadia Mono" panose="020B0609020000020004" pitchFamily="49" charset="0"/>
            </a:endParaRPr>
          </a:p>
          <a:p>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public</a:t>
            </a:r>
            <a:r>
              <a:rPr lang="en-GB" sz="1400" dirty="0">
                <a:solidFill>
                  <a:srgbClr val="000000"/>
                </a:solidFill>
                <a:latin typeface="Cascadia Mono" panose="020B0609020000020004" pitchFamily="49" charset="0"/>
              </a:rPr>
              <a:t> </a:t>
            </a:r>
            <a:r>
              <a:rPr lang="en-GB" sz="1400" dirty="0">
                <a:solidFill>
                  <a:srgbClr val="0000FF"/>
                </a:solidFill>
                <a:latin typeface="Cascadia Mono" panose="020B0609020000020004" pitchFamily="49" charset="0"/>
              </a:rPr>
              <a:t>void</a:t>
            </a:r>
            <a:r>
              <a:rPr lang="en-GB" sz="1400" dirty="0">
                <a:solidFill>
                  <a:srgbClr val="000000"/>
                </a:solidFill>
                <a:latin typeface="Cascadia Mono" panose="020B0609020000020004" pitchFamily="49" charset="0"/>
              </a:rPr>
              <a:t> withdraw() {</a:t>
            </a:r>
          </a:p>
          <a:p>
            <a:r>
              <a:rPr lang="en-GB" sz="1400" dirty="0">
                <a:solidFill>
                  <a:srgbClr val="000000"/>
                </a:solidFill>
                <a:latin typeface="Cascadia Mono" panose="020B0609020000020004" pitchFamily="49" charset="0"/>
              </a:rPr>
              <a:t>    }</a:t>
            </a:r>
          </a:p>
          <a:p>
            <a:r>
              <a:rPr lang="en-GB" sz="1400" dirty="0">
                <a:solidFill>
                  <a:srgbClr val="000000"/>
                </a:solidFill>
                <a:latin typeface="Cascadia Mono" panose="020B0609020000020004" pitchFamily="49" charset="0"/>
              </a:rPr>
              <a:t>}</a:t>
            </a:r>
          </a:p>
        </p:txBody>
      </p:sp>
      <p:pic>
        <p:nvPicPr>
          <p:cNvPr id="10" name="Picture 9">
            <a:extLst>
              <a:ext uri="{FF2B5EF4-FFF2-40B4-BE49-F238E27FC236}">
                <a16:creationId xmlns:a16="http://schemas.microsoft.com/office/drawing/2014/main" id="{63339A75-2618-7BCE-EB4F-635A168C2CB4}"/>
              </a:ext>
            </a:extLst>
          </p:cNvPr>
          <p:cNvPicPr>
            <a:picLocks noChangeAspect="1"/>
          </p:cNvPicPr>
          <p:nvPr/>
        </p:nvPicPr>
        <p:blipFill>
          <a:blip r:embed="rId3"/>
          <a:stretch>
            <a:fillRect/>
          </a:stretch>
        </p:blipFill>
        <p:spPr>
          <a:xfrm>
            <a:off x="2838450" y="4051300"/>
            <a:ext cx="2266950" cy="1333500"/>
          </a:xfrm>
          <a:prstGeom prst="rect">
            <a:avLst/>
          </a:prstGeom>
        </p:spPr>
      </p:pic>
    </p:spTree>
    <p:extLst>
      <p:ext uri="{BB962C8B-B14F-4D97-AF65-F5344CB8AC3E}">
        <p14:creationId xmlns:p14="http://schemas.microsoft.com/office/powerpoint/2010/main" val="3211932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816042" y="1290750"/>
            <a:ext cx="5944918" cy="5239360"/>
          </a:xfrm>
        </p:spPr>
        <p:txBody>
          <a:bodyPr vert="horz" lIns="0" tIns="0" rIns="0" bIns="0" rtlCol="0" anchor="t" anchorCtr="0">
            <a:noAutofit/>
          </a:bodyPr>
          <a:lstStyle/>
          <a:p>
            <a:pPr marL="342900" indent="-342900">
              <a:buChar char="•"/>
            </a:pPr>
            <a:r>
              <a:rPr lang="en-GB" b="1" dirty="0"/>
              <a:t>In this chapter you learned</a:t>
            </a:r>
          </a:p>
          <a:p>
            <a:pPr marL="684000" lvl="1" indent="-342900">
              <a:spcAft>
                <a:spcPts val="650"/>
              </a:spcAft>
              <a:buSzPct val="115000"/>
            </a:pPr>
            <a:r>
              <a:rPr lang="en-GB" dirty="0"/>
              <a:t>What Interfaces are</a:t>
            </a:r>
          </a:p>
          <a:p>
            <a:pPr marL="684000" lvl="1" indent="-342900">
              <a:spcAft>
                <a:spcPts val="650"/>
              </a:spcAft>
              <a:buSzPct val="115000"/>
            </a:pPr>
            <a:r>
              <a:rPr lang="en-GB" dirty="0"/>
              <a:t>How to implement an interface</a:t>
            </a:r>
          </a:p>
          <a:p>
            <a:pPr marL="684000" lvl="1" indent="-342900">
              <a:spcAft>
                <a:spcPts val="650"/>
              </a:spcAft>
              <a:buSzPct val="115000"/>
            </a:pPr>
            <a:r>
              <a:rPr lang="en-GB" dirty="0"/>
              <a:t>Polymorphism with interfaces</a:t>
            </a:r>
          </a:p>
        </p:txBody>
      </p:sp>
      <p:pic>
        <p:nvPicPr>
          <p:cNvPr id="2" name="Picture 2" descr="Reviews - Web Sites: Recommended - Research Guides at Thrift Library">
            <a:extLst>
              <a:ext uri="{FF2B5EF4-FFF2-40B4-BE49-F238E27FC236}">
                <a16:creationId xmlns:a16="http://schemas.microsoft.com/office/drawing/2014/main" id="{1F1B45A8-845F-BB75-2104-19F7D0B63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9360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2213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1DC4093-FCB0-4EA6-8DFE-E2A283E14560}"/>
              </a:ext>
            </a:extLst>
          </p:cNvPr>
          <p:cNvSpPr>
            <a:spLocks noGrp="1"/>
          </p:cNvSpPr>
          <p:nvPr>
            <p:ph type="body" sz="quarter" idx="10"/>
          </p:nvPr>
        </p:nvSpPr>
        <p:spPr/>
        <p:txBody>
          <a:bodyPr/>
          <a:lstStyle/>
          <a:p>
            <a:r>
              <a:rPr lang="en-GB" dirty="0"/>
              <a:t>Labs</a:t>
            </a:r>
          </a:p>
        </p:txBody>
      </p:sp>
      <p:graphicFrame>
        <p:nvGraphicFramePr>
          <p:cNvPr id="7" name="Text Placeholder 1">
            <a:extLst>
              <a:ext uri="{FF2B5EF4-FFF2-40B4-BE49-F238E27FC236}">
                <a16:creationId xmlns:a16="http://schemas.microsoft.com/office/drawing/2014/main" id="{D31266FF-1381-7EE3-21F0-4DB6ED4EF603}"/>
              </a:ext>
            </a:extLst>
          </p:cNvPr>
          <p:cNvGraphicFramePr/>
          <p:nvPr>
            <p:extLst>
              <p:ext uri="{D42A27DB-BD31-4B8C-83A1-F6EECF244321}">
                <p14:modId xmlns:p14="http://schemas.microsoft.com/office/powerpoint/2010/main" val="471985225"/>
              </p:ext>
            </p:extLst>
          </p:nvPr>
        </p:nvGraphicFramePr>
        <p:xfrm>
          <a:off x="4710058" y="1616037"/>
          <a:ext cx="6565582" cy="3773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94113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CA8464-660D-407C-9BC6-65570507D9BC}">
  <ds:schemaRefs>
    <ds:schemaRef ds:uri="http://schemas.microsoft.com/office/2006/documentManagement/types"/>
    <ds:schemaRef ds:uri="http://purl.org/dc/dcmitype/"/>
    <ds:schemaRef ds:uri="6794D9DE-4FDF-4DC0-8B2C-5438320C69D5"/>
    <ds:schemaRef ds:uri="http://schemas.microsoft.com/office/2006/metadata/properties"/>
    <ds:schemaRef ds:uri="http://purl.org/dc/terms/"/>
    <ds:schemaRef ds:uri="http://purl.org/dc/elements/1.1/"/>
    <ds:schemaRef ds:uri="http://schemas.openxmlformats.org/package/2006/metadata/core-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F5EE1230-8E06-4B7E-922E-37040E46E781}">
  <ds:schemaRefs>
    <ds:schemaRef ds:uri="http://schemas.microsoft.com/sharepoint/v3/contenttype/forms"/>
  </ds:schemaRefs>
</ds:datastoreItem>
</file>

<file path=customXml/itemProps3.xml><?xml version="1.0" encoding="utf-8"?>
<ds:datastoreItem xmlns:ds="http://schemas.openxmlformats.org/officeDocument/2006/customXml" ds:itemID="{BA980A2A-027D-4974-B588-4101B49F52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1139</Words>
  <Application>Microsoft Office PowerPoint</Application>
  <PresentationFormat>Widescreen</PresentationFormat>
  <Paragraphs>162</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Cascadia Mono</vt:lpstr>
      <vt:lpstr>Consolas</vt:lpstr>
      <vt:lpstr>Krana Fat B</vt:lpstr>
      <vt:lpstr>Lucida Console</vt:lpstr>
      <vt:lpstr>Montserrat</vt:lpstr>
      <vt:lpstr>Wingdings</vt:lpstr>
      <vt:lpstr>Master</vt:lpstr>
      <vt:lpstr>Interfaces</vt:lpstr>
      <vt:lpstr>PowerPoint Presentation</vt:lpstr>
      <vt:lpstr>Interface shows the capabilities of the class which implements it</vt:lpstr>
      <vt:lpstr>Interfaces</vt:lpstr>
      <vt:lpstr>Defining an interface type</vt:lpstr>
      <vt:lpstr>Implementing an interface</vt:lpstr>
      <vt:lpstr>Polymorphism again</vt:lpstr>
      <vt:lpstr>Multiple interfaces</vt:lpstr>
      <vt:lpstr>Extending Interfaces</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251</cp:revision>
  <cp:lastPrinted>2019-07-03T09:46:41Z</cp:lastPrinted>
  <dcterms:created xsi:type="dcterms:W3CDTF">2019-09-05T08:17:12Z</dcterms:created>
  <dcterms:modified xsi:type="dcterms:W3CDTF">2025-12-05T08:30:04Z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