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776" r:id="rId5"/>
    <p:sldId id="790" r:id="rId6"/>
    <p:sldId id="791" r:id="rId7"/>
    <p:sldId id="792" r:id="rId8"/>
    <p:sldId id="793" r:id="rId9"/>
    <p:sldId id="796" r:id="rId10"/>
    <p:sldId id="797" r:id="rId11"/>
    <p:sldId id="824" r:id="rId12"/>
    <p:sldId id="823" r:id="rId13"/>
  </p:sldIdLst>
  <p:sldSz cx="12192000" cy="6858000"/>
  <p:notesSz cx="6645275" cy="9775825"/>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776"/>
            <p14:sldId id="790"/>
            <p14:sldId id="791"/>
            <p14:sldId id="792"/>
            <p14:sldId id="793"/>
            <p14:sldId id="796"/>
            <p14:sldId id="797"/>
            <p14:sldId id="824"/>
            <p14:sldId id="823"/>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7E007C"/>
    <a:srgbClr val="09EDB8"/>
    <a:srgbClr val="F3622C"/>
    <a:srgbClr val="FDE0D5"/>
    <a:srgbClr val="28CFF9"/>
    <a:srgbClr val="F91258"/>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60" autoAdjust="0"/>
    <p:restoredTop sz="71630" autoAdjust="0"/>
  </p:normalViewPr>
  <p:slideViewPr>
    <p:cSldViewPr snapToGrid="0" snapToObjects="1" showGuides="1">
      <p:cViewPr varScale="1">
        <p:scale>
          <a:sx n="73" d="100"/>
          <a:sy n="73" d="100"/>
        </p:scale>
        <p:origin x="960" y="294"/>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3156" y="12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    Abstract classes</a:t>
          </a:r>
          <a:endParaRPr lang="en-US" sz="16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30 minutes</a:t>
          </a:r>
          <a:endParaRPr lang="en-US" sz="2400" b="0"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custScaleX="117685" custLinFactNeighborX="5708" custLinFactNeighborY="5955">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custLinFactNeighborX="984"/>
      <dgm:spPr/>
    </dgm:pt>
    <dgm:pt modelId="{319A5AB9-5146-4CC8-9B3C-F5994CAAC7CB}" type="pres">
      <dgm:prSet presAssocID="{EB544CAE-C268-4556-8B77-B6AF41E0C21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231310" y="618168"/>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109802" y="871888"/>
          <a:ext cx="620205" cy="6202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605952" y="685319"/>
          <a:ext cx="6190939"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    Abstract classes</a:t>
          </a:r>
          <a:endParaRPr lang="en-US" sz="1600" b="1" kern="1200" dirty="0"/>
        </a:p>
      </dsp:txBody>
      <dsp:txXfrm>
        <a:off x="605952" y="685319"/>
        <a:ext cx="6190939" cy="1127646"/>
      </dsp:txXfrm>
    </dsp:sp>
    <dsp:sp modelId="{A30C6321-6940-4E9D-84D1-CFF719883A23}">
      <dsp:nvSpPr>
        <dsp:cNvPr id="0" name=""/>
        <dsp:cNvSpPr/>
      </dsp:nvSpPr>
      <dsp:spPr>
        <a:xfrm>
          <a:off x="-166705" y="2027726"/>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109802" y="2281447"/>
          <a:ext cx="620205" cy="6202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071121" y="2027726"/>
          <a:ext cx="5260602"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Duration 30 minutes</a:t>
          </a:r>
          <a:endParaRPr lang="en-US" sz="2400" b="0" kern="1200" dirty="0"/>
        </a:p>
      </dsp:txBody>
      <dsp:txXfrm>
        <a:off x="1071121" y="2027726"/>
        <a:ext cx="5260602" cy="112764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04/12/2025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04/12/2025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110649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p:spPr>
        <p:txBody>
          <a:bodyPr/>
          <a:lstStyle/>
          <a:p>
            <a:r>
              <a:rPr lang="en-GB" dirty="0"/>
              <a:t>So far, you have learned how to extend a class to provide more specialised derived classes with more functionality. In this chapter, we are going to look at how to design and implement higher-level abstract classes that derived classes can use. We will also look at interfaces, which are collections of abstract methods.</a:t>
            </a:r>
          </a:p>
          <a:p>
            <a:r>
              <a:rPr lang="en-GB" dirty="0"/>
              <a:t>By the end of this chapter, you will be able to:</a:t>
            </a:r>
          </a:p>
          <a:p>
            <a:pPr marL="619125" lvl="1" indent="-171450">
              <a:buFont typeface="Arial" panose="020B0604020202020204" pitchFamily="34" charset="0"/>
              <a:buChar char="•"/>
            </a:pPr>
            <a:r>
              <a:rPr lang="en-GB" dirty="0"/>
              <a:t>Design and implement an abstract class</a:t>
            </a:r>
          </a:p>
          <a:p>
            <a:pPr marL="619125" lvl="1" indent="-171450">
              <a:buFont typeface="Arial" panose="020B0604020202020204" pitchFamily="34" charset="0"/>
              <a:buChar char="•"/>
            </a:pPr>
            <a:r>
              <a:rPr lang="en-GB" dirty="0"/>
              <a:t>Define and use an interface</a:t>
            </a:r>
          </a:p>
          <a:p>
            <a:r>
              <a:rPr lang="en-GB" dirty="0"/>
              <a:t> </a:t>
            </a:r>
          </a:p>
        </p:txBody>
      </p:sp>
    </p:spTree>
    <p:extLst>
      <p:ext uri="{BB962C8B-B14F-4D97-AF65-F5344CB8AC3E}">
        <p14:creationId xmlns:p14="http://schemas.microsoft.com/office/powerpoint/2010/main" val="1079345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p:spPr>
        <p:txBody>
          <a:bodyPr/>
          <a:lstStyle/>
          <a:p>
            <a:r>
              <a:rPr lang="en-GB" dirty="0"/>
              <a:t>In the code above, </a:t>
            </a:r>
            <a:r>
              <a:rPr lang="en-GB" baseline="0" dirty="0"/>
              <a:t>Account is initially defined without a withdraw(</a:t>
            </a:r>
            <a:r>
              <a:rPr lang="en-GB" baseline="0" dirty="0" err="1"/>
              <a:t>int</a:t>
            </a:r>
            <a:r>
              <a:rPr lang="en-GB" baseline="0" dirty="0"/>
              <a:t> amt) method.</a:t>
            </a:r>
          </a:p>
          <a:p>
            <a:r>
              <a:rPr lang="en-GB" baseline="0" dirty="0"/>
              <a:t>The result of this is the derived classes would not actually be allowed to override (nothing to override) and the ‘</a:t>
            </a:r>
            <a:r>
              <a:rPr lang="en-GB" baseline="0" dirty="0" err="1"/>
              <a:t>foreach</a:t>
            </a:r>
            <a:r>
              <a:rPr lang="en-GB" baseline="0" dirty="0"/>
              <a:t>’ loop that processes the accounts is using a loop variable ‘a’ whose type is Account and therefore no </a:t>
            </a:r>
            <a:r>
              <a:rPr lang="en-GB" baseline="0" dirty="0" err="1"/>
              <a:t>withDraw</a:t>
            </a:r>
            <a:r>
              <a:rPr lang="en-GB" baseline="0" dirty="0"/>
              <a:t>() method is callable.</a:t>
            </a:r>
          </a:p>
          <a:p>
            <a:r>
              <a:rPr lang="en-GB" baseline="0" dirty="0"/>
              <a:t>If the base class offered public void </a:t>
            </a:r>
            <a:r>
              <a:rPr lang="en-GB" baseline="0" dirty="0" err="1"/>
              <a:t>withDraw</a:t>
            </a:r>
            <a:r>
              <a:rPr lang="en-GB" baseline="0" dirty="0"/>
              <a:t>(</a:t>
            </a:r>
            <a:r>
              <a:rPr lang="en-GB" baseline="0" dirty="0" err="1"/>
              <a:t>int</a:t>
            </a:r>
            <a:r>
              <a:rPr lang="en-GB" baseline="0" dirty="0"/>
              <a:t> amt) {} then derived classes could override and provide a real implementation, but would not be forced to. A new sort of derived Account class could simply inherit the useless empty one in Account which would appear to ‘work’ but do nothing.</a:t>
            </a:r>
          </a:p>
          <a:p>
            <a:r>
              <a:rPr lang="en-GB" baseline="0" dirty="0"/>
              <a:t>What we need is ‘must be overridden’ in all future derived types – bearing in mind that when Account is authored there cannot be any derived types in existence. This is achieved by defining methods with no implementation, no code block, simply a semi colon instead.</a:t>
            </a:r>
          </a:p>
          <a:p>
            <a:r>
              <a:rPr lang="en-GB" baseline="0" dirty="0"/>
              <a:t>The compiler then demands that it is decorated with the ‘abstract’ modifier and then requires that the class itself is marked as abstract.</a:t>
            </a:r>
          </a:p>
          <a:p>
            <a:r>
              <a:rPr lang="en-GB" baseline="0" dirty="0"/>
              <a:t>This then stops the class being instantiated – good, and forces all derived classes to either </a:t>
            </a:r>
            <a:r>
              <a:rPr lang="en-GB" dirty="0"/>
              <a:t> </a:t>
            </a:r>
            <a:r>
              <a:rPr lang="en-GB" baseline="0" dirty="0"/>
              <a:t>a) provide an implementation of every abstract method of their base classes or b) implement just some of them and mark themselves as abstract (although perhaps not as abstract as their base type was).</a:t>
            </a:r>
          </a:p>
          <a:p>
            <a:r>
              <a:rPr lang="en-GB" baseline="0" dirty="0"/>
              <a:t>Anyone processing a collection of the base type is then 100% happy because of the type safety that whatever ends up being on the end of the base type reference is an instance of a class that derives from the base type and implements every method.</a:t>
            </a:r>
            <a:endParaRPr lang="en-GB" dirty="0"/>
          </a:p>
        </p:txBody>
      </p:sp>
    </p:spTree>
    <p:extLst>
      <p:ext uri="{BB962C8B-B14F-4D97-AF65-F5344CB8AC3E}">
        <p14:creationId xmlns:p14="http://schemas.microsoft.com/office/powerpoint/2010/main" val="2676598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p:spPr>
        <p:txBody>
          <a:bodyPr/>
          <a:lstStyle/>
          <a:p>
            <a:r>
              <a:rPr lang="en-GB" dirty="0"/>
              <a:t>In the code above, </a:t>
            </a:r>
            <a:r>
              <a:rPr lang="en-GB" baseline="0" dirty="0"/>
              <a:t>Account is initially defined without a withdraw(</a:t>
            </a:r>
            <a:r>
              <a:rPr lang="en-GB" baseline="0" dirty="0" err="1"/>
              <a:t>int</a:t>
            </a:r>
            <a:r>
              <a:rPr lang="en-GB" baseline="0" dirty="0"/>
              <a:t> amt) method.</a:t>
            </a:r>
          </a:p>
          <a:p>
            <a:r>
              <a:rPr lang="en-GB" baseline="0" dirty="0"/>
              <a:t>The result of this is the derived classes would not actually be allowed to override (nothing to override) and the ‘</a:t>
            </a:r>
            <a:r>
              <a:rPr lang="en-GB" baseline="0" dirty="0" err="1"/>
              <a:t>foreach</a:t>
            </a:r>
            <a:r>
              <a:rPr lang="en-GB" baseline="0" dirty="0"/>
              <a:t>’ loop that processes the accounts is using a loop variable ‘a’ whose type is Account and therefore no </a:t>
            </a:r>
            <a:r>
              <a:rPr lang="en-GB" baseline="0" dirty="0" err="1"/>
              <a:t>withDraw</a:t>
            </a:r>
            <a:r>
              <a:rPr lang="en-GB" baseline="0" dirty="0"/>
              <a:t>() method is callable.</a:t>
            </a:r>
          </a:p>
          <a:p>
            <a:r>
              <a:rPr lang="en-GB" baseline="0" dirty="0"/>
              <a:t>If the base class offered public void withdraw(</a:t>
            </a:r>
            <a:r>
              <a:rPr lang="en-GB" baseline="0" dirty="0" err="1"/>
              <a:t>int</a:t>
            </a:r>
            <a:r>
              <a:rPr lang="en-GB" baseline="0" dirty="0"/>
              <a:t> amt) {} then derived classes could override and provide a real implementation, but would not be forced to. A new sort of derived Account class could simply inherit the useless empty one in Account which would appear to ‘work’ but do nothing.</a:t>
            </a:r>
          </a:p>
          <a:p>
            <a:r>
              <a:rPr lang="en-GB" baseline="0" dirty="0"/>
              <a:t>What we need is ‘must be overridden’ in all future derived types – bearing in mind that when Account is authored there cannot be any derived types in existence. This is achieved by defining methods with no implementation, no code block, simply a semi colon instead.</a:t>
            </a:r>
          </a:p>
          <a:p>
            <a:r>
              <a:rPr lang="en-GB" baseline="0" dirty="0"/>
              <a:t>The compiler then demands that it is decorated with the ‘abstract’ modifier and then requires that the class itself is marked as abstract.</a:t>
            </a:r>
          </a:p>
          <a:p>
            <a:r>
              <a:rPr lang="en-GB" baseline="0" dirty="0"/>
              <a:t>This then stops the class being instantiated – good, and forces all derived classes to either </a:t>
            </a:r>
            <a:r>
              <a:rPr lang="en-GB" dirty="0"/>
              <a:t> </a:t>
            </a:r>
            <a:r>
              <a:rPr lang="en-GB" baseline="0" dirty="0"/>
              <a:t>a) provide an implementation of every abstract method of their base classes or b) implement just some of them and mark themselves as abstract (although perhaps not as abstract as their base type was).</a:t>
            </a:r>
          </a:p>
          <a:p>
            <a:r>
              <a:rPr lang="en-GB" baseline="0" dirty="0"/>
              <a:t>Anyone processing a collection of the base type is then 100% happy because of the type safety that whatever ends up being on the end of the base type reference is an instance of a class that derives from the base type and implements every method.</a:t>
            </a:r>
            <a:endParaRPr lang="en-GB" dirty="0"/>
          </a:p>
        </p:txBody>
      </p:sp>
    </p:spTree>
    <p:extLst>
      <p:ext uri="{BB962C8B-B14F-4D97-AF65-F5344CB8AC3E}">
        <p14:creationId xmlns:p14="http://schemas.microsoft.com/office/powerpoint/2010/main" val="891514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p:spPr>
        <p:txBody>
          <a:bodyPr/>
          <a:lstStyle/>
          <a:p>
            <a:r>
              <a:rPr lang="en-GB" dirty="0"/>
              <a:t>In the code above, </a:t>
            </a:r>
            <a:r>
              <a:rPr lang="en-GB" baseline="0" dirty="0"/>
              <a:t>Account is initially defined without a </a:t>
            </a:r>
            <a:r>
              <a:rPr lang="en-GB" baseline="0" dirty="0" err="1"/>
              <a:t>withDraw</a:t>
            </a:r>
            <a:r>
              <a:rPr lang="en-GB" baseline="0" dirty="0"/>
              <a:t>(</a:t>
            </a:r>
            <a:r>
              <a:rPr lang="en-GB" baseline="0" dirty="0" err="1"/>
              <a:t>int</a:t>
            </a:r>
            <a:r>
              <a:rPr lang="en-GB" baseline="0" dirty="0"/>
              <a:t> amt) method.</a:t>
            </a:r>
          </a:p>
          <a:p>
            <a:r>
              <a:rPr lang="en-GB" baseline="0" dirty="0"/>
              <a:t>The result of this is the derived classes would not actually be allowed to override (nothing to override) and the ‘</a:t>
            </a:r>
            <a:r>
              <a:rPr lang="en-GB" baseline="0" dirty="0" err="1"/>
              <a:t>foreach</a:t>
            </a:r>
            <a:r>
              <a:rPr lang="en-GB" baseline="0" dirty="0"/>
              <a:t>’ loop that processes the accounts is using a loop variable ‘a’ whose type is Account and therefore no </a:t>
            </a:r>
            <a:r>
              <a:rPr lang="en-GB" baseline="0" dirty="0" err="1"/>
              <a:t>withDraw</a:t>
            </a:r>
            <a:r>
              <a:rPr lang="en-GB" baseline="0" dirty="0"/>
              <a:t>() method is callable.</a:t>
            </a:r>
          </a:p>
          <a:p>
            <a:r>
              <a:rPr lang="en-GB" baseline="0" dirty="0"/>
              <a:t>If the base class offered public void </a:t>
            </a:r>
            <a:r>
              <a:rPr lang="en-GB" baseline="0" dirty="0" err="1"/>
              <a:t>withDraw</a:t>
            </a:r>
            <a:r>
              <a:rPr lang="en-GB" baseline="0" dirty="0"/>
              <a:t>(</a:t>
            </a:r>
            <a:r>
              <a:rPr lang="en-GB" baseline="0" dirty="0" err="1"/>
              <a:t>int</a:t>
            </a:r>
            <a:r>
              <a:rPr lang="en-GB" baseline="0" dirty="0"/>
              <a:t> amt) {} then derived classes could override and provide a real implementation, but would not be forced to. A new sort of derived Account class could simply inherit the useless empty one in Account which would appear to ‘work’ but do nothing.</a:t>
            </a:r>
          </a:p>
          <a:p>
            <a:r>
              <a:rPr lang="en-GB" baseline="0" dirty="0"/>
              <a:t>What we need is ‘must be overridden’ in all future derived types – bearing in mind that when Account is authored there cannot be any derived types in existence. This is achieved by defining methods with no implementation, no code block, simply a semi colon instead.</a:t>
            </a:r>
          </a:p>
          <a:p>
            <a:r>
              <a:rPr lang="en-GB" baseline="0" dirty="0"/>
              <a:t>The compiler then demands that it is decorated with the ‘abstract’ modifier and then requires that the class itself is marked as abstract.</a:t>
            </a:r>
          </a:p>
          <a:p>
            <a:r>
              <a:rPr lang="en-GB" baseline="0" dirty="0"/>
              <a:t>This then stops the class being instantiated – good, and forces all derived classes to either </a:t>
            </a:r>
            <a:r>
              <a:rPr lang="en-GB" dirty="0"/>
              <a:t> </a:t>
            </a:r>
            <a:r>
              <a:rPr lang="en-GB" baseline="0" dirty="0"/>
              <a:t>a) provide an implementation of every abstract method of their base classes or b) implement just some of them and mark themselves as abstract (although perhaps not as abstract as their base type was).</a:t>
            </a:r>
          </a:p>
          <a:p>
            <a:r>
              <a:rPr lang="en-GB" baseline="0" dirty="0"/>
              <a:t>Anyone processing a collection of the base type is then 100% happy because of the type safety that whatever ends up being on the end of the base type reference is an instance of a class that derives from the base type and implements every method.</a:t>
            </a:r>
          </a:p>
          <a:p>
            <a:endParaRPr lang="en-GB" dirty="0"/>
          </a:p>
          <a:p>
            <a:r>
              <a:rPr lang="en-GB" dirty="0"/>
              <a:t>When you design a set of classes, it is often a good idea to factor out as much common data and behaviour as possible into a shared base class. If this base class becomes so general or abstract that it is used only as a framework by derived classes and is never instantiated, that class is known as an abstract class. </a:t>
            </a:r>
          </a:p>
          <a:p>
            <a:r>
              <a:rPr lang="en-GB" dirty="0"/>
              <a:t>For example, the author of the Shape class that we were looking at in the last chapter has no real idea of how a specific shape will be drawn, nor can they possibly know how to calculate the area of a specific shape. However, they can determine that shapes can be drawn or have their area calculated. Thus, they can add an abstract definition of this behaviour without actually providing any implementation at all. The derived classes can then replace (by implementing) the abstract with a concrete implementation.</a:t>
            </a:r>
          </a:p>
          <a:p>
            <a:r>
              <a:rPr lang="en-GB" dirty="0"/>
              <a:t>A class can be declared as abstract using the abstract keyword as shown in the example on the slide. It can contain anything a normal class can contain, such as instance variables and instance methods, plus usually some abstract methods. </a:t>
            </a:r>
          </a:p>
          <a:p>
            <a:endParaRPr lang="en-GB" dirty="0"/>
          </a:p>
        </p:txBody>
      </p:sp>
    </p:spTree>
    <p:extLst>
      <p:ext uri="{BB962C8B-B14F-4D97-AF65-F5344CB8AC3E}">
        <p14:creationId xmlns:p14="http://schemas.microsoft.com/office/powerpoint/2010/main" val="2543330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p:spPr>
        <p:txBody>
          <a:bodyPr/>
          <a:lstStyle/>
          <a:p>
            <a:r>
              <a:rPr lang="en-GB" dirty="0"/>
              <a:t>As you would expect, you can use a reference to an abstract base class to refer to objects of a concrete derived class. Remember that you cannot instantiate an abstract base class, but there is nothing to stop you invoking abstract methods </a:t>
            </a:r>
            <a:r>
              <a:rPr lang="en-GB" dirty="0" err="1"/>
              <a:t>polymorphically</a:t>
            </a:r>
            <a:r>
              <a:rPr lang="en-GB" dirty="0"/>
              <a:t>, as you know that the method from the concrete class will be called at run-time.</a:t>
            </a:r>
          </a:p>
          <a:p>
            <a:r>
              <a:rPr lang="en-GB" dirty="0"/>
              <a:t>As you use the IDE you will note that when coding a method like </a:t>
            </a:r>
            <a:r>
              <a:rPr lang="en-GB" dirty="0" err="1"/>
              <a:t>processShape</a:t>
            </a:r>
            <a:r>
              <a:rPr lang="en-GB" dirty="0"/>
              <a:t> when you type the line s.&lt;dot&gt; and see ‘draw’ appear there is nothing in the </a:t>
            </a:r>
            <a:r>
              <a:rPr lang="en-GB" dirty="0" err="1"/>
              <a:t>Intellisense</a:t>
            </a:r>
            <a:r>
              <a:rPr lang="en-GB" dirty="0"/>
              <a:t> that suggests the method that you are invoking</a:t>
            </a:r>
            <a:r>
              <a:rPr lang="en-GB" baseline="0" dirty="0"/>
              <a:t> is abstract. The reason being you, as the client code developer, just do not need to know. You can be 100% certain that if this code ever runs, the object on the end of the ‘s’ reference will have a draw() method or the class (of this unknown shape derived type) would never have compiled.  </a:t>
            </a:r>
            <a:endParaRPr lang="en-GB" dirty="0"/>
          </a:p>
          <a:p>
            <a:endParaRPr lang="en-GB" dirty="0"/>
          </a:p>
          <a:p>
            <a:endParaRPr lang="en-GB" dirty="0"/>
          </a:p>
        </p:txBody>
      </p:sp>
    </p:spTree>
    <p:extLst>
      <p:ext uri="{BB962C8B-B14F-4D97-AF65-F5344CB8AC3E}">
        <p14:creationId xmlns:p14="http://schemas.microsoft.com/office/powerpoint/2010/main" val="3127028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p:spPr>
        <p:txBody>
          <a:bodyPr/>
          <a:lstStyle/>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2280072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12350388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07571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974439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print"/>
          <a:srcRect b="6922"/>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6966" y="785794"/>
            <a:ext cx="965844" cy="707136"/>
          </a:xfrm>
          <a:prstGeom prst="rect">
            <a:avLst/>
          </a:prstGeom>
        </p:spPr>
      </p:pic>
    </p:spTree>
    <p:extLst>
      <p:ext uri="{BB962C8B-B14F-4D97-AF65-F5344CB8AC3E}">
        <p14:creationId xmlns:p14="http://schemas.microsoft.com/office/powerpoint/2010/main" val="23515748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3" r:id="rId35"/>
    <p:sldLayoutId id="2147483905" r:id="rId36"/>
    <p:sldLayoutId id="2147483906" r:id="rId37"/>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Abstract Classes</a:t>
            </a:r>
            <a:endParaRPr lang="en-IN" dirty="0"/>
          </a:p>
        </p:txBody>
      </p:sp>
    </p:spTree>
    <p:extLst>
      <p:ext uri="{BB962C8B-B14F-4D97-AF65-F5344CB8AC3E}">
        <p14:creationId xmlns:p14="http://schemas.microsoft.com/office/powerpoint/2010/main" val="1579694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Abstract Classes</a:t>
            </a:r>
            <a:endParaRPr lang="en-IN" dirty="0"/>
          </a:p>
        </p:txBody>
      </p:sp>
      <p:sp>
        <p:nvSpPr>
          <p:cNvPr id="3" name="Text Placeholder 2"/>
          <p:cNvSpPr>
            <a:spLocks noGrp="1"/>
          </p:cNvSpPr>
          <p:nvPr>
            <p:ph type="body" sz="quarter" idx="15"/>
          </p:nvPr>
        </p:nvSpPr>
        <p:spPr>
          <a:xfrm>
            <a:off x="5037138" y="1349984"/>
            <a:ext cx="6548726" cy="4427361"/>
          </a:xfrm>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Improve design by using abstract classes</a:t>
            </a:r>
          </a:p>
          <a:p>
            <a:pPr marL="342900" indent="-342900">
              <a:buChar char="•"/>
            </a:pPr>
            <a:endParaRPr lang="en-GB" b="1" dirty="0"/>
          </a:p>
          <a:p>
            <a:pPr marL="342900" indent="-342900">
              <a:buChar char="•"/>
            </a:pPr>
            <a:r>
              <a:rPr lang="en-GB" b="1" dirty="0"/>
              <a:t>Contents</a:t>
            </a:r>
          </a:p>
          <a:p>
            <a:pPr marL="684000" lvl="1" indent="-342900">
              <a:buSzPct val="115000"/>
            </a:pPr>
            <a:r>
              <a:rPr lang="en-GB" dirty="0"/>
              <a:t>The problem if we have no abstract classes</a:t>
            </a:r>
          </a:p>
          <a:p>
            <a:pPr marL="684000" lvl="1" indent="-342900">
              <a:buSzPct val="115000"/>
            </a:pPr>
            <a:r>
              <a:rPr lang="en-GB" dirty="0"/>
              <a:t>Abstract classes with abstract members</a:t>
            </a:r>
          </a:p>
          <a:p>
            <a:pPr marL="684000" lvl="1" indent="-342900">
              <a:buSzPct val="115000"/>
            </a:pPr>
            <a:r>
              <a:rPr lang="en-GB" dirty="0"/>
              <a:t>Polymorphism</a:t>
            </a:r>
          </a:p>
          <a:p>
            <a:pPr marL="342900" indent="-342900">
              <a:buChar char="•"/>
            </a:pPr>
            <a:endParaRPr lang="en-GB" b="1" dirty="0"/>
          </a:p>
          <a:p>
            <a:pPr marL="342900" indent="-342900">
              <a:buChar char="•"/>
            </a:pPr>
            <a:r>
              <a:rPr lang="en-GB" b="1" dirty="0"/>
              <a:t>Hands-on labs</a:t>
            </a:r>
          </a:p>
          <a:p>
            <a:pPr marL="684000" lvl="1" indent="-342900">
              <a:buSzPct val="115000"/>
            </a:pPr>
            <a:r>
              <a:rPr lang="en-GB" dirty="0"/>
              <a:t>Implementing interfaces</a:t>
            </a:r>
          </a:p>
          <a:p>
            <a:pPr marL="342900" indent="-342900">
              <a:buChar char="•"/>
            </a:pPr>
            <a:endParaRPr lang="en-IN" b="1" dirty="0"/>
          </a:p>
        </p:txBody>
      </p:sp>
      <p:sp>
        <p:nvSpPr>
          <p:cNvPr id="4" name="Rectangle 3" descr="Document">
            <a:extLst>
              <a:ext uri="{FF2B5EF4-FFF2-40B4-BE49-F238E27FC236}">
                <a16:creationId xmlns:a16="http://schemas.microsoft.com/office/drawing/2014/main" id="{0C0FF955-9A97-FDF8-D320-D4CA13C0DD09}"/>
              </a:ext>
            </a:extLst>
          </p:cNvPr>
          <p:cNvSpPr/>
          <p:nvPr/>
        </p:nvSpPr>
        <p:spPr>
          <a:xfrm>
            <a:off x="4215204" y="2981387"/>
            <a:ext cx="796640" cy="70012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5" name="Rectangle 4" descr="Bullseye">
            <a:extLst>
              <a:ext uri="{FF2B5EF4-FFF2-40B4-BE49-F238E27FC236}">
                <a16:creationId xmlns:a16="http://schemas.microsoft.com/office/drawing/2014/main" id="{6FD727B8-C3CD-5876-73F7-52B66082AB41}"/>
              </a:ext>
            </a:extLst>
          </p:cNvPr>
          <p:cNvSpPr/>
          <p:nvPr/>
        </p:nvSpPr>
        <p:spPr>
          <a:xfrm>
            <a:off x="4235524" y="1548827"/>
            <a:ext cx="796640" cy="80172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32133147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sz="quarter" idx="10"/>
          </p:nvPr>
        </p:nvSpPr>
        <p:spPr/>
        <p:txBody>
          <a:bodyPr/>
          <a:lstStyle/>
          <a:p>
            <a:r>
              <a:rPr lang="en-GB" dirty="0"/>
              <a:t>What are abstract classes</a:t>
            </a:r>
            <a:endParaRPr lang="en-IN" dirty="0"/>
          </a:p>
        </p:txBody>
      </p:sp>
      <p:sp>
        <p:nvSpPr>
          <p:cNvPr id="12" name="Text Placeholder 11"/>
          <p:cNvSpPr>
            <a:spLocks noGrp="1"/>
          </p:cNvSpPr>
          <p:nvPr>
            <p:ph type="body" sz="quarter" idx="15"/>
          </p:nvPr>
        </p:nvSpPr>
        <p:spPr>
          <a:xfrm>
            <a:off x="4484318" y="770401"/>
            <a:ext cx="7465512" cy="5478000"/>
          </a:xfrm>
        </p:spPr>
        <p:txBody>
          <a:bodyPr/>
          <a:lstStyle/>
          <a:p>
            <a:pPr marL="342900" indent="-342900">
              <a:buFont typeface="Arial" panose="020B0604020202020204" pitchFamily="34" charset="0"/>
              <a:buChar char="•"/>
            </a:pPr>
            <a:r>
              <a:rPr lang="en-GB" b="1" dirty="0"/>
              <a:t>You would not create and draw a shape</a:t>
            </a:r>
          </a:p>
          <a:p>
            <a:pPr marL="684000" lvl="1" indent="-342900">
              <a:buSzPct val="115000"/>
            </a:pPr>
            <a:r>
              <a:rPr lang="en-GB" dirty="0"/>
              <a:t>You draw a derived type like a rectangle, circle</a:t>
            </a:r>
          </a:p>
          <a:p>
            <a:pPr marL="342900" indent="-342900">
              <a:buFont typeface="Arial" panose="020B0604020202020204" pitchFamily="34" charset="0"/>
              <a:buChar char="•"/>
            </a:pPr>
            <a:r>
              <a:rPr lang="en-GB" b="1" dirty="0"/>
              <a:t>You would never open an account</a:t>
            </a:r>
          </a:p>
          <a:p>
            <a:pPr marL="684000" lvl="1" indent="-342900">
              <a:buSzPct val="115000"/>
            </a:pPr>
            <a:r>
              <a:rPr lang="en-GB" dirty="0"/>
              <a:t>You open a type of Account like saving account</a:t>
            </a:r>
          </a:p>
          <a:p>
            <a:pPr marL="342900" indent="-342900">
              <a:buFont typeface="Arial" panose="020B0604020202020204" pitchFamily="34" charset="0"/>
              <a:buChar char="•"/>
            </a:pPr>
            <a:r>
              <a:rPr lang="en-GB" b="1" dirty="0"/>
              <a:t>Some classes are not meant to be instantiated</a:t>
            </a:r>
          </a:p>
          <a:p>
            <a:pPr marL="684000" lvl="1" indent="-342900">
              <a:buSzPct val="115000"/>
            </a:pPr>
            <a:r>
              <a:rPr lang="en-GB" dirty="0"/>
              <a:t>These are marked as </a:t>
            </a:r>
            <a:r>
              <a:rPr lang="en-GB" b="1" dirty="0">
                <a:solidFill>
                  <a:srgbClr val="7E007C"/>
                </a:solidFill>
              </a:rPr>
              <a:t>abstract</a:t>
            </a:r>
            <a:br>
              <a:rPr lang="en-GB" b="1" dirty="0">
                <a:solidFill>
                  <a:srgbClr val="7E007C"/>
                </a:solidFill>
              </a:rPr>
            </a:br>
            <a:endParaRPr lang="en-GB" dirty="0"/>
          </a:p>
          <a:p>
            <a:pPr marL="342900" indent="-342900">
              <a:buFont typeface="Arial" panose="020B0604020202020204" pitchFamily="34" charset="0"/>
              <a:buChar char="•"/>
            </a:pPr>
            <a:r>
              <a:rPr lang="en-GB" b="1" dirty="0">
                <a:solidFill>
                  <a:srgbClr val="7E007C"/>
                </a:solidFill>
              </a:rPr>
              <a:t>abstract</a:t>
            </a:r>
            <a:r>
              <a:rPr lang="en-GB" b="1" dirty="0"/>
              <a:t> classes follow these rules:</a:t>
            </a:r>
          </a:p>
          <a:p>
            <a:pPr marL="684000" lvl="1" indent="-342900">
              <a:buSzPct val="115000"/>
            </a:pPr>
            <a:r>
              <a:rPr lang="en-GB" dirty="0"/>
              <a:t>They can hold </a:t>
            </a:r>
            <a:r>
              <a:rPr lang="en-GB" b="1" dirty="0"/>
              <a:t>fields, methods, constructors</a:t>
            </a:r>
          </a:p>
          <a:p>
            <a:pPr marL="684000" lvl="1" indent="-342900">
              <a:buSzPct val="115000"/>
            </a:pPr>
            <a:r>
              <a:rPr lang="en-GB" dirty="0"/>
              <a:t>May have zero or more </a:t>
            </a:r>
            <a:r>
              <a:rPr lang="en-GB" b="1" dirty="0"/>
              <a:t>methods</a:t>
            </a:r>
            <a:r>
              <a:rPr lang="en-GB" dirty="0"/>
              <a:t> marked as </a:t>
            </a:r>
            <a:r>
              <a:rPr lang="en-GB" b="1" dirty="0">
                <a:solidFill>
                  <a:srgbClr val="7E007C"/>
                </a:solidFill>
              </a:rPr>
              <a:t>abstract</a:t>
            </a:r>
          </a:p>
          <a:p>
            <a:pPr marL="684000" lvl="1" indent="-342900">
              <a:buSzPct val="115000"/>
            </a:pPr>
            <a:r>
              <a:rPr lang="en-GB" dirty="0"/>
              <a:t>Cannot be instantiated</a:t>
            </a:r>
          </a:p>
          <a:p>
            <a:pPr marL="684000" lvl="1" indent="-342900">
              <a:buSzPct val="115000"/>
            </a:pPr>
            <a:r>
              <a:rPr lang="en-GB" dirty="0"/>
              <a:t>Are a base for inheritance</a:t>
            </a:r>
          </a:p>
          <a:p>
            <a:pPr marL="1026000" lvl="1" indent="-342900">
              <a:buSzPct val="115000"/>
            </a:pPr>
            <a:r>
              <a:rPr lang="en-GB" b="1" dirty="0"/>
              <a:t>e.g.</a:t>
            </a:r>
            <a:r>
              <a:rPr lang="en-GB" dirty="0"/>
              <a:t> all shapes have in common (x, y, w, h…)</a:t>
            </a:r>
          </a:p>
        </p:txBody>
      </p:sp>
    </p:spTree>
    <p:extLst>
      <p:ext uri="{BB962C8B-B14F-4D97-AF65-F5344CB8AC3E}">
        <p14:creationId xmlns:p14="http://schemas.microsoft.com/office/powerpoint/2010/main" val="2350886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dirty="0"/>
              <a:t>Problem with a concrete base class</a:t>
            </a:r>
          </a:p>
        </p:txBody>
      </p:sp>
      <p:pic>
        <p:nvPicPr>
          <p:cNvPr id="3" name="Picture 2"/>
          <p:cNvPicPr>
            <a:picLocks noChangeAspect="1"/>
          </p:cNvPicPr>
          <p:nvPr/>
        </p:nvPicPr>
        <p:blipFill>
          <a:blip r:embed="rId3"/>
          <a:stretch>
            <a:fillRect/>
          </a:stretch>
        </p:blipFill>
        <p:spPr>
          <a:xfrm>
            <a:off x="7516771" y="1255286"/>
            <a:ext cx="3574151" cy="2219433"/>
          </a:xfrm>
          <a:prstGeom prst="rect">
            <a:avLst/>
          </a:prstGeom>
        </p:spPr>
      </p:pic>
      <p:sp>
        <p:nvSpPr>
          <p:cNvPr id="26" name="Text Box 7"/>
          <p:cNvSpPr txBox="1">
            <a:spLocks noChangeArrowheads="1"/>
          </p:cNvSpPr>
          <p:nvPr/>
        </p:nvSpPr>
        <p:spPr bwMode="auto">
          <a:xfrm>
            <a:off x="7815385" y="3830644"/>
            <a:ext cx="3156260" cy="36933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a:spAutoFit/>
          </a:bodyPr>
          <a:lstStyle/>
          <a:p>
            <a:pPr algn="ctr" eaLnBrk="0" hangingPunct="0">
              <a:spcBef>
                <a:spcPct val="50000"/>
              </a:spcBef>
            </a:pPr>
            <a:r>
              <a:rPr lang="en-GB" b="1" dirty="0"/>
              <a:t>Will this code compile?</a:t>
            </a:r>
          </a:p>
        </p:txBody>
      </p:sp>
      <p:sp>
        <p:nvSpPr>
          <p:cNvPr id="2" name="Rectangle 1"/>
          <p:cNvSpPr/>
          <p:nvPr/>
        </p:nvSpPr>
        <p:spPr>
          <a:xfrm>
            <a:off x="1790700" y="1299763"/>
            <a:ext cx="5581650" cy="1569660"/>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Account[] </a:t>
            </a:r>
            <a:r>
              <a:rPr lang="en-GB" sz="1600" dirty="0">
                <a:solidFill>
                  <a:srgbClr val="6A3E3E"/>
                </a:solidFill>
                <a:latin typeface="Consolas" panose="020B0609020204030204" pitchFamily="49" charset="0"/>
              </a:rPr>
              <a:t>accounts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foreach</a:t>
            </a:r>
            <a:r>
              <a:rPr lang="en-GB" sz="1600" b="1" dirty="0">
                <a:solidFill>
                  <a:srgbClr val="000000"/>
                </a:solidFill>
                <a:latin typeface="Consolas" panose="020B0609020204030204" pitchFamily="49" charset="0"/>
              </a:rPr>
              <a:t> (Account </a:t>
            </a:r>
            <a:r>
              <a:rPr lang="en-GB" sz="1600" b="1" dirty="0" err="1">
                <a:solidFill>
                  <a:srgbClr val="6A3E3E"/>
                </a:solidFill>
                <a:latin typeface="Consolas" panose="020B0609020204030204" pitchFamily="49" charset="0"/>
              </a:rPr>
              <a:t>acc</a:t>
            </a:r>
            <a:r>
              <a:rPr lang="en-GB" sz="1600" b="1" dirty="0">
                <a:solidFill>
                  <a:srgbClr val="000000"/>
                </a:solidFill>
                <a:latin typeface="Consolas" panose="020B0609020204030204" pitchFamily="49" charset="0"/>
              </a:rPr>
              <a:t> in </a:t>
            </a:r>
            <a:r>
              <a:rPr lang="en-GB" sz="1600" b="1" dirty="0">
                <a:solidFill>
                  <a:srgbClr val="6A3E3E"/>
                </a:solidFill>
                <a:latin typeface="Consolas" panose="020B0609020204030204" pitchFamily="49" charset="0"/>
              </a:rPr>
              <a:t>accounts</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acc</a:t>
            </a:r>
            <a:r>
              <a:rPr lang="en-GB" sz="1600" dirty="0" err="1">
                <a:solidFill>
                  <a:srgbClr val="000000"/>
                </a:solidFill>
                <a:latin typeface="Consolas" panose="020B0609020204030204" pitchFamily="49" charset="0"/>
              </a:rPr>
              <a:t>.withdraw</a:t>
            </a:r>
            <a:r>
              <a:rPr lang="en-GB" sz="1600" dirty="0">
                <a:solidFill>
                  <a:srgbClr val="000000"/>
                </a:solidFill>
                <a:latin typeface="Consolas" panose="020B0609020204030204" pitchFamily="49" charset="0"/>
              </a:rPr>
              <a:t>(50);</a:t>
            </a:r>
          </a:p>
          <a:p>
            <a:r>
              <a:rPr lang="en-GB" sz="1600" dirty="0">
                <a:solidFill>
                  <a:srgbClr val="000000"/>
                </a:solidFill>
                <a:latin typeface="Consolas" panose="020B0609020204030204" pitchFamily="49" charset="0"/>
              </a:rPr>
              <a:t>}</a:t>
            </a:r>
          </a:p>
        </p:txBody>
      </p:sp>
      <p:sp>
        <p:nvSpPr>
          <p:cNvPr id="10" name="Rectangle 9"/>
          <p:cNvSpPr/>
          <p:nvPr/>
        </p:nvSpPr>
        <p:spPr>
          <a:xfrm>
            <a:off x="1790700" y="2969985"/>
            <a:ext cx="5581650" cy="378565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double</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balance</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 {</a:t>
            </a:r>
          </a:p>
          <a:p>
            <a:r>
              <a:rPr lang="en-GB" sz="1600" dirty="0">
                <a:solidFill>
                  <a:srgbClr val="0000C0"/>
                </a:solidFill>
                <a:latin typeface="Consolas" panose="020B0609020204030204" pitchFamily="49" charset="0"/>
              </a:rPr>
              <a:t>	print</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a:t>
            </a:r>
            <a:r>
              <a:rPr lang="en-GB" sz="1600" b="1" dirty="0" err="1">
                <a:solidFill>
                  <a:srgbClr val="7F0055"/>
                </a:solidFill>
                <a:latin typeface="Consolas" panose="020B0609020204030204" pitchFamily="49" charset="0"/>
              </a:rPr>
              <a:t>CurrentAccount</a:t>
            </a:r>
            <a:r>
              <a:rPr lang="en-GB" sz="1600" b="1" dirty="0">
                <a:solidFill>
                  <a:srgbClr val="7F0055"/>
                </a:solidFill>
                <a:latin typeface="Consolas" panose="020B0609020204030204" pitchFamily="49" charset="0"/>
              </a:rPr>
              <a:t> withdraw'</a:t>
            </a:r>
            <a:r>
              <a:rPr lang="en-GB" sz="1600" b="1" dirty="0">
                <a:solidFill>
                  <a:srgbClr val="000000"/>
                </a:solidFill>
                <a:latin typeface="Consolas" panose="020B0609020204030204" pitchFamily="49" charset="0"/>
              </a:rPr>
              <a:t>)</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 {</a:t>
            </a:r>
          </a:p>
          <a:p>
            <a:r>
              <a:rPr lang="en-GB" sz="1600" dirty="0">
                <a:solidFill>
                  <a:srgbClr val="0000C0"/>
                </a:solidFill>
                <a:latin typeface="Consolas" panose="020B0609020204030204" pitchFamily="49" charset="0"/>
              </a:rPr>
              <a:t>	 print</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a:t>
            </a:r>
            <a:r>
              <a:rPr lang="en-GB" sz="1600" b="1" dirty="0" err="1">
                <a:solidFill>
                  <a:srgbClr val="7F0055"/>
                </a:solidFill>
                <a:latin typeface="Consolas" panose="020B0609020204030204" pitchFamily="49" charset="0"/>
              </a:rPr>
              <a:t>SavingAccount</a:t>
            </a:r>
            <a:r>
              <a:rPr lang="en-GB" sz="1600" b="1" dirty="0">
                <a:solidFill>
                  <a:srgbClr val="7F0055"/>
                </a:solidFill>
                <a:latin typeface="Consolas" panose="020B0609020204030204" pitchFamily="49" charset="0"/>
              </a:rPr>
              <a:t> withdraw'</a:t>
            </a:r>
            <a:r>
              <a:rPr lang="en-GB" sz="1600" b="1" dirty="0">
                <a:solidFill>
                  <a:srgbClr val="000000"/>
                </a:solidFill>
                <a:latin typeface="Consolas" panose="020B0609020204030204" pitchFamily="49" charset="0"/>
              </a:rPr>
              <a:t>)</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34954045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39970" y="562058"/>
            <a:ext cx="11707249" cy="805001"/>
          </a:xfrm>
        </p:spPr>
        <p:txBody>
          <a:bodyPr/>
          <a:lstStyle/>
          <a:p>
            <a:pPr eaLnBrk="1" hangingPunct="1"/>
            <a:r>
              <a:rPr lang="en-GB" dirty="0"/>
              <a:t>Problem with a concrete base class…</a:t>
            </a:r>
          </a:p>
        </p:txBody>
      </p:sp>
      <p:sp>
        <p:nvSpPr>
          <p:cNvPr id="35" name="Text Box 7"/>
          <p:cNvSpPr txBox="1">
            <a:spLocks noChangeArrowheads="1"/>
          </p:cNvSpPr>
          <p:nvPr/>
        </p:nvSpPr>
        <p:spPr bwMode="auto">
          <a:xfrm>
            <a:off x="7905751" y="1304077"/>
            <a:ext cx="2651413" cy="646331"/>
          </a:xfrm>
          <a:prstGeom prst="rect">
            <a:avLst/>
          </a:prstGeom>
          <a:solidFill>
            <a:srgbClr val="FFCCFF"/>
          </a:solidFill>
          <a:ln w="19050">
            <a:noFill/>
            <a:miter lim="800000"/>
            <a:headEnd/>
            <a:tailEnd/>
          </a:ln>
          <a:effectLst>
            <a:outerShdw blurRad="50800" dist="38100" algn="l" rotWithShape="0">
              <a:prstClr val="black">
                <a:alpha val="40000"/>
              </a:prstClr>
            </a:outerShdw>
          </a:effectLst>
        </p:spPr>
        <p:txBody>
          <a:bodyPr wrap="square">
            <a:spAutoFit/>
          </a:bodyPr>
          <a:lstStyle/>
          <a:p>
            <a:pPr algn="ctr" eaLnBrk="0" hangingPunct="0">
              <a:spcBef>
                <a:spcPct val="50000"/>
              </a:spcBef>
            </a:pPr>
            <a:r>
              <a:rPr lang="en-GB" dirty="0"/>
              <a:t>What is the </a:t>
            </a:r>
            <a:br>
              <a:rPr lang="en-GB" dirty="0"/>
            </a:br>
            <a:r>
              <a:rPr lang="en-GB" dirty="0"/>
              <a:t>problem now?</a:t>
            </a:r>
          </a:p>
        </p:txBody>
      </p:sp>
      <p:sp>
        <p:nvSpPr>
          <p:cNvPr id="37" name="Text Box 7"/>
          <p:cNvSpPr txBox="1">
            <a:spLocks noChangeArrowheads="1"/>
          </p:cNvSpPr>
          <p:nvPr/>
        </p:nvSpPr>
        <p:spPr bwMode="auto">
          <a:xfrm>
            <a:off x="7905751" y="2017995"/>
            <a:ext cx="2651413" cy="584775"/>
          </a:xfrm>
          <a:prstGeom prst="rect">
            <a:avLst/>
          </a:prstGeom>
          <a:solidFill>
            <a:srgbClr val="7E007C"/>
          </a:solidFill>
          <a:ln>
            <a:headEnd/>
            <a:tailEnd/>
          </a:ln>
          <a:effectLst/>
        </p:spPr>
        <p:style>
          <a:lnRef idx="0">
            <a:schemeClr val="accent4"/>
          </a:lnRef>
          <a:fillRef idx="3">
            <a:schemeClr val="accent4"/>
          </a:fillRef>
          <a:effectRef idx="3">
            <a:schemeClr val="accent4"/>
          </a:effectRef>
          <a:fontRef idx="minor">
            <a:schemeClr val="lt1"/>
          </a:fontRef>
        </p:style>
        <p:txBody>
          <a:bodyPr wrap="square">
            <a:spAutoFit/>
          </a:bodyPr>
          <a:lstStyle/>
          <a:p>
            <a:pPr eaLnBrk="0" hangingPunct="0">
              <a:spcBef>
                <a:spcPct val="50000"/>
              </a:spcBef>
            </a:pPr>
            <a:r>
              <a:rPr lang="en-GB" sz="1600" b="1" dirty="0"/>
              <a:t>You can override </a:t>
            </a:r>
            <a:br>
              <a:rPr lang="en-GB" sz="1600" b="1" dirty="0"/>
            </a:br>
            <a:r>
              <a:rPr lang="en-GB" sz="1600" b="1" dirty="0"/>
              <a:t>but don’t  have to.</a:t>
            </a:r>
          </a:p>
        </p:txBody>
      </p:sp>
      <p:sp>
        <p:nvSpPr>
          <p:cNvPr id="10" name="Rectangle 9"/>
          <p:cNvSpPr/>
          <p:nvPr/>
        </p:nvSpPr>
        <p:spPr>
          <a:xfrm>
            <a:off x="1790700" y="1317224"/>
            <a:ext cx="5581650" cy="1569660"/>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Account[] </a:t>
            </a:r>
            <a:r>
              <a:rPr lang="en-GB" sz="1600" dirty="0">
                <a:solidFill>
                  <a:srgbClr val="6A3E3E"/>
                </a:solidFill>
                <a:latin typeface="Consolas" panose="020B0609020204030204" pitchFamily="49" charset="0"/>
              </a:rPr>
              <a:t>accounts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p>
          <a:p>
            <a:endParaRPr lang="en-GB" sz="1600" b="1" dirty="0">
              <a:solidFill>
                <a:srgbClr val="7F0055"/>
              </a:solidFill>
              <a:latin typeface="Consolas" panose="020B0609020204030204" pitchFamily="49" charset="0"/>
            </a:endParaRPr>
          </a:p>
          <a:p>
            <a:r>
              <a:rPr lang="en-GB" sz="1600" b="1" dirty="0">
                <a:solidFill>
                  <a:srgbClr val="7F0055"/>
                </a:solidFill>
                <a:latin typeface="Consolas" panose="020B0609020204030204" pitchFamily="49" charset="0"/>
              </a:rPr>
              <a:t>for</a:t>
            </a:r>
            <a:r>
              <a:rPr lang="en-GB" sz="1600" b="1" dirty="0">
                <a:solidFill>
                  <a:srgbClr val="000000"/>
                </a:solidFill>
                <a:latin typeface="Consolas" panose="020B0609020204030204" pitchFamily="49" charset="0"/>
              </a:rPr>
              <a:t> (Account </a:t>
            </a:r>
            <a:r>
              <a:rPr lang="en-GB" sz="1600" b="1" dirty="0" err="1">
                <a:solidFill>
                  <a:srgbClr val="6A3E3E"/>
                </a:solidFill>
                <a:latin typeface="Consolas" panose="020B0609020204030204" pitchFamily="49" charset="0"/>
              </a:rPr>
              <a:t>acc</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accounts</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acc</a:t>
            </a:r>
            <a:r>
              <a:rPr lang="en-GB" sz="1600" dirty="0" err="1">
                <a:solidFill>
                  <a:srgbClr val="000000"/>
                </a:solidFill>
                <a:latin typeface="Consolas" panose="020B0609020204030204" pitchFamily="49" charset="0"/>
              </a:rPr>
              <a:t>.withdraw</a:t>
            </a:r>
            <a:r>
              <a:rPr lang="en-GB" sz="1600" dirty="0">
                <a:solidFill>
                  <a:srgbClr val="000000"/>
                </a:solidFill>
                <a:latin typeface="Consolas" panose="020B0609020204030204" pitchFamily="49" charset="0"/>
              </a:rPr>
              <a:t>(50);</a:t>
            </a:r>
          </a:p>
          <a:p>
            <a:r>
              <a:rPr lang="en-GB" sz="1600" dirty="0">
                <a:solidFill>
                  <a:srgbClr val="000000"/>
                </a:solidFill>
                <a:latin typeface="Consolas" panose="020B0609020204030204" pitchFamily="49" charset="0"/>
              </a:rPr>
              <a:t>}</a:t>
            </a:r>
          </a:p>
        </p:txBody>
      </p:sp>
      <p:sp>
        <p:nvSpPr>
          <p:cNvPr id="11" name="Rectangle 10"/>
          <p:cNvSpPr/>
          <p:nvPr/>
        </p:nvSpPr>
        <p:spPr>
          <a:xfrm>
            <a:off x="1790700" y="3038841"/>
            <a:ext cx="5581650" cy="366254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double</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balance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 { }</a:t>
            </a:r>
          </a:p>
          <a:p>
            <a:r>
              <a:rPr lang="en-GB" sz="16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CurrentAccount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print</a:t>
            </a:r>
            <a:r>
              <a:rPr lang="en-GB" sz="1400" b="1" dirty="0">
                <a:solidFill>
                  <a:srgbClr val="000000"/>
                </a:solidFill>
                <a:latin typeface="Consolas" panose="020B0609020204030204" pitchFamily="49" charset="0"/>
              </a:rPr>
              <a:t>(</a:t>
            </a:r>
            <a:r>
              <a:rPr lang="en-GB" sz="1400" b="1" dirty="0">
                <a:solidFill>
                  <a:srgbClr val="7F0055"/>
                </a:solidFill>
                <a:latin typeface="Consolas" panose="020B0609020204030204" pitchFamily="49" charset="0"/>
              </a:rPr>
              <a:t>'</a:t>
            </a:r>
            <a:r>
              <a:rPr lang="en-GB" sz="1400" b="1" dirty="0" err="1">
                <a:solidFill>
                  <a:srgbClr val="7F0055"/>
                </a:solidFill>
                <a:latin typeface="Consolas" panose="020B0609020204030204" pitchFamily="49" charset="0"/>
              </a:rPr>
              <a:t>CurrentAccount</a:t>
            </a:r>
            <a:r>
              <a:rPr lang="en-GB" sz="1400" b="1" dirty="0">
                <a:solidFill>
                  <a:srgbClr val="7F0055"/>
                </a:solidFill>
                <a:latin typeface="Consolas" panose="020B0609020204030204" pitchFamily="49" charset="0"/>
              </a:rPr>
              <a:t> withdraw'</a:t>
            </a:r>
            <a:r>
              <a:rPr lang="en-GB" sz="1400" b="1" dirty="0">
                <a:solidFill>
                  <a:srgbClr val="000000"/>
                </a:solidFill>
                <a:latin typeface="Consolas" panose="020B0609020204030204" pitchFamily="49" charset="0"/>
              </a:rPr>
              <a:t>)</a:t>
            </a:r>
            <a:r>
              <a:rPr lang="en-GB" sz="1400"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SavingsAccount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print</a:t>
            </a:r>
            <a:r>
              <a:rPr lang="en-GB" sz="1400" b="1" dirty="0">
                <a:solidFill>
                  <a:srgbClr val="000000"/>
                </a:solidFill>
                <a:latin typeface="Consolas" panose="020B0609020204030204" pitchFamily="49" charset="0"/>
              </a:rPr>
              <a:t>(</a:t>
            </a:r>
            <a:r>
              <a:rPr lang="en-GB" sz="1400" b="1" dirty="0">
                <a:solidFill>
                  <a:srgbClr val="7F0055"/>
                </a:solidFill>
                <a:latin typeface="Consolas" panose="020B0609020204030204" pitchFamily="49" charset="0"/>
              </a:rPr>
              <a:t>'</a:t>
            </a:r>
            <a:r>
              <a:rPr lang="en-GB" sz="1400" b="1" dirty="0" err="1">
                <a:solidFill>
                  <a:srgbClr val="7F0055"/>
                </a:solidFill>
                <a:latin typeface="Consolas" panose="020B0609020204030204" pitchFamily="49" charset="0"/>
              </a:rPr>
              <a:t>SavingAccount</a:t>
            </a:r>
            <a:r>
              <a:rPr lang="en-GB" sz="1400" b="1" dirty="0">
                <a:solidFill>
                  <a:srgbClr val="7F0055"/>
                </a:solidFill>
                <a:latin typeface="Consolas" panose="020B0609020204030204" pitchFamily="49" charset="0"/>
              </a:rPr>
              <a:t> withdraw'</a:t>
            </a:r>
            <a:r>
              <a:rPr lang="en-GB" sz="1400" b="1" dirty="0">
                <a:solidFill>
                  <a:srgbClr val="000000"/>
                </a:solidFill>
                <a:latin typeface="Consolas" panose="020B0609020204030204" pitchFamily="49" charset="0"/>
              </a:rPr>
              <a:t>)</a:t>
            </a:r>
            <a:r>
              <a:rPr lang="en-GB" sz="1400"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p:txBody>
      </p:sp>
      <p:sp>
        <p:nvSpPr>
          <p:cNvPr id="3" name="Rounded Rectangular Callout 2"/>
          <p:cNvSpPr/>
          <p:nvPr/>
        </p:nvSpPr>
        <p:spPr>
          <a:xfrm>
            <a:off x="6036134" y="3145999"/>
            <a:ext cx="1317166" cy="638175"/>
          </a:xfrm>
          <a:prstGeom prst="wedgeRoundRectCallout">
            <a:avLst>
              <a:gd name="adj1" fmla="val -57833"/>
              <a:gd name="adj2" fmla="val 47575"/>
              <a:gd name="adj3" fmla="val 16667"/>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Add a withdraw() method</a:t>
            </a:r>
            <a:endParaRPr lang="en-GB" sz="1400" dirty="0">
              <a:solidFill>
                <a:schemeClr val="tx1"/>
              </a:solidFill>
              <a:latin typeface="Arial" pitchFamily="34" charset="0"/>
              <a:cs typeface="Arial" pitchFamily="34" charset="0"/>
            </a:endParaRPr>
          </a:p>
        </p:txBody>
      </p:sp>
      <p:sp>
        <p:nvSpPr>
          <p:cNvPr id="8" name="Text Box 7"/>
          <p:cNvSpPr txBox="1">
            <a:spLocks noChangeArrowheads="1"/>
          </p:cNvSpPr>
          <p:nvPr/>
        </p:nvSpPr>
        <p:spPr bwMode="auto">
          <a:xfrm>
            <a:off x="7905751" y="2856195"/>
            <a:ext cx="2651413" cy="584775"/>
          </a:xfrm>
          <a:prstGeom prst="rect">
            <a:avLst/>
          </a:prstGeom>
          <a:solidFill>
            <a:srgbClr val="7E007C"/>
          </a:solidFill>
          <a:ln>
            <a:headEnd/>
            <a:tailEnd/>
          </a:ln>
          <a:effectLst/>
        </p:spPr>
        <p:style>
          <a:lnRef idx="0">
            <a:schemeClr val="accent4"/>
          </a:lnRef>
          <a:fillRef idx="3">
            <a:schemeClr val="accent4"/>
          </a:fillRef>
          <a:effectRef idx="3">
            <a:schemeClr val="accent4"/>
          </a:effectRef>
          <a:fontRef idx="minor">
            <a:schemeClr val="lt1"/>
          </a:fontRef>
        </p:style>
        <p:txBody>
          <a:bodyPr wrap="square">
            <a:spAutoFit/>
          </a:bodyPr>
          <a:lstStyle/>
          <a:p>
            <a:pPr eaLnBrk="0" hangingPunct="0">
              <a:spcBef>
                <a:spcPct val="50000"/>
              </a:spcBef>
            </a:pPr>
            <a:r>
              <a:rPr lang="en-GB" sz="1600" b="1" dirty="0"/>
              <a:t>But, you can create an instance of Account</a:t>
            </a:r>
          </a:p>
        </p:txBody>
      </p:sp>
    </p:spTree>
    <p:extLst>
      <p:ext uri="{BB962C8B-B14F-4D97-AF65-F5344CB8AC3E}">
        <p14:creationId xmlns:p14="http://schemas.microsoft.com/office/powerpoint/2010/main" val="84990290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dirty="0"/>
              <a:t>Using an abstract class – Problem solved!</a:t>
            </a:r>
          </a:p>
        </p:txBody>
      </p:sp>
      <p:sp>
        <p:nvSpPr>
          <p:cNvPr id="9" name="Rectangle 8"/>
          <p:cNvSpPr/>
          <p:nvPr/>
        </p:nvSpPr>
        <p:spPr>
          <a:xfrm>
            <a:off x="590550" y="1213314"/>
            <a:ext cx="5581650" cy="1569660"/>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Account[] </a:t>
            </a:r>
            <a:r>
              <a:rPr lang="en-GB" sz="1600" dirty="0">
                <a:solidFill>
                  <a:srgbClr val="6A3E3E"/>
                </a:solidFill>
                <a:latin typeface="Consolas" panose="020B0609020204030204" pitchFamily="49" charset="0"/>
              </a:rPr>
              <a:t>accounts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p>
          <a:p>
            <a:endParaRPr lang="en-GB" sz="1600" b="1" dirty="0">
              <a:solidFill>
                <a:srgbClr val="7F0055"/>
              </a:solidFill>
              <a:latin typeface="Consolas" panose="020B0609020204030204" pitchFamily="49" charset="0"/>
            </a:endParaRPr>
          </a:p>
          <a:p>
            <a:r>
              <a:rPr lang="en-GB" sz="1600" b="1" dirty="0">
                <a:solidFill>
                  <a:srgbClr val="7F0055"/>
                </a:solidFill>
                <a:latin typeface="Consolas" panose="020B0609020204030204" pitchFamily="49" charset="0"/>
              </a:rPr>
              <a:t>foreach</a:t>
            </a:r>
            <a:r>
              <a:rPr lang="en-GB" sz="1600" b="1" dirty="0">
                <a:solidFill>
                  <a:srgbClr val="000000"/>
                </a:solidFill>
                <a:latin typeface="Consolas" panose="020B0609020204030204" pitchFamily="49" charset="0"/>
              </a:rPr>
              <a:t> (Account </a:t>
            </a:r>
            <a:r>
              <a:rPr lang="en-GB" sz="1600" b="1" dirty="0" err="1">
                <a:solidFill>
                  <a:srgbClr val="6A3E3E"/>
                </a:solidFill>
                <a:latin typeface="Consolas" panose="020B0609020204030204" pitchFamily="49" charset="0"/>
              </a:rPr>
              <a:t>acc</a:t>
            </a:r>
            <a:r>
              <a:rPr lang="en-GB" sz="1600" b="1" dirty="0">
                <a:solidFill>
                  <a:srgbClr val="000000"/>
                </a:solidFill>
                <a:latin typeface="Consolas" panose="020B0609020204030204" pitchFamily="49" charset="0"/>
              </a:rPr>
              <a:t> in </a:t>
            </a:r>
            <a:r>
              <a:rPr lang="en-GB" sz="1600" b="1" dirty="0">
                <a:solidFill>
                  <a:srgbClr val="6A3E3E"/>
                </a:solidFill>
                <a:latin typeface="Consolas" panose="020B0609020204030204" pitchFamily="49" charset="0"/>
              </a:rPr>
              <a:t>accounts</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acc</a:t>
            </a:r>
            <a:r>
              <a:rPr lang="en-GB" sz="1600" dirty="0" err="1">
                <a:solidFill>
                  <a:srgbClr val="000000"/>
                </a:solidFill>
                <a:latin typeface="Consolas" panose="020B0609020204030204" pitchFamily="49" charset="0"/>
              </a:rPr>
              <a:t>.withdraw</a:t>
            </a:r>
            <a:r>
              <a:rPr lang="en-GB" sz="1600" dirty="0">
                <a:solidFill>
                  <a:srgbClr val="000000"/>
                </a:solidFill>
                <a:latin typeface="Consolas" panose="020B0609020204030204" pitchFamily="49" charset="0"/>
              </a:rPr>
              <a:t>(50);</a:t>
            </a:r>
          </a:p>
          <a:p>
            <a:r>
              <a:rPr lang="en-GB" sz="1600" dirty="0">
                <a:solidFill>
                  <a:srgbClr val="000000"/>
                </a:solidFill>
                <a:latin typeface="Consolas" panose="020B0609020204030204" pitchFamily="49" charset="0"/>
              </a:rPr>
              <a:t>}</a:t>
            </a:r>
          </a:p>
        </p:txBody>
      </p:sp>
      <p:sp>
        <p:nvSpPr>
          <p:cNvPr id="10" name="Rectangle 9"/>
          <p:cNvSpPr/>
          <p:nvPr/>
        </p:nvSpPr>
        <p:spPr>
          <a:xfrm>
            <a:off x="590550" y="2862755"/>
            <a:ext cx="5581650" cy="366254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FA3200"/>
                </a:solidFill>
                <a:latin typeface="Lucida Console" pitchFamily="49" charset="0"/>
              </a:rPr>
              <a:t>abstract</a:t>
            </a:r>
            <a:r>
              <a:rPr lang="en-GB" sz="1600" b="1" dirty="0">
                <a:solidFill>
                  <a:srgbClr val="0000FF"/>
                </a:solidFill>
                <a:latin typeface="Lucida Console"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double</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balance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FA3200"/>
                </a:solidFill>
                <a:latin typeface="Lucida Console" pitchFamily="49" charset="0"/>
              </a:rPr>
              <a:t>abstract</a:t>
            </a:r>
            <a:r>
              <a:rPr lang="en-GB" sz="1600" b="1" dirty="0">
                <a:solidFill>
                  <a:srgbClr val="0000FF"/>
                </a:solidFill>
                <a:latin typeface="Lucida Console"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CurrentAccount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balance</a:t>
            </a:r>
            <a:r>
              <a:rPr lang="en-GB" sz="1400" dirty="0">
                <a:solidFill>
                  <a:srgbClr val="000000"/>
                </a:solidFill>
                <a:latin typeface="Consolas" panose="020B0609020204030204" pitchFamily="49" charset="0"/>
              </a:rPr>
              <a:t> -= </a:t>
            </a:r>
            <a:r>
              <a:rPr lang="en-GB" sz="1400" dirty="0" err="1">
                <a:solidFill>
                  <a:srgbClr val="6A3E3E"/>
                </a:solidFill>
                <a:latin typeface="Consolas" panose="020B0609020204030204" pitchFamily="49" charset="0"/>
              </a:rPr>
              <a:t>amt</a:t>
            </a:r>
            <a:r>
              <a:rPr lang="en-GB" sz="1400" dirty="0">
                <a:solidFill>
                  <a:srgbClr val="000000"/>
                </a:solidFill>
                <a:latin typeface="Consolas" panose="020B0609020204030204" pitchFamily="49" charset="0"/>
              </a:rPr>
              <a:t> + 1;</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SavingsAccount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balance</a:t>
            </a:r>
            <a:r>
              <a:rPr lang="en-GB" sz="1400" dirty="0">
                <a:solidFill>
                  <a:srgbClr val="000000"/>
                </a:solidFill>
                <a:latin typeface="Consolas" panose="020B0609020204030204" pitchFamily="49" charset="0"/>
              </a:rPr>
              <a:t> -= </a:t>
            </a:r>
            <a:r>
              <a:rPr lang="en-GB" sz="1400" dirty="0" err="1">
                <a:solidFill>
                  <a:srgbClr val="6A3E3E"/>
                </a:solidFill>
                <a:latin typeface="Consolas" panose="020B0609020204030204" pitchFamily="49" charset="0"/>
              </a:rPr>
              <a:t>amt</a:t>
            </a:r>
            <a:r>
              <a:rPr lang="en-GB" sz="1400"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p:txBody>
      </p:sp>
      <p:sp>
        <p:nvSpPr>
          <p:cNvPr id="11" name="Text Box 7"/>
          <p:cNvSpPr txBox="1">
            <a:spLocks noChangeArrowheads="1"/>
          </p:cNvSpPr>
          <p:nvPr/>
        </p:nvSpPr>
        <p:spPr bwMode="auto">
          <a:xfrm>
            <a:off x="6444703" y="1659590"/>
            <a:ext cx="5413085" cy="338554"/>
          </a:xfrm>
          <a:prstGeom prst="rect">
            <a:avLst/>
          </a:prstGeom>
          <a:ln w="19050">
            <a:noFill/>
            <a:headEnd/>
            <a:tailEnd/>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ctr" eaLnBrk="0" hangingPunct="0">
              <a:spcBef>
                <a:spcPct val="50000"/>
              </a:spcBef>
            </a:pPr>
            <a:r>
              <a:rPr lang="en-GB" sz="1600" b="1" dirty="0"/>
              <a:t>Cannot create an instance of </a:t>
            </a:r>
            <a:r>
              <a:rPr lang="en-GB" sz="1600" b="1" dirty="0">
                <a:solidFill>
                  <a:srgbClr val="FA3200"/>
                </a:solidFill>
                <a:latin typeface="Lucida Console" pitchFamily="49" charset="0"/>
              </a:rPr>
              <a:t>abstract</a:t>
            </a:r>
            <a:r>
              <a:rPr lang="en-GB" sz="1600" b="1" dirty="0"/>
              <a:t> Account</a:t>
            </a:r>
          </a:p>
        </p:txBody>
      </p:sp>
      <p:sp>
        <p:nvSpPr>
          <p:cNvPr id="12" name="Text Box 7"/>
          <p:cNvSpPr txBox="1">
            <a:spLocks noChangeArrowheads="1"/>
          </p:cNvSpPr>
          <p:nvPr/>
        </p:nvSpPr>
        <p:spPr bwMode="auto">
          <a:xfrm>
            <a:off x="6444705" y="4278526"/>
            <a:ext cx="5413084" cy="584775"/>
          </a:xfrm>
          <a:prstGeom prst="rect">
            <a:avLst/>
          </a:prstGeom>
          <a:ln w="19050">
            <a:noFill/>
            <a:headEnd/>
            <a:tailEnd/>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ctr" eaLnBrk="0" hangingPunct="0">
              <a:spcBef>
                <a:spcPct val="50000"/>
              </a:spcBef>
            </a:pPr>
            <a:r>
              <a:rPr lang="en-GB" sz="1600" b="1" dirty="0">
                <a:solidFill>
                  <a:srgbClr val="FA3200"/>
                </a:solidFill>
                <a:latin typeface="Lucida Console" pitchFamily="49" charset="0"/>
              </a:rPr>
              <a:t>abstract</a:t>
            </a:r>
            <a:r>
              <a:rPr lang="en-GB" sz="1600" b="1" dirty="0"/>
              <a:t> methods </a:t>
            </a:r>
            <a:r>
              <a:rPr lang="en-GB" sz="1600" b="1" u="sng" dirty="0"/>
              <a:t>must be overridden</a:t>
            </a:r>
            <a:r>
              <a:rPr lang="en-GB" sz="1600" b="1" dirty="0"/>
              <a:t> </a:t>
            </a:r>
            <a:br>
              <a:rPr lang="en-GB" sz="1600" b="1" dirty="0"/>
            </a:br>
            <a:r>
              <a:rPr lang="en-GB" sz="1600" b="1" dirty="0"/>
              <a:t>in every derived class</a:t>
            </a:r>
          </a:p>
        </p:txBody>
      </p:sp>
      <p:sp>
        <p:nvSpPr>
          <p:cNvPr id="13" name="Text Box 7"/>
          <p:cNvSpPr txBox="1">
            <a:spLocks noChangeArrowheads="1"/>
          </p:cNvSpPr>
          <p:nvPr/>
        </p:nvSpPr>
        <p:spPr bwMode="auto">
          <a:xfrm>
            <a:off x="6444704" y="2865564"/>
            <a:ext cx="5411469" cy="954107"/>
          </a:xfrm>
          <a:prstGeom prst="rect">
            <a:avLst/>
          </a:prstGeom>
          <a:ln w="19050">
            <a:noFill/>
            <a:headEnd/>
            <a:tailEnd/>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ctr" eaLnBrk="0" hangingPunct="0">
              <a:spcBef>
                <a:spcPct val="50000"/>
              </a:spcBef>
            </a:pPr>
            <a:r>
              <a:rPr lang="en-GB" sz="1600" b="1" dirty="0">
                <a:solidFill>
                  <a:srgbClr val="FA3200"/>
                </a:solidFill>
                <a:latin typeface="Lucida Console" pitchFamily="49" charset="0"/>
              </a:rPr>
              <a:t>abstract</a:t>
            </a:r>
            <a:r>
              <a:rPr lang="en-GB" sz="1600" b="1" dirty="0"/>
              <a:t> methods live in </a:t>
            </a:r>
            <a:r>
              <a:rPr lang="en-GB" sz="1600" b="1" dirty="0">
                <a:solidFill>
                  <a:srgbClr val="FA3200"/>
                </a:solidFill>
                <a:latin typeface="Lucida Console" pitchFamily="49" charset="0"/>
              </a:rPr>
              <a:t>abstract</a:t>
            </a:r>
            <a:r>
              <a:rPr lang="en-GB" sz="1600" b="1" dirty="0"/>
              <a:t> classes. </a:t>
            </a:r>
          </a:p>
          <a:p>
            <a:pPr algn="ctr" eaLnBrk="0" hangingPunct="0">
              <a:spcBef>
                <a:spcPct val="50000"/>
              </a:spcBef>
            </a:pPr>
            <a:r>
              <a:rPr lang="en-GB" sz="1600" dirty="0"/>
              <a:t>Have no code, as they cannot meaningfully be implemented</a:t>
            </a:r>
          </a:p>
        </p:txBody>
      </p:sp>
      <p:sp>
        <p:nvSpPr>
          <p:cNvPr id="3" name="Oval Callout 2"/>
          <p:cNvSpPr/>
          <p:nvPr/>
        </p:nvSpPr>
        <p:spPr>
          <a:xfrm>
            <a:off x="5295900" y="2900855"/>
            <a:ext cx="838200" cy="600545"/>
          </a:xfrm>
          <a:prstGeom prst="wedgeEllipseCallout">
            <a:avLst>
              <a:gd name="adj1" fmla="val -29924"/>
              <a:gd name="adj2" fmla="val 59328"/>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cs typeface="Arial" pitchFamily="34" charset="0"/>
              </a:rPr>
              <a:t>No code</a:t>
            </a:r>
          </a:p>
        </p:txBody>
      </p:sp>
    </p:spTree>
    <p:extLst>
      <p:ext uri="{BB962C8B-B14F-4D97-AF65-F5344CB8AC3E}">
        <p14:creationId xmlns:p14="http://schemas.microsoft.com/office/powerpoint/2010/main" val="207097315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dirty="0"/>
              <a:t>Polymorphism with abstract classes </a:t>
            </a:r>
          </a:p>
        </p:txBody>
      </p:sp>
      <p:sp>
        <p:nvSpPr>
          <p:cNvPr id="4" name="Rectangle 3"/>
          <p:cNvSpPr/>
          <p:nvPr/>
        </p:nvSpPr>
        <p:spPr>
          <a:xfrm>
            <a:off x="1847850" y="1153716"/>
            <a:ext cx="6073140" cy="2031325"/>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Shape[] </a:t>
            </a:r>
            <a:r>
              <a:rPr lang="en-GB" sz="1600" dirty="0">
                <a:solidFill>
                  <a:srgbClr val="6A3E3E"/>
                </a:solidFill>
                <a:latin typeface="Consolas" panose="020B0609020204030204" pitchFamily="49" charset="0"/>
              </a:rPr>
              <a:t>shapes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Circle() };</a:t>
            </a:r>
          </a:p>
          <a:p>
            <a:r>
              <a:rPr lang="en-GB" sz="1600" b="1" dirty="0">
                <a:solidFill>
                  <a:srgbClr val="7F0055"/>
                </a:solidFill>
                <a:latin typeface="Consolas" panose="020B0609020204030204" pitchFamily="49" charset="0"/>
              </a:rPr>
              <a:t>    foreach</a:t>
            </a:r>
            <a:r>
              <a:rPr lang="en-GB" sz="1600" b="1" dirty="0">
                <a:solidFill>
                  <a:srgbClr val="000000"/>
                </a:solidFill>
                <a:latin typeface="Consolas" panose="020B0609020204030204" pitchFamily="49" charset="0"/>
              </a:rPr>
              <a:t> (Shape </a:t>
            </a:r>
            <a:r>
              <a:rPr lang="en-GB" sz="1600" b="1" dirty="0" err="1">
                <a:solidFill>
                  <a:srgbClr val="6A3E3E"/>
                </a:solidFill>
                <a:latin typeface="Consolas" panose="020B0609020204030204" pitchFamily="49" charset="0"/>
              </a:rPr>
              <a:t>shape</a:t>
            </a:r>
            <a:r>
              <a:rPr lang="en-GB" sz="1600" b="1" dirty="0">
                <a:solidFill>
                  <a:srgbClr val="000000"/>
                </a:solidFill>
                <a:latin typeface="Consolas" panose="020B0609020204030204" pitchFamily="49" charset="0"/>
              </a:rPr>
              <a:t> :n </a:t>
            </a:r>
            <a:r>
              <a:rPr lang="en-GB" sz="1600" b="1" dirty="0">
                <a:solidFill>
                  <a:srgbClr val="6A3E3E"/>
                </a:solidFill>
                <a:latin typeface="Consolas" panose="020B0609020204030204" pitchFamily="49" charset="0"/>
              </a:rPr>
              <a:t>shapes</a:t>
            </a:r>
            <a:r>
              <a:rPr lang="en-GB" sz="1600" b="1" dirty="0">
                <a:solidFill>
                  <a:srgbClr val="000000"/>
                </a:solidFill>
                <a:latin typeface="Consolas" panose="020B0609020204030204" pitchFamily="49" charset="0"/>
              </a:rPr>
              <a:t>) {</a:t>
            </a:r>
          </a:p>
          <a:p>
            <a:r>
              <a:rPr lang="en-GB" sz="1600" i="1" dirty="0">
                <a:solidFill>
                  <a:srgbClr val="000000"/>
                </a:solidFill>
                <a:latin typeface="Consolas" panose="020B0609020204030204" pitchFamily="49" charset="0"/>
              </a:rPr>
              <a:t>	draw(</a:t>
            </a:r>
            <a:r>
              <a:rPr lang="en-GB" sz="1600" i="1" dirty="0">
                <a:solidFill>
                  <a:srgbClr val="6A3E3E"/>
                </a:solidFill>
                <a:latin typeface="Consolas" panose="020B0609020204030204" pitchFamily="49" charset="0"/>
              </a:rPr>
              <a:t>shape</a:t>
            </a:r>
            <a:r>
              <a:rPr lang="en-GB" sz="1600" i="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endParaRPr lang="en-GB" sz="1400" dirty="0">
              <a:solidFill>
                <a:srgbClr val="000000"/>
              </a:solidFill>
              <a:latin typeface="Consolas" panose="020B0609020204030204" pitchFamily="49" charset="0"/>
            </a:endParaRPr>
          </a:p>
          <a:p>
            <a:endParaRPr lang="en-GB" sz="1400" dirty="0">
              <a:latin typeface="Consolas" panose="020B0609020204030204" pitchFamily="49" charset="0"/>
            </a:endParaRPr>
          </a:p>
          <a:p>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draw(Shape </a:t>
            </a:r>
            <a:r>
              <a:rPr lang="en-GB" sz="1600" b="1" dirty="0">
                <a:solidFill>
                  <a:srgbClr val="6A3E3E"/>
                </a:solidFill>
                <a:latin typeface="Consolas" panose="020B0609020204030204" pitchFamily="49" charset="0"/>
              </a:rPr>
              <a:t>shape</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shape</a:t>
            </a:r>
            <a:r>
              <a:rPr lang="en-GB" sz="1600" dirty="0" err="1">
                <a:solidFill>
                  <a:srgbClr val="000000"/>
                </a:solidFill>
                <a:latin typeface="Consolas" panose="020B0609020204030204" pitchFamily="49" charset="0"/>
              </a:rPr>
              <a:t>.draw</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p:txBody>
      </p:sp>
      <p:sp>
        <p:nvSpPr>
          <p:cNvPr id="5" name="Rectangle 4"/>
          <p:cNvSpPr/>
          <p:nvPr/>
        </p:nvSpPr>
        <p:spPr>
          <a:xfrm>
            <a:off x="1847850" y="3266849"/>
            <a:ext cx="4572000" cy="86177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spAutoFit/>
          </a:bodyPr>
          <a:lstStyle/>
          <a:p>
            <a:r>
              <a:rPr lang="en-GB" sz="1600" b="1" dirty="0">
                <a:solidFill>
                  <a:srgbClr val="7F0055"/>
                </a:solidFill>
                <a:latin typeface="Consolas" panose="020B0609020204030204" pitchFamily="49" charset="0"/>
              </a:rPr>
              <a:t>abstract</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abstract</a:t>
            </a:r>
            <a:r>
              <a:rPr lang="en-GB"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a:t>
            </a:r>
          </a:p>
          <a:p>
            <a:r>
              <a:rPr lang="en-GB" sz="1600" dirty="0">
                <a:solidFill>
                  <a:srgbClr val="000000"/>
                </a:solidFill>
                <a:latin typeface="Consolas" panose="020B0609020204030204" pitchFamily="49" charset="0"/>
              </a:rPr>
              <a:t>}</a:t>
            </a:r>
          </a:p>
        </p:txBody>
      </p:sp>
      <p:sp>
        <p:nvSpPr>
          <p:cNvPr id="2" name="Rounded Rectangular Callout 1"/>
          <p:cNvSpPr/>
          <p:nvPr/>
        </p:nvSpPr>
        <p:spPr>
          <a:xfrm>
            <a:off x="346710" y="4544121"/>
            <a:ext cx="6073140" cy="895064"/>
          </a:xfrm>
          <a:prstGeom prst="wedgeRoundRectCallout">
            <a:avLst>
              <a:gd name="adj1" fmla="val 54323"/>
              <a:gd name="adj2" fmla="val -27070"/>
              <a:gd name="adj3" fmla="val 16667"/>
            </a:avLst>
          </a:prstGeom>
          <a:solidFill>
            <a:schemeClr val="bg1">
              <a:lumMod val="9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err="1">
                <a:solidFill>
                  <a:srgbClr val="6A3E3E"/>
                </a:solidFill>
                <a:latin typeface="Consolas" panose="020B0609020204030204" pitchFamily="49" charset="0"/>
              </a:rPr>
              <a:t>Shape.Draw</a:t>
            </a:r>
            <a:r>
              <a:rPr lang="en-GB" sz="1600" b="1" dirty="0">
                <a:solidFill>
                  <a:srgbClr val="6A3E3E"/>
                </a:solidFill>
                <a:latin typeface="Consolas" panose="020B0609020204030204" pitchFamily="49" charset="0"/>
              </a:rPr>
              <a:t>()</a:t>
            </a:r>
            <a:br>
              <a:rPr lang="en-GB" sz="1600" dirty="0">
                <a:solidFill>
                  <a:schemeClr val="tx1"/>
                </a:solidFill>
              </a:rPr>
            </a:br>
            <a:r>
              <a:rPr lang="en-GB" sz="1600" dirty="0">
                <a:solidFill>
                  <a:schemeClr val="tx1"/>
                </a:solidFill>
              </a:rPr>
              <a:t>is handled by the derived type.  </a:t>
            </a:r>
            <a:br>
              <a:rPr lang="en-GB" sz="1600" dirty="0">
                <a:solidFill>
                  <a:schemeClr val="tx1"/>
                </a:solidFill>
              </a:rPr>
            </a:br>
            <a:r>
              <a:rPr lang="en-GB" sz="1600" b="1" dirty="0">
                <a:solidFill>
                  <a:schemeClr val="tx1"/>
                </a:solidFill>
              </a:rPr>
              <a:t>In future could handle as yet unwritten derived types </a:t>
            </a:r>
          </a:p>
        </p:txBody>
      </p:sp>
      <p:sp>
        <p:nvSpPr>
          <p:cNvPr id="7" name="Rectangle 6"/>
          <p:cNvSpPr/>
          <p:nvPr/>
        </p:nvSpPr>
        <p:spPr>
          <a:xfrm>
            <a:off x="6716100" y="3266849"/>
            <a:ext cx="4572000" cy="2554545"/>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 {</a:t>
            </a:r>
          </a:p>
          <a:p>
            <a:r>
              <a:rPr lang="en-GB" sz="1600" dirty="0">
                <a:solidFill>
                  <a:srgbClr val="3F7F5F"/>
                </a:solidFill>
                <a:latin typeface="Consolas" panose="020B0609020204030204" pitchFamily="49" charset="0"/>
              </a:rPr>
              <a:t>	// code to draw a rectangle</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Circle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 {</a:t>
            </a:r>
          </a:p>
          <a:p>
            <a:r>
              <a:rPr lang="en-GB" sz="1600" dirty="0">
                <a:solidFill>
                  <a:srgbClr val="3F7F5F"/>
                </a:solidFill>
                <a:latin typeface="Consolas" panose="020B0609020204030204" pitchFamily="49" charset="0"/>
              </a:rPr>
              <a:t>	// code to draw a circle</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45316987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816042" y="1290750"/>
            <a:ext cx="5944918" cy="5239360"/>
          </a:xfrm>
        </p:spPr>
        <p:txBody>
          <a:bodyPr vert="horz" lIns="0" tIns="0" rIns="0" bIns="0" rtlCol="0" anchor="t" anchorCtr="0">
            <a:noAutofit/>
          </a:bodyPr>
          <a:lstStyle/>
          <a:p>
            <a:pPr marL="342900" indent="-342900">
              <a:buChar char="•"/>
            </a:pPr>
            <a:r>
              <a:rPr lang="en-GB" b="1" dirty="0"/>
              <a:t>In this chapter you learned</a:t>
            </a:r>
          </a:p>
          <a:p>
            <a:pPr marL="342900" indent="-342900">
              <a:buChar char="•"/>
            </a:pPr>
            <a:endParaRPr lang="en-GB" b="1" dirty="0"/>
          </a:p>
          <a:p>
            <a:pPr marL="684000" lvl="1" indent="-342900">
              <a:spcAft>
                <a:spcPts val="650"/>
              </a:spcAft>
              <a:buSzPct val="115000"/>
            </a:pPr>
            <a:r>
              <a:rPr lang="en-GB" dirty="0"/>
              <a:t>What Abstract classes are</a:t>
            </a:r>
          </a:p>
          <a:p>
            <a:pPr marL="684000" lvl="1" indent="-342900">
              <a:spcAft>
                <a:spcPts val="650"/>
              </a:spcAft>
              <a:buSzPct val="115000"/>
            </a:pPr>
            <a:endParaRPr lang="en-GB" dirty="0"/>
          </a:p>
          <a:p>
            <a:pPr marL="684000" lvl="1" indent="-342900">
              <a:spcAft>
                <a:spcPts val="650"/>
              </a:spcAft>
              <a:buSzPct val="115000"/>
            </a:pPr>
            <a:r>
              <a:rPr lang="en-GB" dirty="0"/>
              <a:t>How to use an Abstract class</a:t>
            </a:r>
          </a:p>
          <a:p>
            <a:pPr marL="684000" lvl="1" indent="-342900">
              <a:spcAft>
                <a:spcPts val="650"/>
              </a:spcAft>
              <a:buSzPct val="115000"/>
            </a:pPr>
            <a:endParaRPr lang="en-GB" dirty="0"/>
          </a:p>
          <a:p>
            <a:pPr marL="684000" lvl="1" indent="-342900">
              <a:spcAft>
                <a:spcPts val="650"/>
              </a:spcAft>
              <a:buSzPct val="115000"/>
            </a:pPr>
            <a:r>
              <a:rPr lang="en-GB" dirty="0"/>
              <a:t>Improve design by using abstract classes</a:t>
            </a:r>
          </a:p>
          <a:p>
            <a:pPr marL="684000" lvl="1" indent="-342900">
              <a:spcAft>
                <a:spcPts val="650"/>
              </a:spcAft>
              <a:buSzPct val="115000"/>
            </a:pPr>
            <a:endParaRPr lang="en-GB" dirty="0"/>
          </a:p>
          <a:p>
            <a:pPr marL="684000" lvl="1" indent="-342900">
              <a:spcAft>
                <a:spcPts val="650"/>
              </a:spcAft>
              <a:buSzPct val="115000"/>
            </a:pPr>
            <a:r>
              <a:rPr lang="en-GB" dirty="0"/>
              <a:t>Polymorphism and Abstract classes</a:t>
            </a:r>
          </a:p>
        </p:txBody>
      </p:sp>
      <p:pic>
        <p:nvPicPr>
          <p:cNvPr id="2" name="Picture 2" descr="Reviews - Web Sites: Recommended - Research Guides at Thrift Library">
            <a:extLst>
              <a:ext uri="{FF2B5EF4-FFF2-40B4-BE49-F238E27FC236}">
                <a16:creationId xmlns:a16="http://schemas.microsoft.com/office/drawing/2014/main" id="{1F1B45A8-845F-BB75-2104-19F7D0B63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93601"/>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22131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1DC4093-FCB0-4EA6-8DFE-E2A283E14560}"/>
              </a:ext>
            </a:extLst>
          </p:cNvPr>
          <p:cNvSpPr>
            <a:spLocks noGrp="1"/>
          </p:cNvSpPr>
          <p:nvPr>
            <p:ph type="body" sz="quarter" idx="10"/>
          </p:nvPr>
        </p:nvSpPr>
        <p:spPr/>
        <p:txBody>
          <a:bodyPr/>
          <a:lstStyle/>
          <a:p>
            <a:r>
              <a:rPr lang="en-GB" dirty="0"/>
              <a:t>Labs</a:t>
            </a:r>
          </a:p>
        </p:txBody>
      </p:sp>
      <p:graphicFrame>
        <p:nvGraphicFramePr>
          <p:cNvPr id="7" name="Text Placeholder 1">
            <a:extLst>
              <a:ext uri="{FF2B5EF4-FFF2-40B4-BE49-F238E27FC236}">
                <a16:creationId xmlns:a16="http://schemas.microsoft.com/office/drawing/2014/main" id="{D31266FF-1381-7EE3-21F0-4DB6ED4EF603}"/>
              </a:ext>
            </a:extLst>
          </p:cNvPr>
          <p:cNvGraphicFramePr/>
          <p:nvPr>
            <p:extLst>
              <p:ext uri="{D42A27DB-BD31-4B8C-83A1-F6EECF244321}">
                <p14:modId xmlns:p14="http://schemas.microsoft.com/office/powerpoint/2010/main" val="3304815733"/>
              </p:ext>
            </p:extLst>
          </p:nvPr>
        </p:nvGraphicFramePr>
        <p:xfrm>
          <a:off x="4710058" y="1616037"/>
          <a:ext cx="6565582" cy="3773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94113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EE1230-8E06-4B7E-922E-37040E46E781}">
  <ds:schemaRefs>
    <ds:schemaRef ds:uri="http://schemas.microsoft.com/sharepoint/v3/contenttype/forms"/>
  </ds:schemaRefs>
</ds:datastoreItem>
</file>

<file path=customXml/itemProps2.xml><?xml version="1.0" encoding="utf-8"?>
<ds:datastoreItem xmlns:ds="http://schemas.openxmlformats.org/officeDocument/2006/customXml" ds:itemID="{B8CA8464-660D-407C-9BC6-65570507D9BC}">
  <ds:schemaRefs>
    <ds:schemaRef ds:uri="http://schemas.microsoft.com/office/2006/documentManagement/types"/>
    <ds:schemaRef ds:uri="http://purl.org/dc/dcmitype/"/>
    <ds:schemaRef ds:uri="6794D9DE-4FDF-4DC0-8B2C-5438320C69D5"/>
    <ds:schemaRef ds:uri="http://schemas.microsoft.com/office/2006/metadata/properties"/>
    <ds:schemaRef ds:uri="http://purl.org/dc/terms/"/>
    <ds:schemaRef ds:uri="http://purl.org/dc/elements/1.1/"/>
    <ds:schemaRef ds:uri="http://schemas.openxmlformats.org/package/2006/metadata/core-properti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BA980A2A-027D-4974-B588-4101B49F52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2053</Words>
  <Application>Microsoft Office PowerPoint</Application>
  <PresentationFormat>Widescreen</PresentationFormat>
  <Paragraphs>168</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Consolas</vt:lpstr>
      <vt:lpstr>Krana Fat B</vt:lpstr>
      <vt:lpstr>Lucida Console</vt:lpstr>
      <vt:lpstr>Montserrat</vt:lpstr>
      <vt:lpstr>Wingdings</vt:lpstr>
      <vt:lpstr>Master</vt:lpstr>
      <vt:lpstr>Abstract Classes</vt:lpstr>
      <vt:lpstr>PowerPoint Presentation</vt:lpstr>
      <vt:lpstr>PowerPoint Presentation</vt:lpstr>
      <vt:lpstr>Problem with a concrete base class</vt:lpstr>
      <vt:lpstr>Problem with a concrete base class…</vt:lpstr>
      <vt:lpstr>Using an abstract class – Problem solved!</vt:lpstr>
      <vt:lpstr>Polymorphism with abstract classes </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246</cp:revision>
  <cp:lastPrinted>2019-07-03T09:46:41Z</cp:lastPrinted>
  <dcterms:created xsi:type="dcterms:W3CDTF">2019-09-05T08:17:12Z</dcterms:created>
  <dcterms:modified xsi:type="dcterms:W3CDTF">2025-12-04T15:51:38Z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0x010100F0967B7CEE8D417F966757887D9466FB00B3EF5B1D149FDF49B1880C030D548140</vt:lpwstr>
  </property>
  <property fmtid="{D5CDD505-2E9C-101B-9397-08002B2CF9AE}" pid="3" name="BookType">
    <vt:lpwstr>7</vt:lpwstr>
  </property>
</Properties>
</file>