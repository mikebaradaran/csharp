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handoutMasterIdLst>
    <p:handoutMasterId r:id="rId15"/>
  </p:handoutMasterIdLst>
  <p:sldIdLst>
    <p:sldId id="1560" r:id="rId5"/>
    <p:sldId id="790" r:id="rId6"/>
    <p:sldId id="791" r:id="rId7"/>
    <p:sldId id="792" r:id="rId8"/>
    <p:sldId id="793" r:id="rId9"/>
    <p:sldId id="796" r:id="rId10"/>
    <p:sldId id="797" r:id="rId11"/>
    <p:sldId id="824" r:id="rId12"/>
    <p:sldId id="823" r:id="rId13"/>
  </p:sldIdLst>
  <p:sldSz cx="12192000" cy="6858000"/>
  <p:notesSz cx="6645275" cy="977582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90"/>
            <p14:sldId id="791"/>
            <p14:sldId id="792"/>
            <p14:sldId id="793"/>
            <p14:sldId id="796"/>
            <p14:sldId id="797"/>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60" autoAdjust="0"/>
    <p:restoredTop sz="71630" autoAdjust="0"/>
  </p:normalViewPr>
  <p:slideViewPr>
    <p:cSldViewPr snapToGrid="0" snapToObjects="1" showGuides="1">
      <p:cViewPr varScale="1">
        <p:scale>
          <a:sx n="77" d="100"/>
          <a:sy n="77" d="100"/>
        </p:scale>
        <p:origin x="972"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Abstract classes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Abstract classes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30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2676598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withdraw(</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891514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a:t>
            </a:r>
            <a:r>
              <a:rPr lang="en-GB" baseline="0" dirty="0" err="1"/>
              <a:t>withDraw</a:t>
            </a:r>
            <a:r>
              <a:rPr lang="en-GB" baseline="0" dirty="0"/>
              <a:t>(</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p>
          <a:p>
            <a:endParaRPr lang="en-GB" dirty="0"/>
          </a:p>
          <a:p>
            <a:r>
              <a:rPr lang="en-GB" dirty="0"/>
              <a:t>When you design a set of classes, it is often a good idea to factor out as much common data and behaviour as possible into a shared base class. If this base class becomes so general or abstract that it is used only as a framework by derived classes and is never instantiated, that class is known as an abstract class. </a:t>
            </a:r>
          </a:p>
          <a:p>
            <a:r>
              <a:rPr lang="en-GB" dirty="0"/>
              <a:t>For example, the author of the Shape class that we were looking at in the last chapter has no real idea of how a specific shape will be drawn, nor can they possibly know how to calculate the area of a specific shape. However, they can determine that shapes can be drawn or have their area calculated. Thus, they can add an abstract definition of this behaviour without actually providing any implementation at all. The derived classes can then replace (by implementing) the abstract with a concrete implementation.</a:t>
            </a:r>
          </a:p>
          <a:p>
            <a:r>
              <a:rPr lang="en-GB" dirty="0"/>
              <a:t>A class can be declared as abstract using the abstract keyword as shown in the example on the slide. It can contain anything a normal class can contain, such as instance variables and instance methods, plus usually some abstract methods. </a:t>
            </a:r>
          </a:p>
          <a:p>
            <a:endParaRPr lang="en-GB" dirty="0"/>
          </a:p>
        </p:txBody>
      </p:sp>
    </p:spTree>
    <p:extLst>
      <p:ext uri="{BB962C8B-B14F-4D97-AF65-F5344CB8AC3E}">
        <p14:creationId xmlns:p14="http://schemas.microsoft.com/office/powerpoint/2010/main" val="254333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a:noFill/>
          <a:ln/>
        </p:spPr>
        <p:txBody>
          <a:bodyPr/>
          <a:lstStyle/>
          <a:p>
            <a:r>
              <a:rPr lang="en-GB" dirty="0"/>
              <a:t>As you would expect, you can use a reference to an abstract base class to refer to objects of a concrete derived class. Remember that you cannot instantiate an abstract base class, but there is nothing to stop you invoking abstract methods </a:t>
            </a:r>
            <a:r>
              <a:rPr lang="en-GB" dirty="0" err="1"/>
              <a:t>polymorphically</a:t>
            </a:r>
            <a:r>
              <a:rPr lang="en-GB" dirty="0"/>
              <a:t>, as you know that the method from the concrete class will be called at run-time.</a:t>
            </a:r>
          </a:p>
          <a:p>
            <a:r>
              <a:rPr lang="en-GB" dirty="0"/>
              <a:t>As you use the IDE you will note that when coding a method like </a:t>
            </a:r>
            <a:r>
              <a:rPr lang="en-GB" dirty="0" err="1"/>
              <a:t>processShape</a:t>
            </a:r>
            <a:r>
              <a:rPr lang="en-GB" dirty="0"/>
              <a:t> when you type the line s.&lt;dot&gt; and see ‘draw’ appear there is nothing in the </a:t>
            </a:r>
            <a:r>
              <a:rPr lang="en-GB" dirty="0" err="1"/>
              <a:t>Intellisense</a:t>
            </a:r>
            <a:r>
              <a:rPr lang="en-GB" dirty="0"/>
              <a:t> that suggests the method that you are invoking</a:t>
            </a:r>
            <a:r>
              <a:rPr lang="en-GB" baseline="0" dirty="0"/>
              <a:t> is abstract. The reason being you, as the client code developer, just do not need to know. You can be 100% certain that if this code ever runs, the object on the end of the ‘s’ reference will have a draw() method or the class (of this unknown shape derived type) would never have compiled.  </a:t>
            </a:r>
            <a:endParaRPr lang="en-GB" dirty="0"/>
          </a:p>
          <a:p>
            <a:endParaRPr lang="en-GB" dirty="0"/>
          </a:p>
          <a:p>
            <a:endParaRPr lang="en-GB" dirty="0"/>
          </a:p>
        </p:txBody>
      </p:sp>
    </p:spTree>
    <p:extLst>
      <p:ext uri="{BB962C8B-B14F-4D97-AF65-F5344CB8AC3E}">
        <p14:creationId xmlns:p14="http://schemas.microsoft.com/office/powerpoint/2010/main" val="3127028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933812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Abstract Classes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Abstract Classes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abstract classes</a:t>
            </a:r>
          </a:p>
          <a:p>
            <a:pPr marL="342900" indent="-342900">
              <a:buChar char="•"/>
            </a:pPr>
            <a:endParaRPr lang="en-GB" b="1" dirty="0"/>
          </a:p>
          <a:p>
            <a:pPr marL="342900" indent="-342900">
              <a:buChar char="•"/>
            </a:pPr>
            <a:r>
              <a:rPr lang="en-GB" b="1" dirty="0"/>
              <a:t>Contents</a:t>
            </a:r>
          </a:p>
          <a:p>
            <a:pPr marL="684000" lvl="1" indent="-342900">
              <a:buSzPct val="115000"/>
            </a:pPr>
            <a:r>
              <a:rPr lang="en-GB" dirty="0"/>
              <a:t>The problem if we have no abstract classes</a:t>
            </a:r>
          </a:p>
          <a:p>
            <a:pPr marL="684000" lvl="1" indent="-342900">
              <a:buSzPct val="115000"/>
            </a:pPr>
            <a:r>
              <a:rPr lang="en-GB" dirty="0"/>
              <a:t>Abstract classes with abstract members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0C0FF955-9A97-FDF8-D320-D4CA13C0DD09}"/>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FD727B8-C3CD-5876-73F7-52B66082AB4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p:cNvSpPr>
            <a:spLocks noGrp="1"/>
          </p:cNvSpPr>
          <p:nvPr>
            <p:ph type="body" sz="quarter" idx="10"/>
          </p:nvPr>
        </p:nvSpPr>
        <p:spPr/>
        <p:txBody>
          <a:bodyPr/>
          <a:lstStyle/>
          <a:p>
            <a:r>
              <a:rPr lang="en-GB" dirty="0"/>
              <a:t>What are abstract classes</a:t>
            </a:r>
            <a:endParaRPr lang="en-IN" dirty="0"/>
          </a:p>
        </p:txBody>
      </p:sp>
      <p:sp>
        <p:nvSpPr>
          <p:cNvPr id="12" name="Text Placeholder 11"/>
          <p:cNvSpPr>
            <a:spLocks noGrp="1"/>
          </p:cNvSpPr>
          <p:nvPr>
            <p:ph type="body" sz="quarter" idx="15"/>
          </p:nvPr>
        </p:nvSpPr>
        <p:spPr>
          <a:xfrm>
            <a:off x="4484318" y="770401"/>
            <a:ext cx="7465512" cy="5478000"/>
          </a:xfrm>
        </p:spPr>
        <p:txBody>
          <a:bodyPr/>
          <a:lstStyle/>
          <a:p>
            <a:pPr marL="342900" indent="-342900">
              <a:buFont typeface="Arial" panose="020B0604020202020204" pitchFamily="34" charset="0"/>
              <a:buChar char="•"/>
            </a:pPr>
            <a:r>
              <a:rPr lang="en-GB" b="1" dirty="0"/>
              <a:t>You would not create and draw a shape</a:t>
            </a:r>
          </a:p>
          <a:p>
            <a:pPr marL="684000" lvl="1" indent="-342900">
              <a:buSzPct val="115000"/>
            </a:pPr>
            <a:r>
              <a:rPr lang="en-GB" dirty="0"/>
              <a:t>You draw a derived type like a rectangle, circle</a:t>
            </a:r>
          </a:p>
          <a:p>
            <a:pPr marL="342900" indent="-342900">
              <a:buFont typeface="Arial" panose="020B0604020202020204" pitchFamily="34" charset="0"/>
              <a:buChar char="•"/>
            </a:pPr>
            <a:r>
              <a:rPr lang="en-GB" b="1" dirty="0"/>
              <a:t>You would never open an account</a:t>
            </a:r>
          </a:p>
          <a:p>
            <a:pPr marL="684000" lvl="1" indent="-342900">
              <a:buSzPct val="115000"/>
            </a:pPr>
            <a:r>
              <a:rPr lang="en-GB" dirty="0"/>
              <a:t>You open a type of Account like saving account</a:t>
            </a:r>
          </a:p>
          <a:p>
            <a:pPr marL="342900" indent="-342900">
              <a:buFont typeface="Arial" panose="020B0604020202020204" pitchFamily="34" charset="0"/>
              <a:buChar char="•"/>
            </a:pPr>
            <a:r>
              <a:rPr lang="en-GB" b="1" dirty="0"/>
              <a:t>Some classes are not meant to be instantiated</a:t>
            </a:r>
          </a:p>
          <a:p>
            <a:pPr marL="684000" lvl="1" indent="-342900">
              <a:buSzPct val="115000"/>
            </a:pPr>
            <a:r>
              <a:rPr lang="en-GB" dirty="0"/>
              <a:t>These are marked as </a:t>
            </a:r>
            <a:r>
              <a:rPr lang="en-GB" b="1" dirty="0">
                <a:solidFill>
                  <a:srgbClr val="7E007C"/>
                </a:solidFill>
              </a:rPr>
              <a:t>abstract</a:t>
            </a:r>
            <a:br>
              <a:rPr lang="en-GB" b="1" dirty="0">
                <a:solidFill>
                  <a:srgbClr val="7E007C"/>
                </a:solidFill>
              </a:rPr>
            </a:br>
            <a:endParaRPr lang="en-GB" dirty="0"/>
          </a:p>
          <a:p>
            <a:pPr marL="342900" indent="-342900">
              <a:buFont typeface="Arial" panose="020B0604020202020204" pitchFamily="34" charset="0"/>
              <a:buChar char="•"/>
            </a:pPr>
            <a:r>
              <a:rPr lang="en-GB" b="1" dirty="0">
                <a:solidFill>
                  <a:srgbClr val="7E007C"/>
                </a:solidFill>
              </a:rPr>
              <a:t>abstract</a:t>
            </a:r>
            <a:r>
              <a:rPr lang="en-GB" b="1" dirty="0"/>
              <a:t> classes follow these rules:</a:t>
            </a:r>
          </a:p>
          <a:p>
            <a:pPr marL="684000" lvl="1" indent="-342900">
              <a:buSzPct val="115000"/>
            </a:pPr>
            <a:r>
              <a:rPr lang="en-GB" dirty="0"/>
              <a:t>They can hold </a:t>
            </a:r>
            <a:r>
              <a:rPr lang="en-GB" b="1" dirty="0"/>
              <a:t>fields, methods, constructors</a:t>
            </a:r>
          </a:p>
          <a:p>
            <a:pPr marL="684000" lvl="1" indent="-342900">
              <a:buSzPct val="115000"/>
            </a:pPr>
            <a:r>
              <a:rPr lang="en-GB" dirty="0"/>
              <a:t>May have zero or more </a:t>
            </a:r>
            <a:r>
              <a:rPr lang="en-GB" b="1" dirty="0"/>
              <a:t>methods</a:t>
            </a:r>
            <a:r>
              <a:rPr lang="en-GB" dirty="0"/>
              <a:t> marked as </a:t>
            </a:r>
            <a:r>
              <a:rPr lang="en-GB" b="1" dirty="0">
                <a:solidFill>
                  <a:srgbClr val="7E007C"/>
                </a:solidFill>
              </a:rPr>
              <a:t>abstract</a:t>
            </a:r>
          </a:p>
          <a:p>
            <a:pPr marL="684000" lvl="1" indent="-342900">
              <a:buSzPct val="115000"/>
            </a:pPr>
            <a:r>
              <a:rPr lang="en-GB" dirty="0"/>
              <a:t>Cannot be instantiated</a:t>
            </a:r>
          </a:p>
          <a:p>
            <a:pPr marL="684000" lvl="1" indent="-342900">
              <a:buSzPct val="115000"/>
            </a:pPr>
            <a:r>
              <a:rPr lang="en-GB" dirty="0"/>
              <a:t>Are a base for inheritance</a:t>
            </a:r>
          </a:p>
          <a:p>
            <a:pPr marL="1026000" lvl="1" indent="-342900">
              <a:buSzPct val="115000"/>
            </a:pPr>
            <a:r>
              <a:rPr lang="en-GB" b="1" dirty="0"/>
              <a:t>e.g.</a:t>
            </a:r>
            <a:r>
              <a:rPr lang="en-GB" dirty="0"/>
              <a:t> all shapes have in common (x, y, w, h…)</a:t>
            </a:r>
          </a:p>
        </p:txBody>
      </p:sp>
    </p:spTree>
    <p:extLst>
      <p:ext uri="{BB962C8B-B14F-4D97-AF65-F5344CB8AC3E}">
        <p14:creationId xmlns:p14="http://schemas.microsoft.com/office/powerpoint/2010/main" val="23508861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Problem with a concrete base class</a:t>
            </a:r>
          </a:p>
        </p:txBody>
      </p:sp>
      <p:pic>
        <p:nvPicPr>
          <p:cNvPr id="3" name="Picture 2"/>
          <p:cNvPicPr>
            <a:picLocks noChangeAspect="1"/>
          </p:cNvPicPr>
          <p:nvPr/>
        </p:nvPicPr>
        <p:blipFill>
          <a:blip r:embed="rId3"/>
          <a:stretch>
            <a:fillRect/>
          </a:stretch>
        </p:blipFill>
        <p:spPr>
          <a:xfrm>
            <a:off x="7516771" y="1255286"/>
            <a:ext cx="3574151" cy="2219433"/>
          </a:xfrm>
          <a:prstGeom prst="rect">
            <a:avLst/>
          </a:prstGeom>
        </p:spPr>
      </p:pic>
      <p:sp>
        <p:nvSpPr>
          <p:cNvPr id="26" name="Text Box 7"/>
          <p:cNvSpPr txBox="1">
            <a:spLocks noChangeArrowheads="1"/>
          </p:cNvSpPr>
          <p:nvPr/>
        </p:nvSpPr>
        <p:spPr bwMode="auto">
          <a:xfrm>
            <a:off x="7815385" y="3830644"/>
            <a:ext cx="3156260"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b="1" dirty="0"/>
              <a:t>Will this code compile?</a:t>
            </a:r>
          </a:p>
        </p:txBody>
      </p:sp>
      <p:sp>
        <p:nvSpPr>
          <p:cNvPr id="2" name="Rectangle 1"/>
          <p:cNvSpPr/>
          <p:nvPr/>
        </p:nvSpPr>
        <p:spPr>
          <a:xfrm>
            <a:off x="1790700" y="1299763"/>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1790700" y="2969985"/>
            <a:ext cx="5581650" cy="378565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CurrentAccount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SavingAccount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34954045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339970" y="562058"/>
            <a:ext cx="11707249" cy="805001"/>
          </a:xfrm>
        </p:spPr>
        <p:txBody>
          <a:bodyPr/>
          <a:lstStyle/>
          <a:p>
            <a:pPr eaLnBrk="1" hangingPunct="1"/>
            <a:r>
              <a:rPr lang="en-GB" dirty="0"/>
              <a:t>Problem with a concrete base class…</a:t>
            </a:r>
          </a:p>
        </p:txBody>
      </p:sp>
      <p:sp>
        <p:nvSpPr>
          <p:cNvPr id="35" name="Text Box 7"/>
          <p:cNvSpPr txBox="1">
            <a:spLocks noChangeArrowheads="1"/>
          </p:cNvSpPr>
          <p:nvPr/>
        </p:nvSpPr>
        <p:spPr bwMode="auto">
          <a:xfrm>
            <a:off x="7905751" y="1304077"/>
            <a:ext cx="2651413"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dirty="0"/>
              <a:t>What is the </a:t>
            </a:r>
            <a:br>
              <a:rPr lang="en-GB" dirty="0"/>
            </a:br>
            <a:r>
              <a:rPr lang="en-GB" dirty="0"/>
              <a:t>problem now?</a:t>
            </a:r>
          </a:p>
        </p:txBody>
      </p:sp>
      <p:sp>
        <p:nvSpPr>
          <p:cNvPr id="37" name="Text Box 7"/>
          <p:cNvSpPr txBox="1">
            <a:spLocks noChangeArrowheads="1"/>
          </p:cNvSpPr>
          <p:nvPr/>
        </p:nvSpPr>
        <p:spPr bwMode="auto">
          <a:xfrm>
            <a:off x="7905751" y="2017995"/>
            <a:ext cx="2651413" cy="584775"/>
          </a:xfrm>
          <a:prstGeom prst="rect">
            <a:avLst/>
          </a:prstGeom>
          <a:solidFill>
            <a:srgbClr val="7E007C"/>
          </a:solidFill>
          <a:ln>
            <a:headEnd/>
            <a:tailEnd/>
          </a:ln>
          <a:effectLst/>
        </p:spPr>
        <p:style>
          <a:lnRef idx="0">
            <a:schemeClr val="accent4"/>
          </a:lnRef>
          <a:fillRef idx="3">
            <a:schemeClr val="accent4"/>
          </a:fillRef>
          <a:effectRef idx="3">
            <a:schemeClr val="accent4"/>
          </a:effectRef>
          <a:fontRef idx="minor">
            <a:schemeClr val="lt1"/>
          </a:fontRef>
        </p:style>
        <p:txBody>
          <a:bodyPr wrap="square">
            <a:spAutoFit/>
          </a:bodyPr>
          <a:lstStyle/>
          <a:p>
            <a:pPr eaLnBrk="0" hangingPunct="0">
              <a:spcBef>
                <a:spcPct val="50000"/>
              </a:spcBef>
            </a:pPr>
            <a:r>
              <a:rPr lang="en-GB" sz="1600" b="1" dirty="0"/>
              <a:t>You can override </a:t>
            </a:r>
            <a:br>
              <a:rPr lang="en-GB" sz="1600" b="1" dirty="0"/>
            </a:br>
            <a:r>
              <a:rPr lang="en-GB" sz="1600" b="1" dirty="0"/>
              <a:t>but don’t  have to.</a:t>
            </a:r>
          </a:p>
        </p:txBody>
      </p:sp>
      <p:sp>
        <p:nvSpPr>
          <p:cNvPr id="10" name="Rectangle 9"/>
          <p:cNvSpPr/>
          <p:nvPr/>
        </p:nvSpPr>
        <p:spPr>
          <a:xfrm>
            <a:off x="1790700" y="1317224"/>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1" name="Rectangle 10"/>
          <p:cNvSpPr/>
          <p:nvPr/>
        </p:nvSpPr>
        <p:spPr>
          <a:xfrm>
            <a:off x="1790700" y="3038841"/>
            <a:ext cx="5581650"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 }</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CurrentAccount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SavingAccount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3" name="Rounded Rectangular Callout 2"/>
          <p:cNvSpPr/>
          <p:nvPr/>
        </p:nvSpPr>
        <p:spPr>
          <a:xfrm>
            <a:off x="6036134" y="3145999"/>
            <a:ext cx="1317166" cy="638175"/>
          </a:xfrm>
          <a:prstGeom prst="wedgeRoundRectCallout">
            <a:avLst>
              <a:gd name="adj1" fmla="val -57833"/>
              <a:gd name="adj2" fmla="val 47575"/>
              <a:gd name="adj3" fmla="val 16667"/>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Add a withdraw() method</a:t>
            </a:r>
            <a:endParaRPr lang="en-GB" sz="1400" dirty="0">
              <a:solidFill>
                <a:schemeClr val="tx1"/>
              </a:solidFill>
              <a:latin typeface="Arial" pitchFamily="34" charset="0"/>
              <a:cs typeface="Arial" pitchFamily="34" charset="0"/>
            </a:endParaRPr>
          </a:p>
        </p:txBody>
      </p:sp>
      <p:sp>
        <p:nvSpPr>
          <p:cNvPr id="8" name="Text Box 7"/>
          <p:cNvSpPr txBox="1">
            <a:spLocks noChangeArrowheads="1"/>
          </p:cNvSpPr>
          <p:nvPr/>
        </p:nvSpPr>
        <p:spPr bwMode="auto">
          <a:xfrm>
            <a:off x="7905751" y="2856195"/>
            <a:ext cx="2651413" cy="584775"/>
          </a:xfrm>
          <a:prstGeom prst="rect">
            <a:avLst/>
          </a:prstGeom>
          <a:solidFill>
            <a:srgbClr val="7E007C"/>
          </a:solidFill>
          <a:ln>
            <a:headEnd/>
            <a:tailEnd/>
          </a:ln>
          <a:effectLst/>
        </p:spPr>
        <p:style>
          <a:lnRef idx="0">
            <a:schemeClr val="accent4"/>
          </a:lnRef>
          <a:fillRef idx="3">
            <a:schemeClr val="accent4"/>
          </a:fillRef>
          <a:effectRef idx="3">
            <a:schemeClr val="accent4"/>
          </a:effectRef>
          <a:fontRef idx="minor">
            <a:schemeClr val="lt1"/>
          </a:fontRef>
        </p:style>
        <p:txBody>
          <a:bodyPr wrap="square">
            <a:spAutoFit/>
          </a:bodyPr>
          <a:lstStyle/>
          <a:p>
            <a:pPr eaLnBrk="0" hangingPunct="0">
              <a:spcBef>
                <a:spcPct val="50000"/>
              </a:spcBef>
            </a:pPr>
            <a:r>
              <a:rPr lang="en-GB" sz="1600" b="1" dirty="0"/>
              <a:t>But, you can create an instance of Account</a:t>
            </a:r>
          </a:p>
        </p:txBody>
      </p:sp>
    </p:spTree>
    <p:extLst>
      <p:ext uri="{BB962C8B-B14F-4D97-AF65-F5344CB8AC3E}">
        <p14:creationId xmlns:p14="http://schemas.microsoft.com/office/powerpoint/2010/main" val="84990290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Using an abstract class – Problem solved!</a:t>
            </a:r>
          </a:p>
        </p:txBody>
      </p:sp>
      <p:sp>
        <p:nvSpPr>
          <p:cNvPr id="9" name="Rectangle 8"/>
          <p:cNvSpPr/>
          <p:nvPr/>
        </p:nvSpPr>
        <p:spPr>
          <a:xfrm>
            <a:off x="590550" y="1213314"/>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590550" y="2862755"/>
            <a:ext cx="5581650"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 + 1;</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11" name="Text Box 7"/>
          <p:cNvSpPr txBox="1">
            <a:spLocks noChangeArrowheads="1"/>
          </p:cNvSpPr>
          <p:nvPr/>
        </p:nvSpPr>
        <p:spPr bwMode="auto">
          <a:xfrm>
            <a:off x="6444703" y="1659590"/>
            <a:ext cx="5413085" cy="338554"/>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t>Cannot create an instance of </a:t>
            </a:r>
            <a:r>
              <a:rPr lang="en-GB" sz="1600" b="1" dirty="0">
                <a:solidFill>
                  <a:srgbClr val="FA3200"/>
                </a:solidFill>
                <a:latin typeface="Lucida Console" pitchFamily="49" charset="0"/>
              </a:rPr>
              <a:t>abstract</a:t>
            </a:r>
            <a:r>
              <a:rPr lang="en-GB" sz="1600" b="1" dirty="0"/>
              <a:t> Account</a:t>
            </a:r>
          </a:p>
        </p:txBody>
      </p:sp>
      <p:sp>
        <p:nvSpPr>
          <p:cNvPr id="12" name="Text Box 7"/>
          <p:cNvSpPr txBox="1">
            <a:spLocks noChangeArrowheads="1"/>
          </p:cNvSpPr>
          <p:nvPr/>
        </p:nvSpPr>
        <p:spPr bwMode="auto">
          <a:xfrm>
            <a:off x="6444705" y="4278526"/>
            <a:ext cx="5413084" cy="584775"/>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a:t>
            </a:r>
            <a:r>
              <a:rPr lang="en-GB" sz="1600" b="1" u="sng" dirty="0"/>
              <a:t>must be overridden</a:t>
            </a:r>
            <a:r>
              <a:rPr lang="en-GB" sz="1600" b="1" dirty="0"/>
              <a:t> </a:t>
            </a:r>
            <a:br>
              <a:rPr lang="en-GB" sz="1600" b="1" dirty="0"/>
            </a:br>
            <a:r>
              <a:rPr lang="en-GB" sz="1600" b="1" dirty="0"/>
              <a:t>in every derived class</a:t>
            </a:r>
          </a:p>
        </p:txBody>
      </p:sp>
      <p:sp>
        <p:nvSpPr>
          <p:cNvPr id="13" name="Text Box 7"/>
          <p:cNvSpPr txBox="1">
            <a:spLocks noChangeArrowheads="1"/>
          </p:cNvSpPr>
          <p:nvPr/>
        </p:nvSpPr>
        <p:spPr bwMode="auto">
          <a:xfrm>
            <a:off x="6444704" y="2865564"/>
            <a:ext cx="5411469" cy="954107"/>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live in </a:t>
            </a:r>
            <a:r>
              <a:rPr lang="en-GB" sz="1600" b="1" dirty="0">
                <a:solidFill>
                  <a:srgbClr val="FA3200"/>
                </a:solidFill>
                <a:latin typeface="Lucida Console" pitchFamily="49" charset="0"/>
              </a:rPr>
              <a:t>abstract</a:t>
            </a:r>
            <a:r>
              <a:rPr lang="en-GB" sz="1600" b="1" dirty="0"/>
              <a:t> classes. </a:t>
            </a:r>
          </a:p>
          <a:p>
            <a:pPr algn="ctr" eaLnBrk="0" hangingPunct="0">
              <a:spcBef>
                <a:spcPct val="50000"/>
              </a:spcBef>
            </a:pPr>
            <a:r>
              <a:rPr lang="en-GB" sz="1600" dirty="0"/>
              <a:t>Have no code, as they cannot meaningfully be implemented</a:t>
            </a:r>
          </a:p>
        </p:txBody>
      </p:sp>
      <p:sp>
        <p:nvSpPr>
          <p:cNvPr id="3" name="Oval Callout 2"/>
          <p:cNvSpPr/>
          <p:nvPr/>
        </p:nvSpPr>
        <p:spPr>
          <a:xfrm>
            <a:off x="5295900" y="2900855"/>
            <a:ext cx="838200" cy="600545"/>
          </a:xfrm>
          <a:prstGeom prst="wedgeEllipseCallout">
            <a:avLst>
              <a:gd name="adj1" fmla="val -29924"/>
              <a:gd name="adj2" fmla="val 59328"/>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cs typeface="Arial" pitchFamily="34" charset="0"/>
              </a:rPr>
              <a:t>No code</a:t>
            </a:r>
          </a:p>
        </p:txBody>
      </p:sp>
    </p:spTree>
    <p:extLst>
      <p:ext uri="{BB962C8B-B14F-4D97-AF65-F5344CB8AC3E}">
        <p14:creationId xmlns:p14="http://schemas.microsoft.com/office/powerpoint/2010/main" val="207097315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GB" dirty="0"/>
              <a:t>Polymorphism with abstract classes </a:t>
            </a:r>
          </a:p>
        </p:txBody>
      </p:sp>
      <p:sp>
        <p:nvSpPr>
          <p:cNvPr id="4" name="Rectangle 3"/>
          <p:cNvSpPr/>
          <p:nvPr/>
        </p:nvSpPr>
        <p:spPr>
          <a:xfrm>
            <a:off x="1847850" y="1153716"/>
            <a:ext cx="6073140" cy="2031325"/>
          </a:xfrm>
          <a:prstGeom prst="rect">
            <a:avLst/>
          </a:prstGeom>
          <a:solidFill>
            <a:schemeClr val="bg1"/>
          </a:solidFill>
          <a:ln w="19050">
            <a:solidFill>
              <a:schemeClr val="bg1">
                <a:lumMod val="9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Circle() };</a:t>
            </a:r>
          </a:p>
          <a:p>
            <a:r>
              <a:rPr lang="en-GB" sz="1600" b="1" dirty="0">
                <a:solidFill>
                  <a:srgbClr val="7F0055"/>
                </a:solidFill>
                <a:latin typeface="Consolas" panose="020B0609020204030204" pitchFamily="49" charset="0"/>
              </a:rPr>
              <a:t>    foreach</a:t>
            </a:r>
            <a:r>
              <a:rPr lang="en-GB" sz="1600" b="1" dirty="0">
                <a:solidFill>
                  <a:srgbClr val="000000"/>
                </a:solidFill>
                <a:latin typeface="Consolas" panose="020B0609020204030204" pitchFamily="49" charset="0"/>
              </a:rPr>
              <a:t> (Shape </a:t>
            </a:r>
            <a:r>
              <a:rPr lang="en-GB" sz="1600" b="1" dirty="0" err="1">
                <a:solidFill>
                  <a:srgbClr val="6A3E3E"/>
                </a:solidFill>
                <a:latin typeface="Consolas" panose="020B0609020204030204" pitchFamily="49" charset="0"/>
              </a:rPr>
              <a:t>shape</a:t>
            </a:r>
            <a:r>
              <a:rPr lang="en-GB" sz="1600" b="1" dirty="0">
                <a:solidFill>
                  <a:srgbClr val="000000"/>
                </a:solidFill>
                <a:latin typeface="Consolas" panose="020B0609020204030204" pitchFamily="49" charset="0"/>
              </a:rPr>
              <a:t> :n </a:t>
            </a:r>
            <a:r>
              <a:rPr lang="en-GB" sz="1600" b="1" dirty="0">
                <a:solidFill>
                  <a:srgbClr val="6A3E3E"/>
                </a:solidFill>
                <a:latin typeface="Consolas" panose="020B0609020204030204" pitchFamily="49" charset="0"/>
              </a:rPr>
              <a:t>shapes</a:t>
            </a:r>
            <a:r>
              <a:rPr lang="en-GB" sz="1600" b="1" dirty="0">
                <a:solidFill>
                  <a:srgbClr val="000000"/>
                </a:solidFill>
                <a:latin typeface="Consolas" panose="020B0609020204030204" pitchFamily="49" charset="0"/>
              </a:rPr>
              <a:t>) {</a:t>
            </a:r>
          </a:p>
          <a:p>
            <a:r>
              <a:rPr lang="en-GB" sz="1600" i="1" dirty="0">
                <a:solidFill>
                  <a:srgbClr val="000000"/>
                </a:solidFill>
                <a:latin typeface="Consolas" panose="020B0609020204030204" pitchFamily="49" charset="0"/>
              </a:rPr>
              <a:t>	draw(</a:t>
            </a:r>
            <a:r>
              <a:rPr lang="en-GB" sz="1600" i="1" dirty="0">
                <a:solidFill>
                  <a:srgbClr val="6A3E3E"/>
                </a:solidFill>
                <a:latin typeface="Consolas" panose="020B0609020204030204" pitchFamily="49" charset="0"/>
              </a:rPr>
              <a:t>shape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draw(Shape </a:t>
            </a:r>
            <a:r>
              <a:rPr lang="en-GB" sz="1600" b="1" dirty="0">
                <a:solidFill>
                  <a:srgbClr val="6A3E3E"/>
                </a:solidFill>
                <a:latin typeface="Consolas" panose="020B0609020204030204" pitchFamily="49" charset="0"/>
              </a:rPr>
              <a:t>shape</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shape</a:t>
            </a:r>
            <a:r>
              <a:rPr lang="en-GB" sz="1600" dirty="0" err="1">
                <a:solidFill>
                  <a:srgbClr val="000000"/>
                </a:solidFill>
                <a:latin typeface="Consolas" panose="020B0609020204030204" pitchFamily="49" charset="0"/>
              </a:rPr>
              <a:t>.draw</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5" name="Rectangle 4"/>
          <p:cNvSpPr/>
          <p:nvPr/>
        </p:nvSpPr>
        <p:spPr>
          <a:xfrm>
            <a:off x="1847850" y="3345812"/>
            <a:ext cx="4572000" cy="86177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abstract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abstract</a:t>
            </a:r>
            <a:r>
              <a:rPr lang="en-GB"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a:t>
            </a:r>
          </a:p>
          <a:p>
            <a:r>
              <a:rPr lang="en-GB" sz="1600" dirty="0">
                <a:solidFill>
                  <a:srgbClr val="000000"/>
                </a:solidFill>
                <a:latin typeface="Consolas" panose="020B0609020204030204" pitchFamily="49" charset="0"/>
              </a:rPr>
              <a:t>}</a:t>
            </a:r>
          </a:p>
        </p:txBody>
      </p:sp>
      <p:sp>
        <p:nvSpPr>
          <p:cNvPr id="2" name="Rounded Rectangular Callout 1"/>
          <p:cNvSpPr/>
          <p:nvPr/>
        </p:nvSpPr>
        <p:spPr>
          <a:xfrm>
            <a:off x="339971" y="4991653"/>
            <a:ext cx="6073140" cy="895064"/>
          </a:xfrm>
          <a:prstGeom prst="wedgeRoundRectCallout">
            <a:avLst>
              <a:gd name="adj1" fmla="val 54323"/>
              <a:gd name="adj2" fmla="val -2707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err="1">
                <a:solidFill>
                  <a:srgbClr val="6A3E3E"/>
                </a:solidFill>
                <a:latin typeface="Consolas" panose="020B0609020204030204" pitchFamily="49" charset="0"/>
              </a:rPr>
              <a:t>Shape.Draw</a:t>
            </a:r>
            <a:r>
              <a:rPr lang="en-GB" sz="1600" b="1" dirty="0">
                <a:solidFill>
                  <a:srgbClr val="6A3E3E"/>
                </a:solidFill>
                <a:latin typeface="Consolas" panose="020B0609020204030204" pitchFamily="49" charset="0"/>
              </a:rPr>
              <a:t>()</a:t>
            </a:r>
            <a:br>
              <a:rPr lang="en-GB" sz="1600" dirty="0">
                <a:solidFill>
                  <a:schemeClr val="tx1"/>
                </a:solidFill>
              </a:rPr>
            </a:br>
            <a:r>
              <a:rPr lang="en-GB" sz="1600" dirty="0">
                <a:solidFill>
                  <a:schemeClr val="tx1"/>
                </a:solidFill>
              </a:rPr>
              <a:t>is handled by the derived type.  </a:t>
            </a:r>
            <a:br>
              <a:rPr lang="en-GB" sz="1600" dirty="0">
                <a:solidFill>
                  <a:schemeClr val="tx1"/>
                </a:solidFill>
              </a:rPr>
            </a:br>
            <a:r>
              <a:rPr lang="en-GB" sz="1600" b="1" dirty="0">
                <a:solidFill>
                  <a:schemeClr val="tx1"/>
                </a:solidFill>
              </a:rPr>
              <a:t>In future could handle as yet unwritten derived types </a:t>
            </a:r>
          </a:p>
        </p:txBody>
      </p:sp>
      <p:sp>
        <p:nvSpPr>
          <p:cNvPr id="7" name="Rectangle 6"/>
          <p:cNvSpPr/>
          <p:nvPr/>
        </p:nvSpPr>
        <p:spPr>
          <a:xfrm>
            <a:off x="6716100" y="3266849"/>
            <a:ext cx="4572000"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rectangle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Circle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circle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4531698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342900" indent="-342900">
              <a:buChar char="•"/>
            </a:pPr>
            <a:endParaRPr lang="en-GB" b="1" dirty="0"/>
          </a:p>
          <a:p>
            <a:pPr marL="684000" lvl="1" indent="-342900">
              <a:spcAft>
                <a:spcPts val="650"/>
              </a:spcAft>
              <a:buSzPct val="115000"/>
            </a:pPr>
            <a:r>
              <a:rPr lang="en-GB" dirty="0"/>
              <a:t>What Abstract classes are</a:t>
            </a:r>
          </a:p>
          <a:p>
            <a:pPr marL="684000" lvl="1" indent="-342900">
              <a:spcAft>
                <a:spcPts val="650"/>
              </a:spcAft>
              <a:buSzPct val="115000"/>
            </a:pPr>
            <a:endParaRPr lang="en-GB" dirty="0"/>
          </a:p>
          <a:p>
            <a:pPr marL="684000" lvl="1" indent="-342900">
              <a:spcAft>
                <a:spcPts val="650"/>
              </a:spcAft>
              <a:buSzPct val="115000"/>
            </a:pPr>
            <a:r>
              <a:rPr lang="en-GB" dirty="0"/>
              <a:t>How to use an Abstract class</a:t>
            </a:r>
          </a:p>
          <a:p>
            <a:pPr marL="684000" lvl="1" indent="-342900">
              <a:spcAft>
                <a:spcPts val="650"/>
              </a:spcAft>
              <a:buSzPct val="115000"/>
            </a:pPr>
            <a:endParaRPr lang="en-GB" dirty="0"/>
          </a:p>
          <a:p>
            <a:pPr marL="684000" lvl="1" indent="-342900">
              <a:spcAft>
                <a:spcPts val="650"/>
              </a:spcAft>
              <a:buSzPct val="115000"/>
            </a:pPr>
            <a:r>
              <a:rPr lang="en-GB" dirty="0"/>
              <a:t>Improve design by using abstract classes</a:t>
            </a:r>
          </a:p>
          <a:p>
            <a:pPr marL="684000" lvl="1" indent="-342900">
              <a:spcAft>
                <a:spcPts val="650"/>
              </a:spcAft>
              <a:buSzPct val="115000"/>
            </a:pPr>
            <a:endParaRPr lang="en-GB" dirty="0"/>
          </a:p>
          <a:p>
            <a:pPr marL="684000" lvl="1" indent="-342900">
              <a:spcAft>
                <a:spcPts val="650"/>
              </a:spcAft>
              <a:buSzPct val="115000"/>
            </a:pPr>
            <a:r>
              <a:rPr lang="en-GB" dirty="0"/>
              <a:t>Polymorphism and Abstract classes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330481573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2.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customXml/itemProps3.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2053</Words>
  <Application>Microsoft Office PowerPoint</Application>
  <PresentationFormat>Widescreen</PresentationFormat>
  <Paragraphs>169</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Consolas</vt:lpstr>
      <vt:lpstr>Krana Fat B</vt:lpstr>
      <vt:lpstr>Lucida Console</vt:lpstr>
      <vt:lpstr>Montserrat</vt:lpstr>
      <vt:lpstr>Wingdings</vt:lpstr>
      <vt:lpstr>Master</vt:lpstr>
      <vt:lpstr>Abstract Classes</vt:lpstr>
      <vt:lpstr>PowerPoint Presentation</vt:lpstr>
      <vt:lpstr>PowerPoint Presentation</vt:lpstr>
      <vt:lpstr>Problem with a concrete base class</vt:lpstr>
      <vt:lpstr>Problem with a concrete base class…</vt:lpstr>
      <vt:lpstr>Using an abstract class – Problem solved!</vt:lpstr>
      <vt:lpstr>Polymorphism with abstract classes </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248</cp:revision>
  <cp:lastPrinted>2019-07-03T09:46:41Z</cp:lastPrinted>
  <dcterms:created xsi:type="dcterms:W3CDTF">2019-09-05T08:17:12Z</dcterms:created>
  <dcterms:modified xsi:type="dcterms:W3CDTF">2025-12-10T15:23:19Z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