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1560" r:id="rId5"/>
    <p:sldId id="1557" r:id="rId6"/>
    <p:sldId id="308" r:id="rId7"/>
    <p:sldId id="309" r:id="rId8"/>
    <p:sldId id="323" r:id="rId9"/>
    <p:sldId id="313" r:id="rId10"/>
    <p:sldId id="1564" r:id="rId11"/>
    <p:sldId id="314" r:id="rId12"/>
    <p:sldId id="315" r:id="rId13"/>
    <p:sldId id="1563" r:id="rId14"/>
    <p:sldId id="1562" r:id="rId15"/>
    <p:sldId id="318" r:id="rId16"/>
    <p:sldId id="1561" r:id="rId17"/>
    <p:sldId id="321" r:id="rId18"/>
    <p:sldId id="320" r:id="rId19"/>
  </p:sldIdLst>
  <p:sldSz cx="12192000" cy="6858000"/>
  <p:notesSz cx="9775825" cy="6645275"/>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 id="3" name="Sterne, Symon" initials="SS" lastIdx="71" clrIdx="2">
    <p:extLst>
      <p:ext uri="{19B8F6BF-5375-455C-9EA6-DF929625EA0E}">
        <p15:presenceInfo xmlns:p15="http://schemas.microsoft.com/office/powerpoint/2012/main" userId="S-1-5-21-3476036342-1731177862-1559577602-5281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050"/>
    <a:srgbClr val="09EDB8"/>
    <a:srgbClr val="7E007C"/>
    <a:srgbClr val="FF004C"/>
    <a:srgbClr val="28CFF9"/>
    <a:srgbClr val="F3622C"/>
    <a:srgbClr val="F7916D"/>
    <a:srgbClr val="BE7FBD"/>
    <a:srgbClr val="E5EC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90" autoAdjust="0"/>
    <p:restoredTop sz="89643" autoAdjust="0"/>
  </p:normalViewPr>
  <p:slideViewPr>
    <p:cSldViewPr snapToGrid="0" snapToObjects="1" showGuides="1">
      <p:cViewPr varScale="1">
        <p:scale>
          <a:sx n="62" d="100"/>
          <a:sy n="62" d="100"/>
        </p:scale>
        <p:origin x="1920" y="274"/>
      </p:cViewPr>
      <p:guideLst>
        <p:guide pos="3840"/>
        <p:guide orient="horz" pos="3770"/>
      </p:guideLst>
    </p:cSldViewPr>
  </p:slideViewPr>
  <p:notesTextViewPr>
    <p:cViewPr>
      <p:scale>
        <a:sx n="75" d="100"/>
        <a:sy n="75" d="100"/>
      </p:scale>
      <p:origin x="0" y="0"/>
    </p:cViewPr>
  </p:notesTextViewPr>
  <p:sorterViewPr>
    <p:cViewPr>
      <p:scale>
        <a:sx n="66" d="100"/>
        <a:sy n="66" d="100"/>
      </p:scale>
      <p:origin x="0" y="0"/>
    </p:cViewPr>
  </p:sorterViewPr>
  <p:notesViewPr>
    <p:cSldViewPr snapToGrid="0" snapToObjects="1" showGuides="1">
      <p:cViewPr varScale="1">
        <p:scale>
          <a:sx n="133" d="100"/>
          <a:sy n="133" d="100"/>
        </p:scale>
        <p:origin x="2016" y="8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gs" Target="tags/tag1.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EDE3C9-5014-4508-B9DD-2F69312BB00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C872F94-4D45-4BDA-A0DD-BD62373C175F}">
      <dgm:prSet custT="1"/>
      <dgm:spPr/>
      <dgm:t>
        <a:bodyPr/>
        <a:lstStyle/>
        <a:p>
          <a:r>
            <a:rPr lang="en-US" sz="1600" b="1" dirty="0"/>
            <a:t>Part 1 – Using Lists </a:t>
          </a:r>
        </a:p>
      </dgm:t>
    </dgm:pt>
    <dgm:pt modelId="{345022BE-07DD-4774-B13E-ABBBEBB47AB5}" type="parTrans" cxnId="{81622132-CF2F-4FE5-85C1-059D399117DF}">
      <dgm:prSet/>
      <dgm:spPr/>
      <dgm:t>
        <a:bodyPr/>
        <a:lstStyle/>
        <a:p>
          <a:endParaRPr lang="en-US" sz="1100" b="1"/>
        </a:p>
      </dgm:t>
    </dgm:pt>
    <dgm:pt modelId="{D6F398B1-4C2D-411E-BA48-903F58B6DEBC}" type="sibTrans" cxnId="{81622132-CF2F-4FE5-85C1-059D399117DF}">
      <dgm:prSet/>
      <dgm:spPr/>
      <dgm:t>
        <a:bodyPr/>
        <a:lstStyle/>
        <a:p>
          <a:endParaRPr lang="en-US" sz="1100" b="1"/>
        </a:p>
      </dgm:t>
    </dgm:pt>
    <dgm:pt modelId="{FA47ACB2-22BC-4DA7-B267-4FA534978DED}">
      <dgm:prSet custT="1"/>
      <dgm:spPr/>
      <dgm:t>
        <a:bodyPr/>
        <a:lstStyle/>
        <a:p>
          <a:r>
            <a:rPr lang="en-US" sz="1600" b="1" dirty="0"/>
            <a:t>Part 2 – Using Queues</a:t>
          </a:r>
        </a:p>
      </dgm:t>
    </dgm:pt>
    <dgm:pt modelId="{C7E001A8-991C-40B5-B1D3-F2B57FB01FA7}" type="parTrans" cxnId="{181C33DB-DCB0-4BFD-831C-5554D1A932E9}">
      <dgm:prSet/>
      <dgm:spPr/>
      <dgm:t>
        <a:bodyPr/>
        <a:lstStyle/>
        <a:p>
          <a:endParaRPr lang="en-US" sz="1100" b="1"/>
        </a:p>
      </dgm:t>
    </dgm:pt>
    <dgm:pt modelId="{CEB5E737-F381-4A4D-AC16-3E026840E378}" type="sibTrans" cxnId="{181C33DB-DCB0-4BFD-831C-5554D1A932E9}">
      <dgm:prSet/>
      <dgm:spPr/>
      <dgm:t>
        <a:bodyPr/>
        <a:lstStyle/>
        <a:p>
          <a:endParaRPr lang="en-US" sz="1100" b="1"/>
        </a:p>
      </dgm:t>
    </dgm:pt>
    <dgm:pt modelId="{67A4358E-10F5-4B58-821C-B5A01308260B}">
      <dgm:prSet custT="1"/>
      <dgm:spPr/>
      <dgm:t>
        <a:bodyPr/>
        <a:lstStyle/>
        <a:p>
          <a:r>
            <a:rPr lang="en-US" sz="1600" b="1" dirty="0"/>
            <a:t>Duration 30 minutes</a:t>
          </a:r>
        </a:p>
      </dgm:t>
    </dgm:pt>
    <dgm:pt modelId="{9B959A1F-B641-4572-8F4D-20DF67C05A52}" type="parTrans" cxnId="{BC80D1C0-B60E-4575-8C6E-12B4745B828C}">
      <dgm:prSet/>
      <dgm:spPr/>
      <dgm:t>
        <a:bodyPr/>
        <a:lstStyle/>
        <a:p>
          <a:endParaRPr lang="en-US" sz="1100" b="1"/>
        </a:p>
      </dgm:t>
    </dgm:pt>
    <dgm:pt modelId="{B1DC5CDF-1630-4985-A060-8651B0C85854}" type="sibTrans" cxnId="{BC80D1C0-B60E-4575-8C6E-12B4745B828C}">
      <dgm:prSet/>
      <dgm:spPr/>
      <dgm:t>
        <a:bodyPr/>
        <a:lstStyle/>
        <a:p>
          <a:endParaRPr lang="en-US" sz="1100" b="1"/>
        </a:p>
      </dgm:t>
    </dgm:pt>
    <dgm:pt modelId="{DFC555C7-2F52-4012-9F28-86ECD86F7299}" type="pres">
      <dgm:prSet presAssocID="{3FEDE3C9-5014-4508-B9DD-2F69312BB00F}" presName="root" presStyleCnt="0">
        <dgm:presLayoutVars>
          <dgm:dir/>
          <dgm:resizeHandles val="exact"/>
        </dgm:presLayoutVars>
      </dgm:prSet>
      <dgm:spPr/>
    </dgm:pt>
    <dgm:pt modelId="{4DD26655-7966-48F5-8656-2A27964D39FD}" type="pres">
      <dgm:prSet presAssocID="{9C872F94-4D45-4BDA-A0DD-BD62373C175F}" presName="compNode" presStyleCnt="0"/>
      <dgm:spPr/>
    </dgm:pt>
    <dgm:pt modelId="{15E68215-8ED1-41C4-BC93-1DF2BE33F31B}" type="pres">
      <dgm:prSet presAssocID="{9C872F94-4D45-4BDA-A0DD-BD62373C175F}" presName="bgRect" presStyleLbl="bgShp" presStyleIdx="0" presStyleCnt="3"/>
      <dgm:spPr/>
    </dgm:pt>
    <dgm:pt modelId="{518BD5BC-B5CA-41BD-80C6-C04DC5F40EDA}" type="pres">
      <dgm:prSet presAssocID="{9C872F94-4D45-4BDA-A0DD-BD62373C175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ncil"/>
        </a:ext>
      </dgm:extLst>
    </dgm:pt>
    <dgm:pt modelId="{A8B8AC39-E86D-43CB-BD04-0BD849E4432F}" type="pres">
      <dgm:prSet presAssocID="{9C872F94-4D45-4BDA-A0DD-BD62373C175F}" presName="spaceRect" presStyleCnt="0"/>
      <dgm:spPr/>
    </dgm:pt>
    <dgm:pt modelId="{B6715C04-4FEA-4444-B483-8F5B235CB868}" type="pres">
      <dgm:prSet presAssocID="{9C872F94-4D45-4BDA-A0DD-BD62373C175F}" presName="parTx" presStyleLbl="revTx" presStyleIdx="0" presStyleCnt="3">
        <dgm:presLayoutVars>
          <dgm:chMax val="0"/>
          <dgm:chPref val="0"/>
        </dgm:presLayoutVars>
      </dgm:prSet>
      <dgm:spPr/>
    </dgm:pt>
    <dgm:pt modelId="{B99F076C-2593-429E-ACDA-14E5306F403F}" type="pres">
      <dgm:prSet presAssocID="{D6F398B1-4C2D-411E-BA48-903F58B6DEBC}" presName="sibTrans" presStyleCnt="0"/>
      <dgm:spPr/>
    </dgm:pt>
    <dgm:pt modelId="{EF646DDB-A23C-4D04-AE9D-897AC956DC77}" type="pres">
      <dgm:prSet presAssocID="{FA47ACB2-22BC-4DA7-B267-4FA534978DED}" presName="compNode" presStyleCnt="0"/>
      <dgm:spPr/>
    </dgm:pt>
    <dgm:pt modelId="{32BAF1A9-333B-47D4-B554-BE3643F4C6C9}" type="pres">
      <dgm:prSet presAssocID="{FA47ACB2-22BC-4DA7-B267-4FA534978DED}" presName="bgRect" presStyleLbl="bgShp" presStyleIdx="1" presStyleCnt="3"/>
      <dgm:spPr/>
    </dgm:pt>
    <dgm:pt modelId="{2C5488FC-AD51-4618-B3F2-391584794FA2}" type="pres">
      <dgm:prSet presAssocID="{FA47ACB2-22BC-4DA7-B267-4FA534978DE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D83D1426-D3EF-48BC-881E-C1738301E346}" type="pres">
      <dgm:prSet presAssocID="{FA47ACB2-22BC-4DA7-B267-4FA534978DED}" presName="spaceRect" presStyleCnt="0"/>
      <dgm:spPr/>
    </dgm:pt>
    <dgm:pt modelId="{7F7CFDCE-3FA9-4557-BA42-7508A79DC052}" type="pres">
      <dgm:prSet presAssocID="{FA47ACB2-22BC-4DA7-B267-4FA534978DED}" presName="parTx" presStyleLbl="revTx" presStyleIdx="1" presStyleCnt="3">
        <dgm:presLayoutVars>
          <dgm:chMax val="0"/>
          <dgm:chPref val="0"/>
        </dgm:presLayoutVars>
      </dgm:prSet>
      <dgm:spPr/>
    </dgm:pt>
    <dgm:pt modelId="{D27DF0A9-5561-4591-8C49-CD16E9F8D022}" type="pres">
      <dgm:prSet presAssocID="{CEB5E737-F381-4A4D-AC16-3E026840E378}" presName="sibTrans" presStyleCnt="0"/>
      <dgm:spPr/>
    </dgm:pt>
    <dgm:pt modelId="{9794D4BC-288C-4260-96C3-01DDAD388AD2}" type="pres">
      <dgm:prSet presAssocID="{67A4358E-10F5-4B58-821C-B5A01308260B}" presName="compNode" presStyleCnt="0"/>
      <dgm:spPr/>
    </dgm:pt>
    <dgm:pt modelId="{A8E7D70F-2F8E-4552-9642-086286E07B36}" type="pres">
      <dgm:prSet presAssocID="{67A4358E-10F5-4B58-821C-B5A01308260B}" presName="bgRect" presStyleLbl="bgShp" presStyleIdx="2" presStyleCnt="3"/>
      <dgm:spPr/>
    </dgm:pt>
    <dgm:pt modelId="{BD2F8AE7-B272-4E12-A2A4-54D5CC4427FB}" type="pres">
      <dgm:prSet presAssocID="{67A4358E-10F5-4B58-821C-B5A01308260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ock"/>
        </a:ext>
      </dgm:extLst>
    </dgm:pt>
    <dgm:pt modelId="{658AF37D-124C-4926-BD36-7362072AD333}" type="pres">
      <dgm:prSet presAssocID="{67A4358E-10F5-4B58-821C-B5A01308260B}" presName="spaceRect" presStyleCnt="0"/>
      <dgm:spPr/>
    </dgm:pt>
    <dgm:pt modelId="{DDC880C9-9656-4E72-A12A-04561204D9A1}" type="pres">
      <dgm:prSet presAssocID="{67A4358E-10F5-4B58-821C-B5A01308260B}" presName="parTx" presStyleLbl="revTx" presStyleIdx="2" presStyleCnt="3">
        <dgm:presLayoutVars>
          <dgm:chMax val="0"/>
          <dgm:chPref val="0"/>
        </dgm:presLayoutVars>
      </dgm:prSet>
      <dgm:spPr/>
    </dgm:pt>
  </dgm:ptLst>
  <dgm:cxnLst>
    <dgm:cxn modelId="{71C8D41B-B4BA-4D24-9C16-889C5E961CF5}" type="presOf" srcId="{FA47ACB2-22BC-4DA7-B267-4FA534978DED}" destId="{7F7CFDCE-3FA9-4557-BA42-7508A79DC052}" srcOrd="0" destOrd="0" presId="urn:microsoft.com/office/officeart/2018/2/layout/IconVerticalSolidList"/>
    <dgm:cxn modelId="{81622132-CF2F-4FE5-85C1-059D399117DF}" srcId="{3FEDE3C9-5014-4508-B9DD-2F69312BB00F}" destId="{9C872F94-4D45-4BDA-A0DD-BD62373C175F}" srcOrd="0" destOrd="0" parTransId="{345022BE-07DD-4774-B13E-ABBBEBB47AB5}" sibTransId="{D6F398B1-4C2D-411E-BA48-903F58B6DEBC}"/>
    <dgm:cxn modelId="{CAD40346-D1C8-4A69-9D73-9B74502969DC}" type="presOf" srcId="{67A4358E-10F5-4B58-821C-B5A01308260B}" destId="{DDC880C9-9656-4E72-A12A-04561204D9A1}" srcOrd="0" destOrd="0" presId="urn:microsoft.com/office/officeart/2018/2/layout/IconVerticalSolidList"/>
    <dgm:cxn modelId="{746B764A-112C-4427-B06A-33901AA0ECDD}" type="presOf" srcId="{3FEDE3C9-5014-4508-B9DD-2F69312BB00F}" destId="{DFC555C7-2F52-4012-9F28-86ECD86F7299}" srcOrd="0" destOrd="0" presId="urn:microsoft.com/office/officeart/2018/2/layout/IconVerticalSolidList"/>
    <dgm:cxn modelId="{C1437AA3-AB2E-4F3A-891E-5DB569FE21B4}" type="presOf" srcId="{9C872F94-4D45-4BDA-A0DD-BD62373C175F}" destId="{B6715C04-4FEA-4444-B483-8F5B235CB868}" srcOrd="0" destOrd="0" presId="urn:microsoft.com/office/officeart/2018/2/layout/IconVerticalSolidList"/>
    <dgm:cxn modelId="{BC80D1C0-B60E-4575-8C6E-12B4745B828C}" srcId="{3FEDE3C9-5014-4508-B9DD-2F69312BB00F}" destId="{67A4358E-10F5-4B58-821C-B5A01308260B}" srcOrd="2" destOrd="0" parTransId="{9B959A1F-B641-4572-8F4D-20DF67C05A52}" sibTransId="{B1DC5CDF-1630-4985-A060-8651B0C85854}"/>
    <dgm:cxn modelId="{181C33DB-DCB0-4BFD-831C-5554D1A932E9}" srcId="{3FEDE3C9-5014-4508-B9DD-2F69312BB00F}" destId="{FA47ACB2-22BC-4DA7-B267-4FA534978DED}" srcOrd="1" destOrd="0" parTransId="{C7E001A8-991C-40B5-B1D3-F2B57FB01FA7}" sibTransId="{CEB5E737-F381-4A4D-AC16-3E026840E378}"/>
    <dgm:cxn modelId="{5F876DAF-D56E-48E3-82C5-B43D6E5DAAAC}" type="presParOf" srcId="{DFC555C7-2F52-4012-9F28-86ECD86F7299}" destId="{4DD26655-7966-48F5-8656-2A27964D39FD}" srcOrd="0" destOrd="0" presId="urn:microsoft.com/office/officeart/2018/2/layout/IconVerticalSolidList"/>
    <dgm:cxn modelId="{FC6B887E-C05A-4B80-B6EB-B450301163F3}" type="presParOf" srcId="{4DD26655-7966-48F5-8656-2A27964D39FD}" destId="{15E68215-8ED1-41C4-BC93-1DF2BE33F31B}" srcOrd="0" destOrd="0" presId="urn:microsoft.com/office/officeart/2018/2/layout/IconVerticalSolidList"/>
    <dgm:cxn modelId="{10D06936-4B46-4F82-B9F7-ADD993A10ED4}" type="presParOf" srcId="{4DD26655-7966-48F5-8656-2A27964D39FD}" destId="{518BD5BC-B5CA-41BD-80C6-C04DC5F40EDA}" srcOrd="1" destOrd="0" presId="urn:microsoft.com/office/officeart/2018/2/layout/IconVerticalSolidList"/>
    <dgm:cxn modelId="{34947FAF-D13E-4292-99B0-EF020FAD529A}" type="presParOf" srcId="{4DD26655-7966-48F5-8656-2A27964D39FD}" destId="{A8B8AC39-E86D-43CB-BD04-0BD849E4432F}" srcOrd="2" destOrd="0" presId="urn:microsoft.com/office/officeart/2018/2/layout/IconVerticalSolidList"/>
    <dgm:cxn modelId="{87A45CDD-7E70-48DF-A04C-214E8C885273}" type="presParOf" srcId="{4DD26655-7966-48F5-8656-2A27964D39FD}" destId="{B6715C04-4FEA-4444-B483-8F5B235CB868}" srcOrd="3" destOrd="0" presId="urn:microsoft.com/office/officeart/2018/2/layout/IconVerticalSolidList"/>
    <dgm:cxn modelId="{28DC8F1F-FC87-4786-8810-0D33A110907C}" type="presParOf" srcId="{DFC555C7-2F52-4012-9F28-86ECD86F7299}" destId="{B99F076C-2593-429E-ACDA-14E5306F403F}" srcOrd="1" destOrd="0" presId="urn:microsoft.com/office/officeart/2018/2/layout/IconVerticalSolidList"/>
    <dgm:cxn modelId="{54BC7B39-B7E6-4478-B300-793B06A1222A}" type="presParOf" srcId="{DFC555C7-2F52-4012-9F28-86ECD86F7299}" destId="{EF646DDB-A23C-4D04-AE9D-897AC956DC77}" srcOrd="2" destOrd="0" presId="urn:microsoft.com/office/officeart/2018/2/layout/IconVerticalSolidList"/>
    <dgm:cxn modelId="{E82493AF-E382-477C-BDE1-D0FEC12EA05B}" type="presParOf" srcId="{EF646DDB-A23C-4D04-AE9D-897AC956DC77}" destId="{32BAF1A9-333B-47D4-B554-BE3643F4C6C9}" srcOrd="0" destOrd="0" presId="urn:microsoft.com/office/officeart/2018/2/layout/IconVerticalSolidList"/>
    <dgm:cxn modelId="{3B7EBB48-3539-41F5-AC1E-60AE9338292A}" type="presParOf" srcId="{EF646DDB-A23C-4D04-AE9D-897AC956DC77}" destId="{2C5488FC-AD51-4618-B3F2-391584794FA2}" srcOrd="1" destOrd="0" presId="urn:microsoft.com/office/officeart/2018/2/layout/IconVerticalSolidList"/>
    <dgm:cxn modelId="{611A77B5-44B4-4DCD-A309-423B93AC15E7}" type="presParOf" srcId="{EF646DDB-A23C-4D04-AE9D-897AC956DC77}" destId="{D83D1426-D3EF-48BC-881E-C1738301E346}" srcOrd="2" destOrd="0" presId="urn:microsoft.com/office/officeart/2018/2/layout/IconVerticalSolidList"/>
    <dgm:cxn modelId="{CCCA9B12-7035-42B1-A7E1-356AE1DAA727}" type="presParOf" srcId="{EF646DDB-A23C-4D04-AE9D-897AC956DC77}" destId="{7F7CFDCE-3FA9-4557-BA42-7508A79DC052}" srcOrd="3" destOrd="0" presId="urn:microsoft.com/office/officeart/2018/2/layout/IconVerticalSolidList"/>
    <dgm:cxn modelId="{605B43E5-C99F-464B-97F3-64F41264608E}" type="presParOf" srcId="{DFC555C7-2F52-4012-9F28-86ECD86F7299}" destId="{D27DF0A9-5561-4591-8C49-CD16E9F8D022}" srcOrd="3" destOrd="0" presId="urn:microsoft.com/office/officeart/2018/2/layout/IconVerticalSolidList"/>
    <dgm:cxn modelId="{1778D386-D9C5-4F5E-A333-171324FF1ACF}" type="presParOf" srcId="{DFC555C7-2F52-4012-9F28-86ECD86F7299}" destId="{9794D4BC-288C-4260-96C3-01DDAD388AD2}" srcOrd="4" destOrd="0" presId="urn:microsoft.com/office/officeart/2018/2/layout/IconVerticalSolidList"/>
    <dgm:cxn modelId="{E1100944-F8BA-4F07-8217-0C8CD97901EB}" type="presParOf" srcId="{9794D4BC-288C-4260-96C3-01DDAD388AD2}" destId="{A8E7D70F-2F8E-4552-9642-086286E07B36}" srcOrd="0" destOrd="0" presId="urn:microsoft.com/office/officeart/2018/2/layout/IconVerticalSolidList"/>
    <dgm:cxn modelId="{651B2077-A444-4175-99C9-6BF3D6F28628}" type="presParOf" srcId="{9794D4BC-288C-4260-96C3-01DDAD388AD2}" destId="{BD2F8AE7-B272-4E12-A2A4-54D5CC4427FB}" srcOrd="1" destOrd="0" presId="urn:microsoft.com/office/officeart/2018/2/layout/IconVerticalSolidList"/>
    <dgm:cxn modelId="{144CBD7D-66CB-41EB-A7FA-99A6FDC3CF8D}" type="presParOf" srcId="{9794D4BC-288C-4260-96C3-01DDAD388AD2}" destId="{658AF37D-124C-4926-BD36-7362072AD333}" srcOrd="2" destOrd="0" presId="urn:microsoft.com/office/officeart/2018/2/layout/IconVerticalSolidList"/>
    <dgm:cxn modelId="{B51872AE-1124-472C-A2F2-30CAC40B6574}" type="presParOf" srcId="{9794D4BC-288C-4260-96C3-01DDAD388AD2}" destId="{DDC880C9-9656-4E72-A12A-04561204D9A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E68215-8ED1-41C4-BC93-1DF2BE33F31B}">
      <dsp:nvSpPr>
        <dsp:cNvPr id="0" name=""/>
        <dsp:cNvSpPr/>
      </dsp:nvSpPr>
      <dsp:spPr>
        <a:xfrm>
          <a:off x="0" y="353"/>
          <a:ext cx="5770328" cy="8280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8BD5BC-B5CA-41BD-80C6-C04DC5F40EDA}">
      <dsp:nvSpPr>
        <dsp:cNvPr id="0" name=""/>
        <dsp:cNvSpPr/>
      </dsp:nvSpPr>
      <dsp:spPr>
        <a:xfrm>
          <a:off x="250490" y="186669"/>
          <a:ext cx="455437" cy="4554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6715C04-4FEA-4444-B483-8F5B235CB868}">
      <dsp:nvSpPr>
        <dsp:cNvPr id="0" name=""/>
        <dsp:cNvSpPr/>
      </dsp:nvSpPr>
      <dsp:spPr>
        <a:xfrm>
          <a:off x="956417" y="353"/>
          <a:ext cx="4813910" cy="828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7" tIns="87637" rIns="87637" bIns="87637" numCol="1" spcCol="1270" anchor="ctr" anchorCtr="0">
          <a:noAutofit/>
        </a:bodyPr>
        <a:lstStyle/>
        <a:p>
          <a:pPr marL="0" lvl="0" indent="0" algn="l" defTabSz="711200">
            <a:lnSpc>
              <a:spcPct val="90000"/>
            </a:lnSpc>
            <a:spcBef>
              <a:spcPct val="0"/>
            </a:spcBef>
            <a:spcAft>
              <a:spcPct val="35000"/>
            </a:spcAft>
            <a:buNone/>
          </a:pPr>
          <a:r>
            <a:rPr lang="en-US" sz="1600" b="1" kern="1200" dirty="0"/>
            <a:t>Part 1 – Using Lists </a:t>
          </a:r>
        </a:p>
      </dsp:txBody>
      <dsp:txXfrm>
        <a:off x="956417" y="353"/>
        <a:ext cx="4813910" cy="828067"/>
      </dsp:txXfrm>
    </dsp:sp>
    <dsp:sp modelId="{32BAF1A9-333B-47D4-B554-BE3643F4C6C9}">
      <dsp:nvSpPr>
        <dsp:cNvPr id="0" name=""/>
        <dsp:cNvSpPr/>
      </dsp:nvSpPr>
      <dsp:spPr>
        <a:xfrm>
          <a:off x="0" y="1035438"/>
          <a:ext cx="5770328" cy="8280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5488FC-AD51-4618-B3F2-391584794FA2}">
      <dsp:nvSpPr>
        <dsp:cNvPr id="0" name=""/>
        <dsp:cNvSpPr/>
      </dsp:nvSpPr>
      <dsp:spPr>
        <a:xfrm>
          <a:off x="250490" y="1221753"/>
          <a:ext cx="455437" cy="455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7CFDCE-3FA9-4557-BA42-7508A79DC052}">
      <dsp:nvSpPr>
        <dsp:cNvPr id="0" name=""/>
        <dsp:cNvSpPr/>
      </dsp:nvSpPr>
      <dsp:spPr>
        <a:xfrm>
          <a:off x="956417" y="1035438"/>
          <a:ext cx="4813910" cy="828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7" tIns="87637" rIns="87637" bIns="87637" numCol="1" spcCol="1270" anchor="ctr" anchorCtr="0">
          <a:noAutofit/>
        </a:bodyPr>
        <a:lstStyle/>
        <a:p>
          <a:pPr marL="0" lvl="0" indent="0" algn="l" defTabSz="711200">
            <a:lnSpc>
              <a:spcPct val="90000"/>
            </a:lnSpc>
            <a:spcBef>
              <a:spcPct val="0"/>
            </a:spcBef>
            <a:spcAft>
              <a:spcPct val="35000"/>
            </a:spcAft>
            <a:buNone/>
          </a:pPr>
          <a:r>
            <a:rPr lang="en-US" sz="1600" b="1" kern="1200" dirty="0"/>
            <a:t>Part 2 – Using Queues</a:t>
          </a:r>
        </a:p>
      </dsp:txBody>
      <dsp:txXfrm>
        <a:off x="956417" y="1035438"/>
        <a:ext cx="4813910" cy="828067"/>
      </dsp:txXfrm>
    </dsp:sp>
    <dsp:sp modelId="{A8E7D70F-2F8E-4552-9642-086286E07B36}">
      <dsp:nvSpPr>
        <dsp:cNvPr id="0" name=""/>
        <dsp:cNvSpPr/>
      </dsp:nvSpPr>
      <dsp:spPr>
        <a:xfrm>
          <a:off x="0" y="2070522"/>
          <a:ext cx="5770328" cy="8280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2F8AE7-B272-4E12-A2A4-54D5CC4427FB}">
      <dsp:nvSpPr>
        <dsp:cNvPr id="0" name=""/>
        <dsp:cNvSpPr/>
      </dsp:nvSpPr>
      <dsp:spPr>
        <a:xfrm>
          <a:off x="250490" y="2256837"/>
          <a:ext cx="455437" cy="4554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C880C9-9656-4E72-A12A-04561204D9A1}">
      <dsp:nvSpPr>
        <dsp:cNvPr id="0" name=""/>
        <dsp:cNvSpPr/>
      </dsp:nvSpPr>
      <dsp:spPr>
        <a:xfrm>
          <a:off x="956417" y="2070522"/>
          <a:ext cx="4813910" cy="828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7" tIns="87637" rIns="87637" bIns="87637" numCol="1" spcCol="1270" anchor="ctr" anchorCtr="0">
          <a:noAutofit/>
        </a:bodyPr>
        <a:lstStyle/>
        <a:p>
          <a:pPr marL="0" lvl="0" indent="0" algn="l" defTabSz="711200">
            <a:lnSpc>
              <a:spcPct val="90000"/>
            </a:lnSpc>
            <a:spcBef>
              <a:spcPct val="0"/>
            </a:spcBef>
            <a:spcAft>
              <a:spcPct val="35000"/>
            </a:spcAft>
            <a:buNone/>
          </a:pPr>
          <a:r>
            <a:rPr lang="en-US" sz="1600" b="1" kern="1200" dirty="0"/>
            <a:t>Duration 30 minutes</a:t>
          </a:r>
        </a:p>
      </dsp:txBody>
      <dsp:txXfrm>
        <a:off x="956417" y="2070522"/>
        <a:ext cx="4813910" cy="82806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36347" cy="33345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5537144" y="0"/>
            <a:ext cx="4236347" cy="333451"/>
          </a:xfrm>
          <a:prstGeom prst="rect">
            <a:avLst/>
          </a:prstGeom>
        </p:spPr>
        <p:txBody>
          <a:bodyPr vert="horz" lIns="91440" tIns="45720" rIns="91440" bIns="45720" rtlCol="0"/>
          <a:lstStyle>
            <a:lvl1pPr algn="r">
              <a:defRPr sz="1200"/>
            </a:lvl1pPr>
          </a:lstStyle>
          <a:p>
            <a:fld id="{86D088FE-3E68-47FE-8BA4-634CD34BABBC}" type="datetimeFigureOut">
              <a:rPr lang="en-GB" smtClean="0"/>
              <a:t>10/12/2025</a:t>
            </a:fld>
            <a:endParaRPr lang="en-GB"/>
          </a:p>
        </p:txBody>
      </p:sp>
      <p:sp>
        <p:nvSpPr>
          <p:cNvPr id="4" name="Footer Placeholder 3"/>
          <p:cNvSpPr>
            <a:spLocks noGrp="1"/>
          </p:cNvSpPr>
          <p:nvPr>
            <p:ph type="ftr" sz="quarter" idx="2"/>
          </p:nvPr>
        </p:nvSpPr>
        <p:spPr>
          <a:xfrm>
            <a:off x="0" y="6311825"/>
            <a:ext cx="4236347" cy="33345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5537144" y="6311825"/>
            <a:ext cx="4236347" cy="333450"/>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36191" cy="33341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537372" y="0"/>
            <a:ext cx="4236191" cy="333418"/>
          </a:xfrm>
          <a:prstGeom prst="rect">
            <a:avLst/>
          </a:prstGeom>
        </p:spPr>
        <p:txBody>
          <a:bodyPr vert="horz" lIns="91440" tIns="45720" rIns="91440" bIns="45720" rtlCol="0"/>
          <a:lstStyle>
            <a:lvl1pPr algn="r">
              <a:defRPr sz="1200"/>
            </a:lvl1pPr>
          </a:lstStyle>
          <a:p>
            <a:fld id="{1D6B66C6-1E92-0F4E-A300-9D4ED1F0C23F}" type="datetimeFigureOut">
              <a:rPr lang="en-GB" smtClean="0"/>
              <a:t>10/12/2025</a:t>
            </a:fld>
            <a:endParaRPr lang="en-GB"/>
          </a:p>
        </p:txBody>
      </p:sp>
      <p:sp>
        <p:nvSpPr>
          <p:cNvPr id="4" name="Slide Image Placeholder 3"/>
          <p:cNvSpPr>
            <a:spLocks noGrp="1" noRot="1" noChangeAspect="1"/>
          </p:cNvSpPr>
          <p:nvPr>
            <p:ph type="sldImg" idx="2"/>
          </p:nvPr>
        </p:nvSpPr>
        <p:spPr>
          <a:xfrm>
            <a:off x="2894013" y="830263"/>
            <a:ext cx="3987800" cy="22431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77583" y="3198039"/>
            <a:ext cx="7820660" cy="261657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6311859"/>
            <a:ext cx="4236191" cy="33341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537372" y="6311859"/>
            <a:ext cx="4236191" cy="333417"/>
          </a:xfrm>
          <a:prstGeom prst="rect">
            <a:avLst/>
          </a:prstGeom>
        </p:spPr>
        <p:txBody>
          <a:bodyPr vert="horz" lIns="91440" tIns="45720" rIns="91440" bIns="45720" rtlCol="0" anchor="b"/>
          <a:lstStyle>
            <a:lvl1pPr algn="r">
              <a:defRPr sz="1200"/>
            </a:lvl1pPr>
          </a:lstStyle>
          <a:p>
            <a:fld id="{548901C6-1DA1-FB44-ABEE-06A0FEB7738E}" type="slidenum">
              <a:rPr lang="en-GB" smtClean="0"/>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1</a:t>
            </a:fld>
            <a:endParaRPr lang="en-GB"/>
          </a:p>
        </p:txBody>
      </p:sp>
    </p:spTree>
    <p:extLst>
      <p:ext uri="{BB962C8B-B14F-4D97-AF65-F5344CB8AC3E}">
        <p14:creationId xmlns:p14="http://schemas.microsoft.com/office/powerpoint/2010/main" val="2546931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 this large chapter, we will be largely looking at generics, a feature added to the Java language and runtime in 2004 (Java 5).</a:t>
            </a:r>
          </a:p>
          <a:p>
            <a:endParaRPr lang="en-US" dirty="0"/>
          </a:p>
        </p:txBody>
      </p:sp>
    </p:spTree>
    <p:extLst>
      <p:ext uri="{BB962C8B-B14F-4D97-AF65-F5344CB8AC3E}">
        <p14:creationId xmlns:p14="http://schemas.microsoft.com/office/powerpoint/2010/main" val="385481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p:spPr>
        <p:txBody>
          <a:bodyPr/>
          <a:lstStyle/>
          <a:p>
            <a:r>
              <a:rPr lang="en-GB" dirty="0"/>
              <a:t>Arrays are very good for holding fixed amounts of data. However, there are many other types of collection that we might need. For example, you might need to write code that continually adds and removes items, and an array would be inefficient because you would have to keep reallocating memory. For most collection needs a Collection class is required. Let’s move on and think about the problems facing the author of collection classes.</a:t>
            </a:r>
          </a:p>
        </p:txBody>
      </p:sp>
    </p:spTree>
    <p:extLst>
      <p:ext uri="{BB962C8B-B14F-4D97-AF65-F5344CB8AC3E}">
        <p14:creationId xmlns:p14="http://schemas.microsoft.com/office/powerpoint/2010/main" val="33399871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r>
              <a:rPr lang="en-GB" dirty="0"/>
              <a:t>Historically API’s have provided multiple collection classes Lists, Sets, </a:t>
            </a:r>
            <a:r>
              <a:rPr lang="en-GB" dirty="0" err="1"/>
              <a:t>Hashtables</a:t>
            </a:r>
            <a:r>
              <a:rPr lang="en-GB" dirty="0"/>
              <a:t> but the authors are faced with not knowing exactly what type was going to be stored inside them. So a one size fits all approach was needed. In the early days an </a:t>
            </a:r>
            <a:r>
              <a:rPr lang="en-GB" dirty="0" err="1"/>
              <a:t>ArrayList</a:t>
            </a:r>
            <a:r>
              <a:rPr lang="en-GB" dirty="0"/>
              <a:t> class (stored its data in an underlying array) had an add(Object o) method. So client code could add cars or cats, but the collection forgot the original type, this </a:t>
            </a:r>
            <a:r>
              <a:rPr lang="en-GB" dirty="0" err="1"/>
              <a:t>upcasting</a:t>
            </a:r>
            <a:r>
              <a:rPr lang="en-GB" dirty="0"/>
              <a:t> is a real performance issue if the item added is a primitive  type like </a:t>
            </a:r>
            <a:r>
              <a:rPr lang="en-GB" dirty="0" err="1"/>
              <a:t>int</a:t>
            </a:r>
            <a:r>
              <a:rPr lang="en-GB" dirty="0"/>
              <a:t> as the data has to be boxed into an object and a reference to that boxed object placed in the collection.</a:t>
            </a:r>
          </a:p>
          <a:p>
            <a:r>
              <a:rPr lang="en-GB" dirty="0"/>
              <a:t>When an item was retrieved individually or by iterating through the data a costly downcast (</a:t>
            </a:r>
            <a:r>
              <a:rPr lang="en-GB" dirty="0" err="1"/>
              <a:t>unbox</a:t>
            </a:r>
            <a:r>
              <a:rPr lang="en-GB" dirty="0"/>
              <a:t> operation if it is a primitive) is needed, making the code harder to write, read and maintain.</a:t>
            </a:r>
          </a:p>
        </p:txBody>
      </p:sp>
    </p:spTree>
    <p:extLst>
      <p:ext uri="{BB962C8B-B14F-4D97-AF65-F5344CB8AC3E}">
        <p14:creationId xmlns:p14="http://schemas.microsoft.com/office/powerpoint/2010/main" val="29306220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GB" dirty="0"/>
          </a:p>
        </p:txBody>
      </p:sp>
    </p:spTree>
    <p:extLst>
      <p:ext uri="{BB962C8B-B14F-4D97-AF65-F5344CB8AC3E}">
        <p14:creationId xmlns:p14="http://schemas.microsoft.com/office/powerpoint/2010/main" val="32621868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a:noFill/>
          <a:ln/>
        </p:spPr>
        <p:txBody>
          <a:bodyPr/>
          <a:lstStyle/>
          <a:p>
            <a:endParaRPr lang="en-GB" dirty="0"/>
          </a:p>
        </p:txBody>
      </p:sp>
    </p:spTree>
    <p:extLst>
      <p:ext uri="{BB962C8B-B14F-4D97-AF65-F5344CB8AC3E}">
        <p14:creationId xmlns:p14="http://schemas.microsoft.com/office/powerpoint/2010/main" val="22205134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a:noFill/>
          <a:ln/>
        </p:spPr>
        <p:txBody>
          <a:bodyPr/>
          <a:lstStyle/>
          <a:p>
            <a:endParaRPr lang="en-GB" dirty="0"/>
          </a:p>
        </p:txBody>
      </p:sp>
    </p:spTree>
    <p:extLst>
      <p:ext uri="{BB962C8B-B14F-4D97-AF65-F5344CB8AC3E}">
        <p14:creationId xmlns:p14="http://schemas.microsoft.com/office/powerpoint/2010/main" val="665076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a:noFill/>
          <a:ln/>
        </p:spPr>
        <p:txBody>
          <a:bodyPr/>
          <a:lstStyle/>
          <a:p>
            <a:endParaRPr lang="en-GB" dirty="0"/>
          </a:p>
        </p:txBody>
      </p:sp>
    </p:spTree>
    <p:extLst>
      <p:ext uri="{BB962C8B-B14F-4D97-AF65-F5344CB8AC3E}">
        <p14:creationId xmlns:p14="http://schemas.microsoft.com/office/powerpoint/2010/main" val="16191434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7789281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a:ln/>
        </p:spPr>
        <p:txBody>
          <a:bodyPr/>
          <a:lstStyle/>
          <a:p>
            <a:endParaRPr lang="en-GB" dirty="0"/>
          </a:p>
        </p:txBody>
      </p:sp>
    </p:spTree>
    <p:extLst>
      <p:ext uri="{BB962C8B-B14F-4D97-AF65-F5344CB8AC3E}">
        <p14:creationId xmlns:p14="http://schemas.microsoft.com/office/powerpoint/2010/main" val="3941544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a:ln/>
        </p:spPr>
        <p:txBody>
          <a:bodyPr/>
          <a:lstStyle/>
          <a:p>
            <a:endParaRPr lang="en-GB" dirty="0"/>
          </a:p>
        </p:txBody>
      </p:sp>
    </p:spTree>
    <p:extLst>
      <p:ext uri="{BB962C8B-B14F-4D97-AF65-F5344CB8AC3E}">
        <p14:creationId xmlns:p14="http://schemas.microsoft.com/office/powerpoint/2010/main" val="3941544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a:noFill/>
          <a:ln/>
        </p:spPr>
        <p:txBody>
          <a:bodyPr/>
          <a:lstStyle/>
          <a:p>
            <a:endParaRPr lang="en-GB" dirty="0"/>
          </a:p>
        </p:txBody>
      </p:sp>
    </p:spTree>
    <p:extLst>
      <p:ext uri="{BB962C8B-B14F-4D97-AF65-F5344CB8AC3E}">
        <p14:creationId xmlns:p14="http://schemas.microsoft.com/office/powerpoint/2010/main" val="21952505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2791746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Q&amp;A/what's next">
    <p:bg>
      <p:bgPr>
        <a:solidFill>
          <a:srgbClr val="7E007C"/>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FF004C"/>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solidFill>
                  <a:schemeClr val="bg1"/>
                </a:solidFill>
              </a:defRPr>
            </a:lvl1pPr>
          </a:lstStyle>
          <a:p>
            <a:r>
              <a:rPr lang="en-US" noProof="0" dirty="0"/>
              <a:t>CLICK TO EDIT TITLE</a:t>
            </a:r>
            <a:endParaRPr lang="en-GB" noProof="0" dirty="0"/>
          </a:p>
        </p:txBody>
      </p:sp>
    </p:spTree>
    <p:extLst>
      <p:ext uri="{BB962C8B-B14F-4D97-AF65-F5344CB8AC3E}">
        <p14:creationId xmlns:p14="http://schemas.microsoft.com/office/powerpoint/2010/main" val="392098513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4205"/>
            <a:ext cx="8314267"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7139"/>
            <a:ext cx="8324398"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2002921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10" name="Text Placeholder 2"/>
          <p:cNvSpPr>
            <a:spLocks noGrp="1"/>
          </p:cNvSpPr>
          <p:nvPr>
            <p:ph type="body" sz="quarter" idx="16"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r="-1"/>
          <a:stretch/>
        </p:blipFill>
        <p:spPr>
          <a:xfrm>
            <a:off x="-6057" y="3264823"/>
            <a:ext cx="5967455" cy="2859259"/>
          </a:xfrm>
          <a:prstGeom prst="rect">
            <a:avLst/>
          </a:prstGeom>
        </p:spPr>
      </p:pic>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ct val="100000"/>
              </a:lnSpc>
              <a:defRPr sz="3600" spc="60" baseline="0">
                <a:solidFill>
                  <a:srgbClr val="004050"/>
                </a:solidFill>
              </a:defRPr>
            </a:lvl1pPr>
          </a:lstStyle>
          <a:p>
            <a:r>
              <a:rPr lang="en-US" noProof="0" dirty="0"/>
              <a:t>CLICK TO EDIT MASTER TITLE STYLE</a:t>
            </a:r>
            <a:endParaRPr lang="en-GB" noProof="0" dirty="0"/>
          </a:p>
        </p:txBody>
      </p:sp>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rgbClr val="004050"/>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21161448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grpSp>
        <p:nvGrpSpPr>
          <p:cNvPr id="2" name="Group 1"/>
          <p:cNvGrpSpPr/>
          <p:nvPr userDrawn="1"/>
        </p:nvGrpSpPr>
        <p:grpSpPr>
          <a:xfrm>
            <a:off x="-6058" y="3516217"/>
            <a:ext cx="5797612" cy="2396903"/>
            <a:chOff x="1320045" y="4580698"/>
            <a:chExt cx="3312434" cy="1370734"/>
          </a:xfrm>
          <a:solidFill>
            <a:srgbClr val="28CFF9"/>
          </a:solidFill>
        </p:grpSpPr>
        <p:sp>
          <p:nvSpPr>
            <p:cNvPr id="12" name="Rectangle 11"/>
            <p:cNvSpPr/>
            <p:nvPr userDrawn="1"/>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p:cNvSpPr/>
            <p:nvPr userDrawn="1"/>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 name="Group 13">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5" name="Freeform 14">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F8D237"/>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1786"/>
            <a:ext cx="8212667" cy="4320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5471"/>
            <a:ext cx="8146316" cy="4320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12235614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4" name="Rectangle 13"/>
          <p:cNvSpPr/>
          <p:nvPr userDrawn="1"/>
        </p:nvSpPr>
        <p:spPr>
          <a:xfrm>
            <a:off x="0" y="5030515"/>
            <a:ext cx="2361189" cy="132089"/>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p:cNvSpPr/>
          <p:nvPr userDrawn="1"/>
        </p:nvSpPr>
        <p:spPr>
          <a:xfrm>
            <a:off x="0" y="5379138"/>
            <a:ext cx="2746241" cy="1332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oup 6">
            <a:extLst>
              <a:ext uri="{FF2B5EF4-FFF2-40B4-BE49-F238E27FC236}">
                <a16:creationId xmlns:a16="http://schemas.microsoft.com/office/drawing/2014/main" id="{51C13B23-0164-1C4E-9E7A-3F1ECA7824F7}"/>
              </a:ext>
            </a:extLst>
          </p:cNvPr>
          <p:cNvGrpSpPr/>
          <p:nvPr userDrawn="1"/>
        </p:nvGrpSpPr>
        <p:grpSpPr>
          <a:xfrm>
            <a:off x="2203017" y="4568506"/>
            <a:ext cx="2424152" cy="1401684"/>
            <a:chOff x="7799133" y="1870745"/>
            <a:chExt cx="1010349" cy="584292"/>
          </a:xfrm>
          <a:solidFill>
            <a:srgbClr val="F8D237"/>
          </a:solidFill>
        </p:grpSpPr>
        <p:sp>
          <p:nvSpPr>
            <p:cNvPr id="11" name="Freeform 10">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2" name="Freeform 11">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grpSp>
        <p:nvGrpSpPr>
          <p:cNvPr id="8" name="Group 7"/>
          <p:cNvGrpSpPr/>
          <p:nvPr userDrawn="1"/>
        </p:nvGrpSpPr>
        <p:grpSpPr>
          <a:xfrm>
            <a:off x="-6058" y="3516217"/>
            <a:ext cx="5797612" cy="2396903"/>
            <a:chOff x="1320045" y="4580698"/>
            <a:chExt cx="3312434" cy="1370734"/>
          </a:xfrm>
          <a:solidFill>
            <a:srgbClr val="F3622C"/>
          </a:solidFill>
        </p:grpSpPr>
        <p:sp>
          <p:nvSpPr>
            <p:cNvPr id="9" name="Rectangle 8"/>
            <p:cNvSpPr/>
            <p:nvPr userDrawn="1"/>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userDrawn="1"/>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2" name="Freeform 11">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7" name="Group 6">
            <a:extLst>
              <a:ext uri="{FF2B5EF4-FFF2-40B4-BE49-F238E27FC236}">
                <a16:creationId xmlns:a16="http://schemas.microsoft.com/office/drawing/2014/main" id="{51C13B23-0164-1C4E-9E7A-3F1ECA7824F7}"/>
              </a:ext>
            </a:extLst>
          </p:cNvPr>
          <p:cNvGrpSpPr/>
          <p:nvPr userDrawn="1"/>
        </p:nvGrpSpPr>
        <p:grpSpPr>
          <a:xfrm>
            <a:off x="2327195" y="4606108"/>
            <a:ext cx="2293146" cy="1326143"/>
            <a:chOff x="7799133" y="1870745"/>
            <a:chExt cx="1010349" cy="584292"/>
          </a:xfrm>
          <a:solidFill>
            <a:srgbClr val="FF004C"/>
          </a:solidFill>
        </p:grpSpPr>
        <p:sp>
          <p:nvSpPr>
            <p:cNvPr id="11" name="Freeform 10">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2" name="Freeform 11">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3" name="Rectangle 2"/>
          <p:cNvSpPr/>
          <p:nvPr userDrawn="1"/>
        </p:nvSpPr>
        <p:spPr>
          <a:xfrm>
            <a:off x="-11069" y="5042941"/>
            <a:ext cx="2506981" cy="126517"/>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0" y="5374222"/>
            <a:ext cx="2506981" cy="126000"/>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grpSp>
        <p:nvGrpSpPr>
          <p:cNvPr id="15" name="Group 14"/>
          <p:cNvGrpSpPr/>
          <p:nvPr userDrawn="1"/>
        </p:nvGrpSpPr>
        <p:grpSpPr>
          <a:xfrm>
            <a:off x="-6058" y="3516217"/>
            <a:ext cx="5797612" cy="2396903"/>
            <a:chOff x="1320045" y="4580698"/>
            <a:chExt cx="3312434" cy="1370734"/>
          </a:xfrm>
          <a:solidFill>
            <a:srgbClr val="7E007C"/>
          </a:solidFill>
        </p:grpSpPr>
        <p:sp>
          <p:nvSpPr>
            <p:cNvPr id="16" name="Rectangle 15"/>
            <p:cNvSpPr/>
            <p:nvPr userDrawn="1"/>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p:cNvSpPr/>
            <p:nvPr userDrawn="1"/>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8" name="Group 17">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9" name="Freeform 18">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lvl2pPr marL="355600" indent="-266700">
              <a:buFont typeface="Arial" panose="020B0604020202020204" pitchFamily="34" charset="0"/>
              <a:buChar char="•"/>
              <a:defRPr/>
            </a:lvl2pPr>
            <a:lvl3pPr marL="355600" indent="-266700">
              <a:buFont typeface="Arial" panose="020B0604020202020204" pitchFamily="34" charset="0"/>
              <a:buChar char="•"/>
              <a:defRPr/>
            </a:lvl3pPr>
            <a:lvl4pPr marL="355600" indent="-266700">
              <a:buFont typeface="Arial" panose="020B0604020202020204" pitchFamily="34" charset="0"/>
              <a:buChar char="•"/>
              <a:defRPr/>
            </a:lvl4pPr>
            <a:lvl5pPr marL="355600" indent="-266700">
              <a:buFont typeface="Arial" panose="020B0604020202020204" pitchFamily="34" charset="0"/>
              <a:buChar char="•"/>
              <a:defRPr/>
            </a:lvl5p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lang="en-US" sz="2000" b="0" i="0" kern="1200" dirty="0">
                <a:solidFill>
                  <a:schemeClr val="tx1"/>
                </a:solidFill>
                <a:latin typeface="Montserrat" pitchFamily="2" charset="77"/>
                <a:ea typeface="+mn-ea"/>
                <a:cs typeface="+mn-cs"/>
              </a:defRPr>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Second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Third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Fourth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342900" indent="-342900" algn="l" defTabSz="914400" rtl="0" eaLnBrk="1" latinLnBrk="0" hangingPunct="1">
              <a:lnSpc>
                <a:spcPct val="100000"/>
              </a:lnSpc>
              <a:spcBef>
                <a:spcPts val="0"/>
              </a:spcBef>
              <a:spcAft>
                <a:spcPts val="650"/>
              </a:spcAft>
              <a:buSzPct val="115000"/>
              <a:buFont typeface="Arial" panose="020B0604020202020204" pitchFamily="34" charset="0"/>
              <a:buChar char="•"/>
              <a:defRPr lang="en-US" sz="2000" b="0" i="0" kern="1200" dirty="0">
                <a:solidFill>
                  <a:schemeClr val="tx1"/>
                </a:solidFill>
                <a:latin typeface="Montserrat" pitchFamily="2" charset="77"/>
                <a:ea typeface="+mn-ea"/>
                <a:cs typeface="+mn-cs"/>
              </a:defRPr>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7" name="Group 6"/>
          <p:cNvGrpSpPr/>
          <p:nvPr userDrawn="1"/>
        </p:nvGrpSpPr>
        <p:grpSpPr>
          <a:xfrm>
            <a:off x="-1" y="3516594"/>
            <a:ext cx="7016814" cy="2396903"/>
            <a:chOff x="623461" y="4580698"/>
            <a:chExt cx="4009018" cy="1370734"/>
          </a:xfrm>
          <a:solidFill>
            <a:srgbClr val="004050"/>
          </a:solidFill>
        </p:grpSpPr>
        <p:sp>
          <p:nvSpPr>
            <p:cNvPr id="9" name="Rectangle 8"/>
            <p:cNvSpPr/>
            <p:nvPr userDrawn="1"/>
          </p:nvSpPr>
          <p:spPr>
            <a:xfrm>
              <a:off x="623462" y="5031740"/>
              <a:ext cx="19306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userDrawn="1"/>
          </p:nvSpPr>
          <p:spPr>
            <a:xfrm>
              <a:off x="623461" y="5373431"/>
              <a:ext cx="1930689"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2" name="Freeform 11">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57309095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35436311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902" r:id="rId2"/>
    <p:sldLayoutId id="2147483812" r:id="rId3"/>
    <p:sldLayoutId id="2147483813" r:id="rId4"/>
    <p:sldLayoutId id="2147483798" r:id="rId5"/>
    <p:sldLayoutId id="2147483806" r:id="rId6"/>
    <p:sldLayoutId id="2147483709" r:id="rId7"/>
    <p:sldLayoutId id="2147483822" r:id="rId8"/>
    <p:sldLayoutId id="2147483802" r:id="rId9"/>
    <p:sldLayoutId id="2147483792" r:id="rId10"/>
    <p:sldLayoutId id="2147483810" r:id="rId11"/>
    <p:sldLayoutId id="2147483804" r:id="rId12"/>
    <p:sldLayoutId id="2147483821" r:id="rId13"/>
    <p:sldLayoutId id="2147483824" r:id="rId14"/>
    <p:sldLayoutId id="2147483828" r:id="rId15"/>
    <p:sldLayoutId id="2147483853" r:id="rId16"/>
    <p:sldLayoutId id="2147483899" r:id="rId17"/>
    <p:sldLayoutId id="2147483832" r:id="rId18"/>
    <p:sldLayoutId id="2147483833" r:id="rId19"/>
    <p:sldLayoutId id="2147483836" r:id="rId20"/>
    <p:sldLayoutId id="2147483852" r:id="rId21"/>
    <p:sldLayoutId id="2147483900" r:id="rId22"/>
    <p:sldLayoutId id="2147483820" r:id="rId23"/>
    <p:sldLayoutId id="2147483842" r:id="rId24"/>
    <p:sldLayoutId id="2147483845" r:id="rId25"/>
    <p:sldLayoutId id="2147483851" r:id="rId26"/>
    <p:sldLayoutId id="2147483901" r:id="rId27"/>
    <p:sldLayoutId id="2147483650" r:id="rId28"/>
    <p:sldLayoutId id="2147483734" r:id="rId29"/>
    <p:sldLayoutId id="2147483796" r:id="rId30"/>
    <p:sldLayoutId id="2147483719" r:id="rId31"/>
    <p:sldLayoutId id="2147483721" r:id="rId32"/>
    <p:sldLayoutId id="2147483724" r:id="rId33"/>
    <p:sldLayoutId id="2147483797" r:id="rId34"/>
    <p:sldLayoutId id="2147483814" r:id="rId35"/>
    <p:sldLayoutId id="2147483905" r:id="rId36"/>
    <p:sldLayoutId id="2147483906" r:id="rId37"/>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9"/>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9"/>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9"/>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9"/>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1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10A2E5-A3AA-7BE3-7C87-983A58C15C46}"/>
              </a:ext>
            </a:extLst>
          </p:cNvPr>
          <p:cNvSpPr>
            <a:spLocks noGrp="1"/>
          </p:cNvSpPr>
          <p:nvPr>
            <p:ph type="ctrTitle"/>
          </p:nvPr>
        </p:nvSpPr>
        <p:spPr/>
        <p:txBody>
          <a:bodyPr/>
          <a:lstStyle/>
          <a:p>
            <a:r>
              <a:rPr lang="en-US" dirty="0"/>
              <a:t>Collections &amp; Generics</a:t>
            </a:r>
          </a:p>
        </p:txBody>
      </p:sp>
      <p:sp>
        <p:nvSpPr>
          <p:cNvPr id="3" name="Subtitle 2">
            <a:extLst>
              <a:ext uri="{FF2B5EF4-FFF2-40B4-BE49-F238E27FC236}">
                <a16:creationId xmlns:a16="http://schemas.microsoft.com/office/drawing/2014/main" id="{52534D79-CFC0-C4F4-AD12-F13DBCAB1A97}"/>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003932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14CEE614-F3AF-46F3-B9A7-97CFC7B058A3}"/>
              </a:ext>
            </a:extLst>
          </p:cNvPr>
          <p:cNvSpPr>
            <a:spLocks noGrp="1"/>
          </p:cNvSpPr>
          <p:nvPr>
            <p:ph type="body" sz="quarter" idx="15"/>
          </p:nvPr>
        </p:nvSpPr>
        <p:spPr>
          <a:xfrm>
            <a:off x="5037136" y="1349985"/>
            <a:ext cx="6403023" cy="3850088"/>
          </a:xfrm>
        </p:spPr>
        <p:txBody>
          <a:bodyPr vert="horz" lIns="0" tIns="0" rIns="0" bIns="0" rtlCol="0" anchor="t" anchorCtr="0">
            <a:noAutofit/>
          </a:bodyPr>
          <a:lstStyle/>
          <a:p>
            <a:pPr marL="342900" indent="-342900">
              <a:spcAft>
                <a:spcPts val="400"/>
              </a:spcAft>
              <a:buChar char="•"/>
            </a:pPr>
            <a:r>
              <a:rPr lang="en-GB" b="1" dirty="0"/>
              <a:t>Objectives</a:t>
            </a:r>
          </a:p>
          <a:p>
            <a:pPr marL="684000" lvl="1" indent="-342900">
              <a:spcAft>
                <a:spcPts val="400"/>
              </a:spcAft>
              <a:buSzPct val="115000"/>
            </a:pPr>
            <a:r>
              <a:rPr lang="en-IN" dirty="0"/>
              <a:t>Compare functionality offered by </a:t>
            </a:r>
            <a:br>
              <a:rPr lang="en-IN" dirty="0"/>
            </a:br>
            <a:r>
              <a:rPr lang="en-IN" dirty="0"/>
              <a:t>arrays &amp; collections </a:t>
            </a:r>
          </a:p>
          <a:p>
            <a:pPr marL="684000" lvl="1" indent="-342900">
              <a:spcAft>
                <a:spcPts val="400"/>
              </a:spcAft>
              <a:buSzPct val="115000"/>
            </a:pPr>
            <a:r>
              <a:rPr lang="en-IN" dirty="0"/>
              <a:t>Understand generic concepts, use </a:t>
            </a:r>
            <a:br>
              <a:rPr lang="en-IN" dirty="0"/>
            </a:br>
            <a:r>
              <a:rPr lang="en-IN" dirty="0"/>
              <a:t>generic types &amp; syntax</a:t>
            </a:r>
          </a:p>
          <a:p>
            <a:pPr marL="684000" lvl="1" indent="-342900">
              <a:spcAft>
                <a:spcPts val="400"/>
              </a:spcAft>
              <a:buSzPct val="115000"/>
            </a:pPr>
            <a:endParaRPr lang="en-GB" dirty="0"/>
          </a:p>
          <a:p>
            <a:pPr marL="342900" indent="-342900">
              <a:spcAft>
                <a:spcPts val="400"/>
              </a:spcAft>
              <a:buChar char="•"/>
            </a:pPr>
            <a:r>
              <a:rPr lang="en-GB" b="1" dirty="0"/>
              <a:t>Contents</a:t>
            </a:r>
          </a:p>
          <a:p>
            <a:pPr marL="684000" lvl="1" indent="-342900">
              <a:spcAft>
                <a:spcPts val="400"/>
              </a:spcAft>
              <a:buSzPct val="115000"/>
            </a:pPr>
            <a:r>
              <a:rPr lang="en-GB" dirty="0"/>
              <a:t>Recap arrays, introduce collection classes</a:t>
            </a:r>
          </a:p>
          <a:p>
            <a:pPr marL="684000" lvl="1" indent="-342900">
              <a:spcAft>
                <a:spcPts val="400"/>
              </a:spcAft>
              <a:buSzPct val="115000"/>
            </a:pPr>
            <a:r>
              <a:rPr lang="en-GB" dirty="0"/>
              <a:t>Generic concepts</a:t>
            </a:r>
          </a:p>
          <a:p>
            <a:pPr marL="1026000" lvl="1" indent="-342900">
              <a:spcAft>
                <a:spcPts val="400"/>
              </a:spcAft>
              <a:buSzPct val="115000"/>
            </a:pPr>
            <a:r>
              <a:rPr lang="en-GB" dirty="0"/>
              <a:t>Collections Framework  Generic classes</a:t>
            </a:r>
          </a:p>
          <a:p>
            <a:pPr marL="684000" lvl="1" indent="-342900">
              <a:spcAft>
                <a:spcPts val="400"/>
              </a:spcAft>
              <a:buSzPct val="115000"/>
            </a:pPr>
            <a:endParaRPr lang="en-GB" dirty="0"/>
          </a:p>
          <a:p>
            <a:pPr marL="342900" indent="-342900">
              <a:spcAft>
                <a:spcPts val="400"/>
              </a:spcAft>
              <a:buChar char="•"/>
            </a:pPr>
            <a:r>
              <a:rPr lang="en-GB" b="1" dirty="0"/>
              <a:t>Hands on Labs</a:t>
            </a:r>
          </a:p>
          <a:p>
            <a:pPr marL="342900" indent="-342900">
              <a:spcAft>
                <a:spcPts val="400"/>
              </a:spcAft>
              <a:buChar char="•"/>
            </a:pPr>
            <a:endParaRPr lang="en-IN" b="1" dirty="0"/>
          </a:p>
        </p:txBody>
      </p:sp>
      <p:sp>
        <p:nvSpPr>
          <p:cNvPr id="5" name="Text Placeholder 4">
            <a:extLst>
              <a:ext uri="{FF2B5EF4-FFF2-40B4-BE49-F238E27FC236}">
                <a16:creationId xmlns:a16="http://schemas.microsoft.com/office/drawing/2014/main" id="{56D6B1F2-5C62-4C24-8E05-47130583A814}"/>
              </a:ext>
            </a:extLst>
          </p:cNvPr>
          <p:cNvSpPr>
            <a:spLocks noGrp="1"/>
          </p:cNvSpPr>
          <p:nvPr>
            <p:ph type="body" sz="quarter" idx="16"/>
          </p:nvPr>
        </p:nvSpPr>
        <p:spPr/>
        <p:txBody>
          <a:bodyPr/>
          <a:lstStyle/>
          <a:p>
            <a:r>
              <a:rPr lang="en-GB"/>
              <a:t>Contents</a:t>
            </a:r>
          </a:p>
          <a:p>
            <a:endParaRPr lang="en-IN" dirty="0"/>
          </a:p>
        </p:txBody>
      </p:sp>
      <p:sp>
        <p:nvSpPr>
          <p:cNvPr id="3" name="Rectangle 2" descr="Document">
            <a:extLst>
              <a:ext uri="{FF2B5EF4-FFF2-40B4-BE49-F238E27FC236}">
                <a16:creationId xmlns:a16="http://schemas.microsoft.com/office/drawing/2014/main" id="{65170226-D7E8-E050-AD1C-6FF64999839D}"/>
              </a:ext>
            </a:extLst>
          </p:cNvPr>
          <p:cNvSpPr/>
          <p:nvPr/>
        </p:nvSpPr>
        <p:spPr>
          <a:xfrm>
            <a:off x="4226560" y="3699160"/>
            <a:ext cx="796640" cy="700120"/>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
        <p:nvSpPr>
          <p:cNvPr id="4" name="Rectangle 3" descr="Bullseye">
            <a:extLst>
              <a:ext uri="{FF2B5EF4-FFF2-40B4-BE49-F238E27FC236}">
                <a16:creationId xmlns:a16="http://schemas.microsoft.com/office/drawing/2014/main" id="{4CD1C6F6-A9E6-E01F-A264-2AFF01F141D5}"/>
              </a:ext>
            </a:extLst>
          </p:cNvPr>
          <p:cNvSpPr/>
          <p:nvPr/>
        </p:nvSpPr>
        <p:spPr>
          <a:xfrm>
            <a:off x="4246880" y="1778920"/>
            <a:ext cx="796640" cy="801720"/>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Tree>
    <p:extLst>
      <p:ext uri="{BB962C8B-B14F-4D97-AF65-F5344CB8AC3E}">
        <p14:creationId xmlns:p14="http://schemas.microsoft.com/office/powerpoint/2010/main" val="155441836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GB"/>
              <a:t>Arrays vs Collection classes</a:t>
            </a:r>
          </a:p>
        </p:txBody>
      </p:sp>
      <p:sp>
        <p:nvSpPr>
          <p:cNvPr id="9219" name="Content Placeholder 2"/>
          <p:cNvSpPr>
            <a:spLocks noGrp="1"/>
          </p:cNvSpPr>
          <p:nvPr>
            <p:ph idx="1"/>
          </p:nvPr>
        </p:nvSpPr>
        <p:spPr/>
        <p:txBody>
          <a:bodyPr/>
          <a:lstStyle/>
          <a:p>
            <a:pPr marL="342900" indent="-342900">
              <a:buFont typeface="Arial" panose="020B0604020202020204" pitchFamily="34" charset="0"/>
              <a:buChar char="•"/>
            </a:pPr>
            <a:r>
              <a:rPr lang="en-GB" b="1" dirty="0"/>
              <a:t>Limitations of Arrays</a:t>
            </a:r>
          </a:p>
          <a:p>
            <a:pPr marL="684000" indent="-342900">
              <a:buFont typeface="Arial" panose="020B0604020202020204" pitchFamily="34" charset="0"/>
              <a:buChar char="•"/>
            </a:pPr>
            <a:r>
              <a:rPr lang="en-GB" dirty="0"/>
              <a:t>Fixed size, can’t append, insert or delete</a:t>
            </a:r>
          </a:p>
          <a:p>
            <a:pPr marL="684000" indent="-342900">
              <a:buFont typeface="Arial" panose="020B0604020202020204" pitchFamily="34" charset="0"/>
              <a:buChar char="•"/>
            </a:pPr>
            <a:r>
              <a:rPr lang="en-GB" dirty="0"/>
              <a:t>No built-in method to reject duplicates</a:t>
            </a:r>
          </a:p>
          <a:p>
            <a:pPr marL="684000" indent="-342900">
              <a:buFont typeface="Arial" panose="020B0604020202020204" pitchFamily="34" charset="0"/>
              <a:buChar char="•"/>
            </a:pPr>
            <a:r>
              <a:rPr lang="en-GB" dirty="0"/>
              <a:t>Must watch out for </a:t>
            </a:r>
            <a:r>
              <a:rPr lang="en-GB" sz="1800" dirty="0" err="1">
                <a:solidFill>
                  <a:schemeClr val="tx1">
                    <a:lumMod val="90000"/>
                    <a:lumOff val="10000"/>
                  </a:schemeClr>
                </a:solidFill>
                <a:latin typeface="Cascadia Mono" panose="020B0609020000020004" pitchFamily="49" charset="0"/>
              </a:rPr>
              <a:t>IndexOutOfRangeException</a:t>
            </a:r>
            <a:endParaRPr lang="en-GB" dirty="0">
              <a:solidFill>
                <a:schemeClr val="tx1">
                  <a:lumMod val="90000"/>
                  <a:lumOff val="10000"/>
                </a:schemeClr>
              </a:solidFill>
            </a:endParaRPr>
          </a:p>
          <a:p>
            <a:pPr marL="684000" indent="-342900">
              <a:buFont typeface="Arial" panose="020B0604020202020204" pitchFamily="34" charset="0"/>
              <a:buChar char="•"/>
            </a:pPr>
            <a:r>
              <a:rPr lang="en-GB" dirty="0"/>
              <a:t>But are type-safe! An </a:t>
            </a:r>
            <a:r>
              <a:rPr lang="en-GB" b="1" dirty="0"/>
              <a:t>int</a:t>
            </a:r>
            <a:r>
              <a:rPr lang="en-GB" dirty="0"/>
              <a:t> array can only contain </a:t>
            </a:r>
            <a:r>
              <a:rPr lang="en-GB" b="1" dirty="0"/>
              <a:t>integers</a:t>
            </a:r>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r>
              <a:rPr lang="en-GB" b="1" dirty="0"/>
              <a:t>C# offers collection classes</a:t>
            </a:r>
          </a:p>
          <a:p>
            <a:pPr marL="684000" indent="-342900">
              <a:buFont typeface="Arial" panose="020B0604020202020204" pitchFamily="34" charset="0"/>
              <a:buChar char="•"/>
            </a:pPr>
            <a:r>
              <a:rPr lang="en-GB" dirty="0"/>
              <a:t>List, Queue, Stack, Dictionary...</a:t>
            </a:r>
          </a:p>
          <a:p>
            <a:pPr marL="1026000" indent="-342900">
              <a:buFont typeface="Arial" panose="020B0604020202020204" pitchFamily="34" charset="0"/>
              <a:buChar char="•"/>
            </a:pPr>
            <a:r>
              <a:rPr lang="en-GB" dirty="0"/>
              <a:t>Know their capacity</a:t>
            </a:r>
          </a:p>
          <a:p>
            <a:pPr marL="1026000" indent="-342900">
              <a:buFont typeface="Arial" panose="020B0604020202020204" pitchFamily="34" charset="0"/>
              <a:buChar char="•"/>
            </a:pPr>
            <a:r>
              <a:rPr lang="en-GB" dirty="0"/>
              <a:t>Support append, insertions / deletions / searching</a:t>
            </a:r>
          </a:p>
          <a:p>
            <a:pPr marL="342900" indent="-342900">
              <a:buFont typeface="Arial" panose="020B0604020202020204" pitchFamily="34" charset="0"/>
              <a:buChar char="•"/>
            </a:pPr>
            <a:endParaRPr lang="en-GB" dirty="0"/>
          </a:p>
          <a:p>
            <a:pPr marL="684000" indent="-342900">
              <a:buFont typeface="Arial" panose="020B0604020202020204" pitchFamily="34" charset="0"/>
              <a:buChar char="•"/>
            </a:pPr>
            <a:r>
              <a:rPr lang="en-GB" dirty="0"/>
              <a:t>Generic version of these are type-safe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Content Placeholder 2"/>
          <p:cNvSpPr>
            <a:spLocks noGrp="1"/>
          </p:cNvSpPr>
          <p:nvPr>
            <p:ph idx="1"/>
          </p:nvPr>
        </p:nvSpPr>
        <p:spPr>
          <a:xfrm>
            <a:off x="341272" y="1368256"/>
            <a:ext cx="10816255" cy="773487"/>
          </a:xfrm>
        </p:spPr>
        <p:txBody>
          <a:bodyPr/>
          <a:lstStyle/>
          <a:p>
            <a:r>
              <a:rPr lang="en-GB" b="1" dirty="0"/>
              <a:t>Classic  </a:t>
            </a:r>
            <a:r>
              <a:rPr lang="en-GB" b="1" dirty="0" err="1">
                <a:latin typeface="Courier New" panose="02070309020205020404" pitchFamily="49" charset="0"/>
                <a:cs typeface="Courier New" panose="02070309020205020404" pitchFamily="49" charset="0"/>
              </a:rPr>
              <a:t>ArrayList</a:t>
            </a:r>
            <a:r>
              <a:rPr lang="en-GB" b="1" dirty="0">
                <a:latin typeface="Courier New" panose="02070309020205020404" pitchFamily="49" charset="0"/>
                <a:cs typeface="Courier New" panose="02070309020205020404" pitchFamily="49" charset="0"/>
              </a:rPr>
              <a:t> </a:t>
            </a:r>
            <a:r>
              <a:rPr lang="en-GB" b="1" dirty="0"/>
              <a:t>could only hold a collection of Object type</a:t>
            </a:r>
          </a:p>
        </p:txBody>
      </p:sp>
      <p:sp>
        <p:nvSpPr>
          <p:cNvPr id="10242" name="Title 1"/>
          <p:cNvSpPr>
            <a:spLocks noGrp="1"/>
          </p:cNvSpPr>
          <p:nvPr>
            <p:ph type="title"/>
          </p:nvPr>
        </p:nvSpPr>
        <p:spPr/>
        <p:txBody>
          <a:bodyPr/>
          <a:lstStyle/>
          <a:p>
            <a:pPr eaLnBrk="1" hangingPunct="1"/>
            <a:r>
              <a:rPr lang="en-GB" dirty="0"/>
              <a:t>Collection classes before .NET 2  (2006)</a:t>
            </a:r>
          </a:p>
        </p:txBody>
      </p:sp>
      <p:sp>
        <p:nvSpPr>
          <p:cNvPr id="2" name="Rectangle 1"/>
          <p:cNvSpPr/>
          <p:nvPr/>
        </p:nvSpPr>
        <p:spPr>
          <a:xfrm>
            <a:off x="787007" y="2161334"/>
            <a:ext cx="4190123" cy="1323439"/>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err="1">
                <a:solidFill>
                  <a:srgbClr val="000000"/>
                </a:solidFill>
                <a:latin typeface="Consolas" panose="020B0609020204030204" pitchFamily="49" charset="0"/>
              </a:rPr>
              <a:t>ArrayList</a:t>
            </a:r>
            <a:r>
              <a:rPr lang="en-GB" sz="1600" dirty="0">
                <a:solidFill>
                  <a:srgbClr val="000000"/>
                </a:solidFill>
                <a:latin typeface="Consolas" panose="020B0609020204030204" pitchFamily="49" charset="0"/>
              </a:rPr>
              <a:t> </a:t>
            </a:r>
            <a:r>
              <a:rPr lang="en-GB" sz="1600" dirty="0" err="1">
                <a:solidFill>
                  <a:srgbClr val="6A3E3E"/>
                </a:solidFill>
                <a:latin typeface="Consolas" panose="020B0609020204030204" pitchFamily="49" charset="0"/>
              </a:rPr>
              <a:t>myList</a:t>
            </a:r>
            <a:r>
              <a:rPr lang="en-GB" sz="1600" dirty="0">
                <a:solidFill>
                  <a:srgbClr val="000000"/>
                </a:solidFill>
                <a:latin typeface="Consolas" panose="020B0609020204030204" pitchFamily="49" charset="0"/>
              </a:rPr>
              <a:t>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ArrayList</a:t>
            </a:r>
            <a:r>
              <a:rPr lang="en-GB" sz="1600" b="1" dirty="0">
                <a:solidFill>
                  <a:srgbClr val="000000"/>
                </a:solidFill>
                <a:latin typeface="Consolas" panose="020B0609020204030204" pitchFamily="49" charset="0"/>
              </a:rPr>
              <a:t>();</a:t>
            </a:r>
            <a:endParaRPr lang="en-GB" sz="1600" dirty="0">
              <a:solidFill>
                <a:srgbClr val="6A3E3E"/>
              </a:solidFill>
              <a:latin typeface="Consolas" panose="020B0609020204030204" pitchFamily="49" charset="0"/>
            </a:endParaRPr>
          </a:p>
          <a:p>
            <a:endParaRPr lang="en-GB" sz="1600" dirty="0">
              <a:solidFill>
                <a:srgbClr val="6A3E3E"/>
              </a:solidFill>
              <a:latin typeface="Consolas" panose="020B0609020204030204" pitchFamily="49" charset="0"/>
            </a:endParaRPr>
          </a:p>
          <a:p>
            <a:r>
              <a:rPr lang="en-GB" sz="1600" dirty="0" err="1">
                <a:solidFill>
                  <a:srgbClr val="6A3E3E"/>
                </a:solidFill>
                <a:latin typeface="Consolas" panose="020B0609020204030204" pitchFamily="49" charset="0"/>
              </a:rPr>
              <a:t>myList</a:t>
            </a:r>
            <a:r>
              <a:rPr lang="en-GB" sz="1600" dirty="0" err="1">
                <a:solidFill>
                  <a:srgbClr val="000000"/>
                </a:solidFill>
                <a:latin typeface="Consolas" panose="020B0609020204030204" pitchFamily="49" charset="0"/>
              </a:rPr>
              <a:t>.Add</a:t>
            </a:r>
            <a:r>
              <a:rPr lang="en-GB" sz="1600" dirty="0">
                <a:solidFill>
                  <a:srgbClr val="000000"/>
                </a:solidFill>
                <a:latin typeface="Consolas" panose="020B0609020204030204" pitchFamily="49" charset="0"/>
              </a:rPr>
              <a:t>(123);</a:t>
            </a:r>
          </a:p>
          <a:p>
            <a:endParaRPr lang="en-GB" sz="1600" dirty="0">
              <a:solidFill>
                <a:srgbClr val="6A3E3E"/>
              </a:solidFill>
              <a:latin typeface="Consolas" panose="020B0609020204030204" pitchFamily="49" charset="0"/>
            </a:endParaRPr>
          </a:p>
          <a:p>
            <a:r>
              <a:rPr lang="en-GB" sz="1600" dirty="0" err="1">
                <a:solidFill>
                  <a:srgbClr val="6A3E3E"/>
                </a:solidFill>
                <a:latin typeface="Consolas" panose="020B0609020204030204" pitchFamily="49" charset="0"/>
              </a:rPr>
              <a:t>myList</a:t>
            </a:r>
            <a:r>
              <a:rPr lang="en-GB" sz="1600" dirty="0" err="1">
                <a:solidFill>
                  <a:srgbClr val="000000"/>
                </a:solidFill>
                <a:latin typeface="Consolas" panose="020B0609020204030204" pitchFamily="49" charset="0"/>
              </a:rPr>
              <a:t>.Add</a:t>
            </a:r>
            <a:r>
              <a:rPr lang="en-GB" sz="1600" dirty="0">
                <a:solidFill>
                  <a:srgbClr val="000000"/>
                </a:solidFill>
                <a:latin typeface="Consolas" panose="020B0609020204030204" pitchFamily="49" charset="0"/>
              </a:rPr>
              <a:t>(</a:t>
            </a:r>
            <a:r>
              <a:rPr lang="en-GB" sz="1600" dirty="0">
                <a:solidFill>
                  <a:srgbClr val="2A00FF"/>
                </a:solidFill>
                <a:latin typeface="Consolas" panose="020B0609020204030204" pitchFamily="49" charset="0"/>
              </a:rPr>
              <a:t>"Bob"</a:t>
            </a:r>
            <a:r>
              <a:rPr lang="en-GB" sz="1600" dirty="0">
                <a:solidFill>
                  <a:srgbClr val="000000"/>
                </a:solidFill>
                <a:latin typeface="Consolas" panose="020B0609020204030204" pitchFamily="49" charset="0"/>
              </a:rPr>
              <a:t>);</a:t>
            </a:r>
          </a:p>
        </p:txBody>
      </p:sp>
      <p:sp>
        <p:nvSpPr>
          <p:cNvPr id="7" name="Rectangle 6"/>
          <p:cNvSpPr/>
          <p:nvPr/>
        </p:nvSpPr>
        <p:spPr>
          <a:xfrm>
            <a:off x="787007" y="3790356"/>
            <a:ext cx="8459584" cy="1323439"/>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id</a:t>
            </a:r>
            <a:r>
              <a:rPr lang="en-GB" sz="1600" b="1" dirty="0">
                <a:solidFill>
                  <a:srgbClr val="000000"/>
                </a:solidFill>
                <a:latin typeface="Consolas" panose="020B0609020204030204" pitchFamily="49" charset="0"/>
              </a:rPr>
              <a:t> = </a:t>
            </a:r>
            <a:r>
              <a:rPr lang="en-GB" sz="1600" b="1" dirty="0" err="1">
                <a:solidFill>
                  <a:srgbClr val="6A3E3E"/>
                </a:solidFill>
                <a:latin typeface="Consolas" panose="020B0609020204030204" pitchFamily="49" charset="0"/>
              </a:rPr>
              <a:t>myList</a:t>
            </a:r>
            <a:r>
              <a:rPr lang="en-GB" sz="1600" b="1" dirty="0">
                <a:solidFill>
                  <a:srgbClr val="000000"/>
                </a:solidFill>
                <a:latin typeface="Consolas" panose="020B0609020204030204" pitchFamily="49" charset="0"/>
              </a:rPr>
              <a:t>[0]; 		</a:t>
            </a:r>
            <a:r>
              <a:rPr lang="en-GB" sz="1600" b="1" dirty="0">
                <a:solidFill>
                  <a:srgbClr val="C00000"/>
                </a:solidFill>
                <a:latin typeface="Consolas" panose="020B0609020204030204" pitchFamily="49" charset="0"/>
                <a:sym typeface="Wingdings" panose="05000000000000000000" pitchFamily="2" charset="2"/>
              </a:rPr>
              <a:t>needs casting. get( ) returns an Object</a:t>
            </a:r>
            <a:endParaRPr lang="en-GB" sz="1600" b="1" dirty="0">
              <a:solidFill>
                <a:srgbClr val="000000"/>
              </a:solidFill>
              <a:latin typeface="Consolas" panose="020B0609020204030204" pitchFamily="49" charset="0"/>
            </a:endParaRPr>
          </a:p>
          <a:p>
            <a:endParaRPr lang="en-GB" sz="1600" b="1" dirty="0">
              <a:solidFill>
                <a:srgbClr val="7F0055"/>
              </a:solidFill>
              <a:latin typeface="Consolas" panose="020B0609020204030204" pitchFamily="49" charset="0"/>
            </a:endParaRPr>
          </a:p>
          <a:p>
            <a:r>
              <a:rPr lang="en-GB" sz="1600" b="1" dirty="0">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id</a:t>
            </a:r>
            <a:r>
              <a:rPr lang="en-GB" sz="1600" b="1" dirty="0">
                <a:solidFill>
                  <a:srgbClr val="000000"/>
                </a:solidFill>
                <a:latin typeface="Consolas" panose="020B0609020204030204" pitchFamily="49" charset="0"/>
              </a:rPr>
              <a:t> = (</a:t>
            </a:r>
            <a:r>
              <a:rPr lang="en-GB" sz="1600" b="1" dirty="0">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a:t>
            </a:r>
            <a:r>
              <a:rPr lang="en-GB" sz="1600" b="1" dirty="0" err="1">
                <a:solidFill>
                  <a:srgbClr val="6A3E3E"/>
                </a:solidFill>
                <a:latin typeface="Consolas" panose="020B0609020204030204" pitchFamily="49" charset="0"/>
              </a:rPr>
              <a:t>myList</a:t>
            </a:r>
            <a:r>
              <a:rPr lang="en-GB" sz="1600" b="1" dirty="0">
                <a:solidFill>
                  <a:srgbClr val="000000"/>
                </a:solidFill>
                <a:latin typeface="Consolas" panose="020B0609020204030204" pitchFamily="49" charset="0"/>
              </a:rPr>
              <a:t>[0]; 	</a:t>
            </a:r>
            <a:r>
              <a:rPr lang="en-GB" sz="1400" b="1" dirty="0">
                <a:solidFill>
                  <a:srgbClr val="00B050"/>
                </a:solidFill>
                <a:latin typeface="Consolas" panose="020B0609020204030204" pitchFamily="49" charset="0"/>
                <a:sym typeface="Wingdings" panose="05000000000000000000" pitchFamily="2" charset="2"/>
              </a:rPr>
              <a:t>Cast is valid but it </a:t>
            </a:r>
            <a:r>
              <a:rPr lang="en-GB" sz="1400" b="1" dirty="0" err="1">
                <a:solidFill>
                  <a:srgbClr val="00B050"/>
                </a:solidFill>
                <a:latin typeface="Consolas" panose="020B0609020204030204" pitchFamily="49" charset="0"/>
                <a:sym typeface="Wingdings" panose="05000000000000000000" pitchFamily="2" charset="2"/>
              </a:rPr>
              <a:t>akes</a:t>
            </a:r>
            <a:r>
              <a:rPr lang="en-GB" sz="1400" b="1" dirty="0">
                <a:solidFill>
                  <a:srgbClr val="00B050"/>
                </a:solidFill>
                <a:latin typeface="Consolas" panose="020B0609020204030204" pitchFamily="49" charset="0"/>
                <a:sym typeface="Wingdings" panose="05000000000000000000" pitchFamily="2" charset="2"/>
              </a:rPr>
              <a:t> time to cast Object</a:t>
            </a:r>
            <a:endParaRPr lang="en-GB" sz="1600" b="1" dirty="0">
              <a:solidFill>
                <a:srgbClr val="7F0055"/>
              </a:solidFill>
              <a:latin typeface="Consolas" panose="020B0609020204030204" pitchFamily="49" charset="0"/>
            </a:endParaRPr>
          </a:p>
          <a:p>
            <a:endParaRPr lang="en-GB" sz="1600" b="1" dirty="0">
              <a:solidFill>
                <a:srgbClr val="7F0055"/>
              </a:solidFill>
              <a:latin typeface="Consolas" panose="020B0609020204030204" pitchFamily="49" charset="0"/>
            </a:endParaRPr>
          </a:p>
          <a:p>
            <a:r>
              <a:rPr lang="en-GB" sz="1600" b="1" dirty="0">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id</a:t>
            </a:r>
            <a:r>
              <a:rPr lang="en-GB" sz="1600" b="1" dirty="0">
                <a:solidFill>
                  <a:srgbClr val="000000"/>
                </a:solidFill>
                <a:latin typeface="Consolas" panose="020B0609020204030204" pitchFamily="49" charset="0"/>
              </a:rPr>
              <a:t> = (</a:t>
            </a:r>
            <a:r>
              <a:rPr lang="en-GB" sz="1600" b="1" dirty="0">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a:t>
            </a:r>
            <a:r>
              <a:rPr lang="en-GB" sz="1600" b="1" dirty="0" err="1">
                <a:solidFill>
                  <a:srgbClr val="6A3E3E"/>
                </a:solidFill>
                <a:latin typeface="Consolas" panose="020B0609020204030204" pitchFamily="49" charset="0"/>
              </a:rPr>
              <a:t>myList</a:t>
            </a:r>
            <a:r>
              <a:rPr lang="en-GB" sz="1600" b="1" dirty="0">
                <a:solidFill>
                  <a:srgbClr val="000000"/>
                </a:solidFill>
                <a:latin typeface="Consolas" panose="020B0609020204030204" pitchFamily="49" charset="0"/>
              </a:rPr>
              <a:t>[1];		</a:t>
            </a:r>
            <a:r>
              <a:rPr lang="en-GB" sz="1600" b="1" dirty="0">
                <a:solidFill>
                  <a:srgbClr val="C00000"/>
                </a:solidFill>
                <a:latin typeface="Consolas" panose="020B0609020204030204" pitchFamily="49" charset="0"/>
                <a:sym typeface="Wingdings" panose="05000000000000000000" pitchFamily="2" charset="2"/>
              </a:rPr>
              <a:t>Compiles but crashes during runtime</a:t>
            </a:r>
            <a:endParaRPr lang="en-GB" sz="1600" b="1" dirty="0">
              <a:solidFill>
                <a:srgbClr val="000000"/>
              </a:solidFill>
              <a:latin typeface="Consolas" panose="020B0609020204030204" pitchFamily="49" charset="0"/>
            </a:endParaRPr>
          </a:p>
        </p:txBody>
      </p:sp>
      <p:sp>
        <p:nvSpPr>
          <p:cNvPr id="4" name="Rectangle 3"/>
          <p:cNvSpPr/>
          <p:nvPr/>
        </p:nvSpPr>
        <p:spPr>
          <a:xfrm>
            <a:off x="3938055" y="3707683"/>
            <a:ext cx="505267" cy="523220"/>
          </a:xfrm>
          <a:prstGeom prst="rect">
            <a:avLst/>
          </a:prstGeom>
          <a:ln>
            <a:noFill/>
          </a:ln>
          <a:effectLst>
            <a:outerShdw blurRad="50800" dist="38100" algn="l" rotWithShape="0">
              <a:prstClr val="black">
                <a:alpha val="40000"/>
              </a:prstClr>
            </a:outerShdw>
          </a:effectLst>
        </p:spPr>
        <p:txBody>
          <a:bodyPr wrap="none">
            <a:spAutoFit/>
          </a:bodyPr>
          <a:lstStyle/>
          <a:p>
            <a:r>
              <a:rPr lang="en-GB" sz="2800" b="1" dirty="0">
                <a:solidFill>
                  <a:srgbClr val="C00000"/>
                </a:solidFill>
                <a:latin typeface="Consolas" panose="020B0609020204030204" pitchFamily="49" charset="0"/>
                <a:sym typeface="Wingdings" panose="05000000000000000000" pitchFamily="2" charset="2"/>
              </a:rPr>
              <a:t></a:t>
            </a:r>
            <a:endParaRPr lang="en-GB" sz="2800" dirty="0"/>
          </a:p>
        </p:txBody>
      </p:sp>
      <p:sp>
        <p:nvSpPr>
          <p:cNvPr id="5" name="Rectangle 4"/>
          <p:cNvSpPr/>
          <p:nvPr/>
        </p:nvSpPr>
        <p:spPr>
          <a:xfrm>
            <a:off x="3971510" y="4233279"/>
            <a:ext cx="458780" cy="461665"/>
          </a:xfrm>
          <a:prstGeom prst="rect">
            <a:avLst/>
          </a:prstGeom>
          <a:ln>
            <a:noFill/>
          </a:ln>
          <a:effectLst>
            <a:outerShdw blurRad="50800" dist="38100" algn="l" rotWithShape="0">
              <a:prstClr val="black">
                <a:alpha val="40000"/>
              </a:prstClr>
            </a:outerShdw>
          </a:effectLst>
        </p:spPr>
        <p:txBody>
          <a:bodyPr wrap="none">
            <a:spAutoFit/>
          </a:bodyPr>
          <a:lstStyle/>
          <a:p>
            <a:r>
              <a:rPr lang="en-GB" sz="2400" b="1" dirty="0">
                <a:solidFill>
                  <a:srgbClr val="00B050"/>
                </a:solidFill>
                <a:latin typeface="Consolas" panose="020B0609020204030204" pitchFamily="49" charset="0"/>
                <a:sym typeface="Wingdings" panose="05000000000000000000" pitchFamily="2" charset="2"/>
              </a:rPr>
              <a:t></a:t>
            </a:r>
            <a:endParaRPr lang="en-GB" sz="2400" dirty="0"/>
          </a:p>
        </p:txBody>
      </p:sp>
      <p:sp>
        <p:nvSpPr>
          <p:cNvPr id="6" name="Rounded Rectangular Callout 1">
            <a:extLst>
              <a:ext uri="{FF2B5EF4-FFF2-40B4-BE49-F238E27FC236}">
                <a16:creationId xmlns:a16="http://schemas.microsoft.com/office/drawing/2014/main" id="{7F55E982-1817-0960-746F-049B0C4763BF}"/>
              </a:ext>
            </a:extLst>
          </p:cNvPr>
          <p:cNvSpPr/>
          <p:nvPr/>
        </p:nvSpPr>
        <p:spPr>
          <a:xfrm>
            <a:off x="5749399" y="2245867"/>
            <a:ext cx="3421746" cy="446116"/>
          </a:xfrm>
          <a:prstGeom prst="wedgeRoundRectCallout">
            <a:avLst>
              <a:gd name="adj1" fmla="val -54500"/>
              <a:gd name="adj2" fmla="val -19167"/>
              <a:gd name="adj3" fmla="val 16667"/>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en-GB" sz="1600" b="1" dirty="0">
                <a:solidFill>
                  <a:srgbClr val="0000FF"/>
                </a:solidFill>
                <a:latin typeface="Cascadia Mono" panose="020B0609020000020004" pitchFamily="49" charset="0"/>
              </a:rPr>
              <a:t>using</a:t>
            </a:r>
            <a:r>
              <a:rPr lang="en-GB" sz="1600" b="1" dirty="0">
                <a:solidFill>
                  <a:srgbClr val="000000"/>
                </a:solidFill>
                <a:latin typeface="Cascadia Mono" panose="020B0609020000020004" pitchFamily="49" charset="0"/>
              </a:rPr>
              <a:t> </a:t>
            </a:r>
            <a:r>
              <a:rPr lang="en-GB" sz="1600" b="1" dirty="0" err="1">
                <a:solidFill>
                  <a:srgbClr val="000000"/>
                </a:solidFill>
                <a:latin typeface="Cascadia Mono" panose="020B0609020000020004" pitchFamily="49" charset="0"/>
              </a:rPr>
              <a:t>System.Collections</a:t>
            </a:r>
            <a:endParaRPr lang="en-GB" sz="1200" b="1"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Content Placeholder 2"/>
          <p:cNvSpPr>
            <a:spLocks noGrp="1"/>
          </p:cNvSpPr>
          <p:nvPr>
            <p:ph idx="1"/>
          </p:nvPr>
        </p:nvSpPr>
        <p:spPr>
          <a:xfrm>
            <a:off x="341999" y="1368000"/>
            <a:ext cx="11414571" cy="5216400"/>
          </a:xfrm>
        </p:spPr>
        <p:txBody>
          <a:bodyPr/>
          <a:lstStyle/>
          <a:p>
            <a:pPr marL="342900" indent="-342900">
              <a:buFont typeface="Arial" panose="020B0604020202020204" pitchFamily="34" charset="0"/>
              <a:buChar char="•"/>
            </a:pPr>
            <a:r>
              <a:rPr lang="en-GB" dirty="0"/>
              <a:t>Can hold a collection of a specific type and always returns the expected type</a:t>
            </a:r>
          </a:p>
        </p:txBody>
      </p:sp>
      <p:sp>
        <p:nvSpPr>
          <p:cNvPr id="10242" name="Title 1"/>
          <p:cNvSpPr>
            <a:spLocks noGrp="1"/>
          </p:cNvSpPr>
          <p:nvPr>
            <p:ph type="title"/>
          </p:nvPr>
        </p:nvSpPr>
        <p:spPr/>
        <p:txBody>
          <a:bodyPr/>
          <a:lstStyle/>
          <a:p>
            <a:pPr eaLnBrk="1" hangingPunct="1"/>
            <a:r>
              <a:rPr lang="en-GB" dirty="0"/>
              <a:t>Generic collection classes</a:t>
            </a:r>
          </a:p>
        </p:txBody>
      </p:sp>
      <p:sp>
        <p:nvSpPr>
          <p:cNvPr id="4" name="Rectangle 3"/>
          <p:cNvSpPr/>
          <p:nvPr/>
        </p:nvSpPr>
        <p:spPr>
          <a:xfrm>
            <a:off x="795932" y="2486196"/>
            <a:ext cx="6712307" cy="1846659"/>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000000"/>
                </a:solidFill>
                <a:latin typeface="Consolas" panose="020B0609020204030204" pitchFamily="49" charset="0"/>
              </a:rPr>
              <a:t>List</a:t>
            </a:r>
            <a:r>
              <a:rPr lang="en-GB" sz="1600" dirty="0">
                <a:solidFill>
                  <a:srgbClr val="000000"/>
                </a:solidFill>
                <a:latin typeface="Consolas" panose="020B0609020204030204" pitchFamily="49" charset="0"/>
              </a:rPr>
              <a:t>&lt;</a:t>
            </a:r>
            <a:r>
              <a:rPr lang="en-GB" sz="1600" b="1" dirty="0">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&gt; </a:t>
            </a:r>
            <a:r>
              <a:rPr lang="en-GB" sz="1600" dirty="0" err="1">
                <a:solidFill>
                  <a:srgbClr val="000000"/>
                </a:solidFill>
                <a:latin typeface="Consolas" panose="020B0609020204030204" pitchFamily="49" charset="0"/>
              </a:rPr>
              <a:t>myList</a:t>
            </a:r>
            <a:r>
              <a:rPr lang="en-GB" sz="1600" b="1" dirty="0">
                <a:solidFill>
                  <a:srgbClr val="000000"/>
                </a:solidFill>
                <a:latin typeface="Consolas" panose="020B0609020204030204" pitchFamily="49" charset="0"/>
              </a:rPr>
              <a:t>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List&lt;</a:t>
            </a:r>
            <a:r>
              <a:rPr lang="en-GB" sz="1600" b="1" dirty="0">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&gt;();</a:t>
            </a:r>
          </a:p>
          <a:p>
            <a:endParaRPr lang="en-GB" sz="1400" dirty="0">
              <a:solidFill>
                <a:srgbClr val="000000"/>
              </a:solidFill>
              <a:latin typeface="Consolas" panose="020B0609020204030204" pitchFamily="49" charset="0"/>
            </a:endParaRPr>
          </a:p>
          <a:p>
            <a:r>
              <a:rPr lang="en-GB" sz="1400" dirty="0" err="1">
                <a:solidFill>
                  <a:srgbClr val="000000"/>
                </a:solidFill>
                <a:latin typeface="Consolas" panose="020B0609020204030204" pitchFamily="49" charset="0"/>
              </a:rPr>
              <a:t>myList.</a:t>
            </a:r>
            <a:r>
              <a:rPr lang="en-GB" sz="1400" b="1" dirty="0" err="1">
                <a:solidFill>
                  <a:srgbClr val="000000"/>
                </a:solidFill>
                <a:latin typeface="Consolas" panose="020B0609020204030204" pitchFamily="49" charset="0"/>
              </a:rPr>
              <a:t>Add</a:t>
            </a:r>
            <a:r>
              <a:rPr lang="en-GB" sz="1400" dirty="0">
                <a:solidFill>
                  <a:srgbClr val="000000"/>
                </a:solidFill>
                <a:latin typeface="Consolas" panose="020B0609020204030204" pitchFamily="49" charset="0"/>
              </a:rPr>
              <a:t>(123); 	</a:t>
            </a:r>
            <a:r>
              <a:rPr lang="en-GB" sz="1400" b="1" dirty="0">
                <a:solidFill>
                  <a:srgbClr val="00B050"/>
                </a:solidFill>
                <a:latin typeface="Consolas" panose="020B0609020204030204" pitchFamily="49" charset="0"/>
                <a:sym typeface="Wingdings" panose="05000000000000000000" pitchFamily="2" charset="2"/>
              </a:rPr>
              <a:t>  can add an integer</a:t>
            </a:r>
            <a:endParaRPr lang="en-GB" sz="1400" dirty="0">
              <a:solidFill>
                <a:srgbClr val="000000"/>
              </a:solidFill>
              <a:latin typeface="Consolas" panose="020B0609020204030204" pitchFamily="49" charset="0"/>
            </a:endParaRPr>
          </a:p>
          <a:p>
            <a:endParaRPr lang="en-GB" sz="1400" dirty="0">
              <a:solidFill>
                <a:srgbClr val="000000"/>
              </a:solidFill>
              <a:latin typeface="Consolas" panose="020B0609020204030204" pitchFamily="49" charset="0"/>
            </a:endParaRPr>
          </a:p>
          <a:p>
            <a:r>
              <a:rPr lang="en-GB" sz="1400" dirty="0" err="1">
                <a:solidFill>
                  <a:srgbClr val="000000"/>
                </a:solidFill>
                <a:latin typeface="Consolas" panose="020B0609020204030204" pitchFamily="49" charset="0"/>
              </a:rPr>
              <a:t>myList.</a:t>
            </a:r>
            <a:r>
              <a:rPr lang="en-GB" sz="1400" b="1" dirty="0" err="1">
                <a:solidFill>
                  <a:srgbClr val="000000"/>
                </a:solidFill>
                <a:latin typeface="Consolas" panose="020B0609020204030204" pitchFamily="49" charset="0"/>
              </a:rPr>
              <a:t>Add</a:t>
            </a:r>
            <a:r>
              <a:rPr lang="en-GB" sz="1400" dirty="0">
                <a:solidFill>
                  <a:srgbClr val="000000"/>
                </a:solidFill>
                <a:latin typeface="Consolas" panose="020B0609020204030204" pitchFamily="49" charset="0"/>
              </a:rPr>
              <a:t>(123.5); 	</a:t>
            </a:r>
            <a:r>
              <a:rPr lang="en-GB" sz="1400" b="1" dirty="0">
                <a:solidFill>
                  <a:srgbClr val="C00000"/>
                </a:solidFill>
                <a:latin typeface="Consolas" panose="020B0609020204030204" pitchFamily="49" charset="0"/>
                <a:sym typeface="Wingdings" panose="05000000000000000000" pitchFamily="2" charset="2"/>
              </a:rPr>
              <a:t>  double is not allowed</a:t>
            </a:r>
            <a:endParaRPr lang="en-GB" sz="1400" dirty="0">
              <a:solidFill>
                <a:srgbClr val="000000"/>
              </a:solidFill>
              <a:latin typeface="Consolas" panose="020B0609020204030204" pitchFamily="49" charset="0"/>
            </a:endParaRPr>
          </a:p>
          <a:p>
            <a:r>
              <a:rPr lang="en-GB" sz="1400" dirty="0" err="1">
                <a:solidFill>
                  <a:srgbClr val="000000"/>
                </a:solidFill>
                <a:latin typeface="Consolas" panose="020B0609020204030204" pitchFamily="49" charset="0"/>
              </a:rPr>
              <a:t>myList.</a:t>
            </a:r>
            <a:r>
              <a:rPr lang="en-GB" sz="1400" b="1" dirty="0" err="1">
                <a:solidFill>
                  <a:srgbClr val="000000"/>
                </a:solidFill>
                <a:latin typeface="Consolas" panose="020B0609020204030204" pitchFamily="49" charset="0"/>
              </a:rPr>
              <a:t>Add</a:t>
            </a:r>
            <a:r>
              <a:rPr lang="en-GB" sz="1400" dirty="0">
                <a:solidFill>
                  <a:srgbClr val="000000"/>
                </a:solidFill>
                <a:latin typeface="Consolas" panose="020B0609020204030204" pitchFamily="49" charset="0"/>
              </a:rPr>
              <a:t>(</a:t>
            </a:r>
            <a:r>
              <a:rPr lang="en-GB" sz="1400" dirty="0">
                <a:solidFill>
                  <a:srgbClr val="2A00FF"/>
                </a:solidFill>
                <a:latin typeface="Consolas" panose="020B0609020204030204" pitchFamily="49" charset="0"/>
              </a:rPr>
              <a:t>"Bob"</a:t>
            </a:r>
            <a:r>
              <a:rPr lang="en-GB" sz="1400" dirty="0">
                <a:solidFill>
                  <a:srgbClr val="000000"/>
                </a:solidFill>
                <a:latin typeface="Consolas" panose="020B0609020204030204" pitchFamily="49" charset="0"/>
              </a:rPr>
              <a:t>); 	</a:t>
            </a:r>
            <a:r>
              <a:rPr lang="en-GB" sz="1400" b="1" dirty="0">
                <a:solidFill>
                  <a:srgbClr val="C00000"/>
                </a:solidFill>
                <a:latin typeface="Consolas" panose="020B0609020204030204" pitchFamily="49" charset="0"/>
                <a:sym typeface="Wingdings" panose="05000000000000000000" pitchFamily="2" charset="2"/>
              </a:rPr>
              <a:t>  Only integers</a:t>
            </a:r>
            <a:endParaRPr lang="en-GB" sz="1400" dirty="0">
              <a:solidFill>
                <a:srgbClr val="000000"/>
              </a:solidFill>
              <a:latin typeface="Consolas" panose="020B0609020204030204" pitchFamily="49" charset="0"/>
            </a:endParaRPr>
          </a:p>
          <a:p>
            <a:endParaRPr lang="en-GB" sz="1400" dirty="0">
              <a:latin typeface="Consolas" panose="020B0609020204030204" pitchFamily="49" charset="0"/>
            </a:endParaRPr>
          </a:p>
          <a:p>
            <a:r>
              <a:rPr lang="en-GB" sz="1400" b="1" dirty="0">
                <a:solidFill>
                  <a:srgbClr val="7F0055"/>
                </a:solidFill>
                <a:latin typeface="Consolas" panose="020B0609020204030204" pitchFamily="49" charset="0"/>
              </a:rPr>
              <a:t>int</a:t>
            </a:r>
            <a:r>
              <a:rPr lang="en-GB" sz="1400" b="1" dirty="0">
                <a:solidFill>
                  <a:srgbClr val="000000"/>
                </a:solidFill>
                <a:latin typeface="Consolas" panose="020B0609020204030204" pitchFamily="49" charset="0"/>
              </a:rPr>
              <a:t> k = </a:t>
            </a:r>
            <a:r>
              <a:rPr lang="en-GB" sz="1400" b="1" dirty="0" err="1">
                <a:solidFill>
                  <a:srgbClr val="000000"/>
                </a:solidFill>
                <a:latin typeface="Consolas" panose="020B0609020204030204" pitchFamily="49" charset="0"/>
              </a:rPr>
              <a:t>myList</a:t>
            </a:r>
            <a:r>
              <a:rPr lang="en-GB" sz="1400" b="1" dirty="0">
                <a:solidFill>
                  <a:srgbClr val="000000"/>
                </a:solidFill>
                <a:latin typeface="Consolas" panose="020B0609020204030204" pitchFamily="49" charset="0"/>
              </a:rPr>
              <a:t>[0]; 	</a:t>
            </a:r>
            <a:r>
              <a:rPr lang="en-GB" sz="1400" b="1" dirty="0">
                <a:solidFill>
                  <a:srgbClr val="00B050"/>
                </a:solidFill>
                <a:latin typeface="Consolas" panose="020B0609020204030204" pitchFamily="49" charset="0"/>
                <a:sym typeface="Wingdings" panose="05000000000000000000" pitchFamily="2" charset="2"/>
              </a:rPr>
              <a:t>   no casting is required</a:t>
            </a:r>
            <a:endParaRPr lang="en-GB" sz="1400" b="1" dirty="0">
              <a:solidFill>
                <a:srgbClr val="000000"/>
              </a:solidFill>
              <a:latin typeface="Consolas" panose="020B0609020204030204" pitchFamily="49" charset="0"/>
            </a:endParaRPr>
          </a:p>
        </p:txBody>
      </p:sp>
      <p:sp>
        <p:nvSpPr>
          <p:cNvPr id="8" name="Rectangle 7"/>
          <p:cNvSpPr/>
          <p:nvPr/>
        </p:nvSpPr>
        <p:spPr>
          <a:xfrm>
            <a:off x="779828" y="4722105"/>
            <a:ext cx="6697932" cy="1200329"/>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solidFill>
                  <a:srgbClr val="000000"/>
                </a:solidFill>
                <a:latin typeface="Consolas" panose="020B0609020204030204" pitchFamily="49" charset="0"/>
              </a:rPr>
              <a:t>List&lt;</a:t>
            </a:r>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&gt; </a:t>
            </a:r>
            <a:r>
              <a:rPr lang="en-GB" sz="1600" b="1" dirty="0">
                <a:solidFill>
                  <a:srgbClr val="6A3E3E"/>
                </a:solidFill>
                <a:latin typeface="Consolas" panose="020B0609020204030204" pitchFamily="49" charset="0"/>
              </a:rPr>
              <a:t>salaries</a:t>
            </a:r>
            <a:r>
              <a:rPr lang="en-GB" sz="1600" b="1" dirty="0">
                <a:solidFill>
                  <a:srgbClr val="000000"/>
                </a:solidFill>
                <a:latin typeface="Consolas" panose="020B0609020204030204" pitchFamily="49" charset="0"/>
              </a:rPr>
              <a:t>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List&lt;</a:t>
            </a:r>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&gt;();</a:t>
            </a:r>
          </a:p>
          <a:p>
            <a:endParaRPr lang="en-GB" sz="1400" dirty="0">
              <a:solidFill>
                <a:srgbClr val="000000"/>
              </a:solidFill>
              <a:latin typeface="Consolas" panose="020B0609020204030204" pitchFamily="49" charset="0"/>
            </a:endParaRPr>
          </a:p>
          <a:p>
            <a:r>
              <a:rPr lang="en-GB" sz="1400" b="1" dirty="0" err="1">
                <a:solidFill>
                  <a:srgbClr val="6A3E3E"/>
                </a:solidFill>
                <a:latin typeface="Consolas" panose="020B0609020204030204" pitchFamily="49" charset="0"/>
              </a:rPr>
              <a:t>salaries</a:t>
            </a:r>
            <a:r>
              <a:rPr lang="en-GB" sz="1400" dirty="0" err="1">
                <a:solidFill>
                  <a:srgbClr val="000000"/>
                </a:solidFill>
                <a:latin typeface="Consolas" panose="020B0609020204030204" pitchFamily="49" charset="0"/>
              </a:rPr>
              <a:t>.</a:t>
            </a:r>
            <a:r>
              <a:rPr lang="en-GB" sz="1400" b="1" dirty="0" err="1">
                <a:solidFill>
                  <a:srgbClr val="000000"/>
                </a:solidFill>
                <a:latin typeface="Consolas" panose="020B0609020204030204" pitchFamily="49" charset="0"/>
              </a:rPr>
              <a:t>Add</a:t>
            </a:r>
            <a:r>
              <a:rPr lang="en-GB" sz="1400" dirty="0">
                <a:solidFill>
                  <a:srgbClr val="000000"/>
                </a:solidFill>
                <a:latin typeface="Consolas" panose="020B0609020204030204" pitchFamily="49" charset="0"/>
              </a:rPr>
              <a:t>(123.5); 	</a:t>
            </a:r>
            <a:r>
              <a:rPr lang="en-GB" sz="1400" b="1" dirty="0">
                <a:solidFill>
                  <a:srgbClr val="00B050"/>
                </a:solidFill>
                <a:latin typeface="Consolas" panose="020B0609020204030204" pitchFamily="49" charset="0"/>
                <a:sym typeface="Wingdings" panose="05000000000000000000" pitchFamily="2" charset="2"/>
              </a:rPr>
              <a:t>  can add a double </a:t>
            </a:r>
            <a:endParaRPr lang="en-GB" sz="1400" dirty="0">
              <a:solidFill>
                <a:srgbClr val="000000"/>
              </a:solidFill>
              <a:latin typeface="Consolas" panose="020B0609020204030204" pitchFamily="49" charset="0"/>
            </a:endParaRPr>
          </a:p>
          <a:p>
            <a:endParaRPr lang="en-GB" sz="1400" dirty="0">
              <a:latin typeface="Consolas" panose="020B0609020204030204" pitchFamily="49" charset="0"/>
            </a:endParaRPr>
          </a:p>
          <a:p>
            <a:r>
              <a:rPr lang="en-GB" sz="1400" b="1" dirty="0">
                <a:solidFill>
                  <a:srgbClr val="7F0055"/>
                </a:solidFill>
                <a:latin typeface="Consolas" panose="020B0609020204030204" pitchFamily="49" charset="0"/>
              </a:rPr>
              <a:t>double</a:t>
            </a:r>
            <a:r>
              <a:rPr lang="en-GB" sz="1400" b="1" dirty="0">
                <a:solidFill>
                  <a:srgbClr val="000000"/>
                </a:solidFill>
                <a:latin typeface="Consolas" panose="020B0609020204030204" pitchFamily="49" charset="0"/>
              </a:rPr>
              <a:t> x = </a:t>
            </a:r>
            <a:r>
              <a:rPr lang="en-GB" sz="1400" b="1" dirty="0">
                <a:solidFill>
                  <a:srgbClr val="6A3E3E"/>
                </a:solidFill>
                <a:latin typeface="Consolas" panose="020B0609020204030204" pitchFamily="49" charset="0"/>
              </a:rPr>
              <a:t>salaries</a:t>
            </a:r>
            <a:r>
              <a:rPr lang="en-GB" sz="1400" b="1" dirty="0">
                <a:solidFill>
                  <a:srgbClr val="000000"/>
                </a:solidFill>
                <a:latin typeface="Consolas" panose="020B0609020204030204" pitchFamily="49" charset="0"/>
              </a:rPr>
              <a:t>[0]; 	</a:t>
            </a:r>
            <a:r>
              <a:rPr lang="en-GB" sz="1400" b="1" dirty="0">
                <a:solidFill>
                  <a:srgbClr val="00B050"/>
                </a:solidFill>
                <a:latin typeface="Consolas" panose="020B0609020204030204" pitchFamily="49" charset="0"/>
                <a:sym typeface="Wingdings" panose="05000000000000000000" pitchFamily="2" charset="2"/>
              </a:rPr>
              <a:t>   no casting is required</a:t>
            </a:r>
            <a:endParaRPr lang="en-GB" sz="1400" b="1" dirty="0">
              <a:solidFill>
                <a:srgbClr val="000000"/>
              </a:solidFill>
              <a:latin typeface="Consolas" panose="020B0609020204030204" pitchFamily="49" charset="0"/>
            </a:endParaRPr>
          </a:p>
        </p:txBody>
      </p:sp>
      <p:sp>
        <p:nvSpPr>
          <p:cNvPr id="3" name="TextBox 2">
            <a:extLst>
              <a:ext uri="{FF2B5EF4-FFF2-40B4-BE49-F238E27FC236}">
                <a16:creationId xmlns:a16="http://schemas.microsoft.com/office/drawing/2014/main" id="{093E02F7-F2B2-162F-012B-3FC92551C197}"/>
              </a:ext>
            </a:extLst>
          </p:cNvPr>
          <p:cNvSpPr txBox="1"/>
          <p:nvPr/>
        </p:nvSpPr>
        <p:spPr>
          <a:xfrm>
            <a:off x="795932" y="1984494"/>
            <a:ext cx="4744720" cy="369332"/>
          </a:xfrm>
          <a:prstGeom prst="rect">
            <a:avLst/>
          </a:prstGeom>
          <a:ln>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800" dirty="0">
                <a:solidFill>
                  <a:srgbClr val="0000FF"/>
                </a:solidFill>
                <a:latin typeface="Cascadia Mono" panose="020B0609020000020004" pitchFamily="49" charset="0"/>
              </a:rPr>
              <a:t>using</a:t>
            </a:r>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System.Collections.Generic</a:t>
            </a:r>
            <a:r>
              <a:rPr lang="en-GB" sz="1800" dirty="0">
                <a:solidFill>
                  <a:srgbClr val="000000"/>
                </a:solidFill>
                <a:latin typeface="Cascadia Mono" panose="020B0609020000020004" pitchFamily="49" charset="0"/>
              </a:rPr>
              <a:t>;</a:t>
            </a:r>
            <a:endParaRPr lang="en-GB" dirty="0"/>
          </a:p>
        </p:txBody>
      </p:sp>
    </p:spTree>
    <p:extLst>
      <p:ext uri="{BB962C8B-B14F-4D97-AF65-F5344CB8AC3E}">
        <p14:creationId xmlns:p14="http://schemas.microsoft.com/office/powerpoint/2010/main" val="3968266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25365" y="562058"/>
            <a:ext cx="11852029" cy="805001"/>
          </a:xfrm>
        </p:spPr>
        <p:txBody>
          <a:bodyPr/>
          <a:lstStyle/>
          <a:p>
            <a:pPr eaLnBrk="1" hangingPunct="1"/>
            <a:r>
              <a:rPr lang="en-GB" sz="3200" dirty="0"/>
              <a:t>Iterating through a generic List</a:t>
            </a:r>
          </a:p>
        </p:txBody>
      </p:sp>
      <p:sp>
        <p:nvSpPr>
          <p:cNvPr id="822277" name="Rectangle 5"/>
          <p:cNvSpPr>
            <a:spLocks noChangeArrowheads="1"/>
          </p:cNvSpPr>
          <p:nvPr/>
        </p:nvSpPr>
        <p:spPr bwMode="auto">
          <a:xfrm>
            <a:off x="813376" y="1472596"/>
            <a:ext cx="8532903" cy="1105431"/>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a:solidFill>
                  <a:srgbClr val="000000"/>
                </a:solidFill>
                <a:latin typeface="Lucida Console" pitchFamily="49" charset="0"/>
              </a:rPr>
              <a:t>List&lt;</a:t>
            </a:r>
            <a:r>
              <a:rPr lang="en-GB" dirty="0">
                <a:latin typeface="Lucida Console" pitchFamily="49" charset="0"/>
              </a:rPr>
              <a:t>string</a:t>
            </a:r>
            <a:r>
              <a:rPr lang="en-GB" dirty="0">
                <a:solidFill>
                  <a:srgbClr val="000000"/>
                </a:solidFill>
                <a:latin typeface="Lucida Console" pitchFamily="49" charset="0"/>
              </a:rPr>
              <a:t>&gt; friends = </a:t>
            </a:r>
            <a:r>
              <a:rPr lang="en-GB" dirty="0">
                <a:solidFill>
                  <a:srgbClr val="0000C8"/>
                </a:solidFill>
                <a:latin typeface="Lucida Console" pitchFamily="49" charset="0"/>
              </a:rPr>
              <a:t>new</a:t>
            </a:r>
            <a:r>
              <a:rPr lang="en-GB" dirty="0">
                <a:solidFill>
                  <a:srgbClr val="000000"/>
                </a:solidFill>
                <a:latin typeface="Lucida Console" pitchFamily="49" charset="0"/>
              </a:rPr>
              <a:t> List&lt;</a:t>
            </a:r>
            <a:r>
              <a:rPr lang="en-GB" dirty="0">
                <a:latin typeface="Lucida Console" pitchFamily="49" charset="0"/>
              </a:rPr>
              <a:t>string</a:t>
            </a:r>
            <a:r>
              <a:rPr lang="en-GB" dirty="0">
                <a:solidFill>
                  <a:srgbClr val="000000"/>
                </a:solidFill>
                <a:latin typeface="Lucida Console" pitchFamily="49" charset="0"/>
              </a:rPr>
              <a:t>&gt;();</a:t>
            </a:r>
            <a:br>
              <a:rPr lang="en-GB" dirty="0">
                <a:solidFill>
                  <a:srgbClr val="000000"/>
                </a:solidFill>
                <a:latin typeface="Lucida Console" pitchFamily="49" charset="0"/>
              </a:rPr>
            </a:br>
            <a:r>
              <a:rPr lang="en-GB" sz="1600" dirty="0" err="1">
                <a:solidFill>
                  <a:srgbClr val="000000"/>
                </a:solidFill>
                <a:latin typeface="Lucida Console" pitchFamily="49" charset="0"/>
              </a:rPr>
              <a:t>friends.Add</a:t>
            </a:r>
            <a:r>
              <a:rPr lang="en-GB" sz="1600" dirty="0">
                <a:solidFill>
                  <a:srgbClr val="000000"/>
                </a:solidFill>
                <a:latin typeface="Lucida Console" pitchFamily="49" charset="0"/>
              </a:rPr>
              <a:t>("Tom"); 			</a:t>
            </a:r>
            <a:endParaRPr lang="en-GB" sz="1600" dirty="0">
              <a:solidFill>
                <a:schemeClr val="accent6">
                  <a:lumMod val="50000"/>
                </a:schemeClr>
              </a:solidFill>
              <a:latin typeface="Lucida Console" pitchFamily="49" charset="0"/>
            </a:endParaRPr>
          </a:p>
          <a:p>
            <a:pPr defTabSz="739775" eaLnBrk="0" hangingPunct="0">
              <a:defRPr/>
            </a:pPr>
            <a:r>
              <a:rPr lang="en-GB" sz="1600" dirty="0" err="1">
                <a:solidFill>
                  <a:srgbClr val="000000"/>
                </a:solidFill>
                <a:latin typeface="Lucida Console" pitchFamily="49" charset="0"/>
              </a:rPr>
              <a:t>friends.Add</a:t>
            </a:r>
            <a:r>
              <a:rPr lang="en-GB" sz="1600" dirty="0">
                <a:solidFill>
                  <a:srgbClr val="000000"/>
                </a:solidFill>
                <a:latin typeface="Lucida Console" pitchFamily="49" charset="0"/>
              </a:rPr>
              <a:t>("Sue");</a:t>
            </a:r>
            <a:r>
              <a:rPr lang="en-GB" sz="1600" dirty="0">
                <a:solidFill>
                  <a:schemeClr val="accent6">
                    <a:lumMod val="50000"/>
                  </a:schemeClr>
                </a:solidFill>
                <a:latin typeface="Lucida Console" pitchFamily="49" charset="0"/>
              </a:rPr>
              <a:t> </a:t>
            </a:r>
            <a:br>
              <a:rPr lang="en-GB" sz="1600" dirty="0">
                <a:solidFill>
                  <a:srgbClr val="000000"/>
                </a:solidFill>
                <a:latin typeface="Lucida Console" pitchFamily="49" charset="0"/>
              </a:rPr>
            </a:br>
            <a:r>
              <a:rPr lang="en-GB" sz="1600" dirty="0" err="1">
                <a:solidFill>
                  <a:srgbClr val="000000"/>
                </a:solidFill>
                <a:latin typeface="Lucida Console" pitchFamily="49" charset="0"/>
              </a:rPr>
              <a:t>friends.Add</a:t>
            </a:r>
            <a:r>
              <a:rPr lang="en-GB" sz="1600" dirty="0">
                <a:solidFill>
                  <a:srgbClr val="000000"/>
                </a:solidFill>
                <a:latin typeface="Lucida Console" pitchFamily="49" charset="0"/>
              </a:rPr>
              <a:t>("Sanjeev");</a:t>
            </a:r>
            <a:endParaRPr lang="en-GB" sz="1600" dirty="0">
              <a:solidFill>
                <a:schemeClr val="accent6">
                  <a:lumMod val="50000"/>
                </a:schemeClr>
              </a:solidFill>
              <a:latin typeface="Lucida Console" pitchFamily="49" charset="0"/>
            </a:endParaRPr>
          </a:p>
        </p:txBody>
      </p:sp>
      <p:sp>
        <p:nvSpPr>
          <p:cNvPr id="5" name="Rectangle 5"/>
          <p:cNvSpPr>
            <a:spLocks noChangeArrowheads="1"/>
          </p:cNvSpPr>
          <p:nvPr/>
        </p:nvSpPr>
        <p:spPr bwMode="auto">
          <a:xfrm>
            <a:off x="813376" y="3091501"/>
            <a:ext cx="8532903" cy="643766"/>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a:solidFill>
                  <a:srgbClr val="0000C8"/>
                </a:solidFill>
                <a:latin typeface="Lucida Console" pitchFamily="49" charset="0"/>
              </a:rPr>
              <a:t>foreach </a:t>
            </a:r>
            <a:r>
              <a:rPr lang="en-GB" dirty="0">
                <a:solidFill>
                  <a:srgbClr val="000000"/>
                </a:solidFill>
                <a:latin typeface="Lucida Console" pitchFamily="49" charset="0"/>
              </a:rPr>
              <a:t>(s</a:t>
            </a:r>
            <a:r>
              <a:rPr lang="en-GB" dirty="0">
                <a:latin typeface="Lucida Console" pitchFamily="49" charset="0"/>
              </a:rPr>
              <a:t>tring </a:t>
            </a:r>
            <a:r>
              <a:rPr lang="en-GB" dirty="0">
                <a:solidFill>
                  <a:srgbClr val="000000"/>
                </a:solidFill>
                <a:latin typeface="Lucida Console" pitchFamily="49" charset="0"/>
              </a:rPr>
              <a:t>name </a:t>
            </a:r>
            <a:r>
              <a:rPr lang="en-GB" dirty="0">
                <a:solidFill>
                  <a:srgbClr val="0000C8"/>
                </a:solidFill>
                <a:latin typeface="Lucida Console" pitchFamily="49" charset="0"/>
              </a:rPr>
              <a:t>in</a:t>
            </a:r>
            <a:r>
              <a:rPr lang="en-GB" dirty="0">
                <a:solidFill>
                  <a:srgbClr val="000000"/>
                </a:solidFill>
                <a:latin typeface="Lucida Console" pitchFamily="49" charset="0"/>
              </a:rPr>
              <a:t> friends) </a:t>
            </a:r>
            <a:br>
              <a:rPr lang="en-GB" dirty="0">
                <a:solidFill>
                  <a:srgbClr val="000000"/>
                </a:solidFill>
                <a:latin typeface="Lucida Console" pitchFamily="49" charset="0"/>
              </a:rPr>
            </a:br>
            <a:r>
              <a:rPr lang="en-GB" dirty="0">
                <a:solidFill>
                  <a:srgbClr val="000000"/>
                </a:solidFill>
                <a:latin typeface="Lucida Console" pitchFamily="49" charset="0"/>
              </a:rPr>
              <a:t>     </a:t>
            </a:r>
            <a:r>
              <a:rPr lang="en-GB" dirty="0" err="1">
                <a:solidFill>
                  <a:srgbClr val="000000"/>
                </a:solidFill>
                <a:latin typeface="Lucida Console" pitchFamily="49" charset="0"/>
              </a:rPr>
              <a:t>Console.WriteLine</a:t>
            </a:r>
            <a:r>
              <a:rPr lang="en-GB" dirty="0">
                <a:solidFill>
                  <a:srgbClr val="000000"/>
                </a:solidFill>
                <a:latin typeface="Lucida Console" pitchFamily="49" charset="0"/>
              </a:rPr>
              <a:t>(</a:t>
            </a:r>
            <a:r>
              <a:rPr lang="en-GB" b="1" dirty="0">
                <a:solidFill>
                  <a:srgbClr val="000000"/>
                </a:solidFill>
                <a:latin typeface="Lucida Console" pitchFamily="49" charset="0"/>
              </a:rPr>
              <a:t>name</a:t>
            </a:r>
            <a:r>
              <a:rPr lang="en-GB" dirty="0">
                <a:solidFill>
                  <a:srgbClr val="000000"/>
                </a:solidFill>
                <a:latin typeface="Lucida Console" pitchFamily="49" charset="0"/>
              </a:rPr>
              <a:t>);</a:t>
            </a:r>
            <a:endParaRPr lang="en-GB" dirty="0">
              <a:solidFill>
                <a:schemeClr val="accent6">
                  <a:lumMod val="50000"/>
                </a:schemeClr>
              </a:solidFill>
              <a:latin typeface="Lucida Console" pitchFamily="49" charset="0"/>
            </a:endParaRPr>
          </a:p>
        </p:txBody>
      </p:sp>
      <p:sp>
        <p:nvSpPr>
          <p:cNvPr id="6" name="Rectangle 5"/>
          <p:cNvSpPr>
            <a:spLocks noChangeArrowheads="1"/>
          </p:cNvSpPr>
          <p:nvPr/>
        </p:nvSpPr>
        <p:spPr bwMode="auto">
          <a:xfrm>
            <a:off x="835704" y="4156408"/>
            <a:ext cx="8509323" cy="643766"/>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a:solidFill>
                  <a:srgbClr val="0000C8"/>
                </a:solidFill>
                <a:latin typeface="Lucida Console" pitchFamily="49" charset="0"/>
              </a:rPr>
              <a:t>for</a:t>
            </a:r>
            <a:r>
              <a:rPr lang="en-GB" dirty="0">
                <a:solidFill>
                  <a:srgbClr val="000000"/>
                </a:solidFill>
                <a:latin typeface="Lucida Console" pitchFamily="49" charset="0"/>
              </a:rPr>
              <a:t>(</a:t>
            </a:r>
            <a:r>
              <a:rPr lang="en-GB" dirty="0">
                <a:solidFill>
                  <a:srgbClr val="0000C8"/>
                </a:solidFill>
                <a:latin typeface="Lucida Console" pitchFamily="49" charset="0"/>
              </a:rPr>
              <a:t>int</a:t>
            </a:r>
            <a:r>
              <a:rPr lang="en-GB" dirty="0">
                <a:solidFill>
                  <a:srgbClr val="000000"/>
                </a:solidFill>
                <a:latin typeface="Lucida Console" pitchFamily="49" charset="0"/>
              </a:rPr>
              <a:t> </a:t>
            </a:r>
            <a:r>
              <a:rPr lang="en-GB" dirty="0" err="1">
                <a:solidFill>
                  <a:srgbClr val="000000"/>
                </a:solidFill>
                <a:latin typeface="Lucida Console" pitchFamily="49" charset="0"/>
              </a:rPr>
              <a:t>i</a:t>
            </a:r>
            <a:r>
              <a:rPr lang="en-GB" dirty="0">
                <a:solidFill>
                  <a:srgbClr val="000000"/>
                </a:solidFill>
                <a:latin typeface="Lucida Console" pitchFamily="49" charset="0"/>
              </a:rPr>
              <a:t> = 0; </a:t>
            </a:r>
            <a:r>
              <a:rPr lang="en-GB" dirty="0" err="1">
                <a:solidFill>
                  <a:srgbClr val="000000"/>
                </a:solidFill>
                <a:latin typeface="Lucida Console" pitchFamily="49" charset="0"/>
              </a:rPr>
              <a:t>i</a:t>
            </a:r>
            <a:r>
              <a:rPr lang="en-GB" dirty="0">
                <a:solidFill>
                  <a:srgbClr val="000000"/>
                </a:solidFill>
                <a:latin typeface="Lucida Console" pitchFamily="49" charset="0"/>
              </a:rPr>
              <a:t> &lt; </a:t>
            </a:r>
            <a:r>
              <a:rPr lang="en-GB" dirty="0" err="1">
                <a:solidFill>
                  <a:srgbClr val="000000"/>
                </a:solidFill>
                <a:latin typeface="Lucida Console" pitchFamily="49" charset="0"/>
              </a:rPr>
              <a:t>friends.Count</a:t>
            </a:r>
            <a:r>
              <a:rPr lang="en-GB" dirty="0">
                <a:solidFill>
                  <a:srgbClr val="000000"/>
                </a:solidFill>
                <a:latin typeface="Lucida Console" pitchFamily="49" charset="0"/>
              </a:rPr>
              <a:t>; </a:t>
            </a:r>
            <a:r>
              <a:rPr lang="en-GB" dirty="0" err="1">
                <a:solidFill>
                  <a:srgbClr val="000000"/>
                </a:solidFill>
                <a:latin typeface="Lucida Console" pitchFamily="49" charset="0"/>
              </a:rPr>
              <a:t>i</a:t>
            </a:r>
            <a:r>
              <a:rPr lang="en-GB" dirty="0">
                <a:solidFill>
                  <a:srgbClr val="000000"/>
                </a:solidFill>
                <a:latin typeface="Lucida Console" pitchFamily="49" charset="0"/>
              </a:rPr>
              <a:t>++)    </a:t>
            </a:r>
          </a:p>
          <a:p>
            <a:pPr defTabSz="739775" eaLnBrk="0" hangingPunct="0">
              <a:defRPr/>
            </a:pPr>
            <a:r>
              <a:rPr lang="en-GB" dirty="0">
                <a:solidFill>
                  <a:srgbClr val="000000"/>
                </a:solidFill>
                <a:latin typeface="Lucida Console" pitchFamily="49" charset="0"/>
              </a:rPr>
              <a:t>	 </a:t>
            </a:r>
            <a:r>
              <a:rPr lang="en-GB" dirty="0" err="1">
                <a:solidFill>
                  <a:srgbClr val="000000"/>
                </a:solidFill>
                <a:latin typeface="Lucida Console" pitchFamily="49" charset="0"/>
              </a:rPr>
              <a:t>Console.WriteLine</a:t>
            </a:r>
            <a:r>
              <a:rPr lang="en-GB" dirty="0">
                <a:solidFill>
                  <a:srgbClr val="000000"/>
                </a:solidFill>
                <a:latin typeface="Lucida Console" pitchFamily="49" charset="0"/>
              </a:rPr>
              <a:t>( </a:t>
            </a:r>
            <a:r>
              <a:rPr lang="en-GB" b="1" dirty="0">
                <a:latin typeface="Lucida Console" pitchFamily="49" charset="0"/>
              </a:rPr>
              <a:t>friends[</a:t>
            </a:r>
            <a:r>
              <a:rPr lang="en-GB" b="1" dirty="0" err="1">
                <a:latin typeface="Lucida Console" pitchFamily="49" charset="0"/>
              </a:rPr>
              <a:t>i</a:t>
            </a:r>
            <a:r>
              <a:rPr lang="en-GB" b="1" dirty="0">
                <a:latin typeface="Lucida Console" pitchFamily="49" charset="0"/>
              </a:rPr>
              <a:t>]</a:t>
            </a:r>
            <a:r>
              <a:rPr lang="en-GB" dirty="0">
                <a:latin typeface="Lucida Console" pitchFamily="49" charset="0"/>
              </a:rPr>
              <a:t> );</a:t>
            </a:r>
            <a:endParaRPr lang="en-GB" dirty="0">
              <a:solidFill>
                <a:schemeClr val="accent6">
                  <a:lumMod val="50000"/>
                </a:schemeClr>
              </a:solidFill>
              <a:latin typeface="Lucida Console" pitchFamily="49" charset="0"/>
            </a:endParaRPr>
          </a:p>
        </p:txBody>
      </p:sp>
      <p:sp>
        <p:nvSpPr>
          <p:cNvPr id="7" name="Rectangle 6"/>
          <p:cNvSpPr>
            <a:spLocks noChangeArrowheads="1"/>
          </p:cNvSpPr>
          <p:nvPr/>
        </p:nvSpPr>
        <p:spPr bwMode="auto">
          <a:xfrm>
            <a:off x="836956" y="5126717"/>
            <a:ext cx="8509323" cy="528350"/>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a:solidFill>
                  <a:srgbClr val="000000"/>
                </a:solidFill>
                <a:latin typeface="Lucida Console" pitchFamily="49" charset="0"/>
              </a:rPr>
              <a:t>Friends[1] = "Susan";</a:t>
            </a:r>
          </a:p>
          <a:p>
            <a:pPr defTabSz="739775" eaLnBrk="0" hangingPunct="0">
              <a:defRPr/>
            </a:pPr>
            <a:endParaRPr lang="en-GB" sz="1050" dirty="0">
              <a:solidFill>
                <a:schemeClr val="accent6">
                  <a:lumMod val="50000"/>
                </a:schemeClr>
              </a:solidFill>
              <a:latin typeface="Lucida Console" pitchFamily="49" charset="0"/>
            </a:endParaRPr>
          </a:p>
        </p:txBody>
      </p:sp>
      <p:sp>
        <p:nvSpPr>
          <p:cNvPr id="2" name="TextBox 1"/>
          <p:cNvSpPr txBox="1"/>
          <p:nvPr/>
        </p:nvSpPr>
        <p:spPr>
          <a:xfrm>
            <a:off x="6269825" y="2127599"/>
            <a:ext cx="3023585" cy="338554"/>
          </a:xfrm>
          <a:prstGeom prst="rect">
            <a:avLst/>
          </a:prstGeom>
          <a:solidFill>
            <a:schemeClr val="accent2">
              <a:lumMod val="20000"/>
              <a:lumOff val="80000"/>
              <a:alpha val="97000"/>
            </a:schemeClr>
          </a:solidFill>
          <a:ln w="19050">
            <a:noFill/>
          </a:ln>
          <a:effectLst>
            <a:outerShdw blurRad="50800" dist="38100" algn="l" rotWithShape="0">
              <a:prstClr val="black">
                <a:alpha val="40000"/>
              </a:prstClr>
            </a:outerShdw>
          </a:effectLst>
        </p:spPr>
        <p:style>
          <a:lnRef idx="0">
            <a:schemeClr val="accent4"/>
          </a:lnRef>
          <a:fillRef idx="3">
            <a:schemeClr val="accent4"/>
          </a:fillRef>
          <a:effectRef idx="3">
            <a:schemeClr val="accent4"/>
          </a:effectRef>
          <a:fontRef idx="minor">
            <a:schemeClr val="lt1"/>
          </a:fontRef>
        </p:style>
        <p:txBody>
          <a:bodyPr wrap="none" rtlCol="0">
            <a:spAutoFit/>
          </a:bodyPr>
          <a:lstStyle/>
          <a:p>
            <a:r>
              <a:rPr lang="en-GB" sz="1600" dirty="0">
                <a:solidFill>
                  <a:srgbClr val="004050"/>
                </a:solidFill>
                <a:effectLst/>
                <a:latin typeface="Lucida Console" pitchFamily="49" charset="0"/>
              </a:rPr>
              <a:t>add( ) expects a String</a:t>
            </a:r>
          </a:p>
        </p:txBody>
      </p:sp>
      <p:sp>
        <p:nvSpPr>
          <p:cNvPr id="9" name="TextBox 8"/>
          <p:cNvSpPr txBox="1"/>
          <p:nvPr/>
        </p:nvSpPr>
        <p:spPr>
          <a:xfrm>
            <a:off x="7879608" y="3142639"/>
            <a:ext cx="1418978" cy="338554"/>
          </a:xfrm>
          <a:prstGeom prst="rect">
            <a:avLst/>
          </a:prstGeom>
          <a:solidFill>
            <a:schemeClr val="accent2">
              <a:lumMod val="20000"/>
              <a:lumOff val="80000"/>
              <a:alpha val="97000"/>
            </a:schemeClr>
          </a:solidFill>
          <a:ln w="19050">
            <a:noFill/>
          </a:ln>
          <a:effectLst>
            <a:outerShdw blurRad="50800" dist="38100" algn="l" rotWithShape="0">
              <a:prstClr val="black">
                <a:alpha val="40000"/>
              </a:prstClr>
            </a:outerShdw>
          </a:effectLst>
        </p:spPr>
        <p:style>
          <a:lnRef idx="0">
            <a:schemeClr val="accent4"/>
          </a:lnRef>
          <a:fillRef idx="3">
            <a:schemeClr val="accent4"/>
          </a:fillRef>
          <a:effectRef idx="3">
            <a:schemeClr val="accent4"/>
          </a:effectRef>
          <a:fontRef idx="minor">
            <a:schemeClr val="lt1"/>
          </a:fontRef>
        </p:style>
        <p:txBody>
          <a:bodyPr wrap="none" rtlCol="0">
            <a:spAutoFit/>
          </a:bodyPr>
          <a:lstStyle/>
          <a:p>
            <a:r>
              <a:rPr lang="en-GB" sz="1600" dirty="0">
                <a:solidFill>
                  <a:srgbClr val="004050"/>
                </a:solidFill>
                <a:latin typeface="Lucida Console" pitchFamily="49" charset="0"/>
              </a:rPr>
              <a:t>enumerable</a:t>
            </a:r>
            <a:endParaRPr lang="en-GB" dirty="0">
              <a:solidFill>
                <a:srgbClr val="004050"/>
              </a:solidFill>
              <a:latin typeface="Lucida Console" pitchFamily="49" charset="0"/>
            </a:endParaRPr>
          </a:p>
        </p:txBody>
      </p:sp>
      <p:sp>
        <p:nvSpPr>
          <p:cNvPr id="10" name="TextBox 9"/>
          <p:cNvSpPr txBox="1"/>
          <p:nvPr/>
        </p:nvSpPr>
        <p:spPr>
          <a:xfrm>
            <a:off x="7132204" y="4210846"/>
            <a:ext cx="1912703" cy="338554"/>
          </a:xfrm>
          <a:prstGeom prst="rect">
            <a:avLst/>
          </a:prstGeom>
          <a:solidFill>
            <a:schemeClr val="accent2">
              <a:lumMod val="20000"/>
              <a:lumOff val="80000"/>
              <a:alpha val="97000"/>
            </a:schemeClr>
          </a:solidFill>
          <a:ln w="19050">
            <a:noFill/>
          </a:ln>
          <a:effectLst>
            <a:outerShdw blurRad="50800" dist="38100" algn="l" rotWithShape="0">
              <a:prstClr val="black">
                <a:alpha val="40000"/>
              </a:prstClr>
            </a:outerShdw>
          </a:effectLst>
        </p:spPr>
        <p:style>
          <a:lnRef idx="0">
            <a:schemeClr val="accent4"/>
          </a:lnRef>
          <a:fillRef idx="3">
            <a:schemeClr val="accent4"/>
          </a:fillRef>
          <a:effectRef idx="3">
            <a:schemeClr val="accent4"/>
          </a:effectRef>
          <a:fontRef idx="minor">
            <a:schemeClr val="lt1"/>
          </a:fontRef>
        </p:style>
        <p:txBody>
          <a:bodyPr wrap="none" rtlCol="0">
            <a:spAutoFit/>
          </a:bodyPr>
          <a:lstStyle/>
          <a:p>
            <a:r>
              <a:rPr lang="en-GB" sz="1600" dirty="0">
                <a:solidFill>
                  <a:srgbClr val="004050"/>
                </a:solidFill>
                <a:latin typeface="Lucida Console" pitchFamily="49" charset="0"/>
              </a:rPr>
              <a:t>Note the Count</a:t>
            </a:r>
          </a:p>
        </p:txBody>
      </p:sp>
      <p:sp>
        <p:nvSpPr>
          <p:cNvPr id="3" name="TextBox 2">
            <a:extLst>
              <a:ext uri="{FF2B5EF4-FFF2-40B4-BE49-F238E27FC236}">
                <a16:creationId xmlns:a16="http://schemas.microsoft.com/office/drawing/2014/main" id="{B47D61D7-A6F8-9E8B-6FAA-9219134F9C7F}"/>
              </a:ext>
            </a:extLst>
          </p:cNvPr>
          <p:cNvSpPr txBox="1"/>
          <p:nvPr/>
        </p:nvSpPr>
        <p:spPr>
          <a:xfrm>
            <a:off x="6888364" y="5191623"/>
            <a:ext cx="2406428" cy="338554"/>
          </a:xfrm>
          <a:prstGeom prst="rect">
            <a:avLst/>
          </a:prstGeom>
          <a:solidFill>
            <a:schemeClr val="accent2">
              <a:lumMod val="20000"/>
              <a:lumOff val="80000"/>
              <a:alpha val="97000"/>
            </a:schemeClr>
          </a:solidFill>
          <a:ln w="19050">
            <a:noFill/>
          </a:ln>
          <a:effectLst>
            <a:outerShdw blurRad="50800" dist="38100" algn="l" rotWithShape="0">
              <a:prstClr val="black">
                <a:alpha val="40000"/>
              </a:prstClr>
            </a:outerShdw>
          </a:effectLst>
        </p:spPr>
        <p:style>
          <a:lnRef idx="0">
            <a:schemeClr val="accent4"/>
          </a:lnRef>
          <a:fillRef idx="3">
            <a:schemeClr val="accent4"/>
          </a:fillRef>
          <a:effectRef idx="3">
            <a:schemeClr val="accent4"/>
          </a:effectRef>
          <a:fontRef idx="minor">
            <a:schemeClr val="lt1"/>
          </a:fontRef>
        </p:style>
        <p:txBody>
          <a:bodyPr wrap="none" rtlCol="0">
            <a:spAutoFit/>
          </a:bodyPr>
          <a:lstStyle/>
          <a:p>
            <a:r>
              <a:rPr lang="en-GB" sz="1600" dirty="0">
                <a:solidFill>
                  <a:schemeClr val="accent6">
                    <a:lumMod val="50000"/>
                  </a:schemeClr>
                </a:solidFill>
                <a:latin typeface="Lucida Console" pitchFamily="49" charset="0"/>
              </a:rPr>
              <a:t>Susan replaces Sue</a:t>
            </a:r>
            <a:endParaRPr lang="en-GB" sz="1600" dirty="0">
              <a:solidFill>
                <a:srgbClr val="004050"/>
              </a:solidFill>
              <a:latin typeface="Lucida Console" pitchFamily="49"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D5229-F088-CC4B-3D2E-29E0A8F9E2B6}"/>
              </a:ext>
            </a:extLst>
          </p:cNvPr>
          <p:cNvSpPr>
            <a:spLocks noGrp="1"/>
          </p:cNvSpPr>
          <p:nvPr>
            <p:ph type="title"/>
          </p:nvPr>
        </p:nvSpPr>
        <p:spPr/>
        <p:txBody>
          <a:bodyPr/>
          <a:lstStyle/>
          <a:p>
            <a:r>
              <a:rPr lang="en-GB" dirty="0"/>
              <a:t>Filtering items – an example of using </a:t>
            </a:r>
            <a:r>
              <a:rPr lang="en-GB" dirty="0" err="1"/>
              <a:t>Linq</a:t>
            </a:r>
            <a:endParaRPr lang="en-GB" dirty="0"/>
          </a:p>
        </p:txBody>
      </p:sp>
      <p:sp>
        <p:nvSpPr>
          <p:cNvPr id="5" name="TextBox 4">
            <a:extLst>
              <a:ext uri="{FF2B5EF4-FFF2-40B4-BE49-F238E27FC236}">
                <a16:creationId xmlns:a16="http://schemas.microsoft.com/office/drawing/2014/main" id="{7EC7EE77-029E-2163-2293-0C6C91C500AB}"/>
              </a:ext>
            </a:extLst>
          </p:cNvPr>
          <p:cNvSpPr txBox="1"/>
          <p:nvPr/>
        </p:nvSpPr>
        <p:spPr>
          <a:xfrm>
            <a:off x="605054" y="3449859"/>
            <a:ext cx="4864100" cy="923330"/>
          </a:xfrm>
          <a:prstGeom prst="rect">
            <a:avLst/>
          </a:prstGeom>
          <a:solidFill>
            <a:schemeClr val="tx2">
              <a:lumMod val="20000"/>
              <a:lumOff val="80000"/>
            </a:schemeClr>
          </a:solidFill>
          <a:ln>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dirty="0">
                <a:solidFill>
                  <a:srgbClr val="0000FF"/>
                </a:solidFill>
                <a:latin typeface="Consolas" panose="020B0609020204030204" pitchFamily="49" charset="0"/>
              </a:rPr>
              <a:t>using</a:t>
            </a:r>
            <a:r>
              <a:rPr lang="en-GB" dirty="0">
                <a:solidFill>
                  <a:srgbClr val="000000"/>
                </a:solidFill>
                <a:latin typeface="Consolas" panose="020B0609020204030204" pitchFamily="49" charset="0"/>
              </a:rPr>
              <a:t> System;</a:t>
            </a:r>
          </a:p>
          <a:p>
            <a:r>
              <a:rPr lang="en-GB" dirty="0">
                <a:solidFill>
                  <a:srgbClr val="0000FF"/>
                </a:solidFill>
                <a:latin typeface="Consolas" panose="020B0609020204030204" pitchFamily="49" charset="0"/>
              </a:rPr>
              <a:t>using</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System.Collections.Generic</a:t>
            </a:r>
            <a:r>
              <a:rPr lang="en-GB" dirty="0">
                <a:solidFill>
                  <a:srgbClr val="000000"/>
                </a:solidFill>
                <a:latin typeface="Consolas" panose="020B0609020204030204" pitchFamily="49" charset="0"/>
              </a:rPr>
              <a:t>;</a:t>
            </a:r>
          </a:p>
          <a:p>
            <a:r>
              <a:rPr lang="en-GB" dirty="0">
                <a:solidFill>
                  <a:srgbClr val="0000FF"/>
                </a:solidFill>
                <a:latin typeface="Consolas" panose="020B0609020204030204" pitchFamily="49" charset="0"/>
              </a:rPr>
              <a:t>using</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System.Linq</a:t>
            </a:r>
            <a:r>
              <a:rPr lang="en-GB" dirty="0">
                <a:solidFill>
                  <a:srgbClr val="000000"/>
                </a:solidFill>
                <a:latin typeface="Consolas" panose="020B0609020204030204" pitchFamily="49" charset="0"/>
              </a:rPr>
              <a:t>;</a:t>
            </a:r>
          </a:p>
        </p:txBody>
      </p:sp>
      <p:sp>
        <p:nvSpPr>
          <p:cNvPr id="7" name="TextBox 6">
            <a:extLst>
              <a:ext uri="{FF2B5EF4-FFF2-40B4-BE49-F238E27FC236}">
                <a16:creationId xmlns:a16="http://schemas.microsoft.com/office/drawing/2014/main" id="{ED8288D5-F6A8-8C1B-A9A9-99E297F667A8}"/>
              </a:ext>
            </a:extLst>
          </p:cNvPr>
          <p:cNvSpPr txBox="1"/>
          <p:nvPr/>
        </p:nvSpPr>
        <p:spPr>
          <a:xfrm>
            <a:off x="612140" y="1407699"/>
            <a:ext cx="4864100" cy="1077218"/>
          </a:xfrm>
          <a:prstGeom prst="rect">
            <a:avLst/>
          </a:prstGeom>
          <a:solidFill>
            <a:schemeClr val="bg1">
              <a:lumMod val="95000"/>
            </a:schemeClr>
          </a:solidFill>
          <a:ln>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600" dirty="0">
                <a:solidFill>
                  <a:srgbClr val="0000FF"/>
                </a:solidFill>
                <a:latin typeface="Consolas" panose="020B0609020204030204" pitchFamily="49" charset="0"/>
              </a:rPr>
              <a:t>class</a:t>
            </a:r>
            <a:r>
              <a:rPr lang="en-GB" sz="1600" dirty="0">
                <a:solidFill>
                  <a:srgbClr val="000000"/>
                </a:solidFill>
                <a:latin typeface="Consolas" panose="020B0609020204030204" pitchFamily="49" charset="0"/>
              </a:rPr>
              <a:t> </a:t>
            </a:r>
            <a:r>
              <a:rPr lang="en-GB" sz="1600" dirty="0">
                <a:solidFill>
                  <a:srgbClr val="2B91AF"/>
                </a:solidFill>
                <a:latin typeface="Consolas" panose="020B0609020204030204" pitchFamily="49" charset="0"/>
              </a:rPr>
              <a:t>Person</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public</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int</a:t>
            </a:r>
            <a:r>
              <a:rPr lang="en-GB" sz="1600" dirty="0">
                <a:solidFill>
                  <a:srgbClr val="000000"/>
                </a:solidFill>
                <a:latin typeface="Consolas" panose="020B0609020204030204" pitchFamily="49" charset="0"/>
              </a:rPr>
              <a:t> Age { </a:t>
            </a:r>
            <a:r>
              <a:rPr lang="en-GB" sz="1600" dirty="0">
                <a:solidFill>
                  <a:srgbClr val="0000FF"/>
                </a:solidFill>
                <a:latin typeface="Consolas" panose="020B0609020204030204" pitchFamily="49" charset="0"/>
              </a:rPr>
              <a:t>get</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set</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public</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string</a:t>
            </a:r>
            <a:r>
              <a:rPr lang="en-GB" sz="1600" dirty="0">
                <a:solidFill>
                  <a:srgbClr val="000000"/>
                </a:solidFill>
                <a:latin typeface="Consolas" panose="020B0609020204030204" pitchFamily="49" charset="0"/>
              </a:rPr>
              <a:t> Name { </a:t>
            </a:r>
            <a:r>
              <a:rPr lang="en-GB" sz="1600" dirty="0">
                <a:solidFill>
                  <a:srgbClr val="0000FF"/>
                </a:solidFill>
                <a:latin typeface="Consolas" panose="020B0609020204030204" pitchFamily="49" charset="0"/>
              </a:rPr>
              <a:t>get</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set</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a:t>
            </a:r>
          </a:p>
        </p:txBody>
      </p:sp>
      <p:sp>
        <p:nvSpPr>
          <p:cNvPr id="10" name="TextBox 9">
            <a:extLst>
              <a:ext uri="{FF2B5EF4-FFF2-40B4-BE49-F238E27FC236}">
                <a16:creationId xmlns:a16="http://schemas.microsoft.com/office/drawing/2014/main" id="{B247421D-2619-63D8-379E-5CDEFF59AA3C}"/>
              </a:ext>
            </a:extLst>
          </p:cNvPr>
          <p:cNvSpPr txBox="1"/>
          <p:nvPr/>
        </p:nvSpPr>
        <p:spPr>
          <a:xfrm>
            <a:off x="605054" y="2687928"/>
            <a:ext cx="4864100" cy="584775"/>
          </a:xfrm>
          <a:prstGeom prst="rect">
            <a:avLst/>
          </a:prstGeom>
          <a:solidFill>
            <a:schemeClr val="accent5">
              <a:lumMod val="20000"/>
              <a:lumOff val="80000"/>
            </a:schemeClr>
          </a:solidFill>
          <a:ln>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600" dirty="0">
                <a:solidFill>
                  <a:srgbClr val="000000"/>
                </a:solidFill>
                <a:latin typeface="Consolas" panose="020B0609020204030204" pitchFamily="49" charset="0"/>
              </a:rPr>
              <a:t>List&lt;Person&gt; </a:t>
            </a:r>
            <a:r>
              <a:rPr lang="en-GB" sz="1600" b="1" dirty="0">
                <a:solidFill>
                  <a:srgbClr val="000000"/>
                </a:solidFill>
                <a:latin typeface="Consolas" panose="020B0609020204030204" pitchFamily="49" charset="0"/>
              </a:rPr>
              <a:t>people</a:t>
            </a:r>
            <a:r>
              <a:rPr lang="en-GB" sz="1600" dirty="0">
                <a:solidFill>
                  <a:srgbClr val="000000"/>
                </a:solidFill>
                <a:latin typeface="Consolas" panose="020B0609020204030204" pitchFamily="49" charset="0"/>
              </a:rPr>
              <a:t> = </a:t>
            </a:r>
            <a:r>
              <a:rPr lang="en-GB" sz="1600" dirty="0">
                <a:solidFill>
                  <a:srgbClr val="0000FF"/>
                </a:solidFill>
                <a:latin typeface="Consolas" panose="020B0609020204030204" pitchFamily="49" charset="0"/>
              </a:rPr>
              <a:t>new</a:t>
            </a:r>
            <a:r>
              <a:rPr lang="en-GB" sz="1600" dirty="0">
                <a:solidFill>
                  <a:srgbClr val="000000"/>
                </a:solidFill>
                <a:latin typeface="Consolas" panose="020B0609020204030204" pitchFamily="49" charset="0"/>
              </a:rPr>
              <a:t> List&lt;Person&gt;();</a:t>
            </a:r>
            <a:br>
              <a:rPr lang="en-GB" sz="1600" dirty="0">
                <a:solidFill>
                  <a:srgbClr val="000000"/>
                </a:solidFill>
                <a:latin typeface="Consolas" panose="020B0609020204030204" pitchFamily="49" charset="0"/>
              </a:rPr>
            </a:br>
            <a:r>
              <a:rPr lang="en-GB" sz="1600" dirty="0">
                <a:solidFill>
                  <a:srgbClr val="008000"/>
                </a:solidFill>
                <a:latin typeface="Consolas" panose="020B0609020204030204" pitchFamily="49" charset="0"/>
              </a:rPr>
              <a:t>// fill the list</a:t>
            </a:r>
            <a:endParaRPr lang="en-GB" sz="1600" dirty="0"/>
          </a:p>
        </p:txBody>
      </p:sp>
      <p:sp>
        <p:nvSpPr>
          <p:cNvPr id="11" name="TextBox 10">
            <a:extLst>
              <a:ext uri="{FF2B5EF4-FFF2-40B4-BE49-F238E27FC236}">
                <a16:creationId xmlns:a16="http://schemas.microsoft.com/office/drawing/2014/main" id="{DEB822FE-A624-0397-3BA7-E1D33CABF65E}"/>
              </a:ext>
            </a:extLst>
          </p:cNvPr>
          <p:cNvSpPr txBox="1"/>
          <p:nvPr/>
        </p:nvSpPr>
        <p:spPr>
          <a:xfrm>
            <a:off x="614290" y="4636011"/>
            <a:ext cx="7859150" cy="646331"/>
          </a:xfrm>
          <a:prstGeom prst="rect">
            <a:avLst/>
          </a:prstGeom>
          <a:ln>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b="1" dirty="0">
                <a:solidFill>
                  <a:srgbClr val="0070C0"/>
                </a:solidFill>
                <a:latin typeface="Consolas" panose="020B0609020204030204" pitchFamily="49" charset="0"/>
              </a:rPr>
              <a:t>List&lt;Person&gt;</a:t>
            </a:r>
            <a:r>
              <a:rPr lang="en-GB" b="1" dirty="0">
                <a:solidFill>
                  <a:srgbClr val="000000"/>
                </a:solidFill>
                <a:latin typeface="Consolas" panose="020B0609020204030204" pitchFamily="49" charset="0"/>
              </a:rPr>
              <a:t> group1 = </a:t>
            </a:r>
            <a:r>
              <a:rPr lang="en-GB" b="1" dirty="0" err="1">
                <a:solidFill>
                  <a:srgbClr val="000000"/>
                </a:solidFill>
                <a:latin typeface="Consolas" panose="020B0609020204030204" pitchFamily="49" charset="0"/>
              </a:rPr>
              <a:t>people.</a:t>
            </a:r>
            <a:r>
              <a:rPr lang="en-GB" b="1" dirty="0" err="1">
                <a:solidFill>
                  <a:srgbClr val="C00000"/>
                </a:solidFill>
                <a:latin typeface="Consolas" panose="020B0609020204030204" pitchFamily="49" charset="0"/>
              </a:rPr>
              <a:t>Where</a:t>
            </a:r>
            <a:r>
              <a:rPr lang="en-GB" b="1" dirty="0">
                <a:solidFill>
                  <a:srgbClr val="000000"/>
                </a:solidFill>
                <a:latin typeface="Consolas" panose="020B0609020204030204" pitchFamily="49" charset="0"/>
              </a:rPr>
              <a:t>(p =&gt; </a:t>
            </a:r>
            <a:r>
              <a:rPr lang="en-GB" b="1" dirty="0" err="1">
                <a:solidFill>
                  <a:srgbClr val="000000"/>
                </a:solidFill>
                <a:latin typeface="Consolas" panose="020B0609020204030204" pitchFamily="49" charset="0"/>
              </a:rPr>
              <a:t>p.Age</a:t>
            </a:r>
            <a:r>
              <a:rPr lang="en-GB" b="1" dirty="0">
                <a:solidFill>
                  <a:srgbClr val="000000"/>
                </a:solidFill>
                <a:latin typeface="Consolas" panose="020B0609020204030204" pitchFamily="49" charset="0"/>
              </a:rPr>
              <a:t> &gt; 20).</a:t>
            </a:r>
            <a:r>
              <a:rPr lang="en-GB" b="1" dirty="0" err="1">
                <a:solidFill>
                  <a:srgbClr val="C00000"/>
                </a:solidFill>
                <a:latin typeface="Consolas" panose="020B0609020204030204" pitchFamily="49" charset="0"/>
              </a:rPr>
              <a:t>ToList</a:t>
            </a:r>
            <a:r>
              <a:rPr lang="en-GB" b="1" dirty="0">
                <a:solidFill>
                  <a:srgbClr val="000000"/>
                </a:solidFill>
                <a:latin typeface="Consolas" panose="020B0609020204030204" pitchFamily="49" charset="0"/>
              </a:rPr>
              <a:t>();</a:t>
            </a:r>
            <a:br>
              <a:rPr lang="en-GB" b="1" dirty="0">
                <a:solidFill>
                  <a:srgbClr val="000000"/>
                </a:solidFill>
                <a:latin typeface="Consolas" panose="020B0609020204030204" pitchFamily="49" charset="0"/>
              </a:rPr>
            </a:br>
            <a:r>
              <a:rPr lang="en-GB" b="1" dirty="0">
                <a:solidFill>
                  <a:schemeClr val="tx2">
                    <a:lumMod val="50000"/>
                  </a:schemeClr>
                </a:solidFill>
                <a:latin typeface="Consolas" panose="020B0609020204030204" pitchFamily="49" charset="0"/>
              </a:rPr>
              <a:t>group1.Count will be 0 if no person is over 20</a:t>
            </a:r>
          </a:p>
        </p:txBody>
      </p:sp>
      <p:sp>
        <p:nvSpPr>
          <p:cNvPr id="12" name="TextBox 11">
            <a:extLst>
              <a:ext uri="{FF2B5EF4-FFF2-40B4-BE49-F238E27FC236}">
                <a16:creationId xmlns:a16="http://schemas.microsoft.com/office/drawing/2014/main" id="{F6757C2A-2278-D9EE-430D-F7EB77F344D9}"/>
              </a:ext>
            </a:extLst>
          </p:cNvPr>
          <p:cNvSpPr txBox="1"/>
          <p:nvPr/>
        </p:nvSpPr>
        <p:spPr>
          <a:xfrm>
            <a:off x="614291" y="5530846"/>
            <a:ext cx="7859150" cy="646331"/>
          </a:xfrm>
          <a:prstGeom prst="rect">
            <a:avLst/>
          </a:prstGeom>
          <a:ln>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b="1" dirty="0">
                <a:solidFill>
                  <a:srgbClr val="000000"/>
                </a:solidFill>
                <a:latin typeface="Consolas" panose="020B0609020204030204" pitchFamily="49" charset="0"/>
              </a:rPr>
              <a:t>Person p1 = </a:t>
            </a:r>
            <a:r>
              <a:rPr lang="en-GB" b="1" dirty="0" err="1">
                <a:solidFill>
                  <a:srgbClr val="000000"/>
                </a:solidFill>
                <a:latin typeface="Consolas" panose="020B0609020204030204" pitchFamily="49" charset="0"/>
              </a:rPr>
              <a:t>people.</a:t>
            </a:r>
            <a:r>
              <a:rPr lang="en-GB" b="1" dirty="0" err="1">
                <a:solidFill>
                  <a:srgbClr val="C00000"/>
                </a:solidFill>
                <a:latin typeface="Consolas" panose="020B0609020204030204" pitchFamily="49" charset="0"/>
              </a:rPr>
              <a:t>Find</a:t>
            </a:r>
            <a:r>
              <a:rPr lang="en-GB" b="1" dirty="0">
                <a:solidFill>
                  <a:srgbClr val="000000"/>
                </a:solidFill>
                <a:latin typeface="Consolas" panose="020B0609020204030204" pitchFamily="49" charset="0"/>
              </a:rPr>
              <a:t>(p =&gt; </a:t>
            </a:r>
            <a:r>
              <a:rPr lang="en-GB" b="1" dirty="0" err="1">
                <a:solidFill>
                  <a:srgbClr val="000000"/>
                </a:solidFill>
                <a:latin typeface="Consolas" panose="020B0609020204030204" pitchFamily="49" charset="0"/>
              </a:rPr>
              <a:t>p.Name</a:t>
            </a:r>
            <a:r>
              <a:rPr lang="en-GB" b="1" dirty="0">
                <a:solidFill>
                  <a:srgbClr val="000000"/>
                </a:solidFill>
                <a:latin typeface="Consolas" panose="020B0609020204030204" pitchFamily="49" charset="0"/>
              </a:rPr>
              <a:t> == "</a:t>
            </a:r>
            <a:r>
              <a:rPr lang="en-GB" b="1" dirty="0">
                <a:solidFill>
                  <a:schemeClr val="tx1">
                    <a:lumMod val="90000"/>
                    <a:lumOff val="10000"/>
                  </a:schemeClr>
                </a:solidFill>
                <a:latin typeface="Consolas" panose="020B0609020204030204" pitchFamily="49" charset="0"/>
              </a:rPr>
              <a:t>Bob</a:t>
            </a:r>
            <a:r>
              <a:rPr lang="en-GB" b="1" dirty="0">
                <a:solidFill>
                  <a:srgbClr val="000000"/>
                </a:solidFill>
                <a:latin typeface="Consolas" panose="020B0609020204030204" pitchFamily="49" charset="0"/>
              </a:rPr>
              <a:t>");</a:t>
            </a:r>
            <a:br>
              <a:rPr lang="en-GB" b="1" dirty="0">
                <a:solidFill>
                  <a:srgbClr val="000000"/>
                </a:solidFill>
                <a:latin typeface="Consolas" panose="020B0609020204030204" pitchFamily="49" charset="0"/>
              </a:rPr>
            </a:br>
            <a:r>
              <a:rPr lang="en-GB" b="1" dirty="0">
                <a:solidFill>
                  <a:schemeClr val="tx2">
                    <a:lumMod val="50000"/>
                  </a:schemeClr>
                </a:solidFill>
                <a:latin typeface="Consolas" panose="020B0609020204030204" pitchFamily="49" charset="0"/>
              </a:rPr>
              <a:t>p1 will be null if Bob is not in the list</a:t>
            </a:r>
            <a:endParaRPr lang="en-GB" b="1" dirty="0">
              <a:solidFill>
                <a:srgbClr val="000000"/>
              </a:solidFill>
              <a:latin typeface="Consolas" panose="020B0609020204030204" pitchFamily="49" charset="0"/>
            </a:endParaRPr>
          </a:p>
        </p:txBody>
      </p:sp>
      <p:sp>
        <p:nvSpPr>
          <p:cNvPr id="13" name="Arrow: Left 12">
            <a:extLst>
              <a:ext uri="{FF2B5EF4-FFF2-40B4-BE49-F238E27FC236}">
                <a16:creationId xmlns:a16="http://schemas.microsoft.com/office/drawing/2014/main" id="{9EC5FC59-040A-BA69-802C-842EAECF8479}"/>
              </a:ext>
            </a:extLst>
          </p:cNvPr>
          <p:cNvSpPr/>
          <p:nvPr/>
        </p:nvSpPr>
        <p:spPr>
          <a:xfrm>
            <a:off x="3027680" y="4114800"/>
            <a:ext cx="284480" cy="217749"/>
          </a:xfrm>
          <a:prstGeom prst="leftArrow">
            <a:avLst/>
          </a:prstGeom>
          <a:ln>
            <a:noFill/>
          </a:ln>
          <a:effectLst>
            <a:outerShdw blurRad="50800" dist="38100" algn="l"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rtlCol="0" anchor="ctr"/>
          <a:lstStyle/>
          <a:p>
            <a:pPr algn="ctr"/>
            <a:endParaRPr lang="en-GB"/>
          </a:p>
        </p:txBody>
      </p:sp>
      <p:sp>
        <p:nvSpPr>
          <p:cNvPr id="14" name="Speech Bubble: Rectangle with Corners Rounded 13">
            <a:extLst>
              <a:ext uri="{FF2B5EF4-FFF2-40B4-BE49-F238E27FC236}">
                <a16:creationId xmlns:a16="http://schemas.microsoft.com/office/drawing/2014/main" id="{6FB114F8-123D-729D-96DB-031ABBB72F37}"/>
              </a:ext>
            </a:extLst>
          </p:cNvPr>
          <p:cNvSpPr/>
          <p:nvPr/>
        </p:nvSpPr>
        <p:spPr>
          <a:xfrm>
            <a:off x="8686800" y="4636010"/>
            <a:ext cx="2367280" cy="366515"/>
          </a:xfrm>
          <a:prstGeom prst="wedgeRoundRectCallout">
            <a:avLst>
              <a:gd name="adj1" fmla="val -60131"/>
              <a:gd name="adj2" fmla="val 16350"/>
              <a:gd name="adj3" fmla="val 16667"/>
            </a:avLst>
          </a:prstGeom>
          <a:ln>
            <a:noFill/>
          </a:ln>
          <a:effectLst>
            <a:outerShdw blurRad="50800" dist="38100" algn="l"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400" dirty="0"/>
              <a:t>Find people over 20</a:t>
            </a:r>
          </a:p>
        </p:txBody>
      </p:sp>
      <p:sp>
        <p:nvSpPr>
          <p:cNvPr id="15" name="Speech Bubble: Rectangle with Corners Rounded 14">
            <a:extLst>
              <a:ext uri="{FF2B5EF4-FFF2-40B4-BE49-F238E27FC236}">
                <a16:creationId xmlns:a16="http://schemas.microsoft.com/office/drawing/2014/main" id="{4E82293C-C2E1-D249-A88F-A33276487C81}"/>
              </a:ext>
            </a:extLst>
          </p:cNvPr>
          <p:cNvSpPr/>
          <p:nvPr/>
        </p:nvSpPr>
        <p:spPr>
          <a:xfrm>
            <a:off x="8686799" y="5496560"/>
            <a:ext cx="2890909" cy="799382"/>
          </a:xfrm>
          <a:prstGeom prst="wedgeRoundRectCallout">
            <a:avLst>
              <a:gd name="adj1" fmla="val -61068"/>
              <a:gd name="adj2" fmla="val -25757"/>
              <a:gd name="adj3" fmla="val 16667"/>
            </a:avLst>
          </a:prstGeom>
          <a:ln>
            <a:noFill/>
          </a:ln>
          <a:effectLst>
            <a:outerShdw blurRad="50800" dist="38100" algn="l"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400" dirty="0"/>
              <a:t>Find the first person with the name of Bob</a:t>
            </a:r>
            <a:br>
              <a:rPr lang="en-GB" sz="1400" dirty="0"/>
            </a:br>
            <a:r>
              <a:rPr lang="en-GB" sz="1400" dirty="0"/>
              <a:t>(there could be more)</a:t>
            </a:r>
          </a:p>
        </p:txBody>
      </p:sp>
      <p:sp>
        <p:nvSpPr>
          <p:cNvPr id="16" name="Speech Bubble: Rectangle with Corners Rounded 15">
            <a:extLst>
              <a:ext uri="{FF2B5EF4-FFF2-40B4-BE49-F238E27FC236}">
                <a16:creationId xmlns:a16="http://schemas.microsoft.com/office/drawing/2014/main" id="{70F53318-0A3A-8943-D415-4E20A59F0BB3}"/>
              </a:ext>
            </a:extLst>
          </p:cNvPr>
          <p:cNvSpPr/>
          <p:nvPr/>
        </p:nvSpPr>
        <p:spPr>
          <a:xfrm>
            <a:off x="5709920" y="2905992"/>
            <a:ext cx="3688080" cy="369334"/>
          </a:xfrm>
          <a:prstGeom prst="wedgeRoundRectCallout">
            <a:avLst>
              <a:gd name="adj1" fmla="val -55999"/>
              <a:gd name="adj2" fmla="val -11159"/>
              <a:gd name="adj3" fmla="val 16667"/>
            </a:avLst>
          </a:prstGeom>
          <a:ln>
            <a:noFill/>
          </a:ln>
          <a:effectLst>
            <a:outerShdw blurRad="50800" dist="38100" algn="l"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400" dirty="0"/>
              <a:t>Given a list of objects like List&lt;Person&gt;</a:t>
            </a:r>
          </a:p>
        </p:txBody>
      </p:sp>
      <p:sp>
        <p:nvSpPr>
          <p:cNvPr id="17" name="Speech Bubble: Rectangle with Corners Rounded 16">
            <a:extLst>
              <a:ext uri="{FF2B5EF4-FFF2-40B4-BE49-F238E27FC236}">
                <a16:creationId xmlns:a16="http://schemas.microsoft.com/office/drawing/2014/main" id="{19C6F50E-E7C1-B44C-A661-8AF1B3F461E8}"/>
              </a:ext>
            </a:extLst>
          </p:cNvPr>
          <p:cNvSpPr/>
          <p:nvPr/>
        </p:nvSpPr>
        <p:spPr>
          <a:xfrm>
            <a:off x="5648960" y="3698472"/>
            <a:ext cx="1073888" cy="369333"/>
          </a:xfrm>
          <a:prstGeom prst="wedgeRoundRectCallout">
            <a:avLst>
              <a:gd name="adj1" fmla="val -63915"/>
              <a:gd name="adj2" fmla="val -16661"/>
              <a:gd name="adj3" fmla="val 16667"/>
            </a:avLst>
          </a:prstGeom>
          <a:ln>
            <a:noFill/>
          </a:ln>
          <a:effectLst>
            <a:outerShdw blurRad="50800" dist="38100" algn="l"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400" dirty="0"/>
              <a:t>Use </a:t>
            </a:r>
            <a:r>
              <a:rPr lang="en-GB" sz="1400" dirty="0" err="1"/>
              <a:t>Linq</a:t>
            </a:r>
            <a:endParaRPr lang="en-GB" sz="1400" dirty="0"/>
          </a:p>
        </p:txBody>
      </p:sp>
    </p:spTree>
    <p:extLst>
      <p:ext uri="{BB962C8B-B14F-4D97-AF65-F5344CB8AC3E}">
        <p14:creationId xmlns:p14="http://schemas.microsoft.com/office/powerpoint/2010/main" val="2775801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GB" dirty="0"/>
              <a:t>Generic Collections framework Types</a:t>
            </a:r>
          </a:p>
        </p:txBody>
      </p:sp>
      <p:sp>
        <p:nvSpPr>
          <p:cNvPr id="13315" name="Rectangle 3"/>
          <p:cNvSpPr>
            <a:spLocks noGrp="1" noChangeArrowheads="1"/>
          </p:cNvSpPr>
          <p:nvPr>
            <p:ph type="body" idx="1"/>
          </p:nvPr>
        </p:nvSpPr>
        <p:spPr/>
        <p:txBody>
          <a:bodyPr/>
          <a:lstStyle/>
          <a:p>
            <a:pPr marL="342900" indent="-342900">
              <a:buFont typeface="Arial" panose="020B0604020202020204" pitchFamily="34" charset="0"/>
              <a:buChar char="•"/>
            </a:pPr>
            <a:r>
              <a:rPr lang="en-GB" sz="1800" dirty="0">
                <a:solidFill>
                  <a:srgbClr val="0000FF"/>
                </a:solidFill>
                <a:latin typeface="Cascadia Mono" panose="020B0609020000020004" pitchFamily="49" charset="0"/>
              </a:rPr>
              <a:t>using</a:t>
            </a:r>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System.Collections.Generic</a:t>
            </a:r>
            <a:r>
              <a:rPr lang="en-GB" sz="1800" dirty="0">
                <a:solidFill>
                  <a:srgbClr val="000000"/>
                </a:solidFill>
                <a:latin typeface="Cascadia Mono" panose="020B0609020000020004" pitchFamily="49" charset="0"/>
              </a:rPr>
              <a:t>;</a:t>
            </a:r>
            <a:endParaRPr lang="en-GB" dirty="0">
              <a:latin typeface="Lucida Console" pitchFamily="49" charset="0"/>
            </a:endParaRPr>
          </a:p>
          <a:p>
            <a:endParaRPr lang="en-GB" dirty="0">
              <a:latin typeface="Lucida Console" pitchFamily="49" charset="0"/>
            </a:endParaRPr>
          </a:p>
          <a:p>
            <a:endParaRPr lang="en-GB" dirty="0">
              <a:latin typeface="Lucida Console" pitchFamily="49" charset="0"/>
            </a:endParaRPr>
          </a:p>
          <a:p>
            <a:endParaRPr lang="en-GB" dirty="0">
              <a:latin typeface="Lucida Console" pitchFamily="49" charset="0"/>
            </a:endParaRPr>
          </a:p>
          <a:p>
            <a:endParaRPr lang="en-GB" dirty="0"/>
          </a:p>
          <a:p>
            <a:endParaRPr lang="en-GB" dirty="0"/>
          </a:p>
          <a:p>
            <a:endParaRPr lang="en-GB" dirty="0"/>
          </a:p>
          <a:p>
            <a:endParaRPr lang="en-GB" dirty="0"/>
          </a:p>
          <a:p>
            <a:pPr>
              <a:buNone/>
            </a:pPr>
            <a:endParaRPr lang="en-GB" dirty="0"/>
          </a:p>
        </p:txBody>
      </p:sp>
      <p:sp>
        <p:nvSpPr>
          <p:cNvPr id="855045" name="Rectangle 5"/>
          <p:cNvSpPr>
            <a:spLocks noChangeArrowheads="1"/>
          </p:cNvSpPr>
          <p:nvPr/>
        </p:nvSpPr>
        <p:spPr bwMode="auto">
          <a:xfrm>
            <a:off x="904558" y="1936355"/>
            <a:ext cx="7270598" cy="2582758"/>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2900" algn="l"/>
              </a:tabLst>
              <a:defRPr/>
            </a:pPr>
            <a:r>
              <a:rPr lang="en-GB" dirty="0">
                <a:solidFill>
                  <a:srgbClr val="0000C8"/>
                </a:solidFill>
                <a:latin typeface="Lucida Console" pitchFamily="49" charset="0"/>
              </a:rPr>
              <a:t>public class</a:t>
            </a:r>
            <a:r>
              <a:rPr lang="en-GB" dirty="0">
                <a:solidFill>
                  <a:srgbClr val="FF00FF"/>
                </a:solidFill>
                <a:latin typeface="Lucida Console" pitchFamily="49" charset="0"/>
              </a:rPr>
              <a:t> </a:t>
            </a:r>
            <a:r>
              <a:rPr lang="en-GB" dirty="0">
                <a:solidFill>
                  <a:srgbClr val="000000"/>
                </a:solidFill>
                <a:latin typeface="Lucida Console" pitchFamily="49" charset="0"/>
              </a:rPr>
              <a:t>List&lt;T&gt; { ... }</a:t>
            </a:r>
          </a:p>
          <a:p>
            <a:pPr defTabSz="739775" eaLnBrk="0" hangingPunct="0">
              <a:tabLst>
                <a:tab pos="342900" algn="l"/>
              </a:tabLst>
              <a:defRPr/>
            </a:pPr>
            <a:r>
              <a:rPr lang="en-GB" dirty="0">
                <a:solidFill>
                  <a:srgbClr val="0000C8"/>
                </a:solidFill>
                <a:latin typeface="Lucida Console" pitchFamily="49" charset="0"/>
              </a:rPr>
              <a:t>public class</a:t>
            </a:r>
            <a:r>
              <a:rPr lang="en-GB" dirty="0">
                <a:solidFill>
                  <a:srgbClr val="FF00FF"/>
                </a:solidFill>
                <a:latin typeface="Lucida Console" pitchFamily="49" charset="0"/>
              </a:rPr>
              <a:t> </a:t>
            </a:r>
            <a:r>
              <a:rPr lang="en-GB" dirty="0" err="1">
                <a:solidFill>
                  <a:srgbClr val="000000"/>
                </a:solidFill>
                <a:latin typeface="Lucida Console" pitchFamily="49" charset="0"/>
              </a:rPr>
              <a:t>LinkedList</a:t>
            </a:r>
            <a:r>
              <a:rPr lang="en-GB" dirty="0">
                <a:solidFill>
                  <a:srgbClr val="000000"/>
                </a:solidFill>
                <a:latin typeface="Lucida Console" pitchFamily="49" charset="0"/>
              </a:rPr>
              <a:t>&lt;T&gt; { ... }</a:t>
            </a:r>
            <a:br>
              <a:rPr lang="en-GB" dirty="0">
                <a:solidFill>
                  <a:srgbClr val="000000"/>
                </a:solidFill>
                <a:latin typeface="Lucida Console" pitchFamily="49" charset="0"/>
              </a:rPr>
            </a:br>
            <a:r>
              <a:rPr lang="en-GB" dirty="0">
                <a:solidFill>
                  <a:srgbClr val="0000C8"/>
                </a:solidFill>
                <a:latin typeface="Lucida Console" pitchFamily="49" charset="0"/>
              </a:rPr>
              <a:t>public class</a:t>
            </a:r>
            <a:r>
              <a:rPr lang="en-GB" dirty="0">
                <a:solidFill>
                  <a:srgbClr val="FF00FF"/>
                </a:solidFill>
                <a:latin typeface="Lucida Console" pitchFamily="49" charset="0"/>
              </a:rPr>
              <a:t> </a:t>
            </a:r>
            <a:r>
              <a:rPr lang="en-GB" dirty="0">
                <a:solidFill>
                  <a:srgbClr val="000000"/>
                </a:solidFill>
                <a:latin typeface="Lucida Console" pitchFamily="49" charset="0"/>
              </a:rPr>
              <a:t>Queue&lt;T&gt; { ... }</a:t>
            </a:r>
            <a:br>
              <a:rPr lang="en-GB" dirty="0">
                <a:solidFill>
                  <a:srgbClr val="000000"/>
                </a:solidFill>
                <a:latin typeface="Lucida Console" pitchFamily="49" charset="0"/>
              </a:rPr>
            </a:br>
            <a:endParaRPr lang="en-GB" dirty="0">
              <a:solidFill>
                <a:srgbClr val="000000"/>
              </a:solidFill>
              <a:latin typeface="Lucida Console" pitchFamily="49" charset="0"/>
            </a:endParaRPr>
          </a:p>
          <a:p>
            <a:pPr defTabSz="739775" eaLnBrk="0" hangingPunct="0">
              <a:tabLst>
                <a:tab pos="342900" algn="l"/>
              </a:tabLst>
              <a:defRPr/>
            </a:pPr>
            <a:r>
              <a:rPr lang="en-GB" dirty="0">
                <a:solidFill>
                  <a:srgbClr val="0000C8"/>
                </a:solidFill>
                <a:latin typeface="Lucida Console" pitchFamily="49" charset="0"/>
              </a:rPr>
              <a:t>public class</a:t>
            </a:r>
            <a:r>
              <a:rPr lang="en-GB" dirty="0">
                <a:solidFill>
                  <a:srgbClr val="FF00FF"/>
                </a:solidFill>
                <a:latin typeface="Lucida Console" pitchFamily="49" charset="0"/>
              </a:rPr>
              <a:t> </a:t>
            </a:r>
            <a:r>
              <a:rPr lang="en-GB" dirty="0">
                <a:solidFill>
                  <a:srgbClr val="000000"/>
                </a:solidFill>
                <a:latin typeface="Lucida Console" pitchFamily="49" charset="0"/>
              </a:rPr>
              <a:t>Dictionary&lt;</a:t>
            </a:r>
            <a:r>
              <a:rPr lang="en-GB" dirty="0">
                <a:solidFill>
                  <a:srgbClr val="FF0000"/>
                </a:solidFill>
                <a:latin typeface="Lucida Console" pitchFamily="49" charset="0"/>
              </a:rPr>
              <a:t>K</a:t>
            </a:r>
            <a:r>
              <a:rPr lang="en-GB" dirty="0">
                <a:solidFill>
                  <a:srgbClr val="000000"/>
                </a:solidFill>
                <a:latin typeface="Lucida Console" pitchFamily="49" charset="0"/>
              </a:rPr>
              <a:t>,</a:t>
            </a:r>
            <a:r>
              <a:rPr lang="en-GB" dirty="0">
                <a:solidFill>
                  <a:srgbClr val="FF0000"/>
                </a:solidFill>
                <a:latin typeface="Lucida Console" pitchFamily="49" charset="0"/>
              </a:rPr>
              <a:t>V</a:t>
            </a:r>
            <a:r>
              <a:rPr lang="en-GB" dirty="0">
                <a:solidFill>
                  <a:srgbClr val="000000"/>
                </a:solidFill>
                <a:latin typeface="Lucida Console" pitchFamily="49" charset="0"/>
              </a:rPr>
              <a:t>&gt; { ... }</a:t>
            </a:r>
          </a:p>
          <a:p>
            <a:pPr defTabSz="739775" eaLnBrk="0" hangingPunct="0">
              <a:tabLst>
                <a:tab pos="342900" algn="l"/>
              </a:tabLst>
              <a:defRPr/>
            </a:pPr>
            <a:r>
              <a:rPr lang="en-GB" dirty="0">
                <a:solidFill>
                  <a:srgbClr val="0000C8"/>
                </a:solidFill>
                <a:latin typeface="Lucida Console" pitchFamily="49" charset="0"/>
              </a:rPr>
              <a:t>public class</a:t>
            </a:r>
            <a:r>
              <a:rPr lang="en-GB" dirty="0">
                <a:solidFill>
                  <a:srgbClr val="FF00FF"/>
                </a:solidFill>
                <a:latin typeface="Lucida Console" pitchFamily="49" charset="0"/>
              </a:rPr>
              <a:t> </a:t>
            </a:r>
            <a:r>
              <a:rPr lang="en-GB" dirty="0" err="1">
                <a:solidFill>
                  <a:srgbClr val="000000"/>
                </a:solidFill>
                <a:latin typeface="Lucida Console" pitchFamily="49" charset="0"/>
              </a:rPr>
              <a:t>TreeMap</a:t>
            </a:r>
            <a:r>
              <a:rPr lang="en-GB" dirty="0">
                <a:solidFill>
                  <a:srgbClr val="000000"/>
                </a:solidFill>
                <a:latin typeface="Lucida Console" pitchFamily="49" charset="0"/>
              </a:rPr>
              <a:t> &lt;K,V&gt; { ... }</a:t>
            </a:r>
          </a:p>
          <a:p>
            <a:pPr defTabSz="739775" eaLnBrk="0" hangingPunct="0">
              <a:tabLst>
                <a:tab pos="342900" algn="l"/>
              </a:tabLst>
              <a:defRPr/>
            </a:pPr>
            <a:r>
              <a:rPr lang="en-GB" dirty="0">
                <a:solidFill>
                  <a:srgbClr val="0000C8"/>
                </a:solidFill>
                <a:latin typeface="Lucida Console" pitchFamily="49" charset="0"/>
              </a:rPr>
              <a:t>public class</a:t>
            </a:r>
            <a:r>
              <a:rPr lang="en-GB" dirty="0">
                <a:solidFill>
                  <a:srgbClr val="FF00FF"/>
                </a:solidFill>
                <a:latin typeface="Lucida Console" pitchFamily="49" charset="0"/>
              </a:rPr>
              <a:t> </a:t>
            </a:r>
            <a:r>
              <a:rPr lang="en-GB" dirty="0">
                <a:solidFill>
                  <a:srgbClr val="000000"/>
                </a:solidFill>
                <a:latin typeface="Lucida Console" pitchFamily="49" charset="0"/>
              </a:rPr>
              <a:t>HashSet&lt;T&gt; { ... } </a:t>
            </a:r>
            <a:br>
              <a:rPr lang="en-GB" dirty="0">
                <a:solidFill>
                  <a:srgbClr val="000000"/>
                </a:solidFill>
                <a:latin typeface="Lucida Console" pitchFamily="49" charset="0"/>
              </a:rPr>
            </a:br>
            <a:r>
              <a:rPr lang="en-GB" dirty="0">
                <a:solidFill>
                  <a:srgbClr val="0000C8"/>
                </a:solidFill>
                <a:latin typeface="Lucida Console" pitchFamily="49" charset="0"/>
              </a:rPr>
              <a:t>public class</a:t>
            </a:r>
            <a:r>
              <a:rPr lang="en-GB" dirty="0">
                <a:solidFill>
                  <a:srgbClr val="FF00FF"/>
                </a:solidFill>
                <a:latin typeface="Lucida Console" pitchFamily="49" charset="0"/>
              </a:rPr>
              <a:t> </a:t>
            </a:r>
            <a:r>
              <a:rPr lang="en-GB" dirty="0" err="1">
                <a:solidFill>
                  <a:srgbClr val="000000"/>
                </a:solidFill>
                <a:latin typeface="Lucida Console" pitchFamily="49" charset="0"/>
              </a:rPr>
              <a:t>SortedList</a:t>
            </a:r>
            <a:r>
              <a:rPr lang="en-GB" dirty="0">
                <a:solidFill>
                  <a:srgbClr val="000000"/>
                </a:solidFill>
                <a:latin typeface="Lucida Console" pitchFamily="49" charset="0"/>
              </a:rPr>
              <a:t>&lt;T&gt; { ... }</a:t>
            </a:r>
            <a:br>
              <a:rPr lang="en-GB" dirty="0">
                <a:solidFill>
                  <a:srgbClr val="000000"/>
                </a:solidFill>
                <a:latin typeface="Lucida Console" pitchFamily="49" charset="0"/>
              </a:rPr>
            </a:br>
            <a:endParaRPr lang="en-GB" dirty="0">
              <a:solidFill>
                <a:srgbClr val="000000"/>
              </a:solidFill>
              <a:latin typeface="Lucida Console" pitchFamily="49" charset="0"/>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18443" y="4932694"/>
            <a:ext cx="2024332" cy="1012166"/>
          </a:xfrm>
          <a:prstGeom prst="rect">
            <a:avLst/>
          </a:prstGeom>
        </p:spPr>
      </p:pic>
      <p:sp>
        <p:nvSpPr>
          <p:cNvPr id="5" name="Rectangle 4"/>
          <p:cNvSpPr/>
          <p:nvPr/>
        </p:nvSpPr>
        <p:spPr>
          <a:xfrm>
            <a:off x="3585905" y="5030461"/>
            <a:ext cx="293298" cy="845389"/>
          </a:xfrm>
          <a:prstGeom prst="rect">
            <a:avLst/>
          </a:prstGeom>
          <a:solidFill>
            <a:srgbClr val="004050">
              <a:alpha val="50000"/>
            </a:srgbClr>
          </a:solidFill>
          <a:effectLst/>
        </p:spPr>
        <p:style>
          <a:lnRef idx="0">
            <a:schemeClr val="accent1"/>
          </a:lnRef>
          <a:fillRef idx="3">
            <a:schemeClr val="accent1"/>
          </a:fillRef>
          <a:effectRef idx="3">
            <a:schemeClr val="accent1"/>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sp>
        <p:nvSpPr>
          <p:cNvPr id="11" name="Rectangle 10"/>
          <p:cNvSpPr/>
          <p:nvPr/>
        </p:nvSpPr>
        <p:spPr>
          <a:xfrm>
            <a:off x="3979845" y="5027584"/>
            <a:ext cx="293298" cy="845389"/>
          </a:xfrm>
          <a:prstGeom prst="rect">
            <a:avLst/>
          </a:prstGeom>
          <a:solidFill>
            <a:srgbClr val="004050">
              <a:alpha val="50000"/>
            </a:srgbClr>
          </a:solidFill>
          <a:effectLst/>
        </p:spPr>
        <p:style>
          <a:lnRef idx="0">
            <a:schemeClr val="accent1"/>
          </a:lnRef>
          <a:fillRef idx="3">
            <a:schemeClr val="accent1"/>
          </a:fillRef>
          <a:effectRef idx="3">
            <a:schemeClr val="accent1"/>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sp>
        <p:nvSpPr>
          <p:cNvPr id="12" name="Rectangle 11"/>
          <p:cNvSpPr/>
          <p:nvPr/>
        </p:nvSpPr>
        <p:spPr>
          <a:xfrm>
            <a:off x="4379535" y="5027584"/>
            <a:ext cx="293298" cy="845389"/>
          </a:xfrm>
          <a:prstGeom prst="rect">
            <a:avLst/>
          </a:prstGeom>
          <a:solidFill>
            <a:srgbClr val="004050">
              <a:alpha val="50000"/>
            </a:srgbClr>
          </a:solidFill>
          <a:effectLst/>
        </p:spPr>
        <p:style>
          <a:lnRef idx="0">
            <a:schemeClr val="accent1"/>
          </a:lnRef>
          <a:fillRef idx="3">
            <a:schemeClr val="accent1"/>
          </a:fillRef>
          <a:effectRef idx="3">
            <a:schemeClr val="accent1"/>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sp>
        <p:nvSpPr>
          <p:cNvPr id="13" name="Rectangle 12"/>
          <p:cNvSpPr/>
          <p:nvPr/>
        </p:nvSpPr>
        <p:spPr>
          <a:xfrm>
            <a:off x="4773475" y="5024707"/>
            <a:ext cx="293298" cy="845389"/>
          </a:xfrm>
          <a:prstGeom prst="rect">
            <a:avLst/>
          </a:prstGeom>
          <a:solidFill>
            <a:srgbClr val="004050">
              <a:alpha val="50000"/>
            </a:srgbClr>
          </a:solidFill>
          <a:effectLst/>
        </p:spPr>
        <p:style>
          <a:lnRef idx="0">
            <a:schemeClr val="accent1"/>
          </a:lnRef>
          <a:fillRef idx="3">
            <a:schemeClr val="accent1"/>
          </a:fillRef>
          <a:effectRef idx="3">
            <a:schemeClr val="accent1"/>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sp>
        <p:nvSpPr>
          <p:cNvPr id="14" name="Rectangle 13"/>
          <p:cNvSpPr/>
          <p:nvPr/>
        </p:nvSpPr>
        <p:spPr>
          <a:xfrm>
            <a:off x="5168852" y="5024707"/>
            <a:ext cx="293298" cy="845389"/>
          </a:xfrm>
          <a:prstGeom prst="rect">
            <a:avLst/>
          </a:prstGeom>
          <a:solidFill>
            <a:srgbClr val="004050">
              <a:alpha val="50000"/>
            </a:srgbClr>
          </a:solidFill>
          <a:effectLst/>
        </p:spPr>
        <p:style>
          <a:lnRef idx="0">
            <a:schemeClr val="accent1"/>
          </a:lnRef>
          <a:fillRef idx="3">
            <a:schemeClr val="accent1"/>
          </a:fillRef>
          <a:effectRef idx="3">
            <a:schemeClr val="accent1"/>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sp>
        <p:nvSpPr>
          <p:cNvPr id="15" name="Rectangle 14"/>
          <p:cNvSpPr/>
          <p:nvPr/>
        </p:nvSpPr>
        <p:spPr>
          <a:xfrm>
            <a:off x="5564230" y="5024707"/>
            <a:ext cx="293298" cy="845389"/>
          </a:xfrm>
          <a:prstGeom prst="rect">
            <a:avLst/>
          </a:prstGeom>
          <a:solidFill>
            <a:srgbClr val="004050">
              <a:alpha val="50000"/>
            </a:srgbClr>
          </a:solidFill>
          <a:effectLst/>
        </p:spPr>
        <p:style>
          <a:lnRef idx="0">
            <a:schemeClr val="accent1"/>
          </a:lnRef>
          <a:fillRef idx="3">
            <a:schemeClr val="accent1"/>
          </a:fillRef>
          <a:effectRef idx="3">
            <a:schemeClr val="accent1"/>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sp>
        <p:nvSpPr>
          <p:cNvPr id="16" name="Rectangle 15"/>
          <p:cNvSpPr/>
          <p:nvPr/>
        </p:nvSpPr>
        <p:spPr>
          <a:xfrm>
            <a:off x="5963920" y="5024707"/>
            <a:ext cx="293298" cy="845389"/>
          </a:xfrm>
          <a:prstGeom prst="rect">
            <a:avLst/>
          </a:prstGeom>
          <a:solidFill>
            <a:srgbClr val="004050">
              <a:alpha val="50000"/>
            </a:srgbClr>
          </a:solidFill>
          <a:effectLst/>
        </p:spPr>
        <p:style>
          <a:lnRef idx="0">
            <a:schemeClr val="accent1"/>
          </a:lnRef>
          <a:fillRef idx="3">
            <a:schemeClr val="accent1"/>
          </a:fillRef>
          <a:effectRef idx="3">
            <a:schemeClr val="accent1"/>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sp>
        <p:nvSpPr>
          <p:cNvPr id="17" name="Rectangle 16"/>
          <p:cNvSpPr/>
          <p:nvPr/>
        </p:nvSpPr>
        <p:spPr>
          <a:xfrm>
            <a:off x="6357860" y="5021830"/>
            <a:ext cx="293298" cy="845389"/>
          </a:xfrm>
          <a:prstGeom prst="rect">
            <a:avLst/>
          </a:prstGeom>
          <a:solidFill>
            <a:srgbClr val="004050">
              <a:alpha val="50000"/>
            </a:srgbClr>
          </a:solidFill>
          <a:effectLst/>
        </p:spPr>
        <p:style>
          <a:lnRef idx="0">
            <a:schemeClr val="accent1"/>
          </a:lnRef>
          <a:fillRef idx="3">
            <a:schemeClr val="accent1"/>
          </a:fillRef>
          <a:effectRef idx="3">
            <a:schemeClr val="accent1"/>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sp>
        <p:nvSpPr>
          <p:cNvPr id="6" name="Arc 5"/>
          <p:cNvSpPr/>
          <p:nvPr/>
        </p:nvSpPr>
        <p:spPr>
          <a:xfrm>
            <a:off x="5892036" y="5323759"/>
            <a:ext cx="1541253" cy="1055615"/>
          </a:xfrm>
          <a:prstGeom prst="arc">
            <a:avLst/>
          </a:prstGeom>
          <a:ln>
            <a:prstDash val="sysDot"/>
            <a:headEnd type="none" w="med" len="med"/>
            <a:tailEnd type="arrow" w="med" len="med"/>
          </a:ln>
        </p:spPr>
        <p:style>
          <a:lnRef idx="3">
            <a:schemeClr val="accent4"/>
          </a:lnRef>
          <a:fillRef idx="0">
            <a:schemeClr val="accent4"/>
          </a:fillRef>
          <a:effectRef idx="2">
            <a:schemeClr val="accent4"/>
          </a:effectRef>
          <a:fontRef idx="minor">
            <a:schemeClr val="tx1"/>
          </a:fontRef>
        </p:style>
        <p:txBody>
          <a:bodyPr rtlCol="0" anchor="ctr"/>
          <a:lstStyle/>
          <a:p>
            <a:pPr algn="ctr"/>
            <a:endParaRPr lang="en-GB"/>
          </a:p>
        </p:txBody>
      </p:sp>
      <p:sp>
        <p:nvSpPr>
          <p:cNvPr id="7" name="Flowchart: Magnetic Disk 6"/>
          <p:cNvSpPr/>
          <p:nvPr/>
        </p:nvSpPr>
        <p:spPr>
          <a:xfrm>
            <a:off x="6725918" y="5927606"/>
            <a:ext cx="1449238" cy="707366"/>
          </a:xfrm>
          <a:prstGeom prst="flowChartMagneticDisk">
            <a:avLst/>
          </a:prstGeom>
          <a:effectLst>
            <a:outerShdw blurRad="50800" dist="38100" dir="2700000" algn="t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rtlCol="0" anchor="ctr"/>
          <a:lstStyle/>
          <a:p>
            <a:pPr algn="ctr"/>
            <a:endParaRPr lang="en-GB" sz="1600" dirty="0">
              <a:solidFill>
                <a:schemeClr val="tx1"/>
              </a:solidFill>
              <a:latin typeface="Arial" pitchFamily="34" charset="0"/>
              <a:cs typeface="Arial" pitchFamily="34" charset="0"/>
            </a:endParaRPr>
          </a:p>
        </p:txBody>
      </p:sp>
      <p:sp>
        <p:nvSpPr>
          <p:cNvPr id="8" name="TextBox 7"/>
          <p:cNvSpPr txBox="1"/>
          <p:nvPr/>
        </p:nvSpPr>
        <p:spPr>
          <a:xfrm>
            <a:off x="4448548" y="6017063"/>
            <a:ext cx="899605" cy="338554"/>
          </a:xfrm>
          <a:prstGeom prst="rect">
            <a:avLst/>
          </a:prstGeom>
          <a:solidFill>
            <a:schemeClr val="bg1">
              <a:alpha val="46000"/>
            </a:schemeClr>
          </a:solidFill>
          <a:ln w="19050">
            <a:solidFill>
              <a:schemeClr val="accent1"/>
            </a:solidFill>
          </a:ln>
          <a:effectLst>
            <a:outerShdw blurRad="50800" dist="38100" dir="2700000" algn="tl" rotWithShape="0">
              <a:prstClr val="black">
                <a:alpha val="40000"/>
              </a:prstClr>
            </a:outerShdw>
          </a:effectLst>
        </p:spPr>
        <p:txBody>
          <a:bodyPr wrap="none" rtlCol="0">
            <a:spAutoFit/>
          </a:bodyPr>
          <a:lstStyle/>
          <a:p>
            <a:r>
              <a:rPr lang="en-GB" sz="1600" dirty="0">
                <a:solidFill>
                  <a:srgbClr val="004050"/>
                </a:solidFill>
                <a:cs typeface="Courier New" pitchFamily="49" charset="0"/>
              </a:rPr>
              <a:t>Queue</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GB" dirty="0"/>
              <a:t>Queue – FIFO</a:t>
            </a:r>
          </a:p>
        </p:txBody>
      </p:sp>
      <p:sp>
        <p:nvSpPr>
          <p:cNvPr id="3" name="Rectangle 2"/>
          <p:cNvSpPr/>
          <p:nvPr/>
        </p:nvSpPr>
        <p:spPr>
          <a:xfrm>
            <a:off x="1905862" y="1353146"/>
            <a:ext cx="7151297" cy="2308324"/>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800" dirty="0">
                <a:solidFill>
                  <a:srgbClr val="000000"/>
                </a:solidFill>
                <a:latin typeface="Cascadia Mono" panose="020B0609020000020004" pitchFamily="49" charset="0"/>
              </a:rPr>
              <a:t>Queue&lt;</a:t>
            </a:r>
            <a:r>
              <a:rPr lang="en-GB" sz="1800" dirty="0">
                <a:solidFill>
                  <a:srgbClr val="0000FF"/>
                </a:solidFill>
                <a:latin typeface="Cascadia Mono" panose="020B0609020000020004" pitchFamily="49" charset="0"/>
              </a:rPr>
              <a:t>string</a:t>
            </a:r>
            <a:r>
              <a:rPr lang="en-GB" sz="1800" dirty="0">
                <a:solidFill>
                  <a:srgbClr val="000000"/>
                </a:solidFill>
                <a:latin typeface="Cascadia Mono" panose="020B0609020000020004" pitchFamily="49" charset="0"/>
              </a:rPr>
              <a:t>&gt; queue = </a:t>
            </a:r>
            <a:r>
              <a:rPr lang="en-GB" sz="1800" dirty="0">
                <a:solidFill>
                  <a:srgbClr val="0000FF"/>
                </a:solidFill>
                <a:latin typeface="Cascadia Mono" panose="020B0609020000020004" pitchFamily="49" charset="0"/>
              </a:rPr>
              <a:t>new</a:t>
            </a:r>
            <a:r>
              <a:rPr lang="en-GB" sz="1800" dirty="0">
                <a:solidFill>
                  <a:srgbClr val="000000"/>
                </a:solidFill>
                <a:latin typeface="Cascadia Mono" panose="020B0609020000020004" pitchFamily="49" charset="0"/>
              </a:rPr>
              <a:t> Queue&lt;</a:t>
            </a:r>
            <a:r>
              <a:rPr lang="en-GB" sz="1800" dirty="0">
                <a:solidFill>
                  <a:srgbClr val="0000FF"/>
                </a:solidFill>
                <a:latin typeface="Cascadia Mono" panose="020B0609020000020004" pitchFamily="49" charset="0"/>
              </a:rPr>
              <a:t>string</a:t>
            </a:r>
            <a:r>
              <a:rPr lang="en-GB" sz="1800" dirty="0">
                <a:solidFill>
                  <a:srgbClr val="000000"/>
                </a:solidFill>
                <a:latin typeface="Cascadia Mono" panose="020B0609020000020004" pitchFamily="49" charset="0"/>
              </a:rPr>
              <a:t>&gt;();</a:t>
            </a:r>
          </a:p>
          <a:p>
            <a:r>
              <a:rPr lang="en-GB" sz="1800" dirty="0" err="1">
                <a:solidFill>
                  <a:srgbClr val="000000"/>
                </a:solidFill>
                <a:latin typeface="Cascadia Mono" panose="020B0609020000020004" pitchFamily="49" charset="0"/>
              </a:rPr>
              <a:t>queue.Enqueue</a:t>
            </a:r>
            <a:r>
              <a:rPr lang="en-GB" sz="1800" dirty="0">
                <a:solidFill>
                  <a:srgbClr val="000000"/>
                </a:solidFill>
                <a:latin typeface="Cascadia Mono" panose="020B0609020000020004" pitchFamily="49" charset="0"/>
              </a:rPr>
              <a:t>(</a:t>
            </a:r>
            <a:r>
              <a:rPr lang="en-GB" sz="1800" dirty="0">
                <a:solidFill>
                  <a:srgbClr val="A31515"/>
                </a:solidFill>
                <a:latin typeface="Cascadia Mono" panose="020B0609020000020004" pitchFamily="49" charset="0"/>
              </a:rPr>
              <a:t>"Dave"</a:t>
            </a:r>
            <a:r>
              <a:rPr lang="en-GB" sz="1800" dirty="0">
                <a:solidFill>
                  <a:srgbClr val="000000"/>
                </a:solidFill>
                <a:latin typeface="Cascadia Mono" panose="020B0609020000020004" pitchFamily="49" charset="0"/>
              </a:rPr>
              <a:t>);</a:t>
            </a:r>
          </a:p>
          <a:p>
            <a:r>
              <a:rPr lang="en-GB" sz="1800" dirty="0" err="1">
                <a:solidFill>
                  <a:srgbClr val="000000"/>
                </a:solidFill>
                <a:latin typeface="Cascadia Mono" panose="020B0609020000020004" pitchFamily="49" charset="0"/>
              </a:rPr>
              <a:t>queue.Enqueue</a:t>
            </a:r>
            <a:r>
              <a:rPr lang="en-GB" sz="1800" dirty="0">
                <a:solidFill>
                  <a:srgbClr val="000000"/>
                </a:solidFill>
                <a:latin typeface="Cascadia Mono" panose="020B0609020000020004" pitchFamily="49" charset="0"/>
              </a:rPr>
              <a:t>(</a:t>
            </a:r>
            <a:r>
              <a:rPr lang="en-GB" sz="1800" dirty="0">
                <a:solidFill>
                  <a:srgbClr val="A31515"/>
                </a:solidFill>
                <a:latin typeface="Cascadia Mono" panose="020B0609020000020004" pitchFamily="49" charset="0"/>
              </a:rPr>
              <a:t>"Mike"</a:t>
            </a:r>
            <a:r>
              <a:rPr lang="en-GB" sz="1800" dirty="0">
                <a:solidFill>
                  <a:srgbClr val="000000"/>
                </a:solidFill>
                <a:latin typeface="Cascadia Mono" panose="020B0609020000020004" pitchFamily="49" charset="0"/>
              </a:rPr>
              <a:t>);</a:t>
            </a:r>
          </a:p>
          <a:p>
            <a:r>
              <a:rPr lang="en-GB" sz="1800" dirty="0" err="1">
                <a:solidFill>
                  <a:srgbClr val="000000"/>
                </a:solidFill>
                <a:latin typeface="Cascadia Mono" panose="020B0609020000020004" pitchFamily="49" charset="0"/>
              </a:rPr>
              <a:t>queue.Enqueue</a:t>
            </a:r>
            <a:r>
              <a:rPr lang="en-GB" sz="1800" dirty="0">
                <a:solidFill>
                  <a:srgbClr val="000000"/>
                </a:solidFill>
                <a:latin typeface="Cascadia Mono" panose="020B0609020000020004" pitchFamily="49" charset="0"/>
              </a:rPr>
              <a:t>(</a:t>
            </a:r>
            <a:r>
              <a:rPr lang="en-GB" sz="1800" dirty="0">
                <a:solidFill>
                  <a:srgbClr val="A31515"/>
                </a:solidFill>
                <a:latin typeface="Cascadia Mono" panose="020B0609020000020004" pitchFamily="49" charset="0"/>
              </a:rPr>
              <a:t>"Linda"</a:t>
            </a:r>
            <a:r>
              <a:rPr lang="en-GB" sz="1800" dirty="0">
                <a:solidFill>
                  <a:srgbClr val="000000"/>
                </a:solidFill>
                <a:latin typeface="Cascadia Mono" panose="020B0609020000020004" pitchFamily="49" charset="0"/>
              </a:rPr>
              <a:t>);</a:t>
            </a:r>
          </a:p>
          <a:p>
            <a:br>
              <a:rPr lang="en-GB" sz="1800" dirty="0">
                <a:solidFill>
                  <a:srgbClr val="0000FF"/>
                </a:solidFill>
                <a:latin typeface="Cascadia Mono" panose="020B0609020000020004" pitchFamily="49" charset="0"/>
              </a:rPr>
            </a:br>
            <a:r>
              <a:rPr lang="en-GB" sz="1800" dirty="0">
                <a:solidFill>
                  <a:srgbClr val="0000FF"/>
                </a:solidFill>
                <a:latin typeface="Cascadia Mono" panose="020B0609020000020004" pitchFamily="49" charset="0"/>
              </a:rPr>
              <a:t>while</a:t>
            </a:r>
            <a:r>
              <a:rPr lang="en-GB" sz="1800" dirty="0">
                <a:solidFill>
                  <a:srgbClr val="000000"/>
                </a:solidFill>
                <a:latin typeface="Cascadia Mono" panose="020B0609020000020004" pitchFamily="49" charset="0"/>
              </a:rPr>
              <a:t>(</a:t>
            </a:r>
            <a:r>
              <a:rPr lang="en-GB" sz="1800" dirty="0" err="1">
                <a:solidFill>
                  <a:srgbClr val="000000"/>
                </a:solidFill>
                <a:latin typeface="Cascadia Mono" panose="020B0609020000020004" pitchFamily="49" charset="0"/>
              </a:rPr>
              <a:t>queue.Count</a:t>
            </a:r>
            <a:r>
              <a:rPr lang="en-GB" sz="1800" dirty="0">
                <a:solidFill>
                  <a:srgbClr val="000000"/>
                </a:solidFill>
                <a:latin typeface="Cascadia Mono" panose="020B0609020000020004" pitchFamily="49" charset="0"/>
              </a:rPr>
              <a:t> &gt; 0) {</a:t>
            </a:r>
          </a:p>
          <a:p>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Console.WriteLine</a:t>
            </a:r>
            <a:r>
              <a:rPr lang="en-GB" sz="1800" dirty="0">
                <a:solidFill>
                  <a:srgbClr val="000000"/>
                </a:solidFill>
                <a:latin typeface="Cascadia Mono" panose="020B0609020000020004" pitchFamily="49" charset="0"/>
              </a:rPr>
              <a:t>(</a:t>
            </a:r>
            <a:r>
              <a:rPr lang="en-GB" sz="1800" dirty="0" err="1">
                <a:solidFill>
                  <a:srgbClr val="000000"/>
                </a:solidFill>
                <a:latin typeface="Cascadia Mono" panose="020B0609020000020004" pitchFamily="49" charset="0"/>
              </a:rPr>
              <a:t>queue.Dequeue</a:t>
            </a:r>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a:t>
            </a:r>
          </a:p>
        </p:txBody>
      </p:sp>
      <p:sp>
        <p:nvSpPr>
          <p:cNvPr id="9" name="Rectangle 8"/>
          <p:cNvSpPr/>
          <p:nvPr/>
        </p:nvSpPr>
        <p:spPr>
          <a:xfrm>
            <a:off x="7917128" y="2293014"/>
            <a:ext cx="888526" cy="738664"/>
          </a:xfrm>
          <a:prstGeom prst="rect">
            <a:avLst/>
          </a:prstGeom>
          <a:solidFill>
            <a:srgbClr val="09EDB8">
              <a:alpha val="50000"/>
            </a:srgbClr>
          </a:solidFill>
          <a:ln w="19050">
            <a:noFill/>
          </a:ln>
          <a:effectLst>
            <a:outerShdw blurRad="50800" dist="38100" algn="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wrap="square">
            <a:spAutoFit/>
          </a:bodyPr>
          <a:lstStyle/>
          <a:p>
            <a:r>
              <a:rPr lang="en-GB" sz="1400" b="1" dirty="0">
                <a:solidFill>
                  <a:srgbClr val="004050"/>
                </a:solidFill>
                <a:latin typeface="Consolas" panose="020B0609020204030204" pitchFamily="49" charset="0"/>
              </a:rPr>
              <a:t>Dave</a:t>
            </a:r>
          </a:p>
          <a:p>
            <a:r>
              <a:rPr lang="en-GB" sz="1400" b="1" dirty="0">
                <a:solidFill>
                  <a:srgbClr val="004050"/>
                </a:solidFill>
                <a:latin typeface="Consolas" panose="020B0609020204030204" pitchFamily="49" charset="0"/>
              </a:rPr>
              <a:t>Mike</a:t>
            </a:r>
          </a:p>
          <a:p>
            <a:r>
              <a:rPr lang="en-GB" sz="1400" b="1" dirty="0">
                <a:solidFill>
                  <a:srgbClr val="004050"/>
                </a:solidFill>
                <a:latin typeface="Consolas" panose="020B0609020204030204" pitchFamily="49" charset="0"/>
              </a:rPr>
              <a:t>Linda</a:t>
            </a:r>
          </a:p>
        </p:txBody>
      </p:sp>
      <p:sp>
        <p:nvSpPr>
          <p:cNvPr id="12" name="Rectangle 11"/>
          <p:cNvSpPr/>
          <p:nvPr/>
        </p:nvSpPr>
        <p:spPr>
          <a:xfrm>
            <a:off x="1956662" y="3988377"/>
            <a:ext cx="7151297" cy="2308324"/>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600" dirty="0">
                <a:solidFill>
                  <a:srgbClr val="000000"/>
                </a:solidFill>
                <a:latin typeface="Cascadia Mono" panose="020B0609020000020004" pitchFamily="49" charset="0"/>
              </a:rPr>
              <a:t>Queue&lt;</a:t>
            </a:r>
            <a:r>
              <a:rPr lang="en-GB" sz="1600" dirty="0">
                <a:solidFill>
                  <a:srgbClr val="0000FF"/>
                </a:solidFill>
                <a:latin typeface="Cascadia Mono" panose="020B0609020000020004" pitchFamily="49" charset="0"/>
              </a:rPr>
              <a:t>string</a:t>
            </a:r>
            <a:r>
              <a:rPr lang="en-GB" sz="1600" dirty="0">
                <a:solidFill>
                  <a:srgbClr val="000000"/>
                </a:solidFill>
                <a:latin typeface="Cascadia Mono" panose="020B0609020000020004" pitchFamily="49" charset="0"/>
              </a:rPr>
              <a:t>&gt; queue = </a:t>
            </a:r>
            <a:r>
              <a:rPr lang="en-GB" sz="1600" dirty="0">
                <a:solidFill>
                  <a:srgbClr val="0000FF"/>
                </a:solidFill>
                <a:latin typeface="Cascadia Mono" panose="020B0609020000020004" pitchFamily="49" charset="0"/>
              </a:rPr>
              <a:t>new</a:t>
            </a:r>
            <a:r>
              <a:rPr lang="en-GB" sz="1600" dirty="0">
                <a:solidFill>
                  <a:srgbClr val="000000"/>
                </a:solidFill>
                <a:latin typeface="Cascadia Mono" panose="020B0609020000020004" pitchFamily="49" charset="0"/>
              </a:rPr>
              <a:t> Queue&lt;</a:t>
            </a:r>
            <a:r>
              <a:rPr lang="en-GB" sz="1600" dirty="0">
                <a:solidFill>
                  <a:srgbClr val="0000FF"/>
                </a:solidFill>
                <a:latin typeface="Cascadia Mono" panose="020B0609020000020004" pitchFamily="49" charset="0"/>
              </a:rPr>
              <a:t>string</a:t>
            </a:r>
            <a:r>
              <a:rPr lang="en-GB" sz="1600" dirty="0">
                <a:solidFill>
                  <a:srgbClr val="000000"/>
                </a:solidFill>
                <a:latin typeface="Cascadia Mono" panose="020B0609020000020004" pitchFamily="49" charset="0"/>
              </a:rPr>
              <a:t>&gt;();</a:t>
            </a:r>
          </a:p>
          <a:p>
            <a:r>
              <a:rPr lang="en-GB" sz="1600" dirty="0" err="1">
                <a:solidFill>
                  <a:srgbClr val="000000"/>
                </a:solidFill>
                <a:latin typeface="Cascadia Mono" panose="020B0609020000020004" pitchFamily="49" charset="0"/>
              </a:rPr>
              <a:t>queue.Enqueue</a:t>
            </a:r>
            <a:r>
              <a:rPr lang="en-GB" sz="1600" dirty="0">
                <a:solidFill>
                  <a:srgbClr val="000000"/>
                </a:solidFill>
                <a:latin typeface="Cascadia Mono" panose="020B0609020000020004" pitchFamily="49" charset="0"/>
              </a:rPr>
              <a:t>(</a:t>
            </a:r>
            <a:r>
              <a:rPr lang="en-GB" sz="1600" dirty="0">
                <a:solidFill>
                  <a:srgbClr val="A31515"/>
                </a:solidFill>
                <a:latin typeface="Cascadia Mono" panose="020B0609020000020004" pitchFamily="49" charset="0"/>
              </a:rPr>
              <a:t>"Dave"</a:t>
            </a:r>
            <a:r>
              <a:rPr lang="en-GB" sz="1600" dirty="0">
                <a:solidFill>
                  <a:srgbClr val="000000"/>
                </a:solidFill>
                <a:latin typeface="Cascadia Mono" panose="020B0609020000020004" pitchFamily="49" charset="0"/>
              </a:rPr>
              <a:t>);</a:t>
            </a:r>
          </a:p>
          <a:p>
            <a:r>
              <a:rPr lang="en-GB" sz="1600" dirty="0" err="1">
                <a:solidFill>
                  <a:srgbClr val="000000"/>
                </a:solidFill>
                <a:latin typeface="Cascadia Mono" panose="020B0609020000020004" pitchFamily="49" charset="0"/>
              </a:rPr>
              <a:t>queue.Enqueue</a:t>
            </a:r>
            <a:r>
              <a:rPr lang="en-GB" sz="1600" dirty="0">
                <a:solidFill>
                  <a:srgbClr val="000000"/>
                </a:solidFill>
                <a:latin typeface="Cascadia Mono" panose="020B0609020000020004" pitchFamily="49" charset="0"/>
              </a:rPr>
              <a:t>(</a:t>
            </a:r>
            <a:r>
              <a:rPr lang="en-GB" sz="1600" dirty="0">
                <a:solidFill>
                  <a:srgbClr val="A31515"/>
                </a:solidFill>
                <a:latin typeface="Cascadia Mono" panose="020B0609020000020004" pitchFamily="49" charset="0"/>
              </a:rPr>
              <a:t>"Mike"</a:t>
            </a:r>
            <a:r>
              <a:rPr lang="en-GB" sz="1600" dirty="0">
                <a:solidFill>
                  <a:srgbClr val="000000"/>
                </a:solidFill>
                <a:latin typeface="Cascadia Mono" panose="020B0609020000020004" pitchFamily="49" charset="0"/>
              </a:rPr>
              <a:t>);</a:t>
            </a:r>
          </a:p>
          <a:p>
            <a:r>
              <a:rPr lang="en-GB" sz="1600" dirty="0" err="1">
                <a:solidFill>
                  <a:srgbClr val="000000"/>
                </a:solidFill>
                <a:latin typeface="Cascadia Mono" panose="020B0609020000020004" pitchFamily="49" charset="0"/>
              </a:rPr>
              <a:t>queue.Enqueue</a:t>
            </a:r>
            <a:r>
              <a:rPr lang="en-GB" sz="1600" dirty="0">
                <a:solidFill>
                  <a:srgbClr val="000000"/>
                </a:solidFill>
                <a:latin typeface="Cascadia Mono" panose="020B0609020000020004" pitchFamily="49" charset="0"/>
              </a:rPr>
              <a:t>(</a:t>
            </a:r>
            <a:r>
              <a:rPr lang="en-GB" sz="1600" dirty="0">
                <a:solidFill>
                  <a:srgbClr val="A31515"/>
                </a:solidFill>
                <a:latin typeface="Cascadia Mono" panose="020B0609020000020004" pitchFamily="49" charset="0"/>
              </a:rPr>
              <a:t>"Linda"</a:t>
            </a:r>
            <a:r>
              <a:rPr lang="en-GB" sz="1600" dirty="0">
                <a:solidFill>
                  <a:srgbClr val="000000"/>
                </a:solidFill>
                <a:latin typeface="Cascadia Mono" panose="020B0609020000020004" pitchFamily="49" charset="0"/>
              </a:rPr>
              <a:t>);</a:t>
            </a:r>
          </a:p>
          <a:p>
            <a:endParaRPr lang="en-GB" sz="1600" dirty="0">
              <a:solidFill>
                <a:srgbClr val="0000FF"/>
              </a:solidFill>
              <a:latin typeface="Cascadia Mono" panose="020B0609020000020004" pitchFamily="49" charset="0"/>
            </a:endParaRPr>
          </a:p>
          <a:p>
            <a:r>
              <a:rPr lang="en-GB" sz="1600" dirty="0">
                <a:solidFill>
                  <a:srgbClr val="0000FF"/>
                </a:solidFill>
                <a:latin typeface="Cascadia Mono" panose="020B0609020000020004" pitchFamily="49" charset="0"/>
              </a:rPr>
              <a:t>foreach</a:t>
            </a:r>
            <a:r>
              <a:rPr lang="en-GB" sz="1600" dirty="0">
                <a:solidFill>
                  <a:srgbClr val="000000"/>
                </a:solidFill>
                <a:latin typeface="Cascadia Mono" panose="020B0609020000020004" pitchFamily="49" charset="0"/>
              </a:rPr>
              <a:t> (var item </a:t>
            </a:r>
            <a:r>
              <a:rPr lang="en-GB" sz="1600" dirty="0">
                <a:solidFill>
                  <a:srgbClr val="0000FF"/>
                </a:solidFill>
                <a:latin typeface="Cascadia Mono" panose="020B0609020000020004" pitchFamily="49" charset="0"/>
              </a:rPr>
              <a:t>in</a:t>
            </a:r>
            <a:r>
              <a:rPr lang="en-GB" sz="1600" dirty="0">
                <a:solidFill>
                  <a:srgbClr val="000000"/>
                </a:solidFill>
                <a:latin typeface="Cascadia Mono" panose="020B0609020000020004" pitchFamily="49" charset="0"/>
              </a:rPr>
              <a:t> queue) {</a:t>
            </a:r>
          </a:p>
          <a:p>
            <a:r>
              <a:rPr lang="en-GB" sz="1600" dirty="0">
                <a:solidFill>
                  <a:srgbClr val="000000"/>
                </a:solidFill>
                <a:latin typeface="Cascadia Mono" panose="020B0609020000020004" pitchFamily="49" charset="0"/>
              </a:rPr>
              <a:t>            </a:t>
            </a:r>
            <a:r>
              <a:rPr lang="en-GB" sz="1600" dirty="0" err="1">
                <a:solidFill>
                  <a:srgbClr val="000000"/>
                </a:solidFill>
                <a:latin typeface="Cascadia Mono" panose="020B0609020000020004" pitchFamily="49" charset="0"/>
              </a:rPr>
              <a:t>Console.WriteLine</a:t>
            </a:r>
            <a:r>
              <a:rPr lang="en-GB" sz="1600" dirty="0">
                <a:solidFill>
                  <a:srgbClr val="000000"/>
                </a:solidFill>
                <a:latin typeface="Cascadia Mono" panose="020B0609020000020004" pitchFamily="49" charset="0"/>
              </a:rPr>
              <a:t>(item);</a:t>
            </a:r>
          </a:p>
          <a:p>
            <a:r>
              <a:rPr lang="en-GB" sz="1600" dirty="0">
                <a:solidFill>
                  <a:srgbClr val="000000"/>
                </a:solidFill>
                <a:latin typeface="Cascadia Mono" panose="020B0609020000020004" pitchFamily="49" charset="0"/>
              </a:rPr>
              <a:t>}</a:t>
            </a:r>
          </a:p>
          <a:p>
            <a:r>
              <a:rPr lang="en-GB" sz="1600" dirty="0" err="1">
                <a:solidFill>
                  <a:srgbClr val="000000"/>
                </a:solidFill>
                <a:latin typeface="Cascadia Mono" panose="020B0609020000020004" pitchFamily="49" charset="0"/>
              </a:rPr>
              <a:t>Console.WriteLine</a:t>
            </a:r>
            <a:r>
              <a:rPr lang="en-GB" sz="1600" dirty="0">
                <a:solidFill>
                  <a:srgbClr val="000000"/>
                </a:solidFill>
                <a:latin typeface="Cascadia Mono" panose="020B0609020000020004" pitchFamily="49" charset="0"/>
              </a:rPr>
              <a:t>(</a:t>
            </a:r>
            <a:r>
              <a:rPr lang="en-GB" sz="1600" dirty="0" err="1">
                <a:solidFill>
                  <a:srgbClr val="000000"/>
                </a:solidFill>
                <a:latin typeface="Cascadia Mono" panose="020B0609020000020004" pitchFamily="49" charset="0"/>
              </a:rPr>
              <a:t>queue.Count</a:t>
            </a:r>
            <a:r>
              <a:rPr lang="en-GB" sz="1600" dirty="0">
                <a:solidFill>
                  <a:srgbClr val="000000"/>
                </a:solidFill>
                <a:latin typeface="Cascadia Mono" panose="020B0609020000020004" pitchFamily="49" charset="0"/>
              </a:rPr>
              <a:t>);</a:t>
            </a:r>
            <a:endParaRPr lang="en-GB" sz="1600" dirty="0"/>
          </a:p>
        </p:txBody>
      </p:sp>
      <p:sp>
        <p:nvSpPr>
          <p:cNvPr id="7" name="Rectangle 6">
            <a:extLst>
              <a:ext uri="{FF2B5EF4-FFF2-40B4-BE49-F238E27FC236}">
                <a16:creationId xmlns:a16="http://schemas.microsoft.com/office/drawing/2014/main" id="{A666050A-C441-0509-BA36-69F1361D2CD0}"/>
              </a:ext>
            </a:extLst>
          </p:cNvPr>
          <p:cNvSpPr/>
          <p:nvPr/>
        </p:nvSpPr>
        <p:spPr>
          <a:xfrm>
            <a:off x="7917128" y="4452558"/>
            <a:ext cx="888526" cy="954107"/>
          </a:xfrm>
          <a:prstGeom prst="rect">
            <a:avLst/>
          </a:prstGeom>
          <a:solidFill>
            <a:srgbClr val="09EDB8">
              <a:alpha val="50000"/>
            </a:srgbClr>
          </a:solidFill>
          <a:ln w="19050">
            <a:noFill/>
          </a:ln>
          <a:effectLst>
            <a:outerShdw blurRad="50800" dist="38100" algn="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wrap="square">
            <a:spAutoFit/>
          </a:bodyPr>
          <a:lstStyle/>
          <a:p>
            <a:r>
              <a:rPr lang="en-GB" sz="1400" b="1" dirty="0">
                <a:solidFill>
                  <a:srgbClr val="004050"/>
                </a:solidFill>
                <a:latin typeface="Consolas" panose="020B0609020204030204" pitchFamily="49" charset="0"/>
              </a:rPr>
              <a:t>Dave</a:t>
            </a:r>
          </a:p>
          <a:p>
            <a:r>
              <a:rPr lang="en-GB" sz="1400" b="1" dirty="0">
                <a:solidFill>
                  <a:srgbClr val="004050"/>
                </a:solidFill>
                <a:latin typeface="Consolas" panose="020B0609020204030204" pitchFamily="49" charset="0"/>
              </a:rPr>
              <a:t>Mike</a:t>
            </a:r>
          </a:p>
          <a:p>
            <a:r>
              <a:rPr lang="en-GB" sz="1400" b="1" dirty="0">
                <a:solidFill>
                  <a:srgbClr val="004050"/>
                </a:solidFill>
                <a:latin typeface="Consolas" panose="020B0609020204030204" pitchFamily="49" charset="0"/>
              </a:rPr>
              <a:t>Linda</a:t>
            </a:r>
          </a:p>
          <a:p>
            <a:r>
              <a:rPr lang="en-GB" sz="1400" b="1" dirty="0">
                <a:solidFill>
                  <a:srgbClr val="004050"/>
                </a:solidFill>
                <a:latin typeface="Consolas" panose="020B0609020204030204" pitchFamily="49" charset="0"/>
              </a:rPr>
              <a:t>3</a:t>
            </a:r>
          </a:p>
        </p:txBody>
      </p:sp>
      <p:sp>
        <p:nvSpPr>
          <p:cNvPr id="10" name="Speech Bubble: Rectangle with Corners Rounded 9">
            <a:extLst>
              <a:ext uri="{FF2B5EF4-FFF2-40B4-BE49-F238E27FC236}">
                <a16:creationId xmlns:a16="http://schemas.microsoft.com/office/drawing/2014/main" id="{2B189D75-51DA-389C-10C5-E5068E1CA7F4}"/>
              </a:ext>
            </a:extLst>
          </p:cNvPr>
          <p:cNvSpPr/>
          <p:nvPr/>
        </p:nvSpPr>
        <p:spPr>
          <a:xfrm>
            <a:off x="9337040" y="4328160"/>
            <a:ext cx="1330960" cy="426720"/>
          </a:xfrm>
          <a:prstGeom prst="wedgeRoundRectCallout">
            <a:avLst>
              <a:gd name="adj1" fmla="val -63786"/>
              <a:gd name="adj2" fmla="val -17892"/>
              <a:gd name="adj3" fmla="val 16667"/>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600" b="1" dirty="0"/>
              <a:t>Just read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2BA1DE2-AEB0-2DE5-657D-062610B997CE}"/>
              </a:ext>
            </a:extLst>
          </p:cNvPr>
          <p:cNvSpPr>
            <a:spLocks noGrp="1"/>
          </p:cNvSpPr>
          <p:nvPr>
            <p:ph type="body" sz="quarter" idx="16"/>
          </p:nvPr>
        </p:nvSpPr>
        <p:spPr/>
        <p:txBody>
          <a:bodyPr/>
          <a:lstStyle/>
          <a:p>
            <a:r>
              <a:rPr lang="en-GB" dirty="0"/>
              <a:t>Labs</a:t>
            </a:r>
          </a:p>
        </p:txBody>
      </p:sp>
      <p:graphicFrame>
        <p:nvGraphicFramePr>
          <p:cNvPr id="3" name="Text Placeholder 1">
            <a:extLst>
              <a:ext uri="{FF2B5EF4-FFF2-40B4-BE49-F238E27FC236}">
                <a16:creationId xmlns:a16="http://schemas.microsoft.com/office/drawing/2014/main" id="{DF4615A8-E19B-D0F1-F406-10CCC494AC6A}"/>
              </a:ext>
            </a:extLst>
          </p:cNvPr>
          <p:cNvGraphicFramePr/>
          <p:nvPr>
            <p:extLst>
              <p:ext uri="{D42A27DB-BD31-4B8C-83A1-F6EECF244321}">
                <p14:modId xmlns:p14="http://schemas.microsoft.com/office/powerpoint/2010/main" val="2299626655"/>
              </p:ext>
            </p:extLst>
          </p:nvPr>
        </p:nvGraphicFramePr>
        <p:xfrm>
          <a:off x="5283752" y="1634152"/>
          <a:ext cx="5770328" cy="2898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0844073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7AF3B02-EC31-F45F-A6D7-9649C23C8D95}"/>
              </a:ext>
            </a:extLst>
          </p:cNvPr>
          <p:cNvSpPr>
            <a:spLocks noGrp="1"/>
          </p:cNvSpPr>
          <p:nvPr>
            <p:ph type="body" sz="quarter" idx="15"/>
          </p:nvPr>
        </p:nvSpPr>
        <p:spPr/>
        <p:txBody>
          <a:bodyPr/>
          <a:lstStyle/>
          <a:p>
            <a:r>
              <a:rPr lang="en-GB" b="1" dirty="0"/>
              <a:t>C# Dictionary</a:t>
            </a:r>
            <a:r>
              <a:rPr lang="en-GB" sz="2000" b="1" dirty="0">
                <a:solidFill>
                  <a:srgbClr val="000000"/>
                </a:solidFill>
                <a:latin typeface="Consolas" panose="020B0609020204030204" pitchFamily="49" charset="0"/>
              </a:rPr>
              <a:t> class</a:t>
            </a:r>
          </a:p>
          <a:p>
            <a:endParaRPr lang="en-GB" sz="2000" b="1" dirty="0">
              <a:solidFill>
                <a:srgbClr val="000000"/>
              </a:solidFill>
              <a:latin typeface="Consolas" panose="020B0609020204030204" pitchFamily="49" charset="0"/>
            </a:endParaRPr>
          </a:p>
          <a:p>
            <a:pPr marL="342900" indent="-342900">
              <a:buFont typeface="Arial" panose="020B0604020202020204" pitchFamily="34" charset="0"/>
              <a:buChar char="•"/>
            </a:pPr>
            <a:r>
              <a:rPr lang="en-GB" b="1" dirty="0">
                <a:solidFill>
                  <a:srgbClr val="000000"/>
                </a:solidFill>
                <a:latin typeface="Consolas" panose="020B0609020204030204" pitchFamily="49" charset="0"/>
              </a:rPr>
              <a:t>Stores and manages any type of item</a:t>
            </a:r>
          </a:p>
          <a:p>
            <a:pPr marL="342900" indent="-342900">
              <a:buFont typeface="Arial" panose="020B0604020202020204" pitchFamily="34" charset="0"/>
              <a:buChar char="•"/>
            </a:pPr>
            <a:r>
              <a:rPr lang="en-GB" b="1" dirty="0">
                <a:solidFill>
                  <a:srgbClr val="000000"/>
                </a:solidFill>
                <a:latin typeface="Consolas" panose="020B0609020204030204" pitchFamily="49" charset="0"/>
              </a:rPr>
              <a:t>Each item has a unique key</a:t>
            </a:r>
          </a:p>
          <a:p>
            <a:pPr marL="342900" indent="-342900">
              <a:buFont typeface="Arial" panose="020B0604020202020204" pitchFamily="34" charset="0"/>
              <a:buChar char="•"/>
            </a:pPr>
            <a:r>
              <a:rPr lang="en-GB" b="1" dirty="0">
                <a:solidFill>
                  <a:srgbClr val="000000"/>
                </a:solidFill>
                <a:latin typeface="Consolas" panose="020B0609020204030204" pitchFamily="49" charset="0"/>
              </a:rPr>
              <a:t>You can get an element using its key</a:t>
            </a:r>
          </a:p>
          <a:p>
            <a:pPr marL="342900" indent="-342900">
              <a:buFont typeface="Arial" panose="020B0604020202020204" pitchFamily="34" charset="0"/>
              <a:buChar char="•"/>
            </a:pPr>
            <a:r>
              <a:rPr lang="en-GB" b="1" dirty="0">
                <a:solidFill>
                  <a:srgbClr val="000000"/>
                </a:solidFill>
                <a:latin typeface="Consolas" panose="020B0609020204030204" pitchFamily="49" charset="0"/>
              </a:rPr>
              <a:t>The key can be of any type, not just integers</a:t>
            </a:r>
          </a:p>
          <a:p>
            <a:pPr marL="342900" indent="-342900">
              <a:buFont typeface="Arial" panose="020B0604020202020204" pitchFamily="34" charset="0"/>
              <a:buChar char="•"/>
            </a:pPr>
            <a:r>
              <a:rPr lang="en-GB" b="1" dirty="0">
                <a:solidFill>
                  <a:srgbClr val="000000"/>
                </a:solidFill>
                <a:latin typeface="Consolas" panose="020B0609020204030204" pitchFamily="49" charset="0"/>
              </a:rPr>
              <a:t>More efficient than managing two Lists</a:t>
            </a:r>
            <a:endParaRPr lang="en-GB" dirty="0"/>
          </a:p>
        </p:txBody>
      </p:sp>
      <p:sp>
        <p:nvSpPr>
          <p:cNvPr id="5" name="Text Placeholder 4">
            <a:extLst>
              <a:ext uri="{FF2B5EF4-FFF2-40B4-BE49-F238E27FC236}">
                <a16:creationId xmlns:a16="http://schemas.microsoft.com/office/drawing/2014/main" id="{CD49F5D4-A8DB-16B0-860C-F140A8389EBE}"/>
              </a:ext>
            </a:extLst>
          </p:cNvPr>
          <p:cNvSpPr>
            <a:spLocks noGrp="1"/>
          </p:cNvSpPr>
          <p:nvPr>
            <p:ph type="body" sz="quarter" idx="16"/>
          </p:nvPr>
        </p:nvSpPr>
        <p:spPr/>
        <p:txBody>
          <a:bodyPr/>
          <a:lstStyle/>
          <a:p>
            <a:r>
              <a:rPr lang="en-GB" dirty="0"/>
              <a:t>Key value pairs</a:t>
            </a:r>
          </a:p>
        </p:txBody>
      </p:sp>
      <p:graphicFrame>
        <p:nvGraphicFramePr>
          <p:cNvPr id="2" name="Table 2">
            <a:extLst>
              <a:ext uri="{FF2B5EF4-FFF2-40B4-BE49-F238E27FC236}">
                <a16:creationId xmlns:a16="http://schemas.microsoft.com/office/drawing/2014/main" id="{834B17C0-8FDE-5460-65B0-4A63C7A62300}"/>
              </a:ext>
            </a:extLst>
          </p:cNvPr>
          <p:cNvGraphicFramePr>
            <a:graphicFrameLocks noGrp="1"/>
          </p:cNvGraphicFramePr>
          <p:nvPr>
            <p:extLst>
              <p:ext uri="{D42A27DB-BD31-4B8C-83A1-F6EECF244321}">
                <p14:modId xmlns:p14="http://schemas.microsoft.com/office/powerpoint/2010/main" val="4220030831"/>
              </p:ext>
            </p:extLst>
          </p:nvPr>
        </p:nvGraphicFramePr>
        <p:xfrm>
          <a:off x="6096000" y="4451376"/>
          <a:ext cx="3312160" cy="1483360"/>
        </p:xfrm>
        <a:graphic>
          <a:graphicData uri="http://schemas.openxmlformats.org/drawingml/2006/table">
            <a:tbl>
              <a:tblPr firstRow="1" bandRow="1">
                <a:tableStyleId>{616DA210-FB5B-4158-B5E0-FEB733F419BA}</a:tableStyleId>
              </a:tblPr>
              <a:tblGrid>
                <a:gridCol w="1635760">
                  <a:extLst>
                    <a:ext uri="{9D8B030D-6E8A-4147-A177-3AD203B41FA5}">
                      <a16:colId xmlns:a16="http://schemas.microsoft.com/office/drawing/2014/main" val="3180044130"/>
                    </a:ext>
                  </a:extLst>
                </a:gridCol>
                <a:gridCol w="1676400">
                  <a:extLst>
                    <a:ext uri="{9D8B030D-6E8A-4147-A177-3AD203B41FA5}">
                      <a16:colId xmlns:a16="http://schemas.microsoft.com/office/drawing/2014/main" val="779485288"/>
                    </a:ext>
                  </a:extLst>
                </a:gridCol>
              </a:tblGrid>
              <a:tr h="370840">
                <a:tc>
                  <a:txBody>
                    <a:bodyPr/>
                    <a:lstStyle/>
                    <a:p>
                      <a:pPr algn="ctr"/>
                      <a:r>
                        <a:rPr lang="en-GB" dirty="0"/>
                        <a:t>Key</a:t>
                      </a:r>
                    </a:p>
                  </a:txBody>
                  <a:tcPr/>
                </a:tc>
                <a:tc>
                  <a:txBody>
                    <a:bodyPr/>
                    <a:lstStyle/>
                    <a:p>
                      <a:pPr algn="ctr"/>
                      <a:r>
                        <a:rPr lang="en-GB" dirty="0"/>
                        <a:t>Value</a:t>
                      </a:r>
                    </a:p>
                  </a:txBody>
                  <a:tcPr/>
                </a:tc>
                <a:extLst>
                  <a:ext uri="{0D108BD9-81ED-4DB2-BD59-A6C34878D82A}">
                    <a16:rowId xmlns:a16="http://schemas.microsoft.com/office/drawing/2014/main" val="108205354"/>
                  </a:ext>
                </a:extLst>
              </a:tr>
              <a:tr h="370840">
                <a:tc>
                  <a:txBody>
                    <a:bodyPr/>
                    <a:lstStyle/>
                    <a:p>
                      <a:pPr algn="ctr"/>
                      <a:r>
                        <a:rPr lang="en-GB" b="1" dirty="0"/>
                        <a:t>"</a:t>
                      </a:r>
                      <a:r>
                        <a:rPr lang="en-GB" b="1" dirty="0">
                          <a:solidFill>
                            <a:srgbClr val="C00000"/>
                          </a:solidFill>
                        </a:rPr>
                        <a:t>AB102</a:t>
                      </a:r>
                      <a:r>
                        <a:rPr lang="en-GB" b="1" dirty="0"/>
                        <a:t>"</a:t>
                      </a:r>
                    </a:p>
                  </a:txBody>
                  <a:tcPr/>
                </a:tc>
                <a:tc>
                  <a:txBody>
                    <a:bodyPr/>
                    <a:lstStyle/>
                    <a:p>
                      <a:pPr algn="ctr"/>
                      <a:r>
                        <a:rPr lang="en-GB" b="1" dirty="0"/>
                        <a:t>200.5</a:t>
                      </a:r>
                    </a:p>
                  </a:txBody>
                  <a:tcPr/>
                </a:tc>
                <a:extLst>
                  <a:ext uri="{0D108BD9-81ED-4DB2-BD59-A6C34878D82A}">
                    <a16:rowId xmlns:a16="http://schemas.microsoft.com/office/drawing/2014/main" val="3576981093"/>
                  </a:ext>
                </a:extLst>
              </a:tr>
              <a:tr h="370840">
                <a:tc>
                  <a:txBody>
                    <a:bodyPr/>
                    <a:lstStyle/>
                    <a:p>
                      <a:pPr algn="ctr"/>
                      <a:r>
                        <a:rPr lang="en-GB" b="1" dirty="0"/>
                        <a:t>"</a:t>
                      </a:r>
                      <a:r>
                        <a:rPr lang="en-GB" b="1" dirty="0">
                          <a:solidFill>
                            <a:srgbClr val="C00000"/>
                          </a:solidFill>
                        </a:rPr>
                        <a:t>JF786</a:t>
                      </a:r>
                      <a:r>
                        <a:rPr lang="en-GB" b="1" dirty="0"/>
                        <a:t>"</a:t>
                      </a:r>
                    </a:p>
                  </a:txBody>
                  <a:tcPr/>
                </a:tc>
                <a:tc>
                  <a:txBody>
                    <a:bodyPr/>
                    <a:lstStyle/>
                    <a:p>
                      <a:pPr algn="ctr"/>
                      <a:r>
                        <a:rPr lang="en-GB" b="1" dirty="0"/>
                        <a:t>984.9</a:t>
                      </a:r>
                    </a:p>
                  </a:txBody>
                  <a:tcPr/>
                </a:tc>
                <a:extLst>
                  <a:ext uri="{0D108BD9-81ED-4DB2-BD59-A6C34878D82A}">
                    <a16:rowId xmlns:a16="http://schemas.microsoft.com/office/drawing/2014/main" val="3894223463"/>
                  </a:ext>
                </a:extLst>
              </a:tr>
              <a:tr h="370840">
                <a:tc>
                  <a:txBody>
                    <a:bodyPr/>
                    <a:lstStyle/>
                    <a:p>
                      <a:pPr algn="ctr"/>
                      <a:r>
                        <a:rPr lang="en-GB" b="1" dirty="0"/>
                        <a:t>"</a:t>
                      </a:r>
                      <a:r>
                        <a:rPr lang="en-GB" b="1" dirty="0">
                          <a:solidFill>
                            <a:srgbClr val="C00000"/>
                          </a:solidFill>
                        </a:rPr>
                        <a:t>KE900</a:t>
                      </a:r>
                      <a:r>
                        <a:rPr lang="en-GB" b="1" dirty="0"/>
                        <a:t>"</a:t>
                      </a:r>
                    </a:p>
                  </a:txBody>
                  <a:tcPr/>
                </a:tc>
                <a:tc>
                  <a:txBody>
                    <a:bodyPr/>
                    <a:lstStyle/>
                    <a:p>
                      <a:pPr algn="ctr"/>
                      <a:r>
                        <a:rPr lang="en-GB" b="1" dirty="0"/>
                        <a:t>765.75</a:t>
                      </a:r>
                    </a:p>
                  </a:txBody>
                  <a:tcPr/>
                </a:tc>
                <a:extLst>
                  <a:ext uri="{0D108BD9-81ED-4DB2-BD59-A6C34878D82A}">
                    <a16:rowId xmlns:a16="http://schemas.microsoft.com/office/drawing/2014/main" val="1927629420"/>
                  </a:ext>
                </a:extLst>
              </a:tr>
            </a:tbl>
          </a:graphicData>
        </a:graphic>
      </p:graphicFrame>
    </p:spTree>
    <p:extLst>
      <p:ext uri="{BB962C8B-B14F-4D97-AF65-F5344CB8AC3E}">
        <p14:creationId xmlns:p14="http://schemas.microsoft.com/office/powerpoint/2010/main" val="3616243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338400" y="561600"/>
            <a:ext cx="11426880" cy="500400"/>
          </a:xfrm>
        </p:spPr>
        <p:txBody>
          <a:bodyPr/>
          <a:lstStyle/>
          <a:p>
            <a:pPr eaLnBrk="1" hangingPunct="1"/>
            <a:r>
              <a:rPr lang="en-GB" dirty="0"/>
              <a:t>Usage of </a:t>
            </a:r>
            <a:r>
              <a:rPr lang="en-GB" b="1" dirty="0"/>
              <a:t>Dictionary</a:t>
            </a:r>
            <a:r>
              <a:rPr lang="en-GB" dirty="0"/>
              <a:t> of key/value pairs </a:t>
            </a:r>
          </a:p>
        </p:txBody>
      </p:sp>
      <p:sp>
        <p:nvSpPr>
          <p:cNvPr id="2" name="Rectangle 1"/>
          <p:cNvSpPr/>
          <p:nvPr/>
        </p:nvSpPr>
        <p:spPr>
          <a:xfrm>
            <a:off x="1360469" y="1564053"/>
            <a:ext cx="8188595" cy="2554545"/>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txBody>
          <a:bodyPr wrap="square">
            <a:spAutoFit/>
          </a:bodyPr>
          <a:lstStyle/>
          <a:p>
            <a:r>
              <a:rPr lang="en-GB" sz="1400" b="1" dirty="0"/>
              <a:t>Dictionary </a:t>
            </a:r>
            <a:r>
              <a:rPr lang="en-GB" sz="1600" dirty="0">
                <a:solidFill>
                  <a:srgbClr val="000000"/>
                </a:solidFill>
                <a:latin typeface="Consolas" panose="020B0609020204030204" pitchFamily="49" charset="0"/>
              </a:rPr>
              <a:t>&lt;String, Car&gt; </a:t>
            </a:r>
            <a:r>
              <a:rPr lang="en-GB" sz="1600" dirty="0">
                <a:solidFill>
                  <a:srgbClr val="6A3E3E"/>
                </a:solidFill>
                <a:latin typeface="Consolas" panose="020B0609020204030204" pitchFamily="49" charset="0"/>
              </a:rPr>
              <a:t>cars</a:t>
            </a:r>
            <a:r>
              <a:rPr lang="en-GB" sz="1600" dirty="0">
                <a:solidFill>
                  <a:srgbClr val="000000"/>
                </a:solidFill>
                <a:latin typeface="Consolas" panose="020B0609020204030204" pitchFamily="49" charset="0"/>
              </a:rPr>
              <a:t>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a:t>
            </a:r>
            <a:r>
              <a:rPr lang="en-GB" sz="1600" b="1" dirty="0"/>
              <a:t>Dictionary </a:t>
            </a:r>
            <a:r>
              <a:rPr lang="en-GB" sz="1600" b="1" dirty="0">
                <a:solidFill>
                  <a:srgbClr val="000000"/>
                </a:solidFill>
                <a:latin typeface="Consolas" panose="020B0609020204030204" pitchFamily="49" charset="0"/>
              </a:rPr>
              <a:t>&lt;</a:t>
            </a:r>
            <a:r>
              <a:rPr lang="en-GB" sz="1600" dirty="0">
                <a:solidFill>
                  <a:srgbClr val="000000"/>
                </a:solidFill>
                <a:latin typeface="Consolas" panose="020B0609020204030204" pitchFamily="49" charset="0"/>
              </a:rPr>
              <a:t>String, Car</a:t>
            </a:r>
            <a:r>
              <a:rPr lang="en-GB" sz="1600" b="1" dirty="0">
                <a:solidFill>
                  <a:srgbClr val="000000"/>
                </a:solidFill>
                <a:latin typeface="Consolas" panose="020B0609020204030204" pitchFamily="49" charset="0"/>
              </a:rPr>
              <a:t>&gt;();</a:t>
            </a:r>
          </a:p>
          <a:p>
            <a:endParaRPr lang="en-GB" sz="1600" dirty="0">
              <a:solidFill>
                <a:srgbClr val="6A3E3E"/>
              </a:solidFill>
              <a:latin typeface="Consolas" panose="020B0609020204030204" pitchFamily="49" charset="0"/>
            </a:endParaRPr>
          </a:p>
          <a:p>
            <a:r>
              <a:rPr lang="en-GB" sz="1600" b="1" dirty="0" err="1">
                <a:solidFill>
                  <a:srgbClr val="6A3E3E"/>
                </a:solidFill>
                <a:latin typeface="Consolas" panose="020B0609020204030204" pitchFamily="49" charset="0"/>
              </a:rPr>
              <a:t>cars.Add</a:t>
            </a:r>
            <a:r>
              <a:rPr lang="en-GB" sz="1600" dirty="0">
                <a:solidFill>
                  <a:srgbClr val="000000"/>
                </a:solidFill>
                <a:latin typeface="Consolas" panose="020B0609020204030204" pitchFamily="49" charset="0"/>
              </a:rPr>
              <a:t>(</a:t>
            </a:r>
            <a:r>
              <a:rPr lang="en-GB" sz="1600" dirty="0">
                <a:solidFill>
                  <a:srgbClr val="2A00FF"/>
                </a:solidFill>
                <a:latin typeface="Consolas" panose="020B0609020204030204" pitchFamily="49" charset="0"/>
              </a:rPr>
              <a:t>"</a:t>
            </a:r>
            <a:r>
              <a:rPr lang="en-GB" sz="1600" dirty="0" err="1">
                <a:solidFill>
                  <a:srgbClr val="2A00FF"/>
                </a:solidFill>
                <a:latin typeface="Consolas" panose="020B0609020204030204" pitchFamily="49" charset="0"/>
              </a:rPr>
              <a:t>sam</a:t>
            </a:r>
            <a:r>
              <a:rPr lang="en-GB" sz="1600" dirty="0">
                <a:solidFill>
                  <a:srgbClr val="2A00FF"/>
                </a:solidFill>
                <a:latin typeface="Consolas" panose="020B0609020204030204" pitchFamily="49" charset="0"/>
              </a:rPr>
              <a:t>"</a:t>
            </a:r>
            <a:r>
              <a:rPr lang="en-GB" sz="1600"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Car(</a:t>
            </a:r>
            <a:r>
              <a:rPr lang="en-GB" sz="1600" b="1" dirty="0">
                <a:solidFill>
                  <a:srgbClr val="2A00FF"/>
                </a:solidFill>
                <a:latin typeface="Consolas" panose="020B0609020204030204" pitchFamily="49" charset="0"/>
              </a:rPr>
              <a:t>"Ford"</a:t>
            </a:r>
            <a:r>
              <a:rPr lang="en-GB" sz="1600" b="1" dirty="0">
                <a:solidFill>
                  <a:srgbClr val="000000"/>
                </a:solidFill>
                <a:latin typeface="Consolas" panose="020B0609020204030204" pitchFamily="49" charset="0"/>
              </a:rPr>
              <a:t>));</a:t>
            </a:r>
          </a:p>
          <a:p>
            <a:r>
              <a:rPr lang="en-GB" sz="1600" b="1" dirty="0" err="1">
                <a:solidFill>
                  <a:srgbClr val="6A3E3E"/>
                </a:solidFill>
                <a:latin typeface="Consolas" panose="020B0609020204030204" pitchFamily="49" charset="0"/>
              </a:rPr>
              <a:t>cars.Add</a:t>
            </a:r>
            <a:r>
              <a:rPr lang="en-GB" sz="1600" dirty="0">
                <a:solidFill>
                  <a:srgbClr val="000000"/>
                </a:solidFill>
                <a:latin typeface="Consolas" panose="020B0609020204030204" pitchFamily="49" charset="0"/>
              </a:rPr>
              <a:t>(</a:t>
            </a:r>
            <a:r>
              <a:rPr lang="en-GB" sz="1600" dirty="0">
                <a:solidFill>
                  <a:srgbClr val="2A00FF"/>
                </a:solidFill>
                <a:latin typeface="Consolas" panose="020B0609020204030204" pitchFamily="49" charset="0"/>
              </a:rPr>
              <a:t>"joe"</a:t>
            </a:r>
            <a:r>
              <a:rPr lang="en-GB" sz="1600"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Car(</a:t>
            </a:r>
            <a:r>
              <a:rPr lang="en-GB" sz="1600" b="1" dirty="0">
                <a:solidFill>
                  <a:srgbClr val="2A00FF"/>
                </a:solidFill>
                <a:latin typeface="Consolas" panose="020B0609020204030204" pitchFamily="49" charset="0"/>
              </a:rPr>
              <a:t>"BMW"</a:t>
            </a:r>
            <a:r>
              <a:rPr lang="en-GB" sz="1600" b="1" dirty="0">
                <a:solidFill>
                  <a:srgbClr val="000000"/>
                </a:solidFill>
                <a:latin typeface="Consolas" panose="020B0609020204030204" pitchFamily="49" charset="0"/>
              </a:rPr>
              <a:t>));</a:t>
            </a:r>
          </a:p>
          <a:p>
            <a:endParaRPr lang="en-GB" sz="1600" dirty="0">
              <a:latin typeface="Consolas" panose="020B0609020204030204" pitchFamily="49" charset="0"/>
            </a:endParaRPr>
          </a:p>
          <a:p>
            <a:r>
              <a:rPr lang="en-GB" sz="1600" b="1" dirty="0" err="1">
                <a:solidFill>
                  <a:srgbClr val="6A3E3E"/>
                </a:solidFill>
                <a:latin typeface="Consolas" panose="020B0609020204030204" pitchFamily="49" charset="0"/>
              </a:rPr>
              <a:t>cars.Add</a:t>
            </a:r>
            <a:r>
              <a:rPr lang="en-GB" sz="1600" dirty="0">
                <a:solidFill>
                  <a:srgbClr val="000000"/>
                </a:solidFill>
                <a:latin typeface="Consolas" panose="020B0609020204030204" pitchFamily="49" charset="0"/>
              </a:rPr>
              <a:t>(</a:t>
            </a:r>
            <a:r>
              <a:rPr lang="en-GB" sz="1600" dirty="0">
                <a:solidFill>
                  <a:srgbClr val="2A00FF"/>
                </a:solidFill>
                <a:latin typeface="Consolas" panose="020B0609020204030204" pitchFamily="49" charset="0"/>
              </a:rPr>
              <a:t>"joe"</a:t>
            </a:r>
            <a:r>
              <a:rPr lang="en-GB" sz="1600"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Car(</a:t>
            </a:r>
            <a:r>
              <a:rPr lang="en-GB" sz="1600" b="1" dirty="0">
                <a:solidFill>
                  <a:srgbClr val="2A00FF"/>
                </a:solidFill>
                <a:latin typeface="Consolas" panose="020B0609020204030204" pitchFamily="49" charset="0"/>
              </a:rPr>
              <a:t>"Tesla"</a:t>
            </a:r>
            <a:r>
              <a:rPr lang="en-GB" sz="1600" b="1" dirty="0">
                <a:solidFill>
                  <a:srgbClr val="000000"/>
                </a:solidFill>
                <a:latin typeface="Consolas" panose="020B0609020204030204" pitchFamily="49" charset="0"/>
              </a:rPr>
              <a:t>));</a:t>
            </a:r>
          </a:p>
          <a:p>
            <a:endParaRPr lang="en-GB" sz="1600" dirty="0">
              <a:latin typeface="Consolas" panose="020B0609020204030204" pitchFamily="49" charset="0"/>
            </a:endParaRPr>
          </a:p>
          <a:p>
            <a:r>
              <a:rPr lang="en-GB" sz="1600" dirty="0">
                <a:latin typeface="Consolas" panose="020B0609020204030204" pitchFamily="49" charset="0"/>
              </a:rPr>
              <a:t>Car </a:t>
            </a:r>
            <a:r>
              <a:rPr lang="en-GB" sz="1600" dirty="0" err="1">
                <a:latin typeface="Consolas" panose="020B0609020204030204" pitchFamily="49" charset="0"/>
              </a:rPr>
              <a:t>car</a:t>
            </a:r>
            <a:r>
              <a:rPr lang="en-GB" sz="1600" dirty="0">
                <a:latin typeface="Consolas" panose="020B0609020204030204" pitchFamily="49" charset="0"/>
              </a:rPr>
              <a:t> = </a:t>
            </a:r>
            <a:r>
              <a:rPr lang="en-GB" sz="1600" dirty="0">
                <a:solidFill>
                  <a:srgbClr val="6A3E3E"/>
                </a:solidFill>
                <a:latin typeface="Consolas" panose="020B0609020204030204" pitchFamily="49" charset="0"/>
              </a:rPr>
              <a:t>cars[</a:t>
            </a:r>
            <a:r>
              <a:rPr lang="en-GB" sz="1600" dirty="0">
                <a:solidFill>
                  <a:srgbClr val="2A00FF"/>
                </a:solidFill>
                <a:latin typeface="Consolas" panose="020B0609020204030204" pitchFamily="49" charset="0"/>
              </a:rPr>
              <a:t>"</a:t>
            </a:r>
            <a:r>
              <a:rPr lang="en-GB" sz="1600" dirty="0" err="1">
                <a:solidFill>
                  <a:srgbClr val="2A00FF"/>
                </a:solidFill>
                <a:latin typeface="Consolas" panose="020B0609020204030204" pitchFamily="49" charset="0"/>
              </a:rPr>
              <a:t>sam</a:t>
            </a:r>
            <a:r>
              <a:rPr lang="en-GB" sz="1600" dirty="0">
                <a:solidFill>
                  <a:srgbClr val="2A00FF"/>
                </a:solidFill>
                <a:latin typeface="Consolas" panose="020B0609020204030204" pitchFamily="49" charset="0"/>
              </a:rPr>
              <a:t>"</a:t>
            </a:r>
            <a:r>
              <a:rPr lang="en-GB" sz="1600" dirty="0">
                <a:solidFill>
                  <a:srgbClr val="000000"/>
                </a:solidFill>
                <a:latin typeface="Consolas" panose="020B0609020204030204" pitchFamily="49" charset="0"/>
              </a:rPr>
              <a:t>];</a:t>
            </a:r>
          </a:p>
          <a:p>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cars[</a:t>
            </a:r>
            <a:r>
              <a:rPr lang="en-GB" sz="1600" dirty="0">
                <a:solidFill>
                  <a:srgbClr val="2A00FF"/>
                </a:solidFill>
                <a:latin typeface="Consolas" panose="020B0609020204030204" pitchFamily="49" charset="0"/>
              </a:rPr>
              <a:t>"</a:t>
            </a:r>
            <a:r>
              <a:rPr lang="en-GB" sz="1600" dirty="0" err="1">
                <a:solidFill>
                  <a:srgbClr val="2A00FF"/>
                </a:solidFill>
                <a:latin typeface="Consolas" panose="020B0609020204030204" pitchFamily="49" charset="0"/>
              </a:rPr>
              <a:t>sam</a:t>
            </a:r>
            <a:r>
              <a:rPr lang="en-GB" sz="1600" dirty="0">
                <a:solidFill>
                  <a:srgbClr val="2A00FF"/>
                </a:solidFill>
                <a:latin typeface="Consolas" panose="020B0609020204030204" pitchFamily="49" charset="0"/>
              </a:rPr>
              <a:t>"</a:t>
            </a:r>
            <a:r>
              <a:rPr lang="en-GB" sz="1600" dirty="0">
                <a:solidFill>
                  <a:srgbClr val="000000"/>
                </a:solidFill>
                <a:latin typeface="Consolas" panose="020B0609020204030204" pitchFamily="49" charset="0"/>
              </a:rPr>
              <a:t>]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Car(</a:t>
            </a:r>
            <a:r>
              <a:rPr lang="en-GB" sz="1600" b="1" dirty="0">
                <a:solidFill>
                  <a:srgbClr val="2A00FF"/>
                </a:solidFill>
                <a:latin typeface="Consolas" panose="020B0609020204030204" pitchFamily="49" charset="0"/>
              </a:rPr>
              <a:t>"Honda"</a:t>
            </a:r>
            <a:r>
              <a:rPr lang="en-GB" sz="1600" b="1" dirty="0">
                <a:solidFill>
                  <a:srgbClr val="000000"/>
                </a:solidFill>
                <a:latin typeface="Consolas" panose="020B0609020204030204" pitchFamily="49" charset="0"/>
              </a:rPr>
              <a:t>);  	</a:t>
            </a:r>
            <a:endParaRPr lang="en-GB" sz="1600" dirty="0">
              <a:latin typeface="Consolas" panose="020B0609020204030204" pitchFamily="49" charset="0"/>
            </a:endParaRPr>
          </a:p>
        </p:txBody>
      </p:sp>
      <p:sp>
        <p:nvSpPr>
          <p:cNvPr id="4" name="Rectangle 3"/>
          <p:cNvSpPr/>
          <p:nvPr/>
        </p:nvSpPr>
        <p:spPr>
          <a:xfrm>
            <a:off x="1360468" y="4727921"/>
            <a:ext cx="5767497" cy="1077218"/>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txBody>
          <a:bodyPr wrap="square">
            <a:spAutoFit/>
          </a:bodyPr>
          <a:lstStyle/>
          <a:p>
            <a:r>
              <a:rPr lang="en-GB" sz="1600" b="1" dirty="0">
                <a:solidFill>
                  <a:srgbClr val="7F0055"/>
                </a:solidFill>
                <a:latin typeface="Consolas" panose="020B0609020204030204" pitchFamily="49" charset="0"/>
              </a:rPr>
              <a:t>if</a:t>
            </a:r>
            <a:r>
              <a:rPr lang="en-GB" sz="1600" b="1" dirty="0">
                <a:solidFill>
                  <a:srgbClr val="000000"/>
                </a:solidFill>
                <a:latin typeface="Consolas" panose="020B0609020204030204" pitchFamily="49" charset="0"/>
              </a:rPr>
              <a:t>( !</a:t>
            </a:r>
            <a:r>
              <a:rPr lang="en-GB" sz="1600" b="1" dirty="0" err="1">
                <a:solidFill>
                  <a:srgbClr val="6A3E3E"/>
                </a:solidFill>
                <a:latin typeface="Consolas" panose="020B0609020204030204" pitchFamily="49" charset="0"/>
              </a:rPr>
              <a:t>cars</a:t>
            </a:r>
            <a:r>
              <a:rPr lang="en-GB" sz="1600" b="1" dirty="0" err="1">
                <a:solidFill>
                  <a:srgbClr val="000000"/>
                </a:solidFill>
                <a:latin typeface="Consolas" panose="020B0609020204030204" pitchFamily="49" charset="0"/>
              </a:rPr>
              <a:t>.containsKey</a:t>
            </a:r>
            <a:r>
              <a:rPr lang="en-GB" sz="1600" b="1" dirty="0">
                <a:solidFill>
                  <a:srgbClr val="000000"/>
                </a:solidFill>
                <a:latin typeface="Consolas" panose="020B0609020204030204" pitchFamily="49" charset="0"/>
              </a:rPr>
              <a:t>(</a:t>
            </a:r>
            <a:r>
              <a:rPr lang="en-GB" sz="1600" b="1" dirty="0">
                <a:solidFill>
                  <a:srgbClr val="2A00FF"/>
                </a:solidFill>
                <a:latin typeface="Consolas" panose="020B0609020204030204" pitchFamily="49" charset="0"/>
              </a:rPr>
              <a:t>"mike"</a:t>
            </a:r>
            <a:r>
              <a:rPr lang="en-GB" sz="1600" b="1" dirty="0">
                <a:solidFill>
                  <a:srgbClr val="000000"/>
                </a:solidFill>
                <a:latin typeface="Consolas" panose="020B0609020204030204" pitchFamily="49" charset="0"/>
              </a:rPr>
              <a:t>) ) {</a:t>
            </a:r>
          </a:p>
          <a:p>
            <a:endParaRPr lang="en-GB" sz="1600" dirty="0">
              <a:solidFill>
                <a:srgbClr val="6A3E3E"/>
              </a:solidFill>
              <a:latin typeface="Consolas" panose="020B0609020204030204" pitchFamily="49" charset="0"/>
            </a:endParaRPr>
          </a:p>
          <a:p>
            <a:r>
              <a:rPr lang="en-GB" sz="1600" dirty="0">
                <a:solidFill>
                  <a:srgbClr val="6A3E3E"/>
                </a:solidFill>
                <a:latin typeface="Consolas" panose="020B0609020204030204" pitchFamily="49" charset="0"/>
              </a:rPr>
              <a:t>	</a:t>
            </a:r>
            <a:r>
              <a:rPr lang="en-GB" sz="1600" b="1" dirty="0" err="1">
                <a:solidFill>
                  <a:srgbClr val="6A3E3E"/>
                </a:solidFill>
                <a:latin typeface="Consolas" panose="020B0609020204030204" pitchFamily="49" charset="0"/>
              </a:rPr>
              <a:t>cars</a:t>
            </a:r>
            <a:r>
              <a:rPr lang="en-GB" sz="1600" b="1" dirty="0" err="1">
                <a:solidFill>
                  <a:srgbClr val="000000"/>
                </a:solidFill>
                <a:latin typeface="Consolas" panose="020B0609020204030204" pitchFamily="49" charset="0"/>
              </a:rPr>
              <a:t>.Add</a:t>
            </a:r>
            <a:r>
              <a:rPr lang="en-GB" sz="1600" dirty="0">
                <a:solidFill>
                  <a:srgbClr val="000000"/>
                </a:solidFill>
                <a:latin typeface="Consolas" panose="020B0609020204030204" pitchFamily="49" charset="0"/>
              </a:rPr>
              <a:t>(</a:t>
            </a:r>
            <a:r>
              <a:rPr lang="en-GB" sz="1600" dirty="0">
                <a:solidFill>
                  <a:srgbClr val="2A00FF"/>
                </a:solidFill>
                <a:latin typeface="Consolas" panose="020B0609020204030204" pitchFamily="49" charset="0"/>
              </a:rPr>
              <a:t>"mike"</a:t>
            </a:r>
            <a:r>
              <a:rPr lang="en-GB" sz="1600"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Car(</a:t>
            </a:r>
            <a:r>
              <a:rPr lang="en-GB" sz="1600" b="1" dirty="0">
                <a:solidFill>
                  <a:srgbClr val="2A00FF"/>
                </a:solidFill>
                <a:latin typeface="Consolas" panose="020B0609020204030204" pitchFamily="49" charset="0"/>
              </a:rPr>
              <a:t>"Ferrari"</a:t>
            </a:r>
            <a:r>
              <a:rPr lang="en-GB" sz="1600" b="1" dirty="0">
                <a:solidFill>
                  <a:srgbClr val="000000"/>
                </a:solidFill>
                <a:latin typeface="Consolas" panose="020B0609020204030204" pitchFamily="49" charset="0"/>
              </a:rPr>
              <a:t>));</a:t>
            </a:r>
          </a:p>
          <a:p>
            <a:r>
              <a:rPr lang="en-GB" sz="1600" b="1" dirty="0">
                <a:solidFill>
                  <a:srgbClr val="000000"/>
                </a:solidFill>
                <a:latin typeface="Consolas" panose="020B0609020204030204" pitchFamily="49" charset="0"/>
              </a:rPr>
              <a:t>}</a:t>
            </a:r>
          </a:p>
        </p:txBody>
      </p:sp>
      <p:sp>
        <p:nvSpPr>
          <p:cNvPr id="5" name="Rounded Rectangular Callout 4"/>
          <p:cNvSpPr/>
          <p:nvPr/>
        </p:nvSpPr>
        <p:spPr>
          <a:xfrm>
            <a:off x="7297570" y="4688257"/>
            <a:ext cx="2251494" cy="624439"/>
          </a:xfrm>
          <a:prstGeom prst="wedgeRoundRectCallout">
            <a:avLst>
              <a:gd name="adj1" fmla="val -56258"/>
              <a:gd name="adj2" fmla="val 15521"/>
              <a:gd name="adj3" fmla="val 16667"/>
            </a:avLst>
          </a:prstGeom>
          <a:solidFill>
            <a:schemeClr val="bg1"/>
          </a:solidFill>
          <a:ln w="19050">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rgbClr val="004050"/>
                </a:solidFill>
                <a:cs typeface="Arial" pitchFamily="34" charset="0"/>
              </a:rPr>
              <a:t>Searching and </a:t>
            </a:r>
            <a:br>
              <a:rPr lang="en-GB" sz="1400" b="1" dirty="0">
                <a:solidFill>
                  <a:srgbClr val="004050"/>
                </a:solidFill>
                <a:cs typeface="Arial" pitchFamily="34" charset="0"/>
              </a:rPr>
            </a:br>
            <a:r>
              <a:rPr lang="en-GB" sz="1400" b="1" dirty="0">
                <a:solidFill>
                  <a:srgbClr val="004050"/>
                </a:solidFill>
                <a:cs typeface="Arial" pitchFamily="34" charset="0"/>
              </a:rPr>
              <a:t>inserting an item</a:t>
            </a:r>
          </a:p>
        </p:txBody>
      </p:sp>
      <p:sp>
        <p:nvSpPr>
          <p:cNvPr id="6" name="TextBox 5">
            <a:extLst>
              <a:ext uri="{FF2B5EF4-FFF2-40B4-BE49-F238E27FC236}">
                <a16:creationId xmlns:a16="http://schemas.microsoft.com/office/drawing/2014/main" id="{D7103F5C-B24D-7049-F0CE-8D607052955A}"/>
              </a:ext>
            </a:extLst>
          </p:cNvPr>
          <p:cNvSpPr txBox="1"/>
          <p:nvPr/>
        </p:nvSpPr>
        <p:spPr>
          <a:xfrm>
            <a:off x="5515907" y="3762981"/>
            <a:ext cx="3221693" cy="279430"/>
          </a:xfrm>
          <a:prstGeom prst="rect">
            <a:avLst/>
          </a:prstGeom>
          <a:ln>
            <a:noFill/>
          </a:ln>
          <a:effectLst>
            <a:outerShdw blurRad="50800" dist="38100" algn="l"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vert="horz" wrap="square" lIns="0" tIns="0" rIns="0" bIns="0" rtlCol="0" anchor="ctr" anchorCtr="0">
            <a:normAutofit/>
          </a:bodyPr>
          <a:lstStyle/>
          <a:p>
            <a:pPr algn="ctr"/>
            <a:r>
              <a:rPr lang="en-GB" sz="1200" b="1" dirty="0"/>
              <a:t>Using the same key replaces the item</a:t>
            </a:r>
          </a:p>
        </p:txBody>
      </p:sp>
      <p:sp>
        <p:nvSpPr>
          <p:cNvPr id="7" name="Rectangle 6">
            <a:extLst>
              <a:ext uri="{FF2B5EF4-FFF2-40B4-BE49-F238E27FC236}">
                <a16:creationId xmlns:a16="http://schemas.microsoft.com/office/drawing/2014/main" id="{A1106114-CD3B-6BE8-7E64-2E58A3911556}"/>
              </a:ext>
            </a:extLst>
          </p:cNvPr>
          <p:cNvSpPr/>
          <p:nvPr/>
        </p:nvSpPr>
        <p:spPr>
          <a:xfrm>
            <a:off x="5401095" y="2681523"/>
            <a:ext cx="505267" cy="523220"/>
          </a:xfrm>
          <a:prstGeom prst="rect">
            <a:avLst/>
          </a:prstGeom>
          <a:ln>
            <a:noFill/>
          </a:ln>
          <a:effectLst>
            <a:outerShdw blurRad="50800" dist="38100" algn="l" rotWithShape="0">
              <a:prstClr val="black">
                <a:alpha val="40000"/>
              </a:prstClr>
            </a:outerShdw>
          </a:effectLst>
        </p:spPr>
        <p:txBody>
          <a:bodyPr wrap="none">
            <a:spAutoFit/>
          </a:bodyPr>
          <a:lstStyle/>
          <a:p>
            <a:r>
              <a:rPr lang="en-GB" sz="2800" b="1" dirty="0">
                <a:solidFill>
                  <a:srgbClr val="C00000"/>
                </a:solidFill>
                <a:latin typeface="Consolas" panose="020B0609020204030204" pitchFamily="49" charset="0"/>
                <a:sym typeface="Wingdings" panose="05000000000000000000" pitchFamily="2" charset="2"/>
              </a:rPr>
              <a:t></a:t>
            </a:r>
            <a:endParaRPr lang="en-GB" sz="2800" dirty="0"/>
          </a:p>
        </p:txBody>
      </p:sp>
      <p:sp>
        <p:nvSpPr>
          <p:cNvPr id="8" name="TextBox 7">
            <a:extLst>
              <a:ext uri="{FF2B5EF4-FFF2-40B4-BE49-F238E27FC236}">
                <a16:creationId xmlns:a16="http://schemas.microsoft.com/office/drawing/2014/main" id="{B749BA08-A1C1-4641-AF33-3B80C6D5B606}"/>
              </a:ext>
            </a:extLst>
          </p:cNvPr>
          <p:cNvSpPr txBox="1"/>
          <p:nvPr/>
        </p:nvSpPr>
        <p:spPr>
          <a:xfrm>
            <a:off x="5871507" y="2752409"/>
            <a:ext cx="1921213" cy="386047"/>
          </a:xfrm>
          <a:prstGeom prst="rect">
            <a:avLst/>
          </a:prstGeom>
          <a:ln>
            <a:noFill/>
          </a:ln>
          <a:effectLst>
            <a:outerShdw blurRad="50800" dist="38100" algn="l"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vert="horz" wrap="square" lIns="0" tIns="0" rIns="0" bIns="0" rtlCol="0" anchor="ctr" anchorCtr="0">
            <a:normAutofit/>
          </a:bodyPr>
          <a:lstStyle/>
          <a:p>
            <a:pPr algn="ctr"/>
            <a:r>
              <a:rPr lang="en-GB" sz="1200" b="1" dirty="0"/>
              <a:t>Keys must be unique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338400" y="561600"/>
            <a:ext cx="11426880" cy="500400"/>
          </a:xfrm>
        </p:spPr>
        <p:txBody>
          <a:bodyPr/>
          <a:lstStyle/>
          <a:p>
            <a:pPr eaLnBrk="1" hangingPunct="1"/>
            <a:r>
              <a:rPr lang="en-GB" dirty="0"/>
              <a:t>Getting the  keys/values </a:t>
            </a:r>
          </a:p>
        </p:txBody>
      </p:sp>
      <p:sp>
        <p:nvSpPr>
          <p:cNvPr id="2" name="Rectangle 1"/>
          <p:cNvSpPr/>
          <p:nvPr/>
        </p:nvSpPr>
        <p:spPr>
          <a:xfrm>
            <a:off x="1501013" y="1694687"/>
            <a:ext cx="8472531" cy="3785652"/>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txBody>
          <a:bodyPr wrap="square">
            <a:spAutoFit/>
          </a:bodyPr>
          <a:lstStyle/>
          <a:p>
            <a:r>
              <a:rPr lang="en-GB" sz="1600" dirty="0">
                <a:solidFill>
                  <a:srgbClr val="000000"/>
                </a:solidFill>
                <a:latin typeface="Cascadia Mono" panose="020B0609020000020004" pitchFamily="49" charset="0"/>
              </a:rPr>
              <a:t>Dictionary&lt;</a:t>
            </a:r>
            <a:r>
              <a:rPr lang="en-GB" sz="1600" dirty="0">
                <a:solidFill>
                  <a:srgbClr val="0000FF"/>
                </a:solidFill>
                <a:latin typeface="Cascadia Mono" panose="020B0609020000020004" pitchFamily="49" charset="0"/>
              </a:rPr>
              <a:t>string</a:t>
            </a:r>
            <a:r>
              <a:rPr lang="en-GB" sz="1600" dirty="0">
                <a:solidFill>
                  <a:srgbClr val="000000"/>
                </a:solidFill>
                <a:latin typeface="Cascadia Mono" panose="020B0609020000020004" pitchFamily="49" charset="0"/>
              </a:rPr>
              <a:t>, Car&gt; cars = </a:t>
            </a:r>
            <a:r>
              <a:rPr lang="en-GB" sz="1600" dirty="0">
                <a:solidFill>
                  <a:srgbClr val="0000FF"/>
                </a:solidFill>
                <a:latin typeface="Cascadia Mono" panose="020B0609020000020004" pitchFamily="49" charset="0"/>
              </a:rPr>
              <a:t>new</a:t>
            </a:r>
            <a:r>
              <a:rPr lang="en-GB" sz="1600" dirty="0">
                <a:solidFill>
                  <a:srgbClr val="000000"/>
                </a:solidFill>
                <a:latin typeface="Cascadia Mono" panose="020B0609020000020004" pitchFamily="49" charset="0"/>
              </a:rPr>
              <a:t> Dictionary&lt;</a:t>
            </a:r>
            <a:r>
              <a:rPr lang="en-GB" sz="1600" dirty="0">
                <a:solidFill>
                  <a:srgbClr val="0000FF"/>
                </a:solidFill>
                <a:latin typeface="Cascadia Mono" panose="020B0609020000020004" pitchFamily="49" charset="0"/>
              </a:rPr>
              <a:t>string</a:t>
            </a:r>
            <a:r>
              <a:rPr lang="en-GB" sz="1600" dirty="0">
                <a:solidFill>
                  <a:srgbClr val="000000"/>
                </a:solidFill>
                <a:latin typeface="Cascadia Mono" panose="020B0609020000020004" pitchFamily="49" charset="0"/>
              </a:rPr>
              <a:t>, Car&gt;();</a:t>
            </a:r>
          </a:p>
          <a:p>
            <a:endParaRPr lang="en-GB" sz="1600" dirty="0">
              <a:solidFill>
                <a:srgbClr val="000000"/>
              </a:solidFill>
              <a:latin typeface="Cascadia Mono" panose="020B0609020000020004" pitchFamily="49" charset="0"/>
            </a:endParaRPr>
          </a:p>
          <a:p>
            <a:r>
              <a:rPr lang="en-GB" sz="1600" dirty="0" err="1">
                <a:solidFill>
                  <a:srgbClr val="000000"/>
                </a:solidFill>
                <a:latin typeface="Cascadia Mono" panose="020B0609020000020004" pitchFamily="49" charset="0"/>
              </a:rPr>
              <a:t>cars.Add</a:t>
            </a:r>
            <a:r>
              <a:rPr lang="en-GB" sz="1600" dirty="0">
                <a:solidFill>
                  <a:srgbClr val="000000"/>
                </a:solidFill>
                <a:latin typeface="Cascadia Mono" panose="020B0609020000020004" pitchFamily="49" charset="0"/>
              </a:rPr>
              <a:t>(</a:t>
            </a:r>
            <a:r>
              <a:rPr lang="en-GB" sz="1600" dirty="0">
                <a:solidFill>
                  <a:srgbClr val="A31515"/>
                </a:solidFill>
                <a:latin typeface="Cascadia Mono" panose="020B0609020000020004" pitchFamily="49" charset="0"/>
              </a:rPr>
              <a:t>"</a:t>
            </a:r>
            <a:r>
              <a:rPr lang="en-GB" sz="1600" dirty="0" err="1">
                <a:solidFill>
                  <a:srgbClr val="A31515"/>
                </a:solidFill>
                <a:latin typeface="Cascadia Mono" panose="020B0609020000020004" pitchFamily="49" charset="0"/>
              </a:rPr>
              <a:t>sam</a:t>
            </a:r>
            <a:r>
              <a:rPr lang="en-GB" sz="1600" dirty="0">
                <a:solidFill>
                  <a:srgbClr val="A31515"/>
                </a:solidFill>
                <a:latin typeface="Cascadia Mono" panose="020B0609020000020004" pitchFamily="49" charset="0"/>
              </a:rPr>
              <a:t>"</a:t>
            </a:r>
            <a:r>
              <a:rPr lang="en-GB" sz="1600" dirty="0">
                <a:solidFill>
                  <a:srgbClr val="000000"/>
                </a:solidFill>
                <a:latin typeface="Cascadia Mono" panose="020B0609020000020004" pitchFamily="49" charset="0"/>
              </a:rPr>
              <a:t>, </a:t>
            </a:r>
            <a:r>
              <a:rPr lang="en-GB" sz="1600" dirty="0">
                <a:solidFill>
                  <a:srgbClr val="0000FF"/>
                </a:solidFill>
                <a:latin typeface="Cascadia Mono" panose="020B0609020000020004" pitchFamily="49" charset="0"/>
              </a:rPr>
              <a:t>new</a:t>
            </a:r>
            <a:r>
              <a:rPr lang="en-GB" sz="1600" dirty="0">
                <a:solidFill>
                  <a:srgbClr val="000000"/>
                </a:solidFill>
                <a:latin typeface="Cascadia Mono" panose="020B0609020000020004" pitchFamily="49" charset="0"/>
              </a:rPr>
              <a:t> Car(</a:t>
            </a:r>
            <a:r>
              <a:rPr lang="en-GB" sz="1600" dirty="0">
                <a:solidFill>
                  <a:srgbClr val="A31515"/>
                </a:solidFill>
                <a:latin typeface="Cascadia Mono" panose="020B0609020000020004" pitchFamily="49" charset="0"/>
              </a:rPr>
              <a:t>"Ford"</a:t>
            </a:r>
            <a:r>
              <a:rPr lang="en-GB" sz="1600" dirty="0">
                <a:solidFill>
                  <a:srgbClr val="000000"/>
                </a:solidFill>
                <a:latin typeface="Cascadia Mono" panose="020B0609020000020004" pitchFamily="49" charset="0"/>
              </a:rPr>
              <a:t>));</a:t>
            </a:r>
          </a:p>
          <a:p>
            <a:r>
              <a:rPr lang="en-GB" sz="1600" dirty="0" err="1">
                <a:solidFill>
                  <a:srgbClr val="000000"/>
                </a:solidFill>
                <a:latin typeface="Cascadia Mono" panose="020B0609020000020004" pitchFamily="49" charset="0"/>
              </a:rPr>
              <a:t>cars.Add</a:t>
            </a:r>
            <a:r>
              <a:rPr lang="en-GB" sz="1600" dirty="0">
                <a:solidFill>
                  <a:srgbClr val="000000"/>
                </a:solidFill>
                <a:latin typeface="Cascadia Mono" panose="020B0609020000020004" pitchFamily="49" charset="0"/>
              </a:rPr>
              <a:t>(</a:t>
            </a:r>
            <a:r>
              <a:rPr lang="en-GB" sz="1600" dirty="0">
                <a:solidFill>
                  <a:srgbClr val="A31515"/>
                </a:solidFill>
                <a:latin typeface="Cascadia Mono" panose="020B0609020000020004" pitchFamily="49" charset="0"/>
              </a:rPr>
              <a:t>"joe"</a:t>
            </a:r>
            <a:r>
              <a:rPr lang="en-GB" sz="1600" dirty="0">
                <a:solidFill>
                  <a:srgbClr val="000000"/>
                </a:solidFill>
                <a:latin typeface="Cascadia Mono" panose="020B0609020000020004" pitchFamily="49" charset="0"/>
              </a:rPr>
              <a:t>, </a:t>
            </a:r>
            <a:r>
              <a:rPr lang="en-GB" sz="1600" dirty="0">
                <a:solidFill>
                  <a:srgbClr val="0000FF"/>
                </a:solidFill>
                <a:latin typeface="Cascadia Mono" panose="020B0609020000020004" pitchFamily="49" charset="0"/>
              </a:rPr>
              <a:t>new</a:t>
            </a:r>
            <a:r>
              <a:rPr lang="en-GB" sz="1600" dirty="0">
                <a:solidFill>
                  <a:srgbClr val="000000"/>
                </a:solidFill>
                <a:latin typeface="Cascadia Mono" panose="020B0609020000020004" pitchFamily="49" charset="0"/>
              </a:rPr>
              <a:t> Car(</a:t>
            </a:r>
            <a:r>
              <a:rPr lang="en-GB" sz="1600" dirty="0">
                <a:solidFill>
                  <a:srgbClr val="A31515"/>
                </a:solidFill>
                <a:latin typeface="Cascadia Mono" panose="020B0609020000020004" pitchFamily="49" charset="0"/>
              </a:rPr>
              <a:t>"BMW"</a:t>
            </a:r>
            <a:r>
              <a:rPr lang="en-GB" sz="1600" dirty="0">
                <a:solidFill>
                  <a:srgbClr val="000000"/>
                </a:solidFill>
                <a:latin typeface="Cascadia Mono" panose="020B0609020000020004" pitchFamily="49" charset="0"/>
              </a:rPr>
              <a:t>));</a:t>
            </a:r>
          </a:p>
          <a:p>
            <a:endParaRPr lang="en-GB" sz="1600" dirty="0">
              <a:solidFill>
                <a:srgbClr val="000000"/>
              </a:solidFill>
              <a:latin typeface="Cascadia Mono" panose="020B0609020000020004" pitchFamily="49" charset="0"/>
            </a:endParaRPr>
          </a:p>
          <a:p>
            <a:r>
              <a:rPr lang="en-GB" sz="1600" dirty="0">
                <a:solidFill>
                  <a:srgbClr val="0000FF"/>
                </a:solidFill>
                <a:latin typeface="Cascadia Mono" panose="020B0609020000020004" pitchFamily="49" charset="0"/>
              </a:rPr>
              <a:t>foreach</a:t>
            </a:r>
            <a:r>
              <a:rPr lang="en-GB" sz="1600" dirty="0">
                <a:solidFill>
                  <a:srgbClr val="000000"/>
                </a:solidFill>
                <a:latin typeface="Cascadia Mono" panose="020B0609020000020004" pitchFamily="49" charset="0"/>
              </a:rPr>
              <a:t> (var item </a:t>
            </a:r>
            <a:r>
              <a:rPr lang="en-GB" sz="1600" dirty="0">
                <a:solidFill>
                  <a:srgbClr val="0000FF"/>
                </a:solidFill>
                <a:latin typeface="Cascadia Mono" panose="020B0609020000020004" pitchFamily="49" charset="0"/>
              </a:rPr>
              <a:t>in</a:t>
            </a:r>
            <a:r>
              <a:rPr lang="en-GB" sz="1600" dirty="0">
                <a:solidFill>
                  <a:srgbClr val="000000"/>
                </a:solidFill>
                <a:latin typeface="Cascadia Mono" panose="020B0609020000020004" pitchFamily="49" charset="0"/>
              </a:rPr>
              <a:t> </a:t>
            </a:r>
            <a:r>
              <a:rPr lang="en-GB" sz="1600" dirty="0" err="1">
                <a:solidFill>
                  <a:srgbClr val="000000"/>
                </a:solidFill>
                <a:latin typeface="Cascadia Mono" panose="020B0609020000020004" pitchFamily="49" charset="0"/>
              </a:rPr>
              <a:t>cars.Values</a:t>
            </a:r>
            <a:r>
              <a:rPr lang="en-GB" sz="1600" dirty="0">
                <a:solidFill>
                  <a:srgbClr val="000000"/>
                </a:solidFill>
                <a:latin typeface="Cascadia Mono" panose="020B0609020000020004" pitchFamily="49" charset="0"/>
              </a:rPr>
              <a:t>)</a:t>
            </a:r>
          </a:p>
          <a:p>
            <a:r>
              <a:rPr lang="en-GB" sz="1600" dirty="0">
                <a:solidFill>
                  <a:srgbClr val="000000"/>
                </a:solidFill>
                <a:latin typeface="Cascadia Mono" panose="020B0609020000020004" pitchFamily="49" charset="0"/>
              </a:rPr>
              <a:t>{</a:t>
            </a:r>
          </a:p>
          <a:p>
            <a:r>
              <a:rPr lang="en-GB" sz="1600" dirty="0">
                <a:solidFill>
                  <a:srgbClr val="000000"/>
                </a:solidFill>
                <a:latin typeface="Cascadia Mono" panose="020B0609020000020004" pitchFamily="49" charset="0"/>
              </a:rPr>
              <a:t>    </a:t>
            </a:r>
            <a:r>
              <a:rPr lang="en-GB" sz="1600" dirty="0" err="1">
                <a:solidFill>
                  <a:srgbClr val="000000"/>
                </a:solidFill>
                <a:latin typeface="Cascadia Mono" panose="020B0609020000020004" pitchFamily="49" charset="0"/>
              </a:rPr>
              <a:t>Console.WriteLine</a:t>
            </a:r>
            <a:r>
              <a:rPr lang="en-GB" sz="1600" dirty="0">
                <a:solidFill>
                  <a:srgbClr val="000000"/>
                </a:solidFill>
                <a:latin typeface="Cascadia Mono" panose="020B0609020000020004" pitchFamily="49" charset="0"/>
              </a:rPr>
              <a:t>(</a:t>
            </a:r>
            <a:r>
              <a:rPr lang="en-GB" sz="1600" dirty="0">
                <a:solidFill>
                  <a:srgbClr val="A31515"/>
                </a:solidFill>
                <a:latin typeface="Cascadia Mono" panose="020B0609020000020004" pitchFamily="49" charset="0"/>
              </a:rPr>
              <a:t>"Value: "</a:t>
            </a:r>
            <a:r>
              <a:rPr lang="en-GB" sz="1600" dirty="0">
                <a:solidFill>
                  <a:srgbClr val="000000"/>
                </a:solidFill>
                <a:latin typeface="Cascadia Mono" panose="020B0609020000020004" pitchFamily="49" charset="0"/>
              </a:rPr>
              <a:t> + </a:t>
            </a:r>
            <a:r>
              <a:rPr lang="en-GB" sz="1600" dirty="0" err="1">
                <a:solidFill>
                  <a:srgbClr val="000000"/>
                </a:solidFill>
                <a:latin typeface="Cascadia Mono" panose="020B0609020000020004" pitchFamily="49" charset="0"/>
              </a:rPr>
              <a:t>item.model</a:t>
            </a:r>
            <a:r>
              <a:rPr lang="en-GB" sz="1600" dirty="0">
                <a:solidFill>
                  <a:srgbClr val="000000"/>
                </a:solidFill>
                <a:latin typeface="Cascadia Mono" panose="020B0609020000020004" pitchFamily="49" charset="0"/>
              </a:rPr>
              <a:t>);</a:t>
            </a:r>
          </a:p>
          <a:p>
            <a:r>
              <a:rPr lang="en-GB" sz="1600" dirty="0">
                <a:solidFill>
                  <a:srgbClr val="000000"/>
                </a:solidFill>
                <a:latin typeface="Cascadia Mono" panose="020B0609020000020004" pitchFamily="49" charset="0"/>
              </a:rPr>
              <a:t>}</a:t>
            </a:r>
          </a:p>
          <a:p>
            <a:endParaRPr lang="en-GB" sz="1600" dirty="0">
              <a:solidFill>
                <a:srgbClr val="000000"/>
              </a:solidFill>
              <a:latin typeface="Cascadia Mono" panose="020B0609020000020004" pitchFamily="49" charset="0"/>
            </a:endParaRPr>
          </a:p>
          <a:p>
            <a:r>
              <a:rPr lang="en-GB" sz="1600" dirty="0">
                <a:solidFill>
                  <a:srgbClr val="0000FF"/>
                </a:solidFill>
                <a:latin typeface="Cascadia Mono" panose="020B0609020000020004" pitchFamily="49" charset="0"/>
              </a:rPr>
              <a:t>foreach</a:t>
            </a:r>
            <a:r>
              <a:rPr lang="en-GB" sz="1600" dirty="0">
                <a:solidFill>
                  <a:srgbClr val="000000"/>
                </a:solidFill>
                <a:latin typeface="Cascadia Mono" panose="020B0609020000020004" pitchFamily="49" charset="0"/>
              </a:rPr>
              <a:t> (var item </a:t>
            </a:r>
            <a:r>
              <a:rPr lang="en-GB" sz="1600" dirty="0">
                <a:solidFill>
                  <a:srgbClr val="0000FF"/>
                </a:solidFill>
                <a:latin typeface="Cascadia Mono" panose="020B0609020000020004" pitchFamily="49" charset="0"/>
              </a:rPr>
              <a:t>in</a:t>
            </a:r>
            <a:r>
              <a:rPr lang="en-GB" sz="1600" dirty="0">
                <a:solidFill>
                  <a:srgbClr val="000000"/>
                </a:solidFill>
                <a:latin typeface="Cascadia Mono" panose="020B0609020000020004" pitchFamily="49" charset="0"/>
              </a:rPr>
              <a:t> </a:t>
            </a:r>
            <a:r>
              <a:rPr lang="en-GB" sz="1600" dirty="0" err="1">
                <a:solidFill>
                  <a:srgbClr val="000000"/>
                </a:solidFill>
                <a:latin typeface="Cascadia Mono" panose="020B0609020000020004" pitchFamily="49" charset="0"/>
              </a:rPr>
              <a:t>cars.Keys</a:t>
            </a:r>
            <a:r>
              <a:rPr lang="en-GB" sz="1600" dirty="0">
                <a:solidFill>
                  <a:srgbClr val="000000"/>
                </a:solidFill>
                <a:latin typeface="Cascadia Mono" panose="020B0609020000020004" pitchFamily="49" charset="0"/>
              </a:rPr>
              <a:t>)</a:t>
            </a:r>
          </a:p>
          <a:p>
            <a:r>
              <a:rPr lang="en-GB" sz="1600" dirty="0">
                <a:solidFill>
                  <a:srgbClr val="000000"/>
                </a:solidFill>
                <a:latin typeface="Cascadia Mono" panose="020B0609020000020004" pitchFamily="49" charset="0"/>
              </a:rPr>
              <a:t>{</a:t>
            </a:r>
          </a:p>
          <a:p>
            <a:r>
              <a:rPr lang="en-GB" sz="1600" dirty="0">
                <a:solidFill>
                  <a:srgbClr val="000000"/>
                </a:solidFill>
                <a:latin typeface="Cascadia Mono" panose="020B0609020000020004" pitchFamily="49" charset="0"/>
              </a:rPr>
              <a:t>    </a:t>
            </a:r>
            <a:r>
              <a:rPr lang="en-GB" sz="1600" dirty="0" err="1">
                <a:solidFill>
                  <a:srgbClr val="000000"/>
                </a:solidFill>
                <a:latin typeface="Cascadia Mono" panose="020B0609020000020004" pitchFamily="49" charset="0"/>
              </a:rPr>
              <a:t>Console.WriteLine</a:t>
            </a:r>
            <a:r>
              <a:rPr lang="en-GB" sz="1600" dirty="0">
                <a:solidFill>
                  <a:srgbClr val="000000"/>
                </a:solidFill>
                <a:latin typeface="Cascadia Mono" panose="020B0609020000020004" pitchFamily="49" charset="0"/>
              </a:rPr>
              <a:t>(</a:t>
            </a:r>
            <a:r>
              <a:rPr lang="en-GB" sz="1600" dirty="0">
                <a:solidFill>
                  <a:srgbClr val="A31515"/>
                </a:solidFill>
                <a:latin typeface="Cascadia Mono" panose="020B0609020000020004" pitchFamily="49" charset="0"/>
              </a:rPr>
              <a:t>"Key: "</a:t>
            </a:r>
            <a:r>
              <a:rPr lang="en-GB" sz="1600" dirty="0">
                <a:solidFill>
                  <a:srgbClr val="000000"/>
                </a:solidFill>
                <a:latin typeface="Cascadia Mono" panose="020B0609020000020004" pitchFamily="49" charset="0"/>
              </a:rPr>
              <a:t> + item);</a:t>
            </a:r>
          </a:p>
          <a:p>
            <a:r>
              <a:rPr lang="en-GB" sz="1600" dirty="0">
                <a:solidFill>
                  <a:srgbClr val="000000"/>
                </a:solidFill>
                <a:latin typeface="Cascadia Mono" panose="020B0609020000020004" pitchFamily="49" charset="0"/>
              </a:rPr>
              <a:t>}</a:t>
            </a:r>
          </a:p>
          <a:p>
            <a:endParaRPr lang="en-GB" sz="1600" dirty="0">
              <a:solidFill>
                <a:srgbClr val="000000"/>
              </a:solidFill>
              <a:latin typeface="Consolas" panose="020B0609020204030204" pitchFamily="49" charset="0"/>
            </a:endParaRPr>
          </a:p>
        </p:txBody>
      </p:sp>
      <p:sp>
        <p:nvSpPr>
          <p:cNvPr id="7" name="TextBox 6">
            <a:extLst>
              <a:ext uri="{FF2B5EF4-FFF2-40B4-BE49-F238E27FC236}">
                <a16:creationId xmlns:a16="http://schemas.microsoft.com/office/drawing/2014/main" id="{18FFB2A7-61BA-6058-8097-30310D1A0893}"/>
              </a:ext>
            </a:extLst>
          </p:cNvPr>
          <p:cNvSpPr txBox="1"/>
          <p:nvPr/>
        </p:nvSpPr>
        <p:spPr>
          <a:xfrm>
            <a:off x="7660640" y="3103156"/>
            <a:ext cx="1737360" cy="584775"/>
          </a:xfrm>
          <a:prstGeom prst="rect">
            <a:avLst/>
          </a:prstGeom>
          <a:ln>
            <a:noFill/>
          </a:ln>
          <a:effectLst>
            <a:outerShdw blurRad="50800" dist="38100" algn="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a:spAutoFit/>
          </a:bodyPr>
          <a:lstStyle/>
          <a:p>
            <a:r>
              <a:rPr lang="en-GB" sz="1600" b="1" dirty="0"/>
              <a:t>Value: Ford</a:t>
            </a:r>
          </a:p>
          <a:p>
            <a:r>
              <a:rPr lang="en-GB" sz="1600" b="1" dirty="0"/>
              <a:t>Value: BMW</a:t>
            </a:r>
          </a:p>
        </p:txBody>
      </p:sp>
      <p:sp>
        <p:nvSpPr>
          <p:cNvPr id="8" name="TextBox 7">
            <a:extLst>
              <a:ext uri="{FF2B5EF4-FFF2-40B4-BE49-F238E27FC236}">
                <a16:creationId xmlns:a16="http://schemas.microsoft.com/office/drawing/2014/main" id="{64725106-7F61-64F8-48BA-864CE8682056}"/>
              </a:ext>
            </a:extLst>
          </p:cNvPr>
          <p:cNvSpPr txBox="1"/>
          <p:nvPr/>
        </p:nvSpPr>
        <p:spPr>
          <a:xfrm>
            <a:off x="7660640" y="4387375"/>
            <a:ext cx="1737360" cy="584775"/>
          </a:xfrm>
          <a:prstGeom prst="rect">
            <a:avLst/>
          </a:prstGeom>
          <a:ln>
            <a:noFill/>
          </a:ln>
          <a:effectLst>
            <a:outerShdw blurRad="50800" dist="38100" algn="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a:spAutoFit/>
          </a:bodyPr>
          <a:lstStyle/>
          <a:p>
            <a:r>
              <a:rPr lang="en-GB" sz="1600" b="1" dirty="0"/>
              <a:t>Key: </a:t>
            </a:r>
            <a:r>
              <a:rPr lang="en-GB" sz="1600" b="1" dirty="0" err="1"/>
              <a:t>sam</a:t>
            </a:r>
            <a:endParaRPr lang="en-GB" sz="1600" b="1" dirty="0"/>
          </a:p>
          <a:p>
            <a:r>
              <a:rPr lang="en-GB" sz="1600" b="1" dirty="0"/>
              <a:t>Key: joe</a:t>
            </a:r>
          </a:p>
        </p:txBody>
      </p:sp>
    </p:spTree>
    <p:extLst>
      <p:ext uri="{BB962C8B-B14F-4D97-AF65-F5344CB8AC3E}">
        <p14:creationId xmlns:p14="http://schemas.microsoft.com/office/powerpoint/2010/main" val="950382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7DB2FFCB-5218-4EB6-B482-795F1AC9FD59}"/>
              </a:ext>
            </a:extLst>
          </p:cNvPr>
          <p:cNvSpPr>
            <a:spLocks noGrp="1" noChangeArrowheads="1"/>
          </p:cNvSpPr>
          <p:nvPr>
            <p:ph type="body" sz="quarter" idx="11"/>
          </p:nvPr>
        </p:nvSpPr>
        <p:spPr>
          <a:xfrm>
            <a:off x="5618480" y="579438"/>
            <a:ext cx="6197283" cy="5899150"/>
          </a:xfrm>
        </p:spPr>
        <p:txBody>
          <a:bodyPr/>
          <a:lstStyle/>
          <a:p>
            <a:r>
              <a:rPr lang="en-GB" b="1" dirty="0"/>
              <a:t>C# 2.0 (2006) introduced generic types</a:t>
            </a:r>
          </a:p>
          <a:p>
            <a:pPr marL="342000" indent="-342900">
              <a:buFont typeface="Arial" panose="020B0604020202020204" pitchFamily="34" charset="0"/>
              <a:buChar char="•"/>
            </a:pPr>
            <a:r>
              <a:rPr lang="en-GB" dirty="0"/>
              <a:t>Improve performance and type safety</a:t>
            </a:r>
          </a:p>
          <a:p>
            <a:pPr marL="342000" indent="-342900">
              <a:buFont typeface="Arial" panose="020B0604020202020204" pitchFamily="34" charset="0"/>
              <a:buChar char="•"/>
            </a:pPr>
            <a:endParaRPr lang="en-GB" dirty="0">
              <a:latin typeface="Lucida Console" pitchFamily="49" charset="0"/>
            </a:endParaRPr>
          </a:p>
          <a:p>
            <a:pPr marL="342000" indent="-342900">
              <a:buFont typeface="Arial" panose="020B0604020202020204" pitchFamily="34" charset="0"/>
              <a:buChar char="•"/>
            </a:pPr>
            <a:r>
              <a:rPr lang="en-GB" dirty="0">
                <a:latin typeface="Lucida Console" pitchFamily="49" charset="0"/>
              </a:rPr>
              <a:t>List&lt;T&gt;</a:t>
            </a:r>
            <a:r>
              <a:rPr lang="en-GB" dirty="0"/>
              <a:t> &amp; Dictionary</a:t>
            </a:r>
            <a:r>
              <a:rPr lang="en-GB" dirty="0">
                <a:latin typeface="Lucida Console" pitchFamily="49" charset="0"/>
              </a:rPr>
              <a:t>&lt;</a:t>
            </a:r>
            <a:r>
              <a:rPr lang="en-GB" dirty="0" err="1">
                <a:latin typeface="Lucida Console" pitchFamily="49" charset="0"/>
              </a:rPr>
              <a:t>TKey,TValue</a:t>
            </a:r>
            <a:r>
              <a:rPr lang="en-GB" dirty="0">
                <a:latin typeface="Lucida Console" pitchFamily="49" charset="0"/>
              </a:rPr>
              <a:t>&gt;</a:t>
            </a:r>
            <a:endParaRPr lang="en-GB" dirty="0"/>
          </a:p>
          <a:p>
            <a:pPr marL="342000" indent="-342900">
              <a:buFont typeface="Arial" panose="020B0604020202020204" pitchFamily="34" charset="0"/>
              <a:buChar char="•"/>
            </a:pPr>
            <a:endParaRPr lang="en-GB" dirty="0"/>
          </a:p>
          <a:p>
            <a:pPr marL="342000" indent="-342900">
              <a:buFont typeface="Arial" panose="020B0604020202020204" pitchFamily="34" charset="0"/>
              <a:buChar char="•"/>
            </a:pPr>
            <a:r>
              <a:rPr lang="en-GB" dirty="0"/>
              <a:t>Stack and Queue provide LIFO and FIFO behaviour </a:t>
            </a:r>
            <a:endParaRPr lang="en-GB" dirty="0">
              <a:latin typeface="Lucida Console" pitchFamily="49" charset="0"/>
            </a:endParaRPr>
          </a:p>
          <a:p>
            <a:pPr marL="342000" indent="-342900">
              <a:buFont typeface="Arial" panose="020B0604020202020204" pitchFamily="34" charset="0"/>
              <a:buChar char="•"/>
            </a:pPr>
            <a:endParaRPr lang="en-GB" dirty="0">
              <a:latin typeface="Lucida Console" pitchFamily="49" charset="0"/>
            </a:endParaRPr>
          </a:p>
          <a:p>
            <a:r>
              <a:rPr lang="en-GB" sz="2000" dirty="0">
                <a:solidFill>
                  <a:srgbClr val="0000FF"/>
                </a:solidFill>
                <a:latin typeface="Cascadia Mono" panose="020B0609020000020004" pitchFamily="49" charset="0"/>
              </a:rPr>
              <a:t>using</a:t>
            </a:r>
            <a:r>
              <a:rPr lang="en-GB" sz="2000" dirty="0">
                <a:solidFill>
                  <a:srgbClr val="000000"/>
                </a:solidFill>
                <a:latin typeface="Cascadia Mono" panose="020B0609020000020004" pitchFamily="49" charset="0"/>
              </a:rPr>
              <a:t> </a:t>
            </a:r>
            <a:r>
              <a:rPr lang="en-GB" sz="2000" dirty="0" err="1">
                <a:solidFill>
                  <a:srgbClr val="000000"/>
                </a:solidFill>
                <a:latin typeface="Cascadia Mono" panose="020B0609020000020004" pitchFamily="49" charset="0"/>
              </a:rPr>
              <a:t>System.Collections.Generic</a:t>
            </a:r>
            <a:r>
              <a:rPr lang="en-GB" sz="2000" dirty="0">
                <a:solidFill>
                  <a:srgbClr val="000000"/>
                </a:solidFill>
                <a:latin typeface="Cascadia Mono" panose="020B0609020000020004" pitchFamily="49" charset="0"/>
              </a:rPr>
              <a:t>;</a:t>
            </a:r>
            <a:endParaRPr lang="en-GB" dirty="0">
              <a:latin typeface="Lucida Console" pitchFamily="49" charset="0"/>
            </a:endParaRPr>
          </a:p>
          <a:p>
            <a:pPr marL="342000"/>
            <a:endParaRPr lang="en-GB" dirty="0">
              <a:latin typeface="Lucida Console" pitchFamily="49" charset="0"/>
            </a:endParaRPr>
          </a:p>
          <a:p>
            <a:endParaRPr lang="en-GB" dirty="0"/>
          </a:p>
          <a:p>
            <a:pPr>
              <a:buNone/>
            </a:pPr>
            <a:endParaRPr lang="en-GB" dirty="0"/>
          </a:p>
        </p:txBody>
      </p:sp>
      <p:pic>
        <p:nvPicPr>
          <p:cNvPr id="5" name="Picture 2" descr="Reviews - Web Sites: Recommended - Research Guides at Thrift Library">
            <a:extLst>
              <a:ext uri="{FF2B5EF4-FFF2-40B4-BE49-F238E27FC236}">
                <a16:creationId xmlns:a16="http://schemas.microsoft.com/office/drawing/2014/main" id="{869B0C33-9DA7-57A4-F4BD-779CB02549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062" y="218981"/>
            <a:ext cx="2251845" cy="22518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92CBDF4-8BDC-9244-90D8-4156156421D8}"/>
              </a:ext>
            </a:extLst>
          </p:cNvPr>
          <p:cNvSpPr>
            <a:spLocks noGrp="1"/>
          </p:cNvSpPr>
          <p:nvPr>
            <p:ph type="body" sz="quarter" idx="16"/>
          </p:nvPr>
        </p:nvSpPr>
        <p:spPr/>
        <p:txBody>
          <a:bodyPr/>
          <a:lstStyle/>
          <a:p>
            <a:r>
              <a:rPr lang="en-GB" dirty="0"/>
              <a:t>Labs</a:t>
            </a:r>
          </a:p>
        </p:txBody>
      </p:sp>
      <p:sp>
        <p:nvSpPr>
          <p:cNvPr id="5" name="Rectangle: Rounded Corners 4">
            <a:extLst>
              <a:ext uri="{FF2B5EF4-FFF2-40B4-BE49-F238E27FC236}">
                <a16:creationId xmlns:a16="http://schemas.microsoft.com/office/drawing/2014/main" id="{75CD2E04-C5D6-DA22-0FEE-B09C01FDD653}"/>
              </a:ext>
            </a:extLst>
          </p:cNvPr>
          <p:cNvSpPr/>
          <p:nvPr/>
        </p:nvSpPr>
        <p:spPr>
          <a:xfrm>
            <a:off x="4910321" y="2294842"/>
            <a:ext cx="5770328" cy="1322118"/>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GB"/>
          </a:p>
        </p:txBody>
      </p:sp>
      <p:sp>
        <p:nvSpPr>
          <p:cNvPr id="7" name="Freeform: Shape 6">
            <a:extLst>
              <a:ext uri="{FF2B5EF4-FFF2-40B4-BE49-F238E27FC236}">
                <a16:creationId xmlns:a16="http://schemas.microsoft.com/office/drawing/2014/main" id="{202C343E-F1ED-4B69-F9FA-D084B296B987}"/>
              </a:ext>
            </a:extLst>
          </p:cNvPr>
          <p:cNvSpPr/>
          <p:nvPr/>
        </p:nvSpPr>
        <p:spPr>
          <a:xfrm>
            <a:off x="5866738" y="2294842"/>
            <a:ext cx="4813910" cy="1134158"/>
          </a:xfrm>
          <a:custGeom>
            <a:avLst/>
            <a:gdLst>
              <a:gd name="connsiteX0" fmla="*/ 0 w 4813910"/>
              <a:gd name="connsiteY0" fmla="*/ 0 h 828067"/>
              <a:gd name="connsiteX1" fmla="*/ 4813910 w 4813910"/>
              <a:gd name="connsiteY1" fmla="*/ 0 h 828067"/>
              <a:gd name="connsiteX2" fmla="*/ 4813910 w 4813910"/>
              <a:gd name="connsiteY2" fmla="*/ 828067 h 828067"/>
              <a:gd name="connsiteX3" fmla="*/ 0 w 4813910"/>
              <a:gd name="connsiteY3" fmla="*/ 828067 h 828067"/>
              <a:gd name="connsiteX4" fmla="*/ 0 w 4813910"/>
              <a:gd name="connsiteY4" fmla="*/ 0 h 8280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3910" h="828067">
                <a:moveTo>
                  <a:pt x="0" y="0"/>
                </a:moveTo>
                <a:lnTo>
                  <a:pt x="4813910" y="0"/>
                </a:lnTo>
                <a:lnTo>
                  <a:pt x="4813910" y="828067"/>
                </a:lnTo>
                <a:lnTo>
                  <a:pt x="0" y="82806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7637" tIns="87637" rIns="87637" bIns="87637" numCol="1" spcCol="1270" anchor="ctr" anchorCtr="0">
            <a:noAutofit/>
          </a:bodyPr>
          <a:lstStyle/>
          <a:p>
            <a:pPr marL="0" lvl="0" indent="0" algn="l" defTabSz="711200">
              <a:lnSpc>
                <a:spcPct val="90000"/>
              </a:lnSpc>
              <a:spcBef>
                <a:spcPct val="0"/>
              </a:spcBef>
              <a:spcAft>
                <a:spcPct val="35000"/>
              </a:spcAft>
              <a:buNone/>
            </a:pPr>
            <a:endParaRPr lang="en-GB" sz="1600" b="1" kern="1200" dirty="0"/>
          </a:p>
          <a:p>
            <a:pPr marL="0" lvl="0" indent="0" algn="l" defTabSz="711200">
              <a:lnSpc>
                <a:spcPct val="90000"/>
              </a:lnSpc>
              <a:spcBef>
                <a:spcPct val="0"/>
              </a:spcBef>
              <a:spcAft>
                <a:spcPct val="35000"/>
              </a:spcAft>
              <a:buNone/>
            </a:pPr>
            <a:r>
              <a:rPr lang="en-GB" sz="1600" b="1" kern="1200" dirty="0"/>
              <a:t>Zoo Animals</a:t>
            </a:r>
          </a:p>
          <a:p>
            <a:pPr marL="0" lvl="0" indent="0" algn="l" defTabSz="711200">
              <a:lnSpc>
                <a:spcPct val="90000"/>
              </a:lnSpc>
              <a:spcBef>
                <a:spcPct val="0"/>
              </a:spcBef>
              <a:spcAft>
                <a:spcPct val="35000"/>
              </a:spcAft>
              <a:buFont typeface="Arial" panose="020B0604020202020204" pitchFamily="34" charset="0"/>
              <a:buNone/>
            </a:pPr>
            <a:endParaRPr lang="en-GB" sz="1600" kern="1200" dirty="0"/>
          </a:p>
          <a:p>
            <a:pPr marL="0" lvl="0" indent="0" algn="l" defTabSz="711200">
              <a:lnSpc>
                <a:spcPct val="90000"/>
              </a:lnSpc>
              <a:spcBef>
                <a:spcPct val="0"/>
              </a:spcBef>
              <a:spcAft>
                <a:spcPct val="35000"/>
              </a:spcAft>
              <a:buFont typeface="Arial" panose="020B0604020202020204" pitchFamily="34" charset="0"/>
              <a:buNone/>
            </a:pPr>
            <a:r>
              <a:rPr lang="en-GB" sz="1600" b="1" kern="1200" dirty="0">
                <a:solidFill>
                  <a:srgbClr val="0070C0"/>
                </a:solidFill>
              </a:rPr>
              <a:t>Using HashMap&lt;K, V&gt;</a:t>
            </a:r>
          </a:p>
        </p:txBody>
      </p:sp>
      <p:sp>
        <p:nvSpPr>
          <p:cNvPr id="11" name="Rectangle: Rounded Corners 10">
            <a:extLst>
              <a:ext uri="{FF2B5EF4-FFF2-40B4-BE49-F238E27FC236}">
                <a16:creationId xmlns:a16="http://schemas.microsoft.com/office/drawing/2014/main" id="{E23DC168-6A83-9904-F141-0FA0E824BFA2}"/>
              </a:ext>
            </a:extLst>
          </p:cNvPr>
          <p:cNvSpPr/>
          <p:nvPr/>
        </p:nvSpPr>
        <p:spPr>
          <a:xfrm>
            <a:off x="4910321" y="3980166"/>
            <a:ext cx="5770328" cy="828067"/>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GB"/>
          </a:p>
        </p:txBody>
      </p:sp>
      <p:sp>
        <p:nvSpPr>
          <p:cNvPr id="12" name="Rectangle 11" descr="Clock">
            <a:extLst>
              <a:ext uri="{FF2B5EF4-FFF2-40B4-BE49-F238E27FC236}">
                <a16:creationId xmlns:a16="http://schemas.microsoft.com/office/drawing/2014/main" id="{17A5E406-8A23-1CD4-F274-632C4BD64E6A}"/>
              </a:ext>
            </a:extLst>
          </p:cNvPr>
          <p:cNvSpPr/>
          <p:nvPr/>
        </p:nvSpPr>
        <p:spPr>
          <a:xfrm>
            <a:off x="5160811" y="4166481"/>
            <a:ext cx="455437" cy="455437"/>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3" name="Freeform: Shape 12">
            <a:extLst>
              <a:ext uri="{FF2B5EF4-FFF2-40B4-BE49-F238E27FC236}">
                <a16:creationId xmlns:a16="http://schemas.microsoft.com/office/drawing/2014/main" id="{68C0FAEB-C22A-7247-6E61-B9DC3007864C}"/>
              </a:ext>
            </a:extLst>
          </p:cNvPr>
          <p:cNvSpPr/>
          <p:nvPr/>
        </p:nvSpPr>
        <p:spPr>
          <a:xfrm>
            <a:off x="5866738" y="3980166"/>
            <a:ext cx="4813910" cy="828067"/>
          </a:xfrm>
          <a:custGeom>
            <a:avLst/>
            <a:gdLst>
              <a:gd name="connsiteX0" fmla="*/ 0 w 4813910"/>
              <a:gd name="connsiteY0" fmla="*/ 0 h 828067"/>
              <a:gd name="connsiteX1" fmla="*/ 4813910 w 4813910"/>
              <a:gd name="connsiteY1" fmla="*/ 0 h 828067"/>
              <a:gd name="connsiteX2" fmla="*/ 4813910 w 4813910"/>
              <a:gd name="connsiteY2" fmla="*/ 828067 h 828067"/>
              <a:gd name="connsiteX3" fmla="*/ 0 w 4813910"/>
              <a:gd name="connsiteY3" fmla="*/ 828067 h 828067"/>
              <a:gd name="connsiteX4" fmla="*/ 0 w 4813910"/>
              <a:gd name="connsiteY4" fmla="*/ 0 h 8280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3910" h="828067">
                <a:moveTo>
                  <a:pt x="0" y="0"/>
                </a:moveTo>
                <a:lnTo>
                  <a:pt x="4813910" y="0"/>
                </a:lnTo>
                <a:lnTo>
                  <a:pt x="4813910" y="828067"/>
                </a:lnTo>
                <a:lnTo>
                  <a:pt x="0" y="82806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7637" tIns="87637" rIns="87637" bIns="87637" numCol="1" spcCol="1270" anchor="ctr" anchorCtr="0">
            <a:noAutofit/>
          </a:bodyPr>
          <a:lstStyle/>
          <a:p>
            <a:pPr marL="0" lvl="0" indent="0" algn="l" defTabSz="711200">
              <a:lnSpc>
                <a:spcPct val="90000"/>
              </a:lnSpc>
              <a:spcBef>
                <a:spcPct val="0"/>
              </a:spcBef>
              <a:spcAft>
                <a:spcPct val="35000"/>
              </a:spcAft>
              <a:buNone/>
            </a:pPr>
            <a:r>
              <a:rPr lang="en-US" sz="1600" b="1" kern="1200" dirty="0"/>
              <a:t>Duration 1 hour</a:t>
            </a:r>
          </a:p>
        </p:txBody>
      </p:sp>
      <p:pic>
        <p:nvPicPr>
          <p:cNvPr id="17" name="Graphic 16" descr="Owl outline">
            <a:extLst>
              <a:ext uri="{FF2B5EF4-FFF2-40B4-BE49-F238E27FC236}">
                <a16:creationId xmlns:a16="http://schemas.microsoft.com/office/drawing/2014/main" id="{A4729DDB-F5C9-0A88-0A31-FFBBEE3E355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88560" y="2311400"/>
            <a:ext cx="763292" cy="763292"/>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equenceNumber xmlns="6794D9DE-4FDF-4DC0-8B2C-5438320C69D5" xsi:nil="true"/>
    <IsBuildFile xmlns="6794D9DE-4FDF-4DC0-8B2C-5438320C69D5" xsi:nil="true"/>
    <BookTypeField0 xmlns="6794D9DE-4FDF-4DC0-8B2C-5438320C69D5">
      <Terms xmlns="http://schemas.microsoft.com/office/infopath/2007/PartnerControls">
        <TermInfo xmlns="http://schemas.microsoft.com/office/infopath/2007/PartnerControls">
          <TermName xmlns="http://schemas.microsoft.com/office/infopath/2007/PartnerControls">IK</TermName>
          <TermId xmlns="http://schemas.microsoft.com/office/infopath/2007/PartnerControls">5abe6401-e87a-4499-80b4-3d21a1a6ebd7</TermId>
        </TermInfo>
      </Terms>
    </BookTypeField0>
  </documentManagement>
</p:properties>
</file>

<file path=customXml/item3.xml><?xml version="1.0" encoding="utf-8"?>
<ct:contentTypeSchema xmlns:ct="http://schemas.microsoft.com/office/2006/metadata/contentType" xmlns:ma="http://schemas.microsoft.com/office/2006/metadata/properties/metaAttributes" ct:_="" ma:_="" ma:contentTypeName="Courseware" ma:contentTypeID="0x010100F0967B7CEE8D417F966757887D9466FB00B3EF5B1D149FDF49B1880C030D548140" ma:contentTypeVersion="0" ma:contentTypeDescription="Base content type which represents courseware documents" ma:contentTypeScope="" ma:versionID="ab0d7ca79e0ea5a537b031f986da336c">
  <xsd:schema xmlns:xsd="http://www.w3.org/2001/XMLSchema" xmlns:xs="http://www.w3.org/2001/XMLSchema" xmlns:p="http://schemas.microsoft.com/office/2006/metadata/properties" xmlns:ns2="6794D9DE-4FDF-4DC0-8B2C-5438320C69D5" targetNamespace="http://schemas.microsoft.com/office/2006/metadata/properties" ma:root="true" ma:fieldsID="7ff8e7c62cc10108c036e94c947d8fb9" ns2:_="">
    <xsd:import namespace="6794D9DE-4FDF-4DC0-8B2C-5438320C69D5"/>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94D9DE-4FDF-4DC0-8B2C-5438320C69D5"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F004844-36BD-44EF-80B0-D60F4D27F6BD}">
  <ds:schemaRefs>
    <ds:schemaRef ds:uri="http://schemas.microsoft.com/sharepoint/v3/contenttype/forms"/>
  </ds:schemaRefs>
</ds:datastoreItem>
</file>

<file path=customXml/itemProps2.xml><?xml version="1.0" encoding="utf-8"?>
<ds:datastoreItem xmlns:ds="http://schemas.openxmlformats.org/officeDocument/2006/customXml" ds:itemID="{284C91E7-BCBE-4A78-B356-5B7CBEC3A857}">
  <ds:schemaRefs>
    <ds:schemaRef ds:uri="http://schemas.microsoft.com/office/2006/documentManagement/types"/>
    <ds:schemaRef ds:uri="http://schemas.microsoft.com/office/2006/metadata/properties"/>
    <ds:schemaRef ds:uri="http://purl.org/dc/dcmitype/"/>
    <ds:schemaRef ds:uri="http://www.w3.org/XML/1998/namespace"/>
    <ds:schemaRef ds:uri="http://schemas.microsoft.com/office/infopath/2007/PartnerControls"/>
    <ds:schemaRef ds:uri="http://purl.org/dc/terms/"/>
    <ds:schemaRef ds:uri="http://schemas.openxmlformats.org/package/2006/metadata/core-properties"/>
    <ds:schemaRef ds:uri="6794D9DE-4FDF-4DC0-8B2C-5438320C69D5"/>
    <ds:schemaRef ds:uri="http://purl.org/dc/elements/1.1/"/>
  </ds:schemaRefs>
</ds:datastoreItem>
</file>

<file path=customXml/itemProps3.xml><?xml version="1.0" encoding="utf-8"?>
<ds:datastoreItem xmlns:ds="http://schemas.openxmlformats.org/officeDocument/2006/customXml" ds:itemID="{2442E54C-49B3-4ECE-8754-14C669579C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794D9DE-4FDF-4DC0-8B2C-5438320C69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1391</Words>
  <Application>Microsoft Office PowerPoint</Application>
  <PresentationFormat>Widescreen</PresentationFormat>
  <Paragraphs>199</Paragraphs>
  <Slides>15</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Calibri</vt:lpstr>
      <vt:lpstr>Cascadia Mono</vt:lpstr>
      <vt:lpstr>Consolas</vt:lpstr>
      <vt:lpstr>Courier New</vt:lpstr>
      <vt:lpstr>Krana Fat B</vt:lpstr>
      <vt:lpstr>Lucida Console</vt:lpstr>
      <vt:lpstr>Montserrat</vt:lpstr>
      <vt:lpstr>Master</vt:lpstr>
      <vt:lpstr>Collections &amp; Generics</vt:lpstr>
      <vt:lpstr>PowerPoint Presentation</vt:lpstr>
      <vt:lpstr>Arrays vs Collection classes</vt:lpstr>
      <vt:lpstr>Collection classes before .NET 2  (2006)</vt:lpstr>
      <vt:lpstr>Generic collection classes</vt:lpstr>
      <vt:lpstr>Iterating through a generic List</vt:lpstr>
      <vt:lpstr>Filtering items – an example of using Linq</vt:lpstr>
      <vt:lpstr>Generic Collections framework Types</vt:lpstr>
      <vt:lpstr>Queue – FIFO</vt:lpstr>
      <vt:lpstr>PowerPoint Presentation</vt:lpstr>
      <vt:lpstr>PowerPoint Presentation</vt:lpstr>
      <vt:lpstr>Usage of Dictionary of key/value pairs </vt:lpstr>
      <vt:lpstr>Getting the  keys/values </vt:lpstr>
      <vt:lpstr>PowerPoint Presentation</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mike baradaran</cp:lastModifiedBy>
  <cp:revision>1056</cp:revision>
  <cp:lastPrinted>2019-07-03T09:46:41Z</cp:lastPrinted>
  <dcterms:created xsi:type="dcterms:W3CDTF">2019-09-05T08:17:12Z</dcterms:created>
  <dcterms:modified xsi:type="dcterms:W3CDTF">2025-12-10T11:37:55Z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1500</vt:r8>
  </property>
  <property fmtid="{D5CDD505-2E9C-101B-9397-08002B2CF9AE}" pid="3" name="Chapter">
    <vt:lpwstr>1</vt:lpwstr>
  </property>
  <property fmtid="{D5CDD505-2E9C-101B-9397-08002B2CF9AE}" pid="4" name="ContentTypeId">
    <vt:lpwstr>0x010100F0967B7CEE8D417F966757887D9466FB00B3EF5B1D149FDF49B1880C030D548140</vt:lpwstr>
  </property>
  <property fmtid="{D5CDD505-2E9C-101B-9397-08002B2CF9AE}" pid="5" name="BookType">
    <vt:lpwstr>7</vt:lpwstr>
  </property>
</Properties>
</file>