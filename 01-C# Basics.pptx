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6"/>
  </p:notesMasterIdLst>
  <p:handoutMasterIdLst>
    <p:handoutMasterId r:id="rId47"/>
  </p:handoutMasterIdLst>
  <p:sldIdLst>
    <p:sldId id="299" r:id="rId5"/>
    <p:sldId id="1562" r:id="rId6"/>
    <p:sldId id="1563" r:id="rId7"/>
    <p:sldId id="1610" r:id="rId8"/>
    <p:sldId id="1567" r:id="rId9"/>
    <p:sldId id="1568" r:id="rId10"/>
    <p:sldId id="1611" r:id="rId11"/>
    <p:sldId id="1569" r:id="rId12"/>
    <p:sldId id="1572" r:id="rId13"/>
    <p:sldId id="1573" r:id="rId14"/>
    <p:sldId id="1574" r:id="rId15"/>
    <p:sldId id="1575" r:id="rId16"/>
    <p:sldId id="1576" r:id="rId17"/>
    <p:sldId id="1577" r:id="rId18"/>
    <p:sldId id="1609" r:id="rId19"/>
    <p:sldId id="1578" r:id="rId20"/>
    <p:sldId id="1579" r:id="rId21"/>
    <p:sldId id="1558" r:id="rId22"/>
    <p:sldId id="1560" r:id="rId23"/>
    <p:sldId id="1571" r:id="rId24"/>
    <p:sldId id="1583" r:id="rId25"/>
    <p:sldId id="1585" r:id="rId26"/>
    <p:sldId id="1586" r:id="rId27"/>
    <p:sldId id="1559" r:id="rId28"/>
    <p:sldId id="1588" r:id="rId29"/>
    <p:sldId id="1561" r:id="rId30"/>
    <p:sldId id="1590" r:id="rId31"/>
    <p:sldId id="1595" r:id="rId32"/>
    <p:sldId id="1597" r:id="rId33"/>
    <p:sldId id="1599" r:id="rId34"/>
    <p:sldId id="1600" r:id="rId35"/>
    <p:sldId id="1601" r:id="rId36"/>
    <p:sldId id="1602" r:id="rId37"/>
    <p:sldId id="1603" r:id="rId38"/>
    <p:sldId id="1604" r:id="rId39"/>
    <p:sldId id="1605" r:id="rId40"/>
    <p:sldId id="1570" r:id="rId41"/>
    <p:sldId id="1606" r:id="rId42"/>
    <p:sldId id="789" r:id="rId43"/>
    <p:sldId id="790" r:id="rId44"/>
    <p:sldId id="306" r:id="rId45"/>
  </p:sldIdLst>
  <p:sldSz cx="12192000" cy="6858000"/>
  <p:notesSz cx="9775825" cy="6645275"/>
  <p:custDataLst>
    <p:tags r:id="rId4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Sterne, Symon" initials="SS" lastIdx="71" clrIdx="2">
    <p:extLst>
      <p:ext uri="{19B8F6BF-5375-455C-9EA6-DF929625EA0E}">
        <p15:presenceInfo xmlns:p15="http://schemas.microsoft.com/office/powerpoint/2012/main" userId="S-1-5-21-3476036342-1731177862-1559577602-528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050"/>
    <a:srgbClr val="F3622C"/>
    <a:srgbClr val="F7916D"/>
    <a:srgbClr val="28CFF9"/>
    <a:srgbClr val="000000"/>
    <a:srgbClr val="09EDB8"/>
    <a:srgbClr val="7E007C"/>
    <a:srgbClr val="BE7FBD"/>
    <a:srgbClr val="E5EC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89" autoAdjust="0"/>
    <p:restoredTop sz="59325" autoAdjust="0"/>
  </p:normalViewPr>
  <p:slideViewPr>
    <p:cSldViewPr snapToGrid="0" snapToObjects="1" showGuides="1">
      <p:cViewPr varScale="1">
        <p:scale>
          <a:sx n="49" d="100"/>
          <a:sy n="49" d="100"/>
        </p:scale>
        <p:origin x="414" y="48"/>
      </p:cViewPr>
      <p:guideLst>
        <p:guide pos="3840"/>
        <p:guide orient="horz" pos="377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showGuides="1">
      <p:cViewPr varScale="1">
        <p:scale>
          <a:sx n="133" d="100"/>
          <a:sy n="133" d="100"/>
        </p:scale>
        <p:origin x="2016" y="8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commentAuthors" Target="commentAuthors.xml"/></Relationships>
</file>

<file path=ppt/diagrams/_rels/data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ata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2A72D3-E135-4843-BE9E-BB1E07D6FDFE}"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1D34B3C9-910A-40E0-9A2A-E3E23E4AD09F}">
      <dgm:prSet/>
      <dgm:spPr/>
      <dgm:t>
        <a:bodyPr/>
        <a:lstStyle/>
        <a:p>
          <a:pPr>
            <a:defRPr b="1"/>
          </a:pPr>
          <a:r>
            <a:rPr lang="en-GB" b="1" dirty="0"/>
            <a:t>Objectives</a:t>
          </a:r>
          <a:endParaRPr lang="en-US" dirty="0"/>
        </a:p>
      </dgm:t>
    </dgm:pt>
    <dgm:pt modelId="{B89495C8-60F8-4C84-A33E-993839734F29}" type="parTrans" cxnId="{D3EF7098-958D-406A-994A-AC32EC4816FF}">
      <dgm:prSet/>
      <dgm:spPr/>
      <dgm:t>
        <a:bodyPr/>
        <a:lstStyle/>
        <a:p>
          <a:endParaRPr lang="en-US"/>
        </a:p>
      </dgm:t>
    </dgm:pt>
    <dgm:pt modelId="{E490D328-8B64-4C33-AC4D-163D7A091206}" type="sibTrans" cxnId="{D3EF7098-958D-406A-994A-AC32EC4816FF}">
      <dgm:prSet/>
      <dgm:spPr/>
      <dgm:t>
        <a:bodyPr/>
        <a:lstStyle/>
        <a:p>
          <a:endParaRPr lang="en-US"/>
        </a:p>
      </dgm:t>
    </dgm:pt>
    <dgm:pt modelId="{46C36F30-39D6-495F-AE95-32B182023CE3}">
      <dgm:prSet/>
      <dgm:spPr/>
      <dgm:t>
        <a:bodyPr/>
        <a:lstStyle/>
        <a:p>
          <a:r>
            <a:rPr lang="en-GB" dirty="0"/>
            <a:t>To introduce C# </a:t>
          </a:r>
          <a:r>
            <a:rPr lang="en-GB" dirty="0" err="1"/>
            <a:t>.Net</a:t>
          </a:r>
          <a:r>
            <a:rPr lang="en-GB" dirty="0"/>
            <a:t>  Technologies </a:t>
          </a:r>
          <a:br>
            <a:rPr lang="en-GB" dirty="0"/>
          </a:br>
          <a:r>
            <a:rPr lang="en-GB" dirty="0"/>
            <a:t>and language</a:t>
          </a:r>
          <a:endParaRPr lang="en-US" dirty="0"/>
        </a:p>
      </dgm:t>
    </dgm:pt>
    <dgm:pt modelId="{D3578D36-77FE-47EA-855D-A873D82C3509}" type="parTrans" cxnId="{09F07E53-4A77-433D-9FA6-7B8ADF2D6CFA}">
      <dgm:prSet/>
      <dgm:spPr/>
      <dgm:t>
        <a:bodyPr/>
        <a:lstStyle/>
        <a:p>
          <a:endParaRPr lang="en-US"/>
        </a:p>
      </dgm:t>
    </dgm:pt>
    <dgm:pt modelId="{A22E0485-BEE7-4CD5-A5A8-DEE0E0294DA3}" type="sibTrans" cxnId="{09F07E53-4A77-433D-9FA6-7B8ADF2D6CFA}">
      <dgm:prSet/>
      <dgm:spPr/>
      <dgm:t>
        <a:bodyPr/>
        <a:lstStyle/>
        <a:p>
          <a:endParaRPr lang="en-US"/>
        </a:p>
      </dgm:t>
    </dgm:pt>
    <dgm:pt modelId="{5B7D7465-504A-4638-A905-544FD93BFD35}">
      <dgm:prSet/>
      <dgm:spPr/>
      <dgm:t>
        <a:bodyPr/>
        <a:lstStyle/>
        <a:p>
          <a:r>
            <a:rPr lang="en-GB" dirty="0"/>
            <a:t>Take at look around Eclipse</a:t>
          </a:r>
          <a:endParaRPr lang="en-US" dirty="0"/>
        </a:p>
      </dgm:t>
    </dgm:pt>
    <dgm:pt modelId="{9C1AB942-C715-413D-A42A-470B395D3AE5}" type="parTrans" cxnId="{A48EA13B-D0AA-4204-8411-8DFC3537FC3F}">
      <dgm:prSet/>
      <dgm:spPr/>
      <dgm:t>
        <a:bodyPr/>
        <a:lstStyle/>
        <a:p>
          <a:endParaRPr lang="en-US"/>
        </a:p>
      </dgm:t>
    </dgm:pt>
    <dgm:pt modelId="{BFDD6F98-A316-4D12-BD93-6EE676C9E74E}" type="sibTrans" cxnId="{A48EA13B-D0AA-4204-8411-8DFC3537FC3F}">
      <dgm:prSet/>
      <dgm:spPr/>
      <dgm:t>
        <a:bodyPr/>
        <a:lstStyle/>
        <a:p>
          <a:endParaRPr lang="en-US"/>
        </a:p>
      </dgm:t>
    </dgm:pt>
    <dgm:pt modelId="{EA167791-65A5-4008-81E2-351102980718}">
      <dgm:prSet/>
      <dgm:spPr/>
      <dgm:t>
        <a:bodyPr/>
        <a:lstStyle/>
        <a:p>
          <a:pPr>
            <a:defRPr b="1"/>
          </a:pPr>
          <a:r>
            <a:rPr lang="en-GB" b="1"/>
            <a:t>Contents</a:t>
          </a:r>
          <a:endParaRPr lang="en-US"/>
        </a:p>
      </dgm:t>
    </dgm:pt>
    <dgm:pt modelId="{922FB8AF-411F-4452-842D-0C36F633F802}" type="parTrans" cxnId="{912B590E-A827-4E2B-931E-2C3818172F7B}">
      <dgm:prSet/>
      <dgm:spPr/>
      <dgm:t>
        <a:bodyPr/>
        <a:lstStyle/>
        <a:p>
          <a:endParaRPr lang="en-US"/>
        </a:p>
      </dgm:t>
    </dgm:pt>
    <dgm:pt modelId="{E45A625F-B102-4DED-A1C4-5A0D26AA5DF0}" type="sibTrans" cxnId="{912B590E-A827-4E2B-931E-2C3818172F7B}">
      <dgm:prSet/>
      <dgm:spPr/>
      <dgm:t>
        <a:bodyPr/>
        <a:lstStyle/>
        <a:p>
          <a:endParaRPr lang="en-US"/>
        </a:p>
      </dgm:t>
    </dgm:pt>
    <dgm:pt modelId="{C27CE5B8-8FE4-4511-A07C-0442F2AD064B}">
      <dgm:prSet/>
      <dgm:spPr/>
      <dgm:t>
        <a:bodyPr/>
        <a:lstStyle/>
        <a:p>
          <a:r>
            <a:rPr lang="en-GB" dirty="0"/>
            <a:t>The C#s story</a:t>
          </a:r>
          <a:endParaRPr lang="en-US" dirty="0"/>
        </a:p>
      </dgm:t>
    </dgm:pt>
    <dgm:pt modelId="{312DA582-ADDF-4D4D-BF7E-45C59045DA52}" type="parTrans" cxnId="{B00D7ED6-29E6-4A04-BBED-F7FEE2B63FF7}">
      <dgm:prSet/>
      <dgm:spPr/>
      <dgm:t>
        <a:bodyPr/>
        <a:lstStyle/>
        <a:p>
          <a:endParaRPr lang="en-US"/>
        </a:p>
      </dgm:t>
    </dgm:pt>
    <dgm:pt modelId="{87926723-0D5F-4BE0-AD66-40BD54DEAEF1}" type="sibTrans" cxnId="{B00D7ED6-29E6-4A04-BBED-F7FEE2B63FF7}">
      <dgm:prSet/>
      <dgm:spPr/>
      <dgm:t>
        <a:bodyPr/>
        <a:lstStyle/>
        <a:p>
          <a:endParaRPr lang="en-US"/>
        </a:p>
      </dgm:t>
    </dgm:pt>
    <dgm:pt modelId="{C79C3A58-3248-4418-A664-C5070E01BC10}">
      <dgm:prSet/>
      <dgm:spPr/>
      <dgm:t>
        <a:bodyPr/>
        <a:lstStyle/>
        <a:p>
          <a:r>
            <a:rPr lang="en-GB"/>
            <a:t>Key framework features</a:t>
          </a:r>
          <a:endParaRPr lang="en-US"/>
        </a:p>
      </dgm:t>
    </dgm:pt>
    <dgm:pt modelId="{C1869219-05E5-4C7D-9AAE-8A660AE48FB4}" type="parTrans" cxnId="{ED2D85A2-E7B3-4A49-957C-18A1D88258C6}">
      <dgm:prSet/>
      <dgm:spPr/>
      <dgm:t>
        <a:bodyPr/>
        <a:lstStyle/>
        <a:p>
          <a:endParaRPr lang="en-US"/>
        </a:p>
      </dgm:t>
    </dgm:pt>
    <dgm:pt modelId="{EB3274CE-00F9-49CF-A1CD-9B96BDA8B705}" type="sibTrans" cxnId="{ED2D85A2-E7B3-4A49-957C-18A1D88258C6}">
      <dgm:prSet/>
      <dgm:spPr/>
      <dgm:t>
        <a:bodyPr/>
        <a:lstStyle/>
        <a:p>
          <a:endParaRPr lang="en-US"/>
        </a:p>
      </dgm:t>
    </dgm:pt>
    <dgm:pt modelId="{E732285C-F6BE-4795-922D-CD8DCEA5330E}">
      <dgm:prSet/>
      <dgm:spPr/>
      <dgm:t>
        <a:bodyPr/>
        <a:lstStyle/>
        <a:p>
          <a:r>
            <a:rPr lang="en-GB"/>
            <a:t>Basic code construction</a:t>
          </a:r>
          <a:endParaRPr lang="en-US"/>
        </a:p>
      </dgm:t>
    </dgm:pt>
    <dgm:pt modelId="{7571771C-B39D-4959-AB1F-D3AF57D4D9FF}" type="parTrans" cxnId="{BD898310-5EDD-4619-8F30-A4A1A292AAFE}">
      <dgm:prSet/>
      <dgm:spPr/>
      <dgm:t>
        <a:bodyPr/>
        <a:lstStyle/>
        <a:p>
          <a:endParaRPr lang="en-US"/>
        </a:p>
      </dgm:t>
    </dgm:pt>
    <dgm:pt modelId="{66C16210-7FD6-42AC-9077-198D1A8D0B02}" type="sibTrans" cxnId="{BD898310-5EDD-4619-8F30-A4A1A292AAFE}">
      <dgm:prSet/>
      <dgm:spPr/>
      <dgm:t>
        <a:bodyPr/>
        <a:lstStyle/>
        <a:p>
          <a:endParaRPr lang="en-US"/>
        </a:p>
      </dgm:t>
    </dgm:pt>
    <dgm:pt modelId="{30164BD6-8440-4D86-8F26-96194506E4A8}">
      <dgm:prSet/>
      <dgm:spPr/>
      <dgm:t>
        <a:bodyPr/>
        <a:lstStyle/>
        <a:p>
          <a:r>
            <a:rPr lang="en-GB"/>
            <a:t>Your first application </a:t>
          </a:r>
          <a:endParaRPr lang="en-US"/>
        </a:p>
      </dgm:t>
    </dgm:pt>
    <dgm:pt modelId="{9E642E79-E09B-4374-AB18-AF0C350C8830}" type="parTrans" cxnId="{AE7263DC-3F6A-4A65-9666-FC325C3E18E2}">
      <dgm:prSet/>
      <dgm:spPr/>
      <dgm:t>
        <a:bodyPr/>
        <a:lstStyle/>
        <a:p>
          <a:endParaRPr lang="en-US"/>
        </a:p>
      </dgm:t>
    </dgm:pt>
    <dgm:pt modelId="{ADAB673A-A75D-4F74-8074-8E0C7733D932}" type="sibTrans" cxnId="{AE7263DC-3F6A-4A65-9666-FC325C3E18E2}">
      <dgm:prSet/>
      <dgm:spPr/>
      <dgm:t>
        <a:bodyPr/>
        <a:lstStyle/>
        <a:p>
          <a:endParaRPr lang="en-US"/>
        </a:p>
      </dgm:t>
    </dgm:pt>
    <dgm:pt modelId="{9F063B2E-7B37-47E9-8AF3-BF9C5BF7E75A}" type="pres">
      <dgm:prSet presAssocID="{B02A72D3-E135-4843-BE9E-BB1E07D6FDFE}" presName="root" presStyleCnt="0">
        <dgm:presLayoutVars>
          <dgm:dir/>
          <dgm:resizeHandles val="exact"/>
        </dgm:presLayoutVars>
      </dgm:prSet>
      <dgm:spPr/>
    </dgm:pt>
    <dgm:pt modelId="{213F3386-6752-4CC6-A554-A95862FBC6EC}" type="pres">
      <dgm:prSet presAssocID="{1D34B3C9-910A-40E0-9A2A-E3E23E4AD09F}" presName="compNode" presStyleCnt="0"/>
      <dgm:spPr/>
    </dgm:pt>
    <dgm:pt modelId="{B135C750-C66E-4273-B300-55DA555424DC}" type="pres">
      <dgm:prSet presAssocID="{1D34B3C9-910A-40E0-9A2A-E3E23E4AD09F}"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ullseye"/>
        </a:ext>
      </dgm:extLst>
    </dgm:pt>
    <dgm:pt modelId="{E5C22ABB-B4AA-486C-A4DE-758D3E4F0C4B}" type="pres">
      <dgm:prSet presAssocID="{1D34B3C9-910A-40E0-9A2A-E3E23E4AD09F}" presName="iconSpace" presStyleCnt="0"/>
      <dgm:spPr/>
    </dgm:pt>
    <dgm:pt modelId="{06E1A8C7-CDF2-41A5-A2B1-0BE10F197A86}" type="pres">
      <dgm:prSet presAssocID="{1D34B3C9-910A-40E0-9A2A-E3E23E4AD09F}" presName="parTx" presStyleLbl="revTx" presStyleIdx="0" presStyleCnt="4">
        <dgm:presLayoutVars>
          <dgm:chMax val="0"/>
          <dgm:chPref val="0"/>
        </dgm:presLayoutVars>
      </dgm:prSet>
      <dgm:spPr/>
    </dgm:pt>
    <dgm:pt modelId="{07A058C8-8BC8-4025-85B0-D447527DAE41}" type="pres">
      <dgm:prSet presAssocID="{1D34B3C9-910A-40E0-9A2A-E3E23E4AD09F}" presName="txSpace" presStyleCnt="0"/>
      <dgm:spPr/>
    </dgm:pt>
    <dgm:pt modelId="{89F72C44-C33E-4983-B52E-9362153F2F12}" type="pres">
      <dgm:prSet presAssocID="{1D34B3C9-910A-40E0-9A2A-E3E23E4AD09F}" presName="desTx" presStyleLbl="revTx" presStyleIdx="1" presStyleCnt="4">
        <dgm:presLayoutVars/>
      </dgm:prSet>
      <dgm:spPr/>
    </dgm:pt>
    <dgm:pt modelId="{7C25DFE4-A722-4840-8DCF-BCACD8753742}" type="pres">
      <dgm:prSet presAssocID="{E490D328-8B64-4C33-AC4D-163D7A091206}" presName="sibTrans" presStyleCnt="0"/>
      <dgm:spPr/>
    </dgm:pt>
    <dgm:pt modelId="{222DDC11-D562-4F30-9F94-D0BAFE9A1BB5}" type="pres">
      <dgm:prSet presAssocID="{EA167791-65A5-4008-81E2-351102980718}" presName="compNode" presStyleCnt="0"/>
      <dgm:spPr/>
    </dgm:pt>
    <dgm:pt modelId="{DC5CFCE8-D5F3-4E4B-ABD2-14BDFE5E8244}" type="pres">
      <dgm:prSet presAssocID="{EA167791-65A5-4008-81E2-35110298071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3353D1F1-6388-4FB3-A37A-2E96634E22FA}" type="pres">
      <dgm:prSet presAssocID="{EA167791-65A5-4008-81E2-351102980718}" presName="iconSpace" presStyleCnt="0"/>
      <dgm:spPr/>
    </dgm:pt>
    <dgm:pt modelId="{B11B91C4-97C7-40A1-8068-B2FD0F3C1F80}" type="pres">
      <dgm:prSet presAssocID="{EA167791-65A5-4008-81E2-351102980718}" presName="parTx" presStyleLbl="revTx" presStyleIdx="2" presStyleCnt="4">
        <dgm:presLayoutVars>
          <dgm:chMax val="0"/>
          <dgm:chPref val="0"/>
        </dgm:presLayoutVars>
      </dgm:prSet>
      <dgm:spPr/>
    </dgm:pt>
    <dgm:pt modelId="{841BC0AA-FE90-49D4-983D-88DEAD63C4FC}" type="pres">
      <dgm:prSet presAssocID="{EA167791-65A5-4008-81E2-351102980718}" presName="txSpace" presStyleCnt="0"/>
      <dgm:spPr/>
    </dgm:pt>
    <dgm:pt modelId="{88AB73CC-23B9-44C5-A20D-52DDFEE73043}" type="pres">
      <dgm:prSet presAssocID="{EA167791-65A5-4008-81E2-351102980718}" presName="desTx" presStyleLbl="revTx" presStyleIdx="3" presStyleCnt="4">
        <dgm:presLayoutVars/>
      </dgm:prSet>
      <dgm:spPr/>
    </dgm:pt>
  </dgm:ptLst>
  <dgm:cxnLst>
    <dgm:cxn modelId="{912B590E-A827-4E2B-931E-2C3818172F7B}" srcId="{B02A72D3-E135-4843-BE9E-BB1E07D6FDFE}" destId="{EA167791-65A5-4008-81E2-351102980718}" srcOrd="1" destOrd="0" parTransId="{922FB8AF-411F-4452-842D-0C36F633F802}" sibTransId="{E45A625F-B102-4DED-A1C4-5A0D26AA5DF0}"/>
    <dgm:cxn modelId="{BD898310-5EDD-4619-8F30-A4A1A292AAFE}" srcId="{EA167791-65A5-4008-81E2-351102980718}" destId="{E732285C-F6BE-4795-922D-CD8DCEA5330E}" srcOrd="2" destOrd="0" parTransId="{7571771C-B39D-4959-AB1F-D3AF57D4D9FF}" sibTransId="{66C16210-7FD6-42AC-9077-198D1A8D0B02}"/>
    <dgm:cxn modelId="{A48EA13B-D0AA-4204-8411-8DFC3537FC3F}" srcId="{1D34B3C9-910A-40E0-9A2A-E3E23E4AD09F}" destId="{5B7D7465-504A-4638-A905-544FD93BFD35}" srcOrd="1" destOrd="0" parTransId="{9C1AB942-C715-413D-A42A-470B395D3AE5}" sibTransId="{BFDD6F98-A316-4D12-BD93-6EE676C9E74E}"/>
    <dgm:cxn modelId="{09F07E53-4A77-433D-9FA6-7B8ADF2D6CFA}" srcId="{1D34B3C9-910A-40E0-9A2A-E3E23E4AD09F}" destId="{46C36F30-39D6-495F-AE95-32B182023CE3}" srcOrd="0" destOrd="0" parTransId="{D3578D36-77FE-47EA-855D-A873D82C3509}" sibTransId="{A22E0485-BEE7-4CD5-A5A8-DEE0E0294DA3}"/>
    <dgm:cxn modelId="{E5E4FD55-F1B6-4EF3-94E4-55148C765F9D}" type="presOf" srcId="{E732285C-F6BE-4795-922D-CD8DCEA5330E}" destId="{88AB73CC-23B9-44C5-A20D-52DDFEE73043}" srcOrd="0" destOrd="2" presId="urn:microsoft.com/office/officeart/2018/2/layout/IconLabelDescriptionList"/>
    <dgm:cxn modelId="{6DE62456-6EB1-468A-8F7B-6654746DB699}" type="presOf" srcId="{46C36F30-39D6-495F-AE95-32B182023CE3}" destId="{89F72C44-C33E-4983-B52E-9362153F2F12}" srcOrd="0" destOrd="0" presId="urn:microsoft.com/office/officeart/2018/2/layout/IconLabelDescriptionList"/>
    <dgm:cxn modelId="{4B85017B-F1FD-407B-A2A8-5182A8EEA245}" type="presOf" srcId="{C27CE5B8-8FE4-4511-A07C-0442F2AD064B}" destId="{88AB73CC-23B9-44C5-A20D-52DDFEE73043}" srcOrd="0" destOrd="0" presId="urn:microsoft.com/office/officeart/2018/2/layout/IconLabelDescriptionList"/>
    <dgm:cxn modelId="{9E8A4195-F0D2-4D1C-B71A-9ABF43D3C66F}" type="presOf" srcId="{1D34B3C9-910A-40E0-9A2A-E3E23E4AD09F}" destId="{06E1A8C7-CDF2-41A5-A2B1-0BE10F197A86}" srcOrd="0" destOrd="0" presId="urn:microsoft.com/office/officeart/2018/2/layout/IconLabelDescriptionList"/>
    <dgm:cxn modelId="{D3EF7098-958D-406A-994A-AC32EC4816FF}" srcId="{B02A72D3-E135-4843-BE9E-BB1E07D6FDFE}" destId="{1D34B3C9-910A-40E0-9A2A-E3E23E4AD09F}" srcOrd="0" destOrd="0" parTransId="{B89495C8-60F8-4C84-A33E-993839734F29}" sibTransId="{E490D328-8B64-4C33-AC4D-163D7A091206}"/>
    <dgm:cxn modelId="{ED2D85A2-E7B3-4A49-957C-18A1D88258C6}" srcId="{EA167791-65A5-4008-81E2-351102980718}" destId="{C79C3A58-3248-4418-A664-C5070E01BC10}" srcOrd="1" destOrd="0" parTransId="{C1869219-05E5-4C7D-9AAE-8A660AE48FB4}" sibTransId="{EB3274CE-00F9-49CF-A1CD-9B96BDA8B705}"/>
    <dgm:cxn modelId="{7F41AFA9-385B-4060-B3E7-A40E8604F7F7}" type="presOf" srcId="{5B7D7465-504A-4638-A905-544FD93BFD35}" destId="{89F72C44-C33E-4983-B52E-9362153F2F12}" srcOrd="0" destOrd="1" presId="urn:microsoft.com/office/officeart/2018/2/layout/IconLabelDescriptionList"/>
    <dgm:cxn modelId="{88D1EDB1-FC07-4774-90B7-58C06B534B95}" type="presOf" srcId="{C79C3A58-3248-4418-A664-C5070E01BC10}" destId="{88AB73CC-23B9-44C5-A20D-52DDFEE73043}" srcOrd="0" destOrd="1" presId="urn:microsoft.com/office/officeart/2018/2/layout/IconLabelDescriptionList"/>
    <dgm:cxn modelId="{FAB1EEC3-CA20-41EE-8804-C89AAA7E1828}" type="presOf" srcId="{B02A72D3-E135-4843-BE9E-BB1E07D6FDFE}" destId="{9F063B2E-7B37-47E9-8AF3-BF9C5BF7E75A}" srcOrd="0" destOrd="0" presId="urn:microsoft.com/office/officeart/2018/2/layout/IconLabelDescriptionList"/>
    <dgm:cxn modelId="{B00D7ED6-29E6-4A04-BBED-F7FEE2B63FF7}" srcId="{EA167791-65A5-4008-81E2-351102980718}" destId="{C27CE5B8-8FE4-4511-A07C-0442F2AD064B}" srcOrd="0" destOrd="0" parTransId="{312DA582-ADDF-4D4D-BF7E-45C59045DA52}" sibTransId="{87926723-0D5F-4BE0-AD66-40BD54DEAEF1}"/>
    <dgm:cxn modelId="{AE7263DC-3F6A-4A65-9666-FC325C3E18E2}" srcId="{EA167791-65A5-4008-81E2-351102980718}" destId="{30164BD6-8440-4D86-8F26-96194506E4A8}" srcOrd="3" destOrd="0" parTransId="{9E642E79-E09B-4374-AB18-AF0C350C8830}" sibTransId="{ADAB673A-A75D-4F74-8074-8E0C7733D932}"/>
    <dgm:cxn modelId="{1DE0F1EA-1DDB-429E-87A1-F26399042B72}" type="presOf" srcId="{EA167791-65A5-4008-81E2-351102980718}" destId="{B11B91C4-97C7-40A1-8068-B2FD0F3C1F80}" srcOrd="0" destOrd="0" presId="urn:microsoft.com/office/officeart/2018/2/layout/IconLabelDescriptionList"/>
    <dgm:cxn modelId="{49288CEE-AF78-4FB4-B58D-A540113DF3BE}" type="presOf" srcId="{30164BD6-8440-4D86-8F26-96194506E4A8}" destId="{88AB73CC-23B9-44C5-A20D-52DDFEE73043}" srcOrd="0" destOrd="3" presId="urn:microsoft.com/office/officeart/2018/2/layout/IconLabelDescriptionList"/>
    <dgm:cxn modelId="{CA64C75A-28A6-4E42-A4D1-47B39A20BAC8}" type="presParOf" srcId="{9F063B2E-7B37-47E9-8AF3-BF9C5BF7E75A}" destId="{213F3386-6752-4CC6-A554-A95862FBC6EC}" srcOrd="0" destOrd="0" presId="urn:microsoft.com/office/officeart/2018/2/layout/IconLabelDescriptionList"/>
    <dgm:cxn modelId="{CB7B37B5-A15A-4B2C-80BC-75E78378C438}" type="presParOf" srcId="{213F3386-6752-4CC6-A554-A95862FBC6EC}" destId="{B135C750-C66E-4273-B300-55DA555424DC}" srcOrd="0" destOrd="0" presId="urn:microsoft.com/office/officeart/2018/2/layout/IconLabelDescriptionList"/>
    <dgm:cxn modelId="{014F81A1-2BEB-4296-B383-969D2D268F65}" type="presParOf" srcId="{213F3386-6752-4CC6-A554-A95862FBC6EC}" destId="{E5C22ABB-B4AA-486C-A4DE-758D3E4F0C4B}" srcOrd="1" destOrd="0" presId="urn:microsoft.com/office/officeart/2018/2/layout/IconLabelDescriptionList"/>
    <dgm:cxn modelId="{F0CE779E-D890-4150-B8D9-8D0B7A0A1148}" type="presParOf" srcId="{213F3386-6752-4CC6-A554-A95862FBC6EC}" destId="{06E1A8C7-CDF2-41A5-A2B1-0BE10F197A86}" srcOrd="2" destOrd="0" presId="urn:microsoft.com/office/officeart/2018/2/layout/IconLabelDescriptionList"/>
    <dgm:cxn modelId="{87B37634-20DE-4241-97F6-8D9357AE6B92}" type="presParOf" srcId="{213F3386-6752-4CC6-A554-A95862FBC6EC}" destId="{07A058C8-8BC8-4025-85B0-D447527DAE41}" srcOrd="3" destOrd="0" presId="urn:microsoft.com/office/officeart/2018/2/layout/IconLabelDescriptionList"/>
    <dgm:cxn modelId="{AFEF902C-72E5-4DB4-B479-C7C5DF1C4F73}" type="presParOf" srcId="{213F3386-6752-4CC6-A554-A95862FBC6EC}" destId="{89F72C44-C33E-4983-B52E-9362153F2F12}" srcOrd="4" destOrd="0" presId="urn:microsoft.com/office/officeart/2018/2/layout/IconLabelDescriptionList"/>
    <dgm:cxn modelId="{8E9B679E-B4B2-4978-8375-0D00DADA52AF}" type="presParOf" srcId="{9F063B2E-7B37-47E9-8AF3-BF9C5BF7E75A}" destId="{7C25DFE4-A722-4840-8DCF-BCACD8753742}" srcOrd="1" destOrd="0" presId="urn:microsoft.com/office/officeart/2018/2/layout/IconLabelDescriptionList"/>
    <dgm:cxn modelId="{0D6AEEDF-3B81-4371-832E-8201A81AD57E}" type="presParOf" srcId="{9F063B2E-7B37-47E9-8AF3-BF9C5BF7E75A}" destId="{222DDC11-D562-4F30-9F94-D0BAFE9A1BB5}" srcOrd="2" destOrd="0" presId="urn:microsoft.com/office/officeart/2018/2/layout/IconLabelDescriptionList"/>
    <dgm:cxn modelId="{B2746EC9-0524-4251-A952-0F3DFA23C0B0}" type="presParOf" srcId="{222DDC11-D562-4F30-9F94-D0BAFE9A1BB5}" destId="{DC5CFCE8-D5F3-4E4B-ABD2-14BDFE5E8244}" srcOrd="0" destOrd="0" presId="urn:microsoft.com/office/officeart/2018/2/layout/IconLabelDescriptionList"/>
    <dgm:cxn modelId="{CB60FD09-044B-4779-96B9-A7CAC60A20B7}" type="presParOf" srcId="{222DDC11-D562-4F30-9F94-D0BAFE9A1BB5}" destId="{3353D1F1-6388-4FB3-A37A-2E96634E22FA}" srcOrd="1" destOrd="0" presId="urn:microsoft.com/office/officeart/2018/2/layout/IconLabelDescriptionList"/>
    <dgm:cxn modelId="{009A669A-07C8-4552-AF22-6BFDD6136BD6}" type="presParOf" srcId="{222DDC11-D562-4F30-9F94-D0BAFE9A1BB5}" destId="{B11B91C4-97C7-40A1-8068-B2FD0F3C1F80}" srcOrd="2" destOrd="0" presId="urn:microsoft.com/office/officeart/2018/2/layout/IconLabelDescriptionList"/>
    <dgm:cxn modelId="{1EF42176-799C-4F65-A5A6-4B01DB0DFE7E}" type="presParOf" srcId="{222DDC11-D562-4F30-9F94-D0BAFE9A1BB5}" destId="{841BC0AA-FE90-49D4-983D-88DEAD63C4FC}" srcOrd="3" destOrd="0" presId="urn:microsoft.com/office/officeart/2018/2/layout/IconLabelDescriptionList"/>
    <dgm:cxn modelId="{5ACBAFD2-576C-44BC-9EC3-519ABDCFCC71}" type="presParOf" srcId="{222DDC11-D562-4F30-9F94-D0BAFE9A1BB5}" destId="{88AB73CC-23B9-44C5-A20D-52DDFEE73043}"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C783C4-91BC-48C8-AEAA-DE5F05074E4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3862FA2-861B-4063-B6E1-6843CFC8F0BD}">
      <dgm:prSet/>
      <dgm:spPr/>
      <dgm:t>
        <a:bodyPr/>
        <a:lstStyle/>
        <a:p>
          <a:pPr>
            <a:lnSpc>
              <a:spcPct val="100000"/>
            </a:lnSpc>
          </a:pPr>
          <a:r>
            <a:rPr lang="en-GB" b="0" i="0"/>
            <a:t>Developed in the late 1990s originally called </a:t>
          </a:r>
          <a:r>
            <a:rPr lang="en-GB" b="1" i="0"/>
            <a:t>Next Generation Windows Services </a:t>
          </a:r>
          <a:r>
            <a:rPr lang="en-GB" b="0" i="0"/>
            <a:t>(NGWS). </a:t>
          </a:r>
          <a:endParaRPr lang="en-US"/>
        </a:p>
      </dgm:t>
    </dgm:pt>
    <dgm:pt modelId="{CE27A1CC-12A7-4DD7-A857-81CAC07C9D16}" type="parTrans" cxnId="{D08D4215-791E-47AB-8B49-0FC11C984300}">
      <dgm:prSet/>
      <dgm:spPr/>
      <dgm:t>
        <a:bodyPr/>
        <a:lstStyle/>
        <a:p>
          <a:endParaRPr lang="en-US"/>
        </a:p>
      </dgm:t>
    </dgm:pt>
    <dgm:pt modelId="{69931B64-C7B3-4134-BE33-D28F6152052D}" type="sibTrans" cxnId="{D08D4215-791E-47AB-8B49-0FC11C984300}">
      <dgm:prSet/>
      <dgm:spPr/>
      <dgm:t>
        <a:bodyPr/>
        <a:lstStyle/>
        <a:p>
          <a:endParaRPr lang="en-US"/>
        </a:p>
      </dgm:t>
    </dgm:pt>
    <dgm:pt modelId="{FFFC2EC3-20F5-4F7C-8FC2-B19308610418}">
      <dgm:prSet/>
      <dgm:spPr/>
      <dgm:t>
        <a:bodyPr/>
        <a:lstStyle/>
        <a:p>
          <a:pPr>
            <a:lnSpc>
              <a:spcPct val="100000"/>
            </a:lnSpc>
          </a:pPr>
          <a:r>
            <a:rPr lang="en-GB" b="0" i="0"/>
            <a:t>By 2001 the first beta versions of .NET 1.0 were released.</a:t>
          </a:r>
          <a:endParaRPr lang="en-US"/>
        </a:p>
      </dgm:t>
    </dgm:pt>
    <dgm:pt modelId="{3062D068-9516-459C-A2D5-66BF98CBAEE7}" type="parTrans" cxnId="{FC23440A-0D15-4AC8-BE84-0ECD9CC92051}">
      <dgm:prSet/>
      <dgm:spPr/>
      <dgm:t>
        <a:bodyPr/>
        <a:lstStyle/>
        <a:p>
          <a:endParaRPr lang="en-US"/>
        </a:p>
      </dgm:t>
    </dgm:pt>
    <dgm:pt modelId="{4F1000B8-0014-4581-9AEA-0D1CD9A761E9}" type="sibTrans" cxnId="{FC23440A-0D15-4AC8-BE84-0ECD9CC92051}">
      <dgm:prSet/>
      <dgm:spPr/>
      <dgm:t>
        <a:bodyPr/>
        <a:lstStyle/>
        <a:p>
          <a:endParaRPr lang="en-US"/>
        </a:p>
      </dgm:t>
    </dgm:pt>
    <dgm:pt modelId="{A50CEEDE-D533-4537-BE54-6C73D0E46BB1}">
      <dgm:prSet/>
      <dgm:spPr/>
      <dgm:t>
        <a:bodyPr/>
        <a:lstStyle/>
        <a:p>
          <a:pPr>
            <a:lnSpc>
              <a:spcPct val="100000"/>
            </a:lnSpc>
          </a:pPr>
          <a:r>
            <a:rPr lang="en-GB" b="1"/>
            <a:t>Supports 11 programming languages natively, </a:t>
          </a:r>
          <a:br>
            <a:rPr lang="en-GB" b="1"/>
          </a:br>
          <a:r>
            <a:rPr lang="en-GB"/>
            <a:t>but there are 50 more created by others!</a:t>
          </a:r>
          <a:endParaRPr lang="en-US"/>
        </a:p>
      </dgm:t>
    </dgm:pt>
    <dgm:pt modelId="{718D012B-BFDC-46D8-A386-F66C639FB1BC}" type="parTrans" cxnId="{86B3C361-633A-4138-80AF-606B3138B735}">
      <dgm:prSet/>
      <dgm:spPr/>
      <dgm:t>
        <a:bodyPr/>
        <a:lstStyle/>
        <a:p>
          <a:endParaRPr lang="en-US"/>
        </a:p>
      </dgm:t>
    </dgm:pt>
    <dgm:pt modelId="{708F0417-19E6-411F-B376-9F4290443E1D}" type="sibTrans" cxnId="{86B3C361-633A-4138-80AF-606B3138B735}">
      <dgm:prSet/>
      <dgm:spPr/>
      <dgm:t>
        <a:bodyPr/>
        <a:lstStyle/>
        <a:p>
          <a:endParaRPr lang="en-US"/>
        </a:p>
      </dgm:t>
    </dgm:pt>
    <dgm:pt modelId="{7AF31A77-D64E-4A30-8E60-A1F48C3EF6D9}">
      <dgm:prSet/>
      <dgm:spPr/>
      <dgm:t>
        <a:bodyPr/>
        <a:lstStyle/>
        <a:p>
          <a:pPr>
            <a:lnSpc>
              <a:spcPct val="100000"/>
            </a:lnSpc>
          </a:pPr>
          <a:r>
            <a:rPr lang="en-GB" b="1"/>
            <a:t>Compiled</a:t>
          </a:r>
          <a:r>
            <a:rPr lang="en-GB"/>
            <a:t> to Intermediate Language (</a:t>
          </a:r>
          <a:r>
            <a:rPr lang="en-GB" b="1"/>
            <a:t>IL</a:t>
          </a:r>
          <a:r>
            <a:rPr lang="en-GB"/>
            <a:t>)</a:t>
          </a:r>
          <a:endParaRPr lang="en-US"/>
        </a:p>
      </dgm:t>
    </dgm:pt>
    <dgm:pt modelId="{9387779D-B613-4FE2-9D71-E93C7B80C41A}" type="parTrans" cxnId="{A38398DB-416D-4836-81CC-E9B7E276480C}">
      <dgm:prSet/>
      <dgm:spPr/>
      <dgm:t>
        <a:bodyPr/>
        <a:lstStyle/>
        <a:p>
          <a:endParaRPr lang="en-US"/>
        </a:p>
      </dgm:t>
    </dgm:pt>
    <dgm:pt modelId="{6A50DEE4-9FF7-465F-BEA9-0EFB707E5B76}" type="sibTrans" cxnId="{A38398DB-416D-4836-81CC-E9B7E276480C}">
      <dgm:prSet/>
      <dgm:spPr/>
      <dgm:t>
        <a:bodyPr/>
        <a:lstStyle/>
        <a:p>
          <a:endParaRPr lang="en-US"/>
        </a:p>
      </dgm:t>
    </dgm:pt>
    <dgm:pt modelId="{358F9A66-C610-4843-900E-E2918E385744}">
      <dgm:prSet/>
      <dgm:spPr/>
      <dgm:t>
        <a:bodyPr/>
        <a:lstStyle/>
        <a:p>
          <a:pPr>
            <a:lnSpc>
              <a:spcPct val="100000"/>
            </a:lnSpc>
          </a:pPr>
          <a:r>
            <a:rPr lang="en-GB" b="1"/>
            <a:t>IL</a:t>
          </a:r>
          <a:r>
            <a:rPr lang="en-GB"/>
            <a:t> is compiled for the target OS before running</a:t>
          </a:r>
          <a:br>
            <a:rPr lang="en-GB"/>
          </a:br>
          <a:endParaRPr lang="en-US"/>
        </a:p>
      </dgm:t>
    </dgm:pt>
    <dgm:pt modelId="{2EA0077F-5122-4CE7-8C8D-E095D95ED498}" type="parTrans" cxnId="{B208F31E-DAD6-4B68-814D-81322C419273}">
      <dgm:prSet/>
      <dgm:spPr/>
      <dgm:t>
        <a:bodyPr/>
        <a:lstStyle/>
        <a:p>
          <a:endParaRPr lang="en-US"/>
        </a:p>
      </dgm:t>
    </dgm:pt>
    <dgm:pt modelId="{12666A54-846C-497E-A808-AC08BEB71851}" type="sibTrans" cxnId="{B208F31E-DAD6-4B68-814D-81322C419273}">
      <dgm:prSet/>
      <dgm:spPr/>
      <dgm:t>
        <a:bodyPr/>
        <a:lstStyle/>
        <a:p>
          <a:endParaRPr lang="en-US"/>
        </a:p>
      </dgm:t>
    </dgm:pt>
    <dgm:pt modelId="{8DF90121-C709-4F23-A9D4-BAFDBB84B246}">
      <dgm:prSet/>
      <dgm:spPr/>
      <dgm:t>
        <a:bodyPr/>
        <a:lstStyle/>
        <a:p>
          <a:pPr>
            <a:lnSpc>
              <a:spcPct val="100000"/>
            </a:lnSpc>
          </a:pPr>
          <a:r>
            <a:rPr lang="en-GB"/>
            <a:t>.NET introduced the idea of </a:t>
          </a:r>
          <a:r>
            <a:rPr lang="en-GB" i="1"/>
            <a:t>Managed code</a:t>
          </a:r>
          <a:r>
            <a:rPr lang="en-GB"/>
            <a:t>. </a:t>
          </a:r>
          <a:endParaRPr lang="en-US"/>
        </a:p>
      </dgm:t>
    </dgm:pt>
    <dgm:pt modelId="{F04A80CC-07E1-4FAF-AB86-30CB2AA52DF1}" type="parTrans" cxnId="{74CB3CC6-3F73-4980-B103-4B37A6501A07}">
      <dgm:prSet/>
      <dgm:spPr/>
      <dgm:t>
        <a:bodyPr/>
        <a:lstStyle/>
        <a:p>
          <a:endParaRPr lang="en-US"/>
        </a:p>
      </dgm:t>
    </dgm:pt>
    <dgm:pt modelId="{6E3CAB26-65A5-4DB0-B50B-7788CDC12865}" type="sibTrans" cxnId="{74CB3CC6-3F73-4980-B103-4B37A6501A07}">
      <dgm:prSet/>
      <dgm:spPr/>
      <dgm:t>
        <a:bodyPr/>
        <a:lstStyle/>
        <a:p>
          <a:endParaRPr lang="en-US"/>
        </a:p>
      </dgm:t>
    </dgm:pt>
    <dgm:pt modelId="{D15900B9-4094-41FD-A85C-501036C78190}">
      <dgm:prSet/>
      <dgm:spPr/>
      <dgm:t>
        <a:bodyPr/>
        <a:lstStyle/>
        <a:p>
          <a:pPr>
            <a:lnSpc>
              <a:spcPct val="100000"/>
            </a:lnSpc>
          </a:pPr>
          <a:r>
            <a:rPr lang="en-GB"/>
            <a:t>Code is managed by the Common Language Runtime (</a:t>
          </a:r>
          <a:r>
            <a:rPr lang="en-GB" b="1"/>
            <a:t>CLR</a:t>
          </a:r>
          <a:r>
            <a:rPr lang="en-GB"/>
            <a:t>)</a:t>
          </a:r>
          <a:endParaRPr lang="en-US"/>
        </a:p>
      </dgm:t>
    </dgm:pt>
    <dgm:pt modelId="{4BD4AE2F-0B5E-44D4-B473-B795999B0AC5}" type="parTrans" cxnId="{E71F19BC-0FD3-419D-8A76-404705A5890A}">
      <dgm:prSet/>
      <dgm:spPr/>
      <dgm:t>
        <a:bodyPr/>
        <a:lstStyle/>
        <a:p>
          <a:endParaRPr lang="en-US"/>
        </a:p>
      </dgm:t>
    </dgm:pt>
    <dgm:pt modelId="{F6208B35-7101-41A0-A9C9-033E904FF006}" type="sibTrans" cxnId="{E71F19BC-0FD3-419D-8A76-404705A5890A}">
      <dgm:prSet/>
      <dgm:spPr/>
      <dgm:t>
        <a:bodyPr/>
        <a:lstStyle/>
        <a:p>
          <a:endParaRPr lang="en-US"/>
        </a:p>
      </dgm:t>
    </dgm:pt>
    <dgm:pt modelId="{004B6AE7-216B-4F17-BA49-730C3BD20125}" type="pres">
      <dgm:prSet presAssocID="{0DC783C4-91BC-48C8-AEAA-DE5F05074E42}" presName="root" presStyleCnt="0">
        <dgm:presLayoutVars>
          <dgm:dir/>
          <dgm:resizeHandles val="exact"/>
        </dgm:presLayoutVars>
      </dgm:prSet>
      <dgm:spPr/>
    </dgm:pt>
    <dgm:pt modelId="{B3CA4D26-01D2-4A0A-AC97-031B2A4E7B1A}" type="pres">
      <dgm:prSet presAssocID="{03862FA2-861B-4063-B6E1-6843CFC8F0BD}" presName="compNode" presStyleCnt="0"/>
      <dgm:spPr/>
    </dgm:pt>
    <dgm:pt modelId="{32193E08-A3D0-49B4-BA1B-041317BBC05B}" type="pres">
      <dgm:prSet presAssocID="{03862FA2-861B-4063-B6E1-6843CFC8F0BD}" presName="bgRect" presStyleLbl="bgShp" presStyleIdx="0" presStyleCnt="4"/>
      <dgm:spPr>
        <a:solidFill>
          <a:schemeClr val="accent5">
            <a:lumMod val="20000"/>
            <a:lumOff val="80000"/>
          </a:schemeClr>
        </a:solidFill>
      </dgm:spPr>
    </dgm:pt>
    <dgm:pt modelId="{DBDCDD00-EDEA-4DC9-82D4-580292346742}" type="pres">
      <dgm:prSet presAssocID="{03862FA2-861B-4063-B6E1-6843CFC8F0BD}" presName="iconRect" presStyleLbl="node1" presStyleIdx="0" presStyleCnt="4"/>
      <dgm:spPr>
        <a:blipFill>
          <a:blip xmlns:r="http://schemas.openxmlformats.org/officeDocument/2006/relationships">
            <a:biLevel thresh="75000"/>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omputer"/>
        </a:ext>
      </dgm:extLst>
    </dgm:pt>
    <dgm:pt modelId="{002987B7-3CAF-405B-8887-AA7BD55947C2}" type="pres">
      <dgm:prSet presAssocID="{03862FA2-861B-4063-B6E1-6843CFC8F0BD}" presName="spaceRect" presStyleCnt="0"/>
      <dgm:spPr/>
    </dgm:pt>
    <dgm:pt modelId="{710872A1-0F7C-4B39-8114-A51C6590B358}" type="pres">
      <dgm:prSet presAssocID="{03862FA2-861B-4063-B6E1-6843CFC8F0BD}" presName="parTx" presStyleLbl="revTx" presStyleIdx="0" presStyleCnt="7" custScaleX="113606" custLinFactNeighborX="6554" custLinFactNeighborY="-312">
        <dgm:presLayoutVars>
          <dgm:chMax val="0"/>
          <dgm:chPref val="0"/>
        </dgm:presLayoutVars>
      </dgm:prSet>
      <dgm:spPr/>
    </dgm:pt>
    <dgm:pt modelId="{D87613D8-4B05-4C6F-A015-9CF33E1738B8}" type="pres">
      <dgm:prSet presAssocID="{03862FA2-861B-4063-B6E1-6843CFC8F0BD}" presName="desTx" presStyleLbl="revTx" presStyleIdx="1" presStyleCnt="7" custScaleX="78106" custLinFactNeighborX="12986" custLinFactNeighborY="-197">
        <dgm:presLayoutVars/>
      </dgm:prSet>
      <dgm:spPr/>
    </dgm:pt>
    <dgm:pt modelId="{602DE61A-9FE2-4ED5-9786-A1AE87BD4CB6}" type="pres">
      <dgm:prSet presAssocID="{69931B64-C7B3-4134-BE33-D28F6152052D}" presName="sibTrans" presStyleCnt="0"/>
      <dgm:spPr/>
    </dgm:pt>
    <dgm:pt modelId="{917A6651-89B6-4ECD-8AA7-C02B9A7834CA}" type="pres">
      <dgm:prSet presAssocID="{A50CEEDE-D533-4537-BE54-6C73D0E46BB1}" presName="compNode" presStyleCnt="0"/>
      <dgm:spPr/>
    </dgm:pt>
    <dgm:pt modelId="{C47915D7-A5A4-4608-ACE4-D3388821F7BE}" type="pres">
      <dgm:prSet presAssocID="{A50CEEDE-D533-4537-BE54-6C73D0E46BB1}" presName="bgRect" presStyleLbl="bgShp" presStyleIdx="1" presStyleCnt="4"/>
      <dgm:spPr>
        <a:solidFill>
          <a:schemeClr val="accent5">
            <a:lumMod val="20000"/>
            <a:lumOff val="80000"/>
          </a:schemeClr>
        </a:solidFill>
      </dgm:spPr>
    </dgm:pt>
    <dgm:pt modelId="{49FEB453-DDAD-4397-AA9F-427E206BA401}" type="pres">
      <dgm:prSet presAssocID="{A50CEEDE-D533-4537-BE54-6C73D0E46BB1}" presName="iconRect" presStyleLbl="node1" presStyleIdx="1" presStyleCnt="4"/>
      <dgm:spPr>
        <a:blipFill>
          <a:blip xmlns:r="http://schemas.openxmlformats.org/officeDocument/2006/relationships">
            <a:duotone>
              <a:prstClr val="black"/>
              <a:schemeClr val="tx2">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D1E86195-2916-4C43-AC6E-4DF9CAA948EC}" type="pres">
      <dgm:prSet presAssocID="{A50CEEDE-D533-4537-BE54-6C73D0E46BB1}" presName="spaceRect" presStyleCnt="0"/>
      <dgm:spPr/>
    </dgm:pt>
    <dgm:pt modelId="{0ADB0D5C-C922-4FC1-884A-4C51FF3D8F53}" type="pres">
      <dgm:prSet presAssocID="{A50CEEDE-D533-4537-BE54-6C73D0E46BB1}" presName="parTx" presStyleLbl="revTx" presStyleIdx="2" presStyleCnt="7">
        <dgm:presLayoutVars>
          <dgm:chMax val="0"/>
          <dgm:chPref val="0"/>
        </dgm:presLayoutVars>
      </dgm:prSet>
      <dgm:spPr/>
    </dgm:pt>
    <dgm:pt modelId="{75EA5FD7-5DB6-4E77-B36D-24933AB1DC5C}" type="pres">
      <dgm:prSet presAssocID="{708F0417-19E6-411F-B376-9F4290443E1D}" presName="sibTrans" presStyleCnt="0"/>
      <dgm:spPr/>
    </dgm:pt>
    <dgm:pt modelId="{295E826E-F889-45AF-98D2-B972DFE3C06E}" type="pres">
      <dgm:prSet presAssocID="{7AF31A77-D64E-4A30-8E60-A1F48C3EF6D9}" presName="compNode" presStyleCnt="0"/>
      <dgm:spPr/>
    </dgm:pt>
    <dgm:pt modelId="{BF42A397-DC81-4298-B09A-CEF9F922EBDE}" type="pres">
      <dgm:prSet presAssocID="{7AF31A77-D64E-4A30-8E60-A1F48C3EF6D9}" presName="bgRect" presStyleLbl="bgShp" presStyleIdx="2" presStyleCnt="4"/>
      <dgm:spPr>
        <a:solidFill>
          <a:schemeClr val="accent5">
            <a:lumMod val="20000"/>
            <a:lumOff val="80000"/>
          </a:schemeClr>
        </a:solidFill>
      </dgm:spPr>
    </dgm:pt>
    <dgm:pt modelId="{0974BB63-EF5F-4359-A81B-EE16D7D3198A}" type="pres">
      <dgm:prSet presAssocID="{7AF31A77-D64E-4A30-8E60-A1F48C3EF6D9}" presName="iconRect" presStyleLbl="node1" presStyleIdx="2" presStyleCnt="4"/>
      <dgm:spPr>
        <a:blipFill>
          <a:blip xmlns:r="http://schemas.openxmlformats.org/officeDocument/2006/relationships">
            <a:duotone>
              <a:prstClr val="black"/>
              <a:schemeClr val="accent4">
                <a:tint val="45000"/>
                <a:satMod val="400000"/>
              </a:schemeClr>
            </a:duotone>
            <a:extLst>
              <a:ext uri="{96DAC541-7B7A-43D3-8B79-37D633B846F1}">
                <asvg:svgBlip xmlns:asvg="http://schemas.microsoft.com/office/drawing/2016/SVG/main" r:embed="rId3"/>
              </a:ext>
            </a:extLst>
          </a:blip>
          <a:srcRect/>
          <a:stretch>
            <a:fillRect/>
          </a:stretch>
        </a:blipFill>
        <a:ln>
          <a:noFill/>
        </a:ln>
        <a:effectLst>
          <a:innerShdw blurRad="63500" dist="50800" dir="13500000">
            <a:prstClr val="black">
              <a:alpha val="50000"/>
            </a:prstClr>
          </a:innerShdw>
        </a:effectLst>
      </dgm:spPr>
      <dgm:extLst>
        <a:ext uri="{E40237B7-FDA0-4F09-8148-C483321AD2D9}">
          <dgm14:cNvPr xmlns:dgm14="http://schemas.microsoft.com/office/drawing/2010/diagram" id="0" name="" descr="Test Dummy outline"/>
        </a:ext>
      </dgm:extLst>
    </dgm:pt>
    <dgm:pt modelId="{CB6468B4-75F0-4B32-9EF5-AABCDDA21EC0}" type="pres">
      <dgm:prSet presAssocID="{7AF31A77-D64E-4A30-8E60-A1F48C3EF6D9}" presName="spaceRect" presStyleCnt="0"/>
      <dgm:spPr/>
    </dgm:pt>
    <dgm:pt modelId="{B0BA4470-86A4-4301-85FC-768A60245DC5}" type="pres">
      <dgm:prSet presAssocID="{7AF31A77-D64E-4A30-8E60-A1F48C3EF6D9}" presName="parTx" presStyleLbl="revTx" presStyleIdx="3" presStyleCnt="7">
        <dgm:presLayoutVars>
          <dgm:chMax val="0"/>
          <dgm:chPref val="0"/>
        </dgm:presLayoutVars>
      </dgm:prSet>
      <dgm:spPr/>
    </dgm:pt>
    <dgm:pt modelId="{6ECD8F98-950B-4F65-959C-D4947E0D55A9}" type="pres">
      <dgm:prSet presAssocID="{7AF31A77-D64E-4A30-8E60-A1F48C3EF6D9}" presName="desTx" presStyleLbl="revTx" presStyleIdx="4" presStyleCnt="7" custScaleX="73523" custLinFactNeighborX="18077" custLinFactNeighborY="1253">
        <dgm:presLayoutVars/>
      </dgm:prSet>
      <dgm:spPr/>
    </dgm:pt>
    <dgm:pt modelId="{D44FFB58-A00B-42FC-A8BC-2702FB0D1932}" type="pres">
      <dgm:prSet presAssocID="{6A50DEE4-9FF7-465F-BEA9-0EFB707E5B76}" presName="sibTrans" presStyleCnt="0"/>
      <dgm:spPr/>
    </dgm:pt>
    <dgm:pt modelId="{146BAFFC-EC58-426C-8DBB-4A3B0E470ADF}" type="pres">
      <dgm:prSet presAssocID="{8DF90121-C709-4F23-A9D4-BAFDBB84B246}" presName="compNode" presStyleCnt="0"/>
      <dgm:spPr/>
    </dgm:pt>
    <dgm:pt modelId="{772C3DDF-DFD2-4584-858B-073A7C46EA98}" type="pres">
      <dgm:prSet presAssocID="{8DF90121-C709-4F23-A9D4-BAFDBB84B246}" presName="bgRect" presStyleLbl="bgShp" presStyleIdx="3" presStyleCnt="4"/>
      <dgm:spPr>
        <a:solidFill>
          <a:schemeClr val="accent5">
            <a:lumMod val="20000"/>
            <a:lumOff val="80000"/>
          </a:schemeClr>
        </a:solidFill>
      </dgm:spPr>
    </dgm:pt>
    <dgm:pt modelId="{19370A6B-8E3A-46A2-B75B-87407B415E8D}" type="pres">
      <dgm:prSet presAssocID="{8DF90121-C709-4F23-A9D4-BAFDBB84B246}" presName="iconRect" presStyleLbl="node1" presStyleIdx="3" presStyleCnt="4"/>
      <dgm:spPr>
        <a:blipFill>
          <a:blip xmlns:r="http://schemas.openxmlformats.org/officeDocument/2006/relationships">
            <a:biLevel thresh="7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3719EEAA-13D2-4915-9DF2-4E9AE7F8C4E3}" type="pres">
      <dgm:prSet presAssocID="{8DF90121-C709-4F23-A9D4-BAFDBB84B246}" presName="spaceRect" presStyleCnt="0"/>
      <dgm:spPr/>
    </dgm:pt>
    <dgm:pt modelId="{816B9534-78D5-428E-9BD9-6FE4AE661B2F}" type="pres">
      <dgm:prSet presAssocID="{8DF90121-C709-4F23-A9D4-BAFDBB84B246}" presName="parTx" presStyleLbl="revTx" presStyleIdx="5" presStyleCnt="7" custScaleX="110077" custLinFactNeighborX="4789" custLinFactNeighborY="-2457">
        <dgm:presLayoutVars>
          <dgm:chMax val="0"/>
          <dgm:chPref val="0"/>
        </dgm:presLayoutVars>
      </dgm:prSet>
      <dgm:spPr/>
    </dgm:pt>
    <dgm:pt modelId="{C3C7BAA0-0A50-45CD-A3F0-F8755AE328BC}" type="pres">
      <dgm:prSet presAssocID="{8DF90121-C709-4F23-A9D4-BAFDBB84B246}" presName="desTx" presStyleLbl="revTx" presStyleIdx="6" presStyleCnt="7" custScaleX="78749" custLinFactNeighborX="10626" custLinFactNeighborY="-2457">
        <dgm:presLayoutVars/>
      </dgm:prSet>
      <dgm:spPr/>
    </dgm:pt>
  </dgm:ptLst>
  <dgm:cxnLst>
    <dgm:cxn modelId="{FC23440A-0D15-4AC8-BE84-0ECD9CC92051}" srcId="{03862FA2-861B-4063-B6E1-6843CFC8F0BD}" destId="{FFFC2EC3-20F5-4F7C-8FC2-B19308610418}" srcOrd="0" destOrd="0" parTransId="{3062D068-9516-459C-A2D5-66BF98CBAEE7}" sibTransId="{4F1000B8-0014-4581-9AEA-0D1CD9A761E9}"/>
    <dgm:cxn modelId="{D08D4215-791E-47AB-8B49-0FC11C984300}" srcId="{0DC783C4-91BC-48C8-AEAA-DE5F05074E42}" destId="{03862FA2-861B-4063-B6E1-6843CFC8F0BD}" srcOrd="0" destOrd="0" parTransId="{CE27A1CC-12A7-4DD7-A857-81CAC07C9D16}" sibTransId="{69931B64-C7B3-4134-BE33-D28F6152052D}"/>
    <dgm:cxn modelId="{B208F31E-DAD6-4B68-814D-81322C419273}" srcId="{7AF31A77-D64E-4A30-8E60-A1F48C3EF6D9}" destId="{358F9A66-C610-4843-900E-E2918E385744}" srcOrd="0" destOrd="0" parTransId="{2EA0077F-5122-4CE7-8C8D-E095D95ED498}" sibTransId="{12666A54-846C-497E-A808-AC08BEB71851}"/>
    <dgm:cxn modelId="{86B3C361-633A-4138-80AF-606B3138B735}" srcId="{0DC783C4-91BC-48C8-AEAA-DE5F05074E42}" destId="{A50CEEDE-D533-4537-BE54-6C73D0E46BB1}" srcOrd="1" destOrd="0" parTransId="{718D012B-BFDC-46D8-A386-F66C639FB1BC}" sibTransId="{708F0417-19E6-411F-B376-9F4290443E1D}"/>
    <dgm:cxn modelId="{02854447-E8BB-452A-B15F-F5647ACFE0E8}" type="presOf" srcId="{FFFC2EC3-20F5-4F7C-8FC2-B19308610418}" destId="{D87613D8-4B05-4C6F-A015-9CF33E1738B8}" srcOrd="0" destOrd="0" presId="urn:microsoft.com/office/officeart/2018/2/layout/IconVerticalSolidList"/>
    <dgm:cxn modelId="{7143BA47-6FD5-4C56-B4C5-1AA831C9F298}" type="presOf" srcId="{7AF31A77-D64E-4A30-8E60-A1F48C3EF6D9}" destId="{B0BA4470-86A4-4301-85FC-768A60245DC5}" srcOrd="0" destOrd="0" presId="urn:microsoft.com/office/officeart/2018/2/layout/IconVerticalSolidList"/>
    <dgm:cxn modelId="{22D32356-883E-4C07-9460-9E3296D63F58}" type="presOf" srcId="{8DF90121-C709-4F23-A9D4-BAFDBB84B246}" destId="{816B9534-78D5-428E-9BD9-6FE4AE661B2F}" srcOrd="0" destOrd="0" presId="urn:microsoft.com/office/officeart/2018/2/layout/IconVerticalSolidList"/>
    <dgm:cxn modelId="{E79E4F8C-E82A-4A86-9766-7F392B915C13}" type="presOf" srcId="{03862FA2-861B-4063-B6E1-6843CFC8F0BD}" destId="{710872A1-0F7C-4B39-8114-A51C6590B358}" srcOrd="0" destOrd="0" presId="urn:microsoft.com/office/officeart/2018/2/layout/IconVerticalSolidList"/>
    <dgm:cxn modelId="{7681169D-C3C5-4235-9E72-0BE705AC233C}" type="presOf" srcId="{D15900B9-4094-41FD-A85C-501036C78190}" destId="{C3C7BAA0-0A50-45CD-A3F0-F8755AE328BC}" srcOrd="0" destOrd="0" presId="urn:microsoft.com/office/officeart/2018/2/layout/IconVerticalSolidList"/>
    <dgm:cxn modelId="{E71F19BC-0FD3-419D-8A76-404705A5890A}" srcId="{8DF90121-C709-4F23-A9D4-BAFDBB84B246}" destId="{D15900B9-4094-41FD-A85C-501036C78190}" srcOrd="0" destOrd="0" parTransId="{4BD4AE2F-0B5E-44D4-B473-B795999B0AC5}" sibTransId="{F6208B35-7101-41A0-A9C9-033E904FF006}"/>
    <dgm:cxn modelId="{74CB3CC6-3F73-4980-B103-4B37A6501A07}" srcId="{0DC783C4-91BC-48C8-AEAA-DE5F05074E42}" destId="{8DF90121-C709-4F23-A9D4-BAFDBB84B246}" srcOrd="3" destOrd="0" parTransId="{F04A80CC-07E1-4FAF-AB86-30CB2AA52DF1}" sibTransId="{6E3CAB26-65A5-4DB0-B50B-7788CDC12865}"/>
    <dgm:cxn modelId="{25D437C8-E71A-4F56-B9A6-5CE0CA1A6DB1}" type="presOf" srcId="{A50CEEDE-D533-4537-BE54-6C73D0E46BB1}" destId="{0ADB0D5C-C922-4FC1-884A-4C51FF3D8F53}" srcOrd="0" destOrd="0" presId="urn:microsoft.com/office/officeart/2018/2/layout/IconVerticalSolidList"/>
    <dgm:cxn modelId="{54FFB4D6-6C01-47C9-B6B1-70D58479D499}" type="presOf" srcId="{0DC783C4-91BC-48C8-AEAA-DE5F05074E42}" destId="{004B6AE7-216B-4F17-BA49-730C3BD20125}" srcOrd="0" destOrd="0" presId="urn:microsoft.com/office/officeart/2018/2/layout/IconVerticalSolidList"/>
    <dgm:cxn modelId="{D7A5C2D6-69C2-4282-9ABD-CF7F37362CAE}" type="presOf" srcId="{358F9A66-C610-4843-900E-E2918E385744}" destId="{6ECD8F98-950B-4F65-959C-D4947E0D55A9}" srcOrd="0" destOrd="0" presId="urn:microsoft.com/office/officeart/2018/2/layout/IconVerticalSolidList"/>
    <dgm:cxn modelId="{A38398DB-416D-4836-81CC-E9B7E276480C}" srcId="{0DC783C4-91BC-48C8-AEAA-DE5F05074E42}" destId="{7AF31A77-D64E-4A30-8E60-A1F48C3EF6D9}" srcOrd="2" destOrd="0" parTransId="{9387779D-B613-4FE2-9D71-E93C7B80C41A}" sibTransId="{6A50DEE4-9FF7-465F-BEA9-0EFB707E5B76}"/>
    <dgm:cxn modelId="{F5C5494B-CADB-4F49-8EB0-B0810A9BEE51}" type="presParOf" srcId="{004B6AE7-216B-4F17-BA49-730C3BD20125}" destId="{B3CA4D26-01D2-4A0A-AC97-031B2A4E7B1A}" srcOrd="0" destOrd="0" presId="urn:microsoft.com/office/officeart/2018/2/layout/IconVerticalSolidList"/>
    <dgm:cxn modelId="{851D2E57-2F7F-4C9D-BBC0-A25D444BBD2C}" type="presParOf" srcId="{B3CA4D26-01D2-4A0A-AC97-031B2A4E7B1A}" destId="{32193E08-A3D0-49B4-BA1B-041317BBC05B}" srcOrd="0" destOrd="0" presId="urn:microsoft.com/office/officeart/2018/2/layout/IconVerticalSolidList"/>
    <dgm:cxn modelId="{6D4E7835-E132-4ADC-9169-5FEF283E3EFF}" type="presParOf" srcId="{B3CA4D26-01D2-4A0A-AC97-031B2A4E7B1A}" destId="{DBDCDD00-EDEA-4DC9-82D4-580292346742}" srcOrd="1" destOrd="0" presId="urn:microsoft.com/office/officeart/2018/2/layout/IconVerticalSolidList"/>
    <dgm:cxn modelId="{D47342D0-90A8-4B39-BD80-5237BC62F510}" type="presParOf" srcId="{B3CA4D26-01D2-4A0A-AC97-031B2A4E7B1A}" destId="{002987B7-3CAF-405B-8887-AA7BD55947C2}" srcOrd="2" destOrd="0" presId="urn:microsoft.com/office/officeart/2018/2/layout/IconVerticalSolidList"/>
    <dgm:cxn modelId="{4211CC63-5193-4EC9-852B-8B737C7B6FC6}" type="presParOf" srcId="{B3CA4D26-01D2-4A0A-AC97-031B2A4E7B1A}" destId="{710872A1-0F7C-4B39-8114-A51C6590B358}" srcOrd="3" destOrd="0" presId="urn:microsoft.com/office/officeart/2018/2/layout/IconVerticalSolidList"/>
    <dgm:cxn modelId="{F2811F9F-C6CC-4863-A50C-C432172F2AEE}" type="presParOf" srcId="{B3CA4D26-01D2-4A0A-AC97-031B2A4E7B1A}" destId="{D87613D8-4B05-4C6F-A015-9CF33E1738B8}" srcOrd="4" destOrd="0" presId="urn:microsoft.com/office/officeart/2018/2/layout/IconVerticalSolidList"/>
    <dgm:cxn modelId="{51B001EA-DDF3-41E1-A52A-14A96A33716A}" type="presParOf" srcId="{004B6AE7-216B-4F17-BA49-730C3BD20125}" destId="{602DE61A-9FE2-4ED5-9786-A1AE87BD4CB6}" srcOrd="1" destOrd="0" presId="urn:microsoft.com/office/officeart/2018/2/layout/IconVerticalSolidList"/>
    <dgm:cxn modelId="{F929AF08-5249-4170-9917-59B50588B94C}" type="presParOf" srcId="{004B6AE7-216B-4F17-BA49-730C3BD20125}" destId="{917A6651-89B6-4ECD-8AA7-C02B9A7834CA}" srcOrd="2" destOrd="0" presId="urn:microsoft.com/office/officeart/2018/2/layout/IconVerticalSolidList"/>
    <dgm:cxn modelId="{B89F41BC-F70A-434E-9771-9F9579ADFC88}" type="presParOf" srcId="{917A6651-89B6-4ECD-8AA7-C02B9A7834CA}" destId="{C47915D7-A5A4-4608-ACE4-D3388821F7BE}" srcOrd="0" destOrd="0" presId="urn:microsoft.com/office/officeart/2018/2/layout/IconVerticalSolidList"/>
    <dgm:cxn modelId="{4A607EF8-4965-4C42-AB95-3F39A4E15655}" type="presParOf" srcId="{917A6651-89B6-4ECD-8AA7-C02B9A7834CA}" destId="{49FEB453-DDAD-4397-AA9F-427E206BA401}" srcOrd="1" destOrd="0" presId="urn:microsoft.com/office/officeart/2018/2/layout/IconVerticalSolidList"/>
    <dgm:cxn modelId="{98697C3D-BC49-4D95-9F9C-E9498A427EC2}" type="presParOf" srcId="{917A6651-89B6-4ECD-8AA7-C02B9A7834CA}" destId="{D1E86195-2916-4C43-AC6E-4DF9CAA948EC}" srcOrd="2" destOrd="0" presId="urn:microsoft.com/office/officeart/2018/2/layout/IconVerticalSolidList"/>
    <dgm:cxn modelId="{076458AF-E0B5-4701-8406-747F82048DE4}" type="presParOf" srcId="{917A6651-89B6-4ECD-8AA7-C02B9A7834CA}" destId="{0ADB0D5C-C922-4FC1-884A-4C51FF3D8F53}" srcOrd="3" destOrd="0" presId="urn:microsoft.com/office/officeart/2018/2/layout/IconVerticalSolidList"/>
    <dgm:cxn modelId="{5E094030-C1D5-4509-BEAA-01345C6545A5}" type="presParOf" srcId="{004B6AE7-216B-4F17-BA49-730C3BD20125}" destId="{75EA5FD7-5DB6-4E77-B36D-24933AB1DC5C}" srcOrd="3" destOrd="0" presId="urn:microsoft.com/office/officeart/2018/2/layout/IconVerticalSolidList"/>
    <dgm:cxn modelId="{10DAFF5E-A961-4A9A-B601-720981E77456}" type="presParOf" srcId="{004B6AE7-216B-4F17-BA49-730C3BD20125}" destId="{295E826E-F889-45AF-98D2-B972DFE3C06E}" srcOrd="4" destOrd="0" presId="urn:microsoft.com/office/officeart/2018/2/layout/IconVerticalSolidList"/>
    <dgm:cxn modelId="{0EA102B1-8C06-4FA6-B480-A2CADA920F2A}" type="presParOf" srcId="{295E826E-F889-45AF-98D2-B972DFE3C06E}" destId="{BF42A397-DC81-4298-B09A-CEF9F922EBDE}" srcOrd="0" destOrd="0" presId="urn:microsoft.com/office/officeart/2018/2/layout/IconVerticalSolidList"/>
    <dgm:cxn modelId="{6C5FFF50-5ED6-4FF4-9EAE-036DCFD565D9}" type="presParOf" srcId="{295E826E-F889-45AF-98D2-B972DFE3C06E}" destId="{0974BB63-EF5F-4359-A81B-EE16D7D3198A}" srcOrd="1" destOrd="0" presId="urn:microsoft.com/office/officeart/2018/2/layout/IconVerticalSolidList"/>
    <dgm:cxn modelId="{EFDE5D22-2298-4348-97B8-D9CD7F287ABA}" type="presParOf" srcId="{295E826E-F889-45AF-98D2-B972DFE3C06E}" destId="{CB6468B4-75F0-4B32-9EF5-AABCDDA21EC0}" srcOrd="2" destOrd="0" presId="urn:microsoft.com/office/officeart/2018/2/layout/IconVerticalSolidList"/>
    <dgm:cxn modelId="{1836E7B7-EAFD-4D44-9AEA-C121E871880A}" type="presParOf" srcId="{295E826E-F889-45AF-98D2-B972DFE3C06E}" destId="{B0BA4470-86A4-4301-85FC-768A60245DC5}" srcOrd="3" destOrd="0" presId="urn:microsoft.com/office/officeart/2018/2/layout/IconVerticalSolidList"/>
    <dgm:cxn modelId="{8E06B05B-999E-45F5-B76C-252489E22449}" type="presParOf" srcId="{295E826E-F889-45AF-98D2-B972DFE3C06E}" destId="{6ECD8F98-950B-4F65-959C-D4947E0D55A9}" srcOrd="4" destOrd="0" presId="urn:microsoft.com/office/officeart/2018/2/layout/IconVerticalSolidList"/>
    <dgm:cxn modelId="{2BBBC81B-B68C-474B-8607-84D4F6BFAEDF}" type="presParOf" srcId="{004B6AE7-216B-4F17-BA49-730C3BD20125}" destId="{D44FFB58-A00B-42FC-A8BC-2702FB0D1932}" srcOrd="5" destOrd="0" presId="urn:microsoft.com/office/officeart/2018/2/layout/IconVerticalSolidList"/>
    <dgm:cxn modelId="{3AF4B685-7882-400B-BDFD-8F5BB79520BF}" type="presParOf" srcId="{004B6AE7-216B-4F17-BA49-730C3BD20125}" destId="{146BAFFC-EC58-426C-8DBB-4A3B0E470ADF}" srcOrd="6" destOrd="0" presId="urn:microsoft.com/office/officeart/2018/2/layout/IconVerticalSolidList"/>
    <dgm:cxn modelId="{29AC98C7-F000-4C18-B56A-18AE02FE103C}" type="presParOf" srcId="{146BAFFC-EC58-426C-8DBB-4A3B0E470ADF}" destId="{772C3DDF-DFD2-4584-858B-073A7C46EA98}" srcOrd="0" destOrd="0" presId="urn:microsoft.com/office/officeart/2018/2/layout/IconVerticalSolidList"/>
    <dgm:cxn modelId="{56BFBEE9-41C2-40CB-A6B6-D73224C30E3C}" type="presParOf" srcId="{146BAFFC-EC58-426C-8DBB-4A3B0E470ADF}" destId="{19370A6B-8E3A-46A2-B75B-87407B415E8D}" srcOrd="1" destOrd="0" presId="urn:microsoft.com/office/officeart/2018/2/layout/IconVerticalSolidList"/>
    <dgm:cxn modelId="{21C44730-BB08-4A07-9CDC-6C5E7037DB0E}" type="presParOf" srcId="{146BAFFC-EC58-426C-8DBB-4A3B0E470ADF}" destId="{3719EEAA-13D2-4915-9DF2-4E9AE7F8C4E3}" srcOrd="2" destOrd="0" presId="urn:microsoft.com/office/officeart/2018/2/layout/IconVerticalSolidList"/>
    <dgm:cxn modelId="{586DE43E-A535-41D4-8F3C-8C2C24C58086}" type="presParOf" srcId="{146BAFFC-EC58-426C-8DBB-4A3B0E470ADF}" destId="{816B9534-78D5-428E-9BD9-6FE4AE661B2F}" srcOrd="3" destOrd="0" presId="urn:microsoft.com/office/officeart/2018/2/layout/IconVerticalSolidList"/>
    <dgm:cxn modelId="{544AFDFF-7769-4DDF-9BBC-822D576D02C0}" type="presParOf" srcId="{146BAFFC-EC58-426C-8DBB-4A3B0E470ADF}" destId="{C3C7BAA0-0A50-45CD-A3F0-F8755AE328BC}"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FA7BE4-2A98-4B02-9510-7EFAF39B32E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20414C31-A7F2-410B-A8A2-2074AACF2012}">
      <dgm:prSet custT="1"/>
      <dgm:spPr/>
      <dgm:t>
        <a:bodyPr/>
        <a:lstStyle/>
        <a:p>
          <a:r>
            <a:rPr lang="en-GB" sz="2000" b="1" dirty="0"/>
            <a:t>Practice the basics of the C# language</a:t>
          </a:r>
          <a:endParaRPr lang="en-US" sz="2000" b="1" dirty="0"/>
        </a:p>
      </dgm:t>
    </dgm:pt>
    <dgm:pt modelId="{A5537179-FFE8-4D37-888A-AAD3C607B1BB}" type="parTrans" cxnId="{B2BE5219-F392-4120-9C61-30B42EF09C07}">
      <dgm:prSet/>
      <dgm:spPr/>
      <dgm:t>
        <a:bodyPr/>
        <a:lstStyle/>
        <a:p>
          <a:endParaRPr lang="en-US"/>
        </a:p>
      </dgm:t>
    </dgm:pt>
    <dgm:pt modelId="{B8FF9BF0-3F09-4B40-9D20-AAFDA877092C}" type="sibTrans" cxnId="{B2BE5219-F392-4120-9C61-30B42EF09C07}">
      <dgm:prSet/>
      <dgm:spPr/>
      <dgm:t>
        <a:bodyPr/>
        <a:lstStyle/>
        <a:p>
          <a:endParaRPr lang="en-US"/>
        </a:p>
      </dgm:t>
    </dgm:pt>
    <dgm:pt modelId="{EB544CAE-C268-4556-8B77-B6AF41E0C214}">
      <dgm:prSet custT="1"/>
      <dgm:spPr/>
      <dgm:t>
        <a:bodyPr/>
        <a:lstStyle/>
        <a:p>
          <a:r>
            <a:rPr lang="en-GB" sz="2000" b="1" dirty="0"/>
            <a:t>Duration 1 hour</a:t>
          </a:r>
          <a:endParaRPr lang="en-US" sz="2400" b="1" dirty="0"/>
        </a:p>
      </dgm:t>
    </dgm:pt>
    <dgm:pt modelId="{8EC46064-FB22-48BD-9157-CFB16DFAE2E9}" type="parTrans" cxnId="{789F647B-A22C-49B5-9CEE-CE24E198B80B}">
      <dgm:prSet/>
      <dgm:spPr/>
      <dgm:t>
        <a:bodyPr/>
        <a:lstStyle/>
        <a:p>
          <a:endParaRPr lang="en-US"/>
        </a:p>
      </dgm:t>
    </dgm:pt>
    <dgm:pt modelId="{780DEF43-8EED-459C-8DFA-982C494C12FB}" type="sibTrans" cxnId="{789F647B-A22C-49B5-9CEE-CE24E198B80B}">
      <dgm:prSet/>
      <dgm:spPr/>
      <dgm:t>
        <a:bodyPr/>
        <a:lstStyle/>
        <a:p>
          <a:endParaRPr lang="en-US"/>
        </a:p>
      </dgm:t>
    </dgm:pt>
    <dgm:pt modelId="{E7F6EAA9-1048-45E6-A143-4541D8903BDB}" type="pres">
      <dgm:prSet presAssocID="{D5FA7BE4-2A98-4B02-9510-7EFAF39B32EC}" presName="root" presStyleCnt="0">
        <dgm:presLayoutVars>
          <dgm:dir/>
          <dgm:resizeHandles val="exact"/>
        </dgm:presLayoutVars>
      </dgm:prSet>
      <dgm:spPr/>
    </dgm:pt>
    <dgm:pt modelId="{138C29D8-924F-4AA7-B9EB-12B62EF94A0A}" type="pres">
      <dgm:prSet presAssocID="{20414C31-A7F2-410B-A8A2-2074AACF2012}" presName="compNode" presStyleCnt="0"/>
      <dgm:spPr/>
    </dgm:pt>
    <dgm:pt modelId="{0F45E7EC-4823-4B41-8FB7-1517A5644CF2}" type="pres">
      <dgm:prSet presAssocID="{20414C31-A7F2-410B-A8A2-2074AACF2012}" presName="bgRect" presStyleLbl="bgShp" presStyleIdx="0" presStyleCnt="2"/>
      <dgm:spPr/>
    </dgm:pt>
    <dgm:pt modelId="{270C9F17-21DD-4C6B-B4A4-FC56789D82E8}" type="pres">
      <dgm:prSet presAssocID="{20414C31-A7F2-410B-A8A2-2074AACF2012}"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ead with Gears"/>
        </a:ext>
      </dgm:extLst>
    </dgm:pt>
    <dgm:pt modelId="{5FA18B10-A546-407B-BFD4-81E437748BD0}" type="pres">
      <dgm:prSet presAssocID="{20414C31-A7F2-410B-A8A2-2074AACF2012}" presName="spaceRect" presStyleCnt="0"/>
      <dgm:spPr/>
    </dgm:pt>
    <dgm:pt modelId="{C656AC05-6F41-4032-BE1E-876234FB0335}" type="pres">
      <dgm:prSet presAssocID="{20414C31-A7F2-410B-A8A2-2074AACF2012}" presName="parTx" presStyleLbl="revTx" presStyleIdx="0" presStyleCnt="2">
        <dgm:presLayoutVars>
          <dgm:chMax val="0"/>
          <dgm:chPref val="0"/>
        </dgm:presLayoutVars>
      </dgm:prSet>
      <dgm:spPr/>
    </dgm:pt>
    <dgm:pt modelId="{B015EF07-ED1F-4CB3-A3A7-4091453A6B41}" type="pres">
      <dgm:prSet presAssocID="{B8FF9BF0-3F09-4B40-9D20-AAFDA877092C}" presName="sibTrans" presStyleCnt="0"/>
      <dgm:spPr/>
    </dgm:pt>
    <dgm:pt modelId="{B64599BA-DCD9-4FCE-BDA8-FD048B6A3EEC}" type="pres">
      <dgm:prSet presAssocID="{EB544CAE-C268-4556-8B77-B6AF41E0C214}" presName="compNode" presStyleCnt="0"/>
      <dgm:spPr/>
    </dgm:pt>
    <dgm:pt modelId="{A30C6321-6940-4E9D-84D1-CFF719883A23}" type="pres">
      <dgm:prSet presAssocID="{EB544CAE-C268-4556-8B77-B6AF41E0C214}" presName="bgRect" presStyleLbl="bgShp" presStyleIdx="1" presStyleCnt="2"/>
      <dgm:spPr/>
    </dgm:pt>
    <dgm:pt modelId="{319A5AB9-5146-4CC8-9B3C-F5994CAAC7CB}" type="pres">
      <dgm:prSet presAssocID="{EB544CAE-C268-4556-8B77-B6AF41E0C214}"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ock"/>
        </a:ext>
      </dgm:extLst>
    </dgm:pt>
    <dgm:pt modelId="{4C1BB512-F3BB-43EE-9CE4-9504E559D210}" type="pres">
      <dgm:prSet presAssocID="{EB544CAE-C268-4556-8B77-B6AF41E0C214}" presName="spaceRect" presStyleCnt="0"/>
      <dgm:spPr/>
    </dgm:pt>
    <dgm:pt modelId="{8D4A5A7B-430A-470B-97C9-2884B891E74A}" type="pres">
      <dgm:prSet presAssocID="{EB544CAE-C268-4556-8B77-B6AF41E0C214}" presName="parTx" presStyleLbl="revTx" presStyleIdx="1" presStyleCnt="2">
        <dgm:presLayoutVars>
          <dgm:chMax val="0"/>
          <dgm:chPref val="0"/>
        </dgm:presLayoutVars>
      </dgm:prSet>
      <dgm:spPr/>
    </dgm:pt>
  </dgm:ptLst>
  <dgm:cxnLst>
    <dgm:cxn modelId="{B2BE5219-F392-4120-9C61-30B42EF09C07}" srcId="{D5FA7BE4-2A98-4B02-9510-7EFAF39B32EC}" destId="{20414C31-A7F2-410B-A8A2-2074AACF2012}" srcOrd="0" destOrd="0" parTransId="{A5537179-FFE8-4D37-888A-AAD3C607B1BB}" sibTransId="{B8FF9BF0-3F09-4B40-9D20-AAFDA877092C}"/>
    <dgm:cxn modelId="{DE718C37-8600-413B-AF15-3D97C4D6915B}" type="presOf" srcId="{D5FA7BE4-2A98-4B02-9510-7EFAF39B32EC}" destId="{E7F6EAA9-1048-45E6-A143-4541D8903BDB}" srcOrd="0" destOrd="0" presId="urn:microsoft.com/office/officeart/2018/2/layout/IconVerticalSolidList"/>
    <dgm:cxn modelId="{AA353D44-1F2B-445F-A8FA-B054AA7F76A1}" type="presOf" srcId="{EB544CAE-C268-4556-8B77-B6AF41E0C214}" destId="{8D4A5A7B-430A-470B-97C9-2884B891E74A}" srcOrd="0" destOrd="0" presId="urn:microsoft.com/office/officeart/2018/2/layout/IconVerticalSolidList"/>
    <dgm:cxn modelId="{789F647B-A22C-49B5-9CEE-CE24E198B80B}" srcId="{D5FA7BE4-2A98-4B02-9510-7EFAF39B32EC}" destId="{EB544CAE-C268-4556-8B77-B6AF41E0C214}" srcOrd="1" destOrd="0" parTransId="{8EC46064-FB22-48BD-9157-CFB16DFAE2E9}" sibTransId="{780DEF43-8EED-459C-8DFA-982C494C12FB}"/>
    <dgm:cxn modelId="{6A9768A7-9C9B-48D1-AB31-0E5F79F0750F}" type="presOf" srcId="{20414C31-A7F2-410B-A8A2-2074AACF2012}" destId="{C656AC05-6F41-4032-BE1E-876234FB0335}" srcOrd="0" destOrd="0" presId="urn:microsoft.com/office/officeart/2018/2/layout/IconVerticalSolidList"/>
    <dgm:cxn modelId="{5F6091D2-572A-4521-85FF-AA8A6C29846A}" type="presParOf" srcId="{E7F6EAA9-1048-45E6-A143-4541D8903BDB}" destId="{138C29D8-924F-4AA7-B9EB-12B62EF94A0A}" srcOrd="0" destOrd="0" presId="urn:microsoft.com/office/officeart/2018/2/layout/IconVerticalSolidList"/>
    <dgm:cxn modelId="{3276DD5E-C0AC-416E-A4F0-BE554558219C}" type="presParOf" srcId="{138C29D8-924F-4AA7-B9EB-12B62EF94A0A}" destId="{0F45E7EC-4823-4B41-8FB7-1517A5644CF2}" srcOrd="0" destOrd="0" presId="urn:microsoft.com/office/officeart/2018/2/layout/IconVerticalSolidList"/>
    <dgm:cxn modelId="{3CB14AC9-56C7-4C8D-9EEC-6D5691F936C4}" type="presParOf" srcId="{138C29D8-924F-4AA7-B9EB-12B62EF94A0A}" destId="{270C9F17-21DD-4C6B-B4A4-FC56789D82E8}" srcOrd="1" destOrd="0" presId="urn:microsoft.com/office/officeart/2018/2/layout/IconVerticalSolidList"/>
    <dgm:cxn modelId="{45A74FE9-3B4D-4A63-B970-51D44F6CABF5}" type="presParOf" srcId="{138C29D8-924F-4AA7-B9EB-12B62EF94A0A}" destId="{5FA18B10-A546-407B-BFD4-81E437748BD0}" srcOrd="2" destOrd="0" presId="urn:microsoft.com/office/officeart/2018/2/layout/IconVerticalSolidList"/>
    <dgm:cxn modelId="{E2F7E5F7-6CEA-432E-8219-8FCD648DFDA8}" type="presParOf" srcId="{138C29D8-924F-4AA7-B9EB-12B62EF94A0A}" destId="{C656AC05-6F41-4032-BE1E-876234FB0335}" srcOrd="3" destOrd="0" presId="urn:microsoft.com/office/officeart/2018/2/layout/IconVerticalSolidList"/>
    <dgm:cxn modelId="{C808A7CC-51D3-4C33-AB31-554D1652DEF9}" type="presParOf" srcId="{E7F6EAA9-1048-45E6-A143-4541D8903BDB}" destId="{B015EF07-ED1F-4CB3-A3A7-4091453A6B41}" srcOrd="1" destOrd="0" presId="urn:microsoft.com/office/officeart/2018/2/layout/IconVerticalSolidList"/>
    <dgm:cxn modelId="{7EEBB25C-9CB6-4089-B7F2-A01D1B746529}" type="presParOf" srcId="{E7F6EAA9-1048-45E6-A143-4541D8903BDB}" destId="{B64599BA-DCD9-4FCE-BDA8-FD048B6A3EEC}" srcOrd="2" destOrd="0" presId="urn:microsoft.com/office/officeart/2018/2/layout/IconVerticalSolidList"/>
    <dgm:cxn modelId="{BCF9EA9A-3AF6-4AE0-B3A4-4CF6B7DFC6E3}" type="presParOf" srcId="{B64599BA-DCD9-4FCE-BDA8-FD048B6A3EEC}" destId="{A30C6321-6940-4E9D-84D1-CFF719883A23}" srcOrd="0" destOrd="0" presId="urn:microsoft.com/office/officeart/2018/2/layout/IconVerticalSolidList"/>
    <dgm:cxn modelId="{F5B506FF-2C7D-4561-98D7-6ED63318B9D2}" type="presParOf" srcId="{B64599BA-DCD9-4FCE-BDA8-FD048B6A3EEC}" destId="{319A5AB9-5146-4CC8-9B3C-F5994CAAC7CB}" srcOrd="1" destOrd="0" presId="urn:microsoft.com/office/officeart/2018/2/layout/IconVerticalSolidList"/>
    <dgm:cxn modelId="{35613772-D6C6-4C22-BE96-DFF63EB87521}" type="presParOf" srcId="{B64599BA-DCD9-4FCE-BDA8-FD048B6A3EEC}" destId="{4C1BB512-F3BB-43EE-9CE4-9504E559D210}" srcOrd="2" destOrd="0" presId="urn:microsoft.com/office/officeart/2018/2/layout/IconVerticalSolidList"/>
    <dgm:cxn modelId="{CAB38E2A-B608-4F65-AEA3-10BD6D672291}" type="presParOf" srcId="{B64599BA-DCD9-4FCE-BDA8-FD048B6A3EEC}" destId="{8D4A5A7B-430A-470B-97C9-2884B891E74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35C750-C66E-4273-B300-55DA555424DC}">
      <dsp:nvSpPr>
        <dsp:cNvPr id="0" name=""/>
        <dsp:cNvSpPr/>
      </dsp:nvSpPr>
      <dsp:spPr>
        <a:xfrm>
          <a:off x="1060119" y="667639"/>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E1A8C7-CDF2-41A5-A2B1-0BE10F197A86}">
      <dsp:nvSpPr>
        <dsp:cNvPr id="0" name=""/>
        <dsp:cNvSpPr/>
      </dsp:nvSpPr>
      <dsp:spPr>
        <a:xfrm>
          <a:off x="1060119" y="233530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GB" sz="3600" b="1" kern="1200" dirty="0"/>
            <a:t>Objectives</a:t>
          </a:r>
          <a:endParaRPr lang="en-US" sz="3600" kern="1200" dirty="0"/>
        </a:p>
      </dsp:txBody>
      <dsp:txXfrm>
        <a:off x="1060119" y="2335303"/>
        <a:ext cx="4320000" cy="648000"/>
      </dsp:txXfrm>
    </dsp:sp>
    <dsp:sp modelId="{89F72C44-C33E-4983-B52E-9362153F2F12}">
      <dsp:nvSpPr>
        <dsp:cNvPr id="0" name=""/>
        <dsp:cNvSpPr/>
      </dsp:nvSpPr>
      <dsp:spPr>
        <a:xfrm>
          <a:off x="1060119" y="3055704"/>
          <a:ext cx="4320000" cy="1232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dirty="0"/>
            <a:t>To introduce C# </a:t>
          </a:r>
          <a:r>
            <a:rPr lang="en-GB" sz="1700" kern="1200" dirty="0" err="1"/>
            <a:t>.Net</a:t>
          </a:r>
          <a:r>
            <a:rPr lang="en-GB" sz="1700" kern="1200" dirty="0"/>
            <a:t>  Technologies </a:t>
          </a:r>
          <a:br>
            <a:rPr lang="en-GB" sz="1700" kern="1200" dirty="0"/>
          </a:br>
          <a:r>
            <a:rPr lang="en-GB" sz="1700" kern="1200" dirty="0"/>
            <a:t>and language</a:t>
          </a:r>
          <a:endParaRPr lang="en-US" sz="1700" kern="1200" dirty="0"/>
        </a:p>
        <a:p>
          <a:pPr marL="0" lvl="0" indent="0" algn="l" defTabSz="755650">
            <a:lnSpc>
              <a:spcPct val="90000"/>
            </a:lnSpc>
            <a:spcBef>
              <a:spcPct val="0"/>
            </a:spcBef>
            <a:spcAft>
              <a:spcPct val="35000"/>
            </a:spcAft>
            <a:buNone/>
          </a:pPr>
          <a:r>
            <a:rPr lang="en-GB" sz="1700" kern="1200" dirty="0"/>
            <a:t>Take at look around Eclipse</a:t>
          </a:r>
          <a:endParaRPr lang="en-US" sz="1700" kern="1200" dirty="0"/>
        </a:p>
      </dsp:txBody>
      <dsp:txXfrm>
        <a:off x="1060119" y="3055704"/>
        <a:ext cx="4320000" cy="1232009"/>
      </dsp:txXfrm>
    </dsp:sp>
    <dsp:sp modelId="{DC5CFCE8-D5F3-4E4B-ABD2-14BDFE5E8244}">
      <dsp:nvSpPr>
        <dsp:cNvPr id="0" name=""/>
        <dsp:cNvSpPr/>
      </dsp:nvSpPr>
      <dsp:spPr>
        <a:xfrm>
          <a:off x="6136119" y="667639"/>
          <a:ext cx="1512000" cy="1512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1B91C4-97C7-40A1-8068-B2FD0F3C1F80}">
      <dsp:nvSpPr>
        <dsp:cNvPr id="0" name=""/>
        <dsp:cNvSpPr/>
      </dsp:nvSpPr>
      <dsp:spPr>
        <a:xfrm>
          <a:off x="6136119" y="2335303"/>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90000"/>
            </a:lnSpc>
            <a:spcBef>
              <a:spcPct val="0"/>
            </a:spcBef>
            <a:spcAft>
              <a:spcPct val="35000"/>
            </a:spcAft>
            <a:buNone/>
            <a:defRPr b="1"/>
          </a:pPr>
          <a:r>
            <a:rPr lang="en-GB" sz="3600" b="1" kern="1200"/>
            <a:t>Contents</a:t>
          </a:r>
          <a:endParaRPr lang="en-US" sz="3600" kern="1200"/>
        </a:p>
      </dsp:txBody>
      <dsp:txXfrm>
        <a:off x="6136119" y="2335303"/>
        <a:ext cx="4320000" cy="648000"/>
      </dsp:txXfrm>
    </dsp:sp>
    <dsp:sp modelId="{88AB73CC-23B9-44C5-A20D-52DDFEE73043}">
      <dsp:nvSpPr>
        <dsp:cNvPr id="0" name=""/>
        <dsp:cNvSpPr/>
      </dsp:nvSpPr>
      <dsp:spPr>
        <a:xfrm>
          <a:off x="6136119" y="3055704"/>
          <a:ext cx="4320000" cy="12320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dirty="0"/>
            <a:t>The C#s story</a:t>
          </a:r>
          <a:endParaRPr lang="en-US" sz="1700" kern="1200" dirty="0"/>
        </a:p>
        <a:p>
          <a:pPr marL="0" lvl="0" indent="0" algn="l" defTabSz="755650">
            <a:lnSpc>
              <a:spcPct val="90000"/>
            </a:lnSpc>
            <a:spcBef>
              <a:spcPct val="0"/>
            </a:spcBef>
            <a:spcAft>
              <a:spcPct val="35000"/>
            </a:spcAft>
            <a:buNone/>
          </a:pPr>
          <a:r>
            <a:rPr lang="en-GB" sz="1700" kern="1200"/>
            <a:t>Key framework features</a:t>
          </a:r>
          <a:endParaRPr lang="en-US" sz="1700" kern="1200"/>
        </a:p>
        <a:p>
          <a:pPr marL="0" lvl="0" indent="0" algn="l" defTabSz="755650">
            <a:lnSpc>
              <a:spcPct val="90000"/>
            </a:lnSpc>
            <a:spcBef>
              <a:spcPct val="0"/>
            </a:spcBef>
            <a:spcAft>
              <a:spcPct val="35000"/>
            </a:spcAft>
            <a:buNone/>
          </a:pPr>
          <a:r>
            <a:rPr lang="en-GB" sz="1700" kern="1200"/>
            <a:t>Basic code construction</a:t>
          </a:r>
          <a:endParaRPr lang="en-US" sz="1700" kern="1200"/>
        </a:p>
        <a:p>
          <a:pPr marL="0" lvl="0" indent="0" algn="l" defTabSz="755650">
            <a:lnSpc>
              <a:spcPct val="90000"/>
            </a:lnSpc>
            <a:spcBef>
              <a:spcPct val="0"/>
            </a:spcBef>
            <a:spcAft>
              <a:spcPct val="35000"/>
            </a:spcAft>
            <a:buNone/>
          </a:pPr>
          <a:r>
            <a:rPr lang="en-GB" sz="1700" kern="1200"/>
            <a:t>Your first application </a:t>
          </a:r>
          <a:endParaRPr lang="en-US" sz="1700" kern="1200"/>
        </a:p>
      </dsp:txBody>
      <dsp:txXfrm>
        <a:off x="6136119" y="3055704"/>
        <a:ext cx="4320000" cy="12320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93E08-A3D0-49B4-BA1B-041317BBC05B}">
      <dsp:nvSpPr>
        <dsp:cNvPr id="0" name=""/>
        <dsp:cNvSpPr/>
      </dsp:nvSpPr>
      <dsp:spPr>
        <a:xfrm>
          <a:off x="0" y="2056"/>
          <a:ext cx="11516239" cy="1042366"/>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sp>
    <dsp:sp modelId="{DBDCDD00-EDEA-4DC9-82D4-580292346742}">
      <dsp:nvSpPr>
        <dsp:cNvPr id="0" name=""/>
        <dsp:cNvSpPr/>
      </dsp:nvSpPr>
      <dsp:spPr>
        <a:xfrm>
          <a:off x="315315" y="236589"/>
          <a:ext cx="573301" cy="573301"/>
        </a:xfrm>
        <a:prstGeom prst="rect">
          <a:avLst/>
        </a:prstGeom>
        <a:blipFill>
          <a:blip xmlns:r="http://schemas.openxmlformats.org/officeDocument/2006/relationships">
            <a:biLevel thresh="75000"/>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0872A1-0F7C-4B39-8114-A51C6590B358}">
      <dsp:nvSpPr>
        <dsp:cNvPr id="0" name=""/>
        <dsp:cNvSpPr/>
      </dsp:nvSpPr>
      <dsp:spPr>
        <a:xfrm>
          <a:off x="1191029" y="0"/>
          <a:ext cx="5887412" cy="104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17" tIns="110317" rIns="110317" bIns="110317" numCol="1" spcCol="1270" anchor="ctr" anchorCtr="0">
          <a:noAutofit/>
        </a:bodyPr>
        <a:lstStyle/>
        <a:p>
          <a:pPr marL="0" lvl="0" indent="0" algn="l" defTabSz="800100">
            <a:lnSpc>
              <a:spcPct val="100000"/>
            </a:lnSpc>
            <a:spcBef>
              <a:spcPct val="0"/>
            </a:spcBef>
            <a:spcAft>
              <a:spcPct val="35000"/>
            </a:spcAft>
            <a:buNone/>
          </a:pPr>
          <a:r>
            <a:rPr lang="en-GB" sz="1800" b="0" i="0" kern="1200"/>
            <a:t>Developed in the late 1990s originally called </a:t>
          </a:r>
          <a:r>
            <a:rPr lang="en-GB" sz="1800" b="1" i="0" kern="1200"/>
            <a:t>Next Generation Windows Services </a:t>
          </a:r>
          <a:r>
            <a:rPr lang="en-GB" sz="1800" b="0" i="0" kern="1200"/>
            <a:t>(NGWS). </a:t>
          </a:r>
          <a:endParaRPr lang="en-US" sz="1800" kern="1200"/>
        </a:p>
      </dsp:txBody>
      <dsp:txXfrm>
        <a:off x="1191029" y="0"/>
        <a:ext cx="5887412" cy="1042366"/>
      </dsp:txXfrm>
    </dsp:sp>
    <dsp:sp modelId="{D87613D8-4B05-4C6F-A015-9CF33E1738B8}">
      <dsp:nvSpPr>
        <dsp:cNvPr id="0" name=""/>
        <dsp:cNvSpPr/>
      </dsp:nvSpPr>
      <dsp:spPr>
        <a:xfrm>
          <a:off x="7509402" y="3"/>
          <a:ext cx="4006836" cy="104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17" tIns="110317" rIns="110317" bIns="110317" numCol="1" spcCol="1270" anchor="ctr" anchorCtr="0">
          <a:noAutofit/>
        </a:bodyPr>
        <a:lstStyle/>
        <a:p>
          <a:pPr marL="0" lvl="0" indent="0" algn="l" defTabSz="622300">
            <a:lnSpc>
              <a:spcPct val="100000"/>
            </a:lnSpc>
            <a:spcBef>
              <a:spcPct val="0"/>
            </a:spcBef>
            <a:spcAft>
              <a:spcPct val="35000"/>
            </a:spcAft>
            <a:buNone/>
          </a:pPr>
          <a:r>
            <a:rPr lang="en-GB" sz="1400" b="0" i="0" kern="1200"/>
            <a:t>By 2001 the first beta versions of .NET 1.0 were released.</a:t>
          </a:r>
          <a:endParaRPr lang="en-US" sz="1400" kern="1200"/>
        </a:p>
      </dsp:txBody>
      <dsp:txXfrm>
        <a:off x="7509402" y="3"/>
        <a:ext cx="4006836" cy="1042366"/>
      </dsp:txXfrm>
    </dsp:sp>
    <dsp:sp modelId="{C47915D7-A5A4-4608-ACE4-D3388821F7BE}">
      <dsp:nvSpPr>
        <dsp:cNvPr id="0" name=""/>
        <dsp:cNvSpPr/>
      </dsp:nvSpPr>
      <dsp:spPr>
        <a:xfrm>
          <a:off x="0" y="1305014"/>
          <a:ext cx="11516239" cy="1042366"/>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sp>
    <dsp:sp modelId="{49FEB453-DDAD-4397-AA9F-427E206BA401}">
      <dsp:nvSpPr>
        <dsp:cNvPr id="0" name=""/>
        <dsp:cNvSpPr/>
      </dsp:nvSpPr>
      <dsp:spPr>
        <a:xfrm>
          <a:off x="315315" y="1539547"/>
          <a:ext cx="573301" cy="573301"/>
        </a:xfrm>
        <a:prstGeom prst="rect">
          <a:avLst/>
        </a:prstGeom>
        <a:blipFill>
          <a:blip xmlns:r="http://schemas.openxmlformats.org/officeDocument/2006/relationships">
            <a:duotone>
              <a:prstClr val="black"/>
              <a:schemeClr val="tx2">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DB0D5C-C922-4FC1-884A-4C51FF3D8F53}">
      <dsp:nvSpPr>
        <dsp:cNvPr id="0" name=""/>
        <dsp:cNvSpPr/>
      </dsp:nvSpPr>
      <dsp:spPr>
        <a:xfrm>
          <a:off x="1203933" y="1305014"/>
          <a:ext cx="10312305" cy="104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17" tIns="110317" rIns="110317" bIns="110317" numCol="1" spcCol="1270" anchor="ctr" anchorCtr="0">
          <a:noAutofit/>
        </a:bodyPr>
        <a:lstStyle/>
        <a:p>
          <a:pPr marL="0" lvl="0" indent="0" algn="l" defTabSz="800100">
            <a:lnSpc>
              <a:spcPct val="100000"/>
            </a:lnSpc>
            <a:spcBef>
              <a:spcPct val="0"/>
            </a:spcBef>
            <a:spcAft>
              <a:spcPct val="35000"/>
            </a:spcAft>
            <a:buNone/>
          </a:pPr>
          <a:r>
            <a:rPr lang="en-GB" sz="1800" b="1" kern="1200"/>
            <a:t>Supports 11 programming languages natively, </a:t>
          </a:r>
          <a:br>
            <a:rPr lang="en-GB" sz="1800" b="1" kern="1200"/>
          </a:br>
          <a:r>
            <a:rPr lang="en-GB" sz="1800" kern="1200"/>
            <a:t>but there are 50 more created by others!</a:t>
          </a:r>
          <a:endParaRPr lang="en-US" sz="1800" kern="1200"/>
        </a:p>
      </dsp:txBody>
      <dsp:txXfrm>
        <a:off x="1203933" y="1305014"/>
        <a:ext cx="10312305" cy="1042366"/>
      </dsp:txXfrm>
    </dsp:sp>
    <dsp:sp modelId="{BF42A397-DC81-4298-B09A-CEF9F922EBDE}">
      <dsp:nvSpPr>
        <dsp:cNvPr id="0" name=""/>
        <dsp:cNvSpPr/>
      </dsp:nvSpPr>
      <dsp:spPr>
        <a:xfrm>
          <a:off x="0" y="2607972"/>
          <a:ext cx="11516239" cy="1042366"/>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sp>
    <dsp:sp modelId="{0974BB63-EF5F-4359-A81B-EE16D7D3198A}">
      <dsp:nvSpPr>
        <dsp:cNvPr id="0" name=""/>
        <dsp:cNvSpPr/>
      </dsp:nvSpPr>
      <dsp:spPr>
        <a:xfrm>
          <a:off x="315315" y="2842505"/>
          <a:ext cx="573301" cy="573301"/>
        </a:xfrm>
        <a:prstGeom prst="rect">
          <a:avLst/>
        </a:prstGeom>
        <a:blipFill>
          <a:blip xmlns:r="http://schemas.openxmlformats.org/officeDocument/2006/relationships">
            <a:duotone>
              <a:prstClr val="black"/>
              <a:schemeClr val="accent4">
                <a:tint val="45000"/>
                <a:satMod val="400000"/>
              </a:schemeClr>
            </a:duotone>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a:innerShdw blurRad="63500" dist="50800" dir="13500000">
            <a:prstClr val="black">
              <a:alpha val="50000"/>
            </a:prstClr>
          </a:innerShdw>
        </a:effectLst>
      </dsp:spPr>
      <dsp:style>
        <a:lnRef idx="2">
          <a:scrgbClr r="0" g="0" b="0"/>
        </a:lnRef>
        <a:fillRef idx="1">
          <a:scrgbClr r="0" g="0" b="0"/>
        </a:fillRef>
        <a:effectRef idx="0">
          <a:scrgbClr r="0" g="0" b="0"/>
        </a:effectRef>
        <a:fontRef idx="minor">
          <a:schemeClr val="lt1"/>
        </a:fontRef>
      </dsp:style>
    </dsp:sp>
    <dsp:sp modelId="{B0BA4470-86A4-4301-85FC-768A60245DC5}">
      <dsp:nvSpPr>
        <dsp:cNvPr id="0" name=""/>
        <dsp:cNvSpPr/>
      </dsp:nvSpPr>
      <dsp:spPr>
        <a:xfrm>
          <a:off x="1203933" y="2607972"/>
          <a:ext cx="5182307" cy="104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17" tIns="110317" rIns="110317" bIns="110317" numCol="1" spcCol="1270" anchor="ctr" anchorCtr="0">
          <a:noAutofit/>
        </a:bodyPr>
        <a:lstStyle/>
        <a:p>
          <a:pPr marL="0" lvl="0" indent="0" algn="l" defTabSz="800100">
            <a:lnSpc>
              <a:spcPct val="100000"/>
            </a:lnSpc>
            <a:spcBef>
              <a:spcPct val="0"/>
            </a:spcBef>
            <a:spcAft>
              <a:spcPct val="35000"/>
            </a:spcAft>
            <a:buNone/>
          </a:pPr>
          <a:r>
            <a:rPr lang="en-GB" sz="1800" b="1" kern="1200"/>
            <a:t>Compiled</a:t>
          </a:r>
          <a:r>
            <a:rPr lang="en-GB" sz="1800" kern="1200"/>
            <a:t> to Intermediate Language (</a:t>
          </a:r>
          <a:r>
            <a:rPr lang="en-GB" sz="1800" b="1" kern="1200"/>
            <a:t>IL</a:t>
          </a:r>
          <a:r>
            <a:rPr lang="en-GB" sz="1800" kern="1200"/>
            <a:t>)</a:t>
          </a:r>
          <a:endParaRPr lang="en-US" sz="1800" kern="1200"/>
        </a:p>
      </dsp:txBody>
      <dsp:txXfrm>
        <a:off x="1203933" y="2607972"/>
        <a:ext cx="5182307" cy="1042366"/>
      </dsp:txXfrm>
    </dsp:sp>
    <dsp:sp modelId="{6ECD8F98-950B-4F65-959C-D4947E0D55A9}">
      <dsp:nvSpPr>
        <dsp:cNvPr id="0" name=""/>
        <dsp:cNvSpPr/>
      </dsp:nvSpPr>
      <dsp:spPr>
        <a:xfrm>
          <a:off x="7744510" y="2621033"/>
          <a:ext cx="3771728" cy="104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17" tIns="110317" rIns="110317" bIns="110317" numCol="1" spcCol="1270" anchor="ctr" anchorCtr="0">
          <a:noAutofit/>
        </a:bodyPr>
        <a:lstStyle/>
        <a:p>
          <a:pPr marL="0" lvl="0" indent="0" algn="l" defTabSz="622300">
            <a:lnSpc>
              <a:spcPct val="100000"/>
            </a:lnSpc>
            <a:spcBef>
              <a:spcPct val="0"/>
            </a:spcBef>
            <a:spcAft>
              <a:spcPct val="35000"/>
            </a:spcAft>
            <a:buNone/>
          </a:pPr>
          <a:r>
            <a:rPr lang="en-GB" sz="1400" b="1" kern="1200"/>
            <a:t>IL</a:t>
          </a:r>
          <a:r>
            <a:rPr lang="en-GB" sz="1400" kern="1200"/>
            <a:t> is compiled for the target OS before running</a:t>
          </a:r>
          <a:br>
            <a:rPr lang="en-GB" sz="1400" kern="1200"/>
          </a:br>
          <a:endParaRPr lang="en-US" sz="1400" kern="1200"/>
        </a:p>
      </dsp:txBody>
      <dsp:txXfrm>
        <a:off x="7744510" y="2621033"/>
        <a:ext cx="3771728" cy="1042366"/>
      </dsp:txXfrm>
    </dsp:sp>
    <dsp:sp modelId="{772C3DDF-DFD2-4584-858B-073A7C46EA98}">
      <dsp:nvSpPr>
        <dsp:cNvPr id="0" name=""/>
        <dsp:cNvSpPr/>
      </dsp:nvSpPr>
      <dsp:spPr>
        <a:xfrm>
          <a:off x="0" y="3910930"/>
          <a:ext cx="11516239" cy="1042366"/>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sp>
    <dsp:sp modelId="{19370A6B-8E3A-46A2-B75B-87407B415E8D}">
      <dsp:nvSpPr>
        <dsp:cNvPr id="0" name=""/>
        <dsp:cNvSpPr/>
      </dsp:nvSpPr>
      <dsp:spPr>
        <a:xfrm>
          <a:off x="315315" y="4145463"/>
          <a:ext cx="573301" cy="573301"/>
        </a:xfrm>
        <a:prstGeom prst="rect">
          <a:avLst/>
        </a:prstGeom>
        <a:blipFill>
          <a:blip xmlns:r="http://schemas.openxmlformats.org/officeDocument/2006/relationships">
            <a:biLevel thresh="75000"/>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6B9534-78D5-428E-9BD9-6FE4AE661B2F}">
      <dsp:nvSpPr>
        <dsp:cNvPr id="0" name=""/>
        <dsp:cNvSpPr/>
      </dsp:nvSpPr>
      <dsp:spPr>
        <a:xfrm>
          <a:off x="1191003" y="3885319"/>
          <a:ext cx="5704528" cy="104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17" tIns="110317" rIns="110317" bIns="110317" numCol="1" spcCol="1270" anchor="ctr" anchorCtr="0">
          <a:noAutofit/>
        </a:bodyPr>
        <a:lstStyle/>
        <a:p>
          <a:pPr marL="0" lvl="0" indent="0" algn="l" defTabSz="800100">
            <a:lnSpc>
              <a:spcPct val="100000"/>
            </a:lnSpc>
            <a:spcBef>
              <a:spcPct val="0"/>
            </a:spcBef>
            <a:spcAft>
              <a:spcPct val="35000"/>
            </a:spcAft>
            <a:buNone/>
          </a:pPr>
          <a:r>
            <a:rPr lang="en-GB" sz="1800" kern="1200"/>
            <a:t>.NET introduced the idea of </a:t>
          </a:r>
          <a:r>
            <a:rPr lang="en-GB" sz="1800" i="1" kern="1200"/>
            <a:t>Managed code</a:t>
          </a:r>
          <a:r>
            <a:rPr lang="en-GB" sz="1800" kern="1200"/>
            <a:t>. </a:t>
          </a:r>
          <a:endParaRPr lang="en-US" sz="1800" kern="1200"/>
        </a:p>
      </dsp:txBody>
      <dsp:txXfrm>
        <a:off x="1191003" y="3885319"/>
        <a:ext cx="5704528" cy="1042366"/>
      </dsp:txXfrm>
    </dsp:sp>
    <dsp:sp modelId="{C3C7BAA0-0A50-45CD-A3F0-F8755AE328BC}">
      <dsp:nvSpPr>
        <dsp:cNvPr id="0" name=""/>
        <dsp:cNvSpPr/>
      </dsp:nvSpPr>
      <dsp:spPr>
        <a:xfrm>
          <a:off x="7476416" y="3885319"/>
          <a:ext cx="4039822" cy="10423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317" tIns="110317" rIns="110317" bIns="110317" numCol="1" spcCol="1270" anchor="ctr" anchorCtr="0">
          <a:noAutofit/>
        </a:bodyPr>
        <a:lstStyle/>
        <a:p>
          <a:pPr marL="0" lvl="0" indent="0" algn="l" defTabSz="622300">
            <a:lnSpc>
              <a:spcPct val="100000"/>
            </a:lnSpc>
            <a:spcBef>
              <a:spcPct val="0"/>
            </a:spcBef>
            <a:spcAft>
              <a:spcPct val="35000"/>
            </a:spcAft>
            <a:buNone/>
          </a:pPr>
          <a:r>
            <a:rPr lang="en-GB" sz="1400" kern="1200"/>
            <a:t>Code is managed by the Common Language Runtime (</a:t>
          </a:r>
          <a:r>
            <a:rPr lang="en-GB" sz="1400" b="1" kern="1200"/>
            <a:t>CLR</a:t>
          </a:r>
          <a:r>
            <a:rPr lang="en-GB" sz="1400" kern="1200"/>
            <a:t>)</a:t>
          </a:r>
          <a:endParaRPr lang="en-US" sz="1400" kern="1200"/>
        </a:p>
      </dsp:txBody>
      <dsp:txXfrm>
        <a:off x="7476416" y="3885319"/>
        <a:ext cx="4039822" cy="10423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45E7EC-4823-4B41-8FB7-1517A5644CF2}">
      <dsp:nvSpPr>
        <dsp:cNvPr id="0" name=""/>
        <dsp:cNvSpPr/>
      </dsp:nvSpPr>
      <dsp:spPr>
        <a:xfrm>
          <a:off x="0" y="534835"/>
          <a:ext cx="7411672" cy="9873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0C9F17-21DD-4C6B-B4A4-FC56789D82E8}">
      <dsp:nvSpPr>
        <dsp:cNvPr id="0" name=""/>
        <dsp:cNvSpPr/>
      </dsp:nvSpPr>
      <dsp:spPr>
        <a:xfrm>
          <a:off x="298684" y="756997"/>
          <a:ext cx="543063" cy="5430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56AC05-6F41-4032-BE1E-876234FB0335}">
      <dsp:nvSpPr>
        <dsp:cNvPr id="0" name=""/>
        <dsp:cNvSpPr/>
      </dsp:nvSpPr>
      <dsp:spPr>
        <a:xfrm>
          <a:off x="1140433" y="534835"/>
          <a:ext cx="6271238" cy="987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99" tIns="104499" rIns="104499" bIns="104499" numCol="1" spcCol="1270" anchor="ctr" anchorCtr="0">
          <a:noAutofit/>
        </a:bodyPr>
        <a:lstStyle/>
        <a:p>
          <a:pPr marL="0" lvl="0" indent="0" algn="l" defTabSz="889000">
            <a:lnSpc>
              <a:spcPct val="90000"/>
            </a:lnSpc>
            <a:spcBef>
              <a:spcPct val="0"/>
            </a:spcBef>
            <a:spcAft>
              <a:spcPct val="35000"/>
            </a:spcAft>
            <a:buNone/>
          </a:pPr>
          <a:r>
            <a:rPr lang="en-GB" sz="2000" b="1" kern="1200" dirty="0"/>
            <a:t>Practice the basics of the C# language</a:t>
          </a:r>
          <a:endParaRPr lang="en-US" sz="2000" b="1" kern="1200" dirty="0"/>
        </a:p>
      </dsp:txBody>
      <dsp:txXfrm>
        <a:off x="1140433" y="534835"/>
        <a:ext cx="6271238" cy="987387"/>
      </dsp:txXfrm>
    </dsp:sp>
    <dsp:sp modelId="{A30C6321-6940-4E9D-84D1-CFF719883A23}">
      <dsp:nvSpPr>
        <dsp:cNvPr id="0" name=""/>
        <dsp:cNvSpPr/>
      </dsp:nvSpPr>
      <dsp:spPr>
        <a:xfrm>
          <a:off x="0" y="1769069"/>
          <a:ext cx="7411672" cy="9873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9A5AB9-5146-4CC8-9B3C-F5994CAAC7CB}">
      <dsp:nvSpPr>
        <dsp:cNvPr id="0" name=""/>
        <dsp:cNvSpPr/>
      </dsp:nvSpPr>
      <dsp:spPr>
        <a:xfrm>
          <a:off x="298684" y="1991232"/>
          <a:ext cx="543063" cy="54306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D4A5A7B-430A-470B-97C9-2884B891E74A}">
      <dsp:nvSpPr>
        <dsp:cNvPr id="0" name=""/>
        <dsp:cNvSpPr/>
      </dsp:nvSpPr>
      <dsp:spPr>
        <a:xfrm>
          <a:off x="1140433" y="1769069"/>
          <a:ext cx="6271238" cy="9873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99" tIns="104499" rIns="104499" bIns="104499" numCol="1" spcCol="1270" anchor="ctr" anchorCtr="0">
          <a:noAutofit/>
        </a:bodyPr>
        <a:lstStyle/>
        <a:p>
          <a:pPr marL="0" lvl="0" indent="0" algn="l" defTabSz="889000">
            <a:lnSpc>
              <a:spcPct val="90000"/>
            </a:lnSpc>
            <a:spcBef>
              <a:spcPct val="0"/>
            </a:spcBef>
            <a:spcAft>
              <a:spcPct val="35000"/>
            </a:spcAft>
            <a:buNone/>
          </a:pPr>
          <a:r>
            <a:rPr lang="en-GB" sz="2000" b="1" kern="1200" dirty="0"/>
            <a:t>Duration 1 hour</a:t>
          </a:r>
          <a:endParaRPr lang="en-US" sz="2400" b="1" kern="1200" dirty="0"/>
        </a:p>
      </dsp:txBody>
      <dsp:txXfrm>
        <a:off x="1140433" y="1769069"/>
        <a:ext cx="6271238" cy="98738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03/08/2026</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03/08/2026</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80899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1928714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988998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185112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1517592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27376985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039039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p:spPr>
        <p:txBody>
          <a:bodyPr/>
          <a:lstStyle/>
          <a:p>
            <a:r>
              <a:rPr lang="en-GB" dirty="0"/>
              <a:t>The C# programming language defines literal values for eight </a:t>
            </a:r>
            <a:r>
              <a:rPr lang="en-GB" i="1" dirty="0"/>
              <a:t>primitive </a:t>
            </a:r>
            <a:r>
              <a:rPr lang="en-GB" dirty="0"/>
              <a:t>data types. </a:t>
            </a:r>
          </a:p>
          <a:p>
            <a:endParaRPr lang="en-GB" dirty="0"/>
          </a:p>
          <a:p>
            <a:r>
              <a:rPr lang="en-GB" dirty="0"/>
              <a:t>The primitive types can be considered in four categories:</a:t>
            </a:r>
          </a:p>
          <a:p>
            <a:pPr marL="171536" indent="-171536">
              <a:buFont typeface="Wingdings" panose="05000000000000000000" pitchFamily="2" charset="2"/>
              <a:buChar char="§"/>
            </a:pPr>
            <a:r>
              <a:rPr lang="en-GB" dirty="0"/>
              <a:t>Logical </a:t>
            </a:r>
            <a:r>
              <a:rPr lang="en-GB" dirty="0" err="1"/>
              <a:t>boolean</a:t>
            </a:r>
            <a:endParaRPr lang="en-GB" dirty="0"/>
          </a:p>
          <a:p>
            <a:pPr marL="171536" indent="-171536">
              <a:buFont typeface="Wingdings" panose="05000000000000000000" pitchFamily="2" charset="2"/>
              <a:buChar char="§"/>
            </a:pPr>
            <a:r>
              <a:rPr lang="en-GB" dirty="0"/>
              <a:t>Textual char</a:t>
            </a:r>
          </a:p>
          <a:p>
            <a:pPr marL="171536" indent="-171536">
              <a:buFont typeface="Wingdings" panose="05000000000000000000" pitchFamily="2" charset="2"/>
              <a:buChar char="§"/>
            </a:pPr>
            <a:r>
              <a:rPr lang="en-GB" dirty="0"/>
              <a:t>Integral byte, short, </a:t>
            </a:r>
            <a:r>
              <a:rPr lang="en-GB" dirty="0" err="1"/>
              <a:t>int</a:t>
            </a:r>
            <a:r>
              <a:rPr lang="en-GB" dirty="0"/>
              <a:t>, and long</a:t>
            </a:r>
          </a:p>
          <a:p>
            <a:pPr marL="171536" indent="-171536">
              <a:buFont typeface="Wingdings" panose="05000000000000000000" pitchFamily="2" charset="2"/>
              <a:buChar char="§"/>
            </a:pPr>
            <a:r>
              <a:rPr lang="en-GB" dirty="0"/>
              <a:t>Floating point double and float</a:t>
            </a:r>
          </a:p>
          <a:p>
            <a:r>
              <a:rPr lang="en-GB" dirty="0"/>
              <a:t>The </a:t>
            </a:r>
            <a:r>
              <a:rPr lang="en-GB" dirty="0" err="1"/>
              <a:t>boolean</a:t>
            </a:r>
            <a:r>
              <a:rPr lang="en-GB" dirty="0"/>
              <a:t> type can hold only one of two values: true or false. It is used with the comparison and relational operators, as we will see later.</a:t>
            </a:r>
          </a:p>
          <a:p>
            <a:r>
              <a:rPr lang="en-GB" dirty="0"/>
              <a:t>The char type is used for individual characters (as opposed to a String of characters). C# supports Unicode, an international standard for representing a character in any of the world's written languages in a single 16-bit value. The first 128 characters of the Unicode character set coincide with the ASCII character set. It is worth noting that not all characters in the Unicode space can be held in a single 16-bit character, however all major language characters can.</a:t>
            </a:r>
          </a:p>
          <a:p>
            <a:pPr marL="171536" indent="-171536">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21037235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p:spPr>
        <p:txBody>
          <a:bodyPr/>
          <a:lstStyle/>
          <a:p>
            <a:r>
              <a:rPr lang="en-GB" dirty="0"/>
              <a:t>As you would expect, C# is provided with a complete range of mathematical</a:t>
            </a:r>
            <a:r>
              <a:rPr lang="en-GB" baseline="0" dirty="0"/>
              <a:t> operators. </a:t>
            </a:r>
            <a:r>
              <a:rPr lang="en-GB" dirty="0"/>
              <a:t>It is worth noting that the division operator loses precision when dividing, say, two </a:t>
            </a:r>
            <a:r>
              <a:rPr lang="en-GB" dirty="0" err="1"/>
              <a:t>ints</a:t>
            </a:r>
            <a:r>
              <a:rPr lang="en-GB" dirty="0"/>
              <a:t>. For example, in the following code, z will have the value of three after the code has been executed, because </a:t>
            </a:r>
            <a:r>
              <a:rPr lang="en-GB" dirty="0" err="1"/>
              <a:t>ints</a:t>
            </a:r>
            <a:r>
              <a:rPr lang="en-GB" dirty="0"/>
              <a:t> are unable to hold any information other than whole numbers.</a:t>
            </a:r>
          </a:p>
          <a:p>
            <a:r>
              <a:rPr lang="en-GB" dirty="0"/>
              <a:t>  </a:t>
            </a:r>
            <a:r>
              <a:rPr lang="en-GB" dirty="0" err="1"/>
              <a:t>int</a:t>
            </a:r>
            <a:r>
              <a:rPr lang="en-GB" dirty="0"/>
              <a:t> x = 10;</a:t>
            </a:r>
          </a:p>
          <a:p>
            <a:r>
              <a:rPr lang="en-GB" dirty="0"/>
              <a:t>  </a:t>
            </a:r>
            <a:r>
              <a:rPr lang="en-GB" dirty="0" err="1"/>
              <a:t>int</a:t>
            </a:r>
            <a:r>
              <a:rPr lang="en-GB" dirty="0"/>
              <a:t> y = 3;</a:t>
            </a:r>
          </a:p>
          <a:p>
            <a:r>
              <a:rPr lang="en-GB" dirty="0"/>
              <a:t>  </a:t>
            </a:r>
            <a:r>
              <a:rPr lang="en-GB" dirty="0" err="1"/>
              <a:t>int</a:t>
            </a:r>
            <a:r>
              <a:rPr lang="en-GB" dirty="0"/>
              <a:t> z = x / y; // z will be 3, NOT 3.333333</a:t>
            </a:r>
          </a:p>
          <a:p>
            <a:endParaRPr lang="en-GB" dirty="0"/>
          </a:p>
        </p:txBody>
      </p:sp>
    </p:spTree>
    <p:extLst>
      <p:ext uri="{BB962C8B-B14F-4D97-AF65-F5344CB8AC3E}">
        <p14:creationId xmlns:p14="http://schemas.microsoft.com/office/powerpoint/2010/main" val="283294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p:spPr>
        <p:txBody>
          <a:bodyPr/>
          <a:lstStyle/>
          <a:p>
            <a:r>
              <a:rPr lang="en-GB" dirty="0"/>
              <a:t>You can also simplify statements when you are performing assignments. As shown on the slide, these two statements are identical:</a:t>
            </a:r>
          </a:p>
          <a:p>
            <a:r>
              <a:rPr lang="en-GB" dirty="0"/>
              <a:t>  x = x + 10;</a:t>
            </a:r>
          </a:p>
          <a:p>
            <a:r>
              <a:rPr lang="en-GB" dirty="0"/>
              <a:t>  x += 10;</a:t>
            </a:r>
          </a:p>
          <a:p>
            <a:endParaRPr lang="en-GB" dirty="0"/>
          </a:p>
          <a:p>
            <a:r>
              <a:rPr lang="en-GB" dirty="0"/>
              <a:t>A common mistake is to write an expression where a complete statement is needed, a statement</a:t>
            </a:r>
            <a:r>
              <a:rPr lang="en-GB" baseline="0" dirty="0"/>
              <a:t> often contains an expression, statements change things, expressions don’t.</a:t>
            </a:r>
          </a:p>
          <a:p>
            <a:endParaRPr lang="en-GB" baseline="0" dirty="0"/>
          </a:p>
          <a:p>
            <a:r>
              <a:rPr lang="en-GB" baseline="0" dirty="0"/>
              <a:t>The line of code</a:t>
            </a:r>
          </a:p>
          <a:p>
            <a:r>
              <a:rPr lang="en-GB" baseline="0" dirty="0"/>
              <a:t>2 + 3; is clearly nonsensical it does nothing whereas</a:t>
            </a:r>
          </a:p>
          <a:p>
            <a:r>
              <a:rPr lang="en-GB" baseline="0" dirty="0" err="1"/>
              <a:t>System.out.println</a:t>
            </a:r>
            <a:r>
              <a:rPr lang="en-GB" baseline="0" dirty="0"/>
              <a:t>(2 + 3); would at least do something</a:t>
            </a:r>
          </a:p>
          <a:p>
            <a:r>
              <a:rPr lang="en-GB" baseline="0" dirty="0"/>
              <a:t>x + 345; is not a statement it does nothing, it changes nothing, it is an expression</a:t>
            </a:r>
          </a:p>
          <a:p>
            <a:endParaRPr lang="en-GB" baseline="0" dirty="0"/>
          </a:p>
          <a:p>
            <a:r>
              <a:rPr lang="en-GB" dirty="0"/>
              <a:t> </a:t>
            </a:r>
          </a:p>
        </p:txBody>
      </p:sp>
    </p:spTree>
    <p:extLst>
      <p:ext uri="{BB962C8B-B14F-4D97-AF65-F5344CB8AC3E}">
        <p14:creationId xmlns:p14="http://schemas.microsoft.com/office/powerpoint/2010/main" val="591196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p:spPr>
        <p:txBody>
          <a:bodyPr/>
          <a:lstStyle/>
          <a:p>
            <a:r>
              <a:rPr lang="en-GB" dirty="0"/>
              <a:t>Incrementing or decrementing a value by one is a very common operation in any language. Like C</a:t>
            </a:r>
            <a:r>
              <a:rPr lang="en-GB" baseline="0" dirty="0"/>
              <a:t> and </a:t>
            </a:r>
            <a:r>
              <a:rPr lang="en-GB" dirty="0"/>
              <a:t>C++ Java and C# provides special operators for this purpose. Both the increment (++) and decrement (--) operators can be prefixed or post-fixed. The difference in behaviour is subtle: using the prefix version returns the value of the variable after it has been incremented, using the postfix version returns the value of the variable before it has been incremented.</a:t>
            </a:r>
            <a:br>
              <a:rPr lang="en-GB" dirty="0"/>
            </a:br>
            <a:endParaRPr lang="en-GB" dirty="0"/>
          </a:p>
          <a:p>
            <a:r>
              <a:rPr lang="en-GB" dirty="0"/>
              <a:t>Also, note that the ++ and -- operators have higher precedence than most operators. </a:t>
            </a:r>
          </a:p>
        </p:txBody>
      </p:sp>
    </p:spTree>
    <p:extLst>
      <p:ext uri="{BB962C8B-B14F-4D97-AF65-F5344CB8AC3E}">
        <p14:creationId xmlns:p14="http://schemas.microsoft.com/office/powerpoint/2010/main" val="2134404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r>
              <a:rPr lang="en-GB" dirty="0"/>
              <a:t>Be careful with the odd behaviour of any language. For example, see how characters are printed</a:t>
            </a:r>
          </a:p>
          <a:p>
            <a:endParaRPr lang="en-GB" dirty="0"/>
          </a:p>
          <a:p>
            <a:pPr algn="l"/>
            <a:r>
              <a:rPr lang="en-GB" dirty="0">
                <a:solidFill>
                  <a:srgbClr val="0000C8"/>
                </a:solidFill>
                <a:latin typeface="Lucida Console" pitchFamily="49" charset="0"/>
              </a:rPr>
              <a:t>char</a:t>
            </a:r>
            <a:r>
              <a:rPr lang="en-GB" sz="1200" b="1" dirty="0">
                <a:solidFill>
                  <a:srgbClr val="000000"/>
                </a:solidFill>
                <a:latin typeface="Consolas" panose="020B0609020204030204" pitchFamily="49" charset="0"/>
              </a:rPr>
              <a:t> </a:t>
            </a:r>
            <a:r>
              <a:rPr lang="en-GB" sz="1200" b="1" dirty="0">
                <a:solidFill>
                  <a:srgbClr val="6A3E3E"/>
                </a:solidFill>
                <a:latin typeface="Consolas" panose="020B0609020204030204" pitchFamily="49" charset="0"/>
              </a:rPr>
              <a:t>c</a:t>
            </a:r>
            <a:r>
              <a:rPr lang="en-GB" sz="1200" b="1" dirty="0">
                <a:solidFill>
                  <a:srgbClr val="000000"/>
                </a:solidFill>
                <a:latin typeface="Consolas" panose="020B0609020204030204" pitchFamily="49" charset="0"/>
              </a:rPr>
              <a:t> = 65;</a:t>
            </a:r>
          </a:p>
          <a:p>
            <a:pPr algn="l"/>
            <a:endParaRPr lang="en-GB" sz="1200" dirty="0">
              <a:solidFill>
                <a:srgbClr val="000000"/>
              </a:solidFill>
              <a:latin typeface="Consolas" panose="020B0609020204030204" pitchFamily="49" charset="0"/>
            </a:endParaRPr>
          </a:p>
          <a:p>
            <a:pPr algn="l"/>
            <a:r>
              <a:rPr lang="en-GB" sz="1200" dirty="0" err="1">
                <a:solidFill>
                  <a:srgbClr val="000000"/>
                </a:solidFill>
                <a:latin typeface="Consolas" panose="020B0609020204030204" pitchFamily="49" charset="0"/>
              </a:rPr>
              <a:t>System.</a:t>
            </a:r>
            <a:r>
              <a:rPr lang="en-GB" sz="1200" b="1" i="1" dirty="0" err="1">
                <a:solidFill>
                  <a:srgbClr val="0000C0"/>
                </a:solidFill>
                <a:latin typeface="Consolas" panose="020B0609020204030204" pitchFamily="49" charset="0"/>
              </a:rPr>
              <a:t>out</a:t>
            </a:r>
            <a:r>
              <a:rPr lang="en-GB" sz="1200" b="1" i="1" dirty="0" err="1">
                <a:solidFill>
                  <a:srgbClr val="000000"/>
                </a:solidFill>
                <a:latin typeface="Consolas" panose="020B0609020204030204" pitchFamily="49" charset="0"/>
              </a:rPr>
              <a:t>.</a:t>
            </a:r>
            <a:r>
              <a:rPr lang="en-GB" sz="1200" dirty="0" err="1">
                <a:solidFill>
                  <a:srgbClr val="000000"/>
                </a:solidFill>
                <a:latin typeface="Consolas" panose="020B0609020204030204" pitchFamily="49" charset="0"/>
              </a:rPr>
              <a:t>println</a:t>
            </a:r>
            <a:r>
              <a:rPr lang="en-GB" sz="1200" b="1" i="0" dirty="0">
                <a:solidFill>
                  <a:srgbClr val="000000"/>
                </a:solidFill>
                <a:latin typeface="Consolas" panose="020B0609020204030204" pitchFamily="49" charset="0"/>
              </a:rPr>
              <a:t>(</a:t>
            </a:r>
            <a:r>
              <a:rPr lang="en-GB" sz="1200" b="1" i="0" dirty="0">
                <a:solidFill>
                  <a:srgbClr val="6A3E3E"/>
                </a:solidFill>
                <a:latin typeface="Consolas" panose="020B0609020204030204" pitchFamily="49" charset="0"/>
              </a:rPr>
              <a:t>c</a:t>
            </a:r>
            <a:r>
              <a:rPr lang="en-GB" sz="1200" b="1" i="0" dirty="0">
                <a:solidFill>
                  <a:srgbClr val="000000"/>
                </a:solidFill>
                <a:latin typeface="Consolas" panose="020B0609020204030204" pitchFamily="49" charset="0"/>
              </a:rPr>
              <a:t>);   // Prints the </a:t>
            </a:r>
            <a:r>
              <a:rPr lang="en-GB" sz="1200" b="1" i="0" dirty="0" err="1">
                <a:solidFill>
                  <a:srgbClr val="000000"/>
                </a:solidFill>
                <a:latin typeface="Consolas" panose="020B0609020204030204" pitchFamily="49" charset="0"/>
              </a:rPr>
              <a:t>lettet</a:t>
            </a:r>
            <a:r>
              <a:rPr lang="en-GB" sz="1200" b="1" i="0" dirty="0">
                <a:solidFill>
                  <a:srgbClr val="000000"/>
                </a:solidFill>
                <a:latin typeface="Consolas" panose="020B0609020204030204" pitchFamily="49" charset="0"/>
              </a:rPr>
              <a:t> A</a:t>
            </a:r>
          </a:p>
          <a:p>
            <a:pPr algn="l"/>
            <a:endParaRPr lang="en-GB" sz="1200" b="1" i="1" dirty="0">
              <a:solidFill>
                <a:srgbClr val="000000"/>
              </a:solidFill>
              <a:latin typeface="Consolas" panose="020B0609020204030204" pitchFamily="49" charset="0"/>
            </a:endParaRPr>
          </a:p>
          <a:p>
            <a:r>
              <a:rPr lang="en-GB" sz="1200" dirty="0" err="1">
                <a:solidFill>
                  <a:srgbClr val="000000"/>
                </a:solidFill>
                <a:latin typeface="Consolas" panose="020B0609020204030204" pitchFamily="49" charset="0"/>
              </a:rPr>
              <a:t>System.</a:t>
            </a:r>
            <a:r>
              <a:rPr lang="en-GB" sz="1200" b="1" i="1" dirty="0" err="1">
                <a:solidFill>
                  <a:srgbClr val="0000C0"/>
                </a:solidFill>
                <a:latin typeface="Consolas" panose="020B0609020204030204" pitchFamily="49" charset="0"/>
              </a:rPr>
              <a:t>out</a:t>
            </a:r>
            <a:r>
              <a:rPr lang="en-GB" sz="1200" b="1" i="1" dirty="0" err="1">
                <a:solidFill>
                  <a:srgbClr val="000000"/>
                </a:solidFill>
                <a:latin typeface="Consolas" panose="020B0609020204030204" pitchFamily="49" charset="0"/>
              </a:rPr>
              <a:t>.</a:t>
            </a:r>
            <a:r>
              <a:rPr lang="en-GB" sz="1200" dirty="0" err="1">
                <a:solidFill>
                  <a:srgbClr val="000000"/>
                </a:solidFill>
                <a:latin typeface="Consolas" panose="020B0609020204030204" pitchFamily="49" charset="0"/>
              </a:rPr>
              <a:t>println</a:t>
            </a:r>
            <a:r>
              <a:rPr lang="en-GB" sz="1200" b="1" dirty="0">
                <a:solidFill>
                  <a:srgbClr val="000000"/>
                </a:solidFill>
                <a:latin typeface="Consolas" panose="020B0609020204030204" pitchFamily="49" charset="0"/>
              </a:rPr>
              <a:t>((</a:t>
            </a:r>
            <a:r>
              <a:rPr lang="en-GB" sz="1200" dirty="0">
                <a:solidFill>
                  <a:srgbClr val="0000C8"/>
                </a:solidFill>
                <a:latin typeface="Lucida Console" pitchFamily="49" charset="0"/>
              </a:rPr>
              <a:t>int</a:t>
            </a:r>
            <a:r>
              <a:rPr lang="en-GB" sz="1200" b="1" dirty="0">
                <a:solidFill>
                  <a:srgbClr val="000000"/>
                </a:solidFill>
                <a:latin typeface="Consolas" panose="020B0609020204030204" pitchFamily="49" charset="0"/>
              </a:rPr>
              <a:t>)</a:t>
            </a:r>
            <a:r>
              <a:rPr lang="en-GB" sz="1200" b="1" dirty="0">
                <a:solidFill>
                  <a:srgbClr val="6A3E3E"/>
                </a:solidFill>
                <a:latin typeface="Consolas" panose="020B0609020204030204" pitchFamily="49" charset="0"/>
              </a:rPr>
              <a:t>c</a:t>
            </a:r>
            <a:r>
              <a:rPr lang="en-GB" sz="1200" b="1" dirty="0">
                <a:solidFill>
                  <a:srgbClr val="000000"/>
                </a:solidFill>
                <a:latin typeface="Consolas" panose="020B0609020204030204" pitchFamily="49" charset="0"/>
              </a:rPr>
              <a:t>)</a:t>
            </a:r>
            <a:r>
              <a:rPr lang="en-GB" sz="1200" b="1" i="0" dirty="0">
                <a:solidFill>
                  <a:srgbClr val="000000"/>
                </a:solidFill>
                <a:latin typeface="Consolas" panose="020B0609020204030204" pitchFamily="49" charset="0"/>
              </a:rPr>
              <a:t>;   // prints 65</a:t>
            </a:r>
          </a:p>
          <a:p>
            <a:pPr algn="l"/>
            <a:endParaRPr lang="en-GB" sz="1100" dirty="0">
              <a:solidFill>
                <a:srgbClr val="000000"/>
              </a:solidFill>
              <a:latin typeface="Consolas" panose="020B0609020204030204" pitchFamily="49" charset="0"/>
            </a:endParaRPr>
          </a:p>
          <a:p>
            <a:pPr algn="l"/>
            <a:r>
              <a:rPr lang="en-GB" sz="1100" dirty="0" err="1">
                <a:solidFill>
                  <a:srgbClr val="000000"/>
                </a:solidFill>
                <a:latin typeface="Consolas" panose="020B0609020204030204" pitchFamily="49" charset="0"/>
              </a:rPr>
              <a:t>System.</a:t>
            </a:r>
            <a:r>
              <a:rPr lang="en-GB" sz="1100" b="1" dirty="0" err="1">
                <a:solidFill>
                  <a:srgbClr val="0000C0"/>
                </a:solidFill>
                <a:latin typeface="Consolas" panose="020B0609020204030204" pitchFamily="49" charset="0"/>
              </a:rPr>
              <a:t>out</a:t>
            </a:r>
            <a:r>
              <a:rPr lang="en-GB" sz="1100" b="1" dirty="0" err="1">
                <a:solidFill>
                  <a:srgbClr val="000000"/>
                </a:solidFill>
                <a:latin typeface="Consolas" panose="020B0609020204030204" pitchFamily="49" charset="0"/>
              </a:rPr>
              <a:t>.println</a:t>
            </a:r>
            <a:r>
              <a:rPr lang="en-GB" sz="1100" b="1" dirty="0">
                <a:solidFill>
                  <a:srgbClr val="000000"/>
                </a:solidFill>
                <a:latin typeface="Consolas" panose="020B0609020204030204" pitchFamily="49" charset="0"/>
              </a:rPr>
              <a:t>(</a:t>
            </a:r>
            <a:r>
              <a:rPr lang="en-GB" sz="1100" b="1" dirty="0">
                <a:solidFill>
                  <a:srgbClr val="6A3E3E"/>
                </a:solidFill>
                <a:latin typeface="Consolas" panose="020B0609020204030204" pitchFamily="49" charset="0"/>
              </a:rPr>
              <a:t>c</a:t>
            </a:r>
            <a:r>
              <a:rPr lang="en-GB" sz="1100" b="1" dirty="0">
                <a:solidFill>
                  <a:srgbClr val="000000"/>
                </a:solidFill>
                <a:latin typeface="Consolas" panose="020B0609020204030204" pitchFamily="49" charset="0"/>
              </a:rPr>
              <a:t> + </a:t>
            </a:r>
            <a:r>
              <a:rPr lang="en-GB" sz="1100" b="1" dirty="0">
                <a:solidFill>
                  <a:srgbClr val="2A00FF"/>
                </a:solidFill>
                <a:latin typeface="Consolas" panose="020B0609020204030204" pitchFamily="49" charset="0"/>
              </a:rPr>
              <a:t>"B"</a:t>
            </a:r>
            <a:r>
              <a:rPr lang="en-GB" sz="1100" b="1" dirty="0">
                <a:solidFill>
                  <a:srgbClr val="000000"/>
                </a:solidFill>
                <a:latin typeface="Consolas" panose="020B0609020204030204" pitchFamily="49" charset="0"/>
              </a:rPr>
              <a:t>)</a:t>
            </a:r>
            <a:r>
              <a:rPr lang="en-GB" sz="1100" b="1" i="1" dirty="0">
                <a:solidFill>
                  <a:srgbClr val="000000"/>
                </a:solidFill>
                <a:latin typeface="Consolas" panose="020B0609020204030204" pitchFamily="49" charset="0"/>
              </a:rPr>
              <a:t>;  // </a:t>
            </a:r>
            <a:r>
              <a:rPr lang="en-GB" sz="1100" b="1" i="0" dirty="0">
                <a:solidFill>
                  <a:srgbClr val="000000"/>
                </a:solidFill>
                <a:latin typeface="Consolas" panose="020B0609020204030204" pitchFamily="49" charset="0"/>
              </a:rPr>
              <a:t>Prints AB</a:t>
            </a:r>
          </a:p>
          <a:p>
            <a:pPr algn="l"/>
            <a:endParaRPr lang="en-GB" sz="1100" dirty="0">
              <a:solidFill>
                <a:srgbClr val="000000"/>
              </a:solidFill>
              <a:latin typeface="Consolas" panose="020B0609020204030204" pitchFamily="49" charset="0"/>
            </a:endParaRPr>
          </a:p>
          <a:p>
            <a:pPr algn="l"/>
            <a:r>
              <a:rPr lang="en-GB" sz="1100" dirty="0" err="1">
                <a:solidFill>
                  <a:srgbClr val="000000"/>
                </a:solidFill>
                <a:latin typeface="Consolas" panose="020B0609020204030204" pitchFamily="49" charset="0"/>
              </a:rPr>
              <a:t>System.</a:t>
            </a:r>
            <a:r>
              <a:rPr lang="en-GB" sz="1100" b="1" dirty="0" err="1">
                <a:solidFill>
                  <a:srgbClr val="0000C0"/>
                </a:solidFill>
                <a:latin typeface="Consolas" panose="020B0609020204030204" pitchFamily="49" charset="0"/>
              </a:rPr>
              <a:t>out</a:t>
            </a:r>
            <a:r>
              <a:rPr lang="en-GB" sz="1100" b="1" dirty="0" err="1">
                <a:solidFill>
                  <a:srgbClr val="000000"/>
                </a:solidFill>
                <a:latin typeface="Consolas" panose="020B0609020204030204" pitchFamily="49" charset="0"/>
              </a:rPr>
              <a:t>.println</a:t>
            </a:r>
            <a:r>
              <a:rPr lang="en-GB" sz="1100" b="1" dirty="0">
                <a:solidFill>
                  <a:srgbClr val="000000"/>
                </a:solidFill>
                <a:latin typeface="Consolas" panose="020B0609020204030204" pitchFamily="49" charset="0"/>
              </a:rPr>
              <a:t>(</a:t>
            </a:r>
            <a:r>
              <a:rPr lang="en-GB" sz="1100" b="1" dirty="0">
                <a:solidFill>
                  <a:srgbClr val="6A3E3E"/>
                </a:solidFill>
                <a:latin typeface="Consolas" panose="020B0609020204030204" pitchFamily="49" charset="0"/>
              </a:rPr>
              <a:t>c</a:t>
            </a:r>
            <a:r>
              <a:rPr lang="en-GB" sz="1100" b="1" dirty="0">
                <a:solidFill>
                  <a:srgbClr val="000000"/>
                </a:solidFill>
                <a:latin typeface="Consolas" panose="020B0609020204030204" pitchFamily="49" charset="0"/>
              </a:rPr>
              <a:t> + 1);   // Prints 66</a:t>
            </a:r>
          </a:p>
          <a:p>
            <a:pPr algn="l"/>
            <a:endParaRPr lang="en-GB" sz="1100" b="1" dirty="0">
              <a:solidFill>
                <a:srgbClr val="000000"/>
              </a:solidFill>
              <a:latin typeface="Consolas" panose="020B0609020204030204" pitchFamily="49" charset="0"/>
            </a:endParaRPr>
          </a:p>
          <a:p>
            <a:pPr algn="l"/>
            <a:r>
              <a:rPr lang="en-GB" sz="1100" b="1" dirty="0">
                <a:solidFill>
                  <a:srgbClr val="000000"/>
                </a:solidFill>
                <a:latin typeface="Consolas" panose="020B0609020204030204" pitchFamily="49" charset="0"/>
              </a:rPr>
              <a:t>But you cannot say:</a:t>
            </a:r>
          </a:p>
          <a:p>
            <a:pPr algn="l"/>
            <a:r>
              <a:rPr lang="en-GB" sz="1100" b="1" dirty="0">
                <a:solidFill>
                  <a:srgbClr val="000000"/>
                </a:solidFill>
                <a:latin typeface="Consolas" panose="020B0609020204030204" pitchFamily="49" charset="0"/>
              </a:rPr>
              <a:t>c = c+1;</a:t>
            </a:r>
            <a:endParaRPr lang="en-GB" sz="1200" b="1" dirty="0">
              <a:solidFill>
                <a:srgbClr val="000000"/>
              </a:solidFill>
              <a:latin typeface="Consolas" panose="020B0609020204030204" pitchFamily="49" charset="0"/>
            </a:endParaRPr>
          </a:p>
          <a:p>
            <a:endParaRPr lang="en-GB" dirty="0"/>
          </a:p>
          <a:p>
            <a:r>
              <a:rPr lang="en-GB" b="1" dirty="0"/>
              <a:t>American Standard Code for Information Interchange (ASCII) </a:t>
            </a:r>
            <a:r>
              <a:rPr lang="en-GB" dirty="0"/>
              <a:t>was created in 1963 and adopted in 1967 globally.</a:t>
            </a:r>
          </a:p>
          <a:p>
            <a:endParaRPr lang="en-GB" dirty="0"/>
          </a:p>
        </p:txBody>
      </p:sp>
    </p:spTree>
    <p:extLst>
      <p:ext uri="{BB962C8B-B14F-4D97-AF65-F5344CB8AC3E}">
        <p14:creationId xmlns:p14="http://schemas.microsoft.com/office/powerpoint/2010/main" val="2472614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r>
              <a:rPr lang="en-GB" dirty="0"/>
              <a:t>Most of the arithmetic operators in C# are similar to those in other languages. Integer division results in an integer and any remainder is ignored. The modulus operator (%) returns the remainder after an integer division. As you would expect, the multiply and divide operators have higher precedence than the add and subtract operators (i.e. they are evaluated first). </a:t>
            </a:r>
          </a:p>
          <a:p>
            <a:r>
              <a:rPr lang="en-GB" dirty="0"/>
              <a:t>It is important to note that, internally, all integer arithmetic is performed with </a:t>
            </a:r>
            <a:r>
              <a:rPr lang="en-GB" dirty="0" err="1"/>
              <a:t>int</a:t>
            </a:r>
            <a:r>
              <a:rPr lang="en-GB" dirty="0"/>
              <a:t> or larger values. byte, char and short values are automatically widened or promoted to </a:t>
            </a:r>
            <a:r>
              <a:rPr lang="en-GB" dirty="0" err="1"/>
              <a:t>int</a:t>
            </a:r>
            <a:r>
              <a:rPr lang="en-GB" dirty="0"/>
              <a:t> before an arithmetic operation commences and the result will be an int. Therefore, if the result is to be assigned to anything less than a </a:t>
            </a:r>
            <a:r>
              <a:rPr lang="en-GB" dirty="0" err="1"/>
              <a:t>int</a:t>
            </a:r>
            <a:r>
              <a:rPr lang="en-GB" dirty="0"/>
              <a:t>, you must explicitly cast the result. Otherwise, the compiler will flag an error. Similarly, if the argument on one side of an arithmetic operator is a long, the argument on the other side will be promoted to a long and the result will be a long.</a:t>
            </a:r>
          </a:p>
          <a:p>
            <a:r>
              <a:rPr lang="en-GB" dirty="0"/>
              <a:t>If necessary, will automatically convert or cast a variable or expression of one numeric type to a wider type, e.g. if you assign a </a:t>
            </a:r>
            <a:r>
              <a:rPr lang="en-GB" dirty="0" err="1"/>
              <a:t>int</a:t>
            </a:r>
            <a:r>
              <a:rPr lang="en-GB" dirty="0"/>
              <a:t> to an long. However, if you attempt to do the reverse, the compiler will complain, because this may result in loss of information. You can force the compiler to convert a variable of one numeric type to a narrower type by using an explicit cast. As previously mentioned, casting is also necessary if you perform integer arithmetic with byte or short variables. The syntax for an explicit cast is to put the target type in parentheses in front of the expression or variable as shown on the slide.</a:t>
            </a:r>
          </a:p>
        </p:txBody>
      </p:sp>
    </p:spTree>
    <p:extLst>
      <p:ext uri="{BB962C8B-B14F-4D97-AF65-F5344CB8AC3E}">
        <p14:creationId xmlns:p14="http://schemas.microsoft.com/office/powerpoint/2010/main" val="1285163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u="none" dirty="0"/>
          </a:p>
        </p:txBody>
      </p:sp>
    </p:spTree>
    <p:extLst>
      <p:ext uri="{BB962C8B-B14F-4D97-AF65-F5344CB8AC3E}">
        <p14:creationId xmlns:p14="http://schemas.microsoft.com/office/powerpoint/2010/main" val="2654236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r>
              <a:rPr lang="en-GB" dirty="0"/>
              <a:t>The primary means of decision making is the if statement. A Boolean control-expression determines which branch of the two-way fork is taken. If the expression evaluates to true, the first branch (i.e. the if-body) is taken. But if the expression is false, then the second branch (the else-body) is taken. The else clause is optional; if it is omitted, nothing is executed if the control expression evaluates to false.</a:t>
            </a:r>
          </a:p>
          <a:p>
            <a:endParaRPr lang="en-GB" dirty="0"/>
          </a:p>
          <a:p>
            <a:endParaRPr lang="en-GB" dirty="0"/>
          </a:p>
        </p:txBody>
      </p:sp>
    </p:spTree>
    <p:extLst>
      <p:ext uri="{BB962C8B-B14F-4D97-AF65-F5344CB8AC3E}">
        <p14:creationId xmlns:p14="http://schemas.microsoft.com/office/powerpoint/2010/main" val="356541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r>
              <a:rPr lang="en-GB" dirty="0"/>
              <a:t>The previous slide looked at 2 way branching. However you</a:t>
            </a:r>
            <a:r>
              <a:rPr lang="en-GB" baseline="0" dirty="0"/>
              <a:t> may need multi-way selection. One of several routes needs to be taken through the code. This can be effected by introducing one or many  ‘else if’ constructs into your code. </a:t>
            </a:r>
            <a:br>
              <a:rPr lang="en-GB" baseline="0" dirty="0"/>
            </a:br>
            <a:r>
              <a:rPr lang="en-GB" baseline="0" dirty="0"/>
              <a:t>If the 1</a:t>
            </a:r>
            <a:r>
              <a:rPr lang="en-GB" baseline="30000" dirty="0"/>
              <a:t>st</a:t>
            </a:r>
            <a:r>
              <a:rPr lang="en-GB" baseline="0" dirty="0"/>
              <a:t> </a:t>
            </a:r>
            <a:r>
              <a:rPr lang="en-GB" baseline="0" dirty="0" err="1"/>
              <a:t>boolean</a:t>
            </a:r>
            <a:r>
              <a:rPr lang="en-GB" baseline="0" dirty="0"/>
              <a:t> test is true it will execute the ‘if’ block of code and then branch past all the else if’s and any ‘else’ that is coded. This may mean exiting the method. </a:t>
            </a:r>
          </a:p>
          <a:p>
            <a:r>
              <a:rPr lang="en-GB" baseline="0" dirty="0"/>
              <a:t>A </a:t>
            </a:r>
            <a:r>
              <a:rPr lang="en-GB" baseline="0" dirty="0" err="1"/>
              <a:t>boolean</a:t>
            </a:r>
            <a:r>
              <a:rPr lang="en-GB" baseline="0" dirty="0"/>
              <a:t> expression is only evaluated if all the above </a:t>
            </a:r>
            <a:r>
              <a:rPr lang="en-GB" baseline="0" dirty="0" err="1"/>
              <a:t>boolean</a:t>
            </a:r>
            <a:r>
              <a:rPr lang="en-GB" baseline="0" dirty="0"/>
              <a:t> expressions in this ‘if’ construct are false. The ‘else’ code only runs when the ‘if’ and all the ‘else if’s have evaluated to false.</a:t>
            </a:r>
            <a:endParaRPr lang="en-GB" dirty="0"/>
          </a:p>
          <a:p>
            <a:endParaRPr lang="en-GB" dirty="0"/>
          </a:p>
        </p:txBody>
      </p:sp>
    </p:spTree>
    <p:extLst>
      <p:ext uri="{BB962C8B-B14F-4D97-AF65-F5344CB8AC3E}">
        <p14:creationId xmlns:p14="http://schemas.microsoft.com/office/powerpoint/2010/main" val="42326283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33617151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Boolean values, or expressions that result in Boolean values, can be combined using the logical operators &amp;&amp;, || and !, which represent AND, OR and NOT operations, respectively.</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Watch out for operator precedence. If resolved</a:t>
            </a:r>
            <a:r>
              <a:rPr lang="en-GB" baseline="0" dirty="0"/>
              <a:t> from left to right (as we would read it) the third example would appear to yield a result of </a:t>
            </a:r>
            <a:r>
              <a:rPr lang="en-GB" b="1" baseline="0" dirty="0"/>
              <a:t>false</a:t>
            </a:r>
            <a:r>
              <a:rPr lang="en-GB" b="0" baseline="0" dirty="0"/>
              <a:t> </a:t>
            </a:r>
            <a:r>
              <a:rPr lang="en-GB" baseline="0" dirty="0"/>
              <a:t>such that the message would not be written to the console. This is incorrect.</a:t>
            </a:r>
            <a:br>
              <a:rPr lang="en-GB" baseline="0" dirty="0"/>
            </a:br>
            <a:r>
              <a:rPr lang="en-GB" baseline="0" dirty="0"/>
              <a:t>From left to right a </a:t>
            </a:r>
            <a:r>
              <a:rPr lang="en-GB" b="1" baseline="0" dirty="0"/>
              <a:t>true </a:t>
            </a:r>
            <a:r>
              <a:rPr lang="en-GB" b="0" baseline="0" dirty="0"/>
              <a:t>(var1 does equal 1) </a:t>
            </a:r>
            <a:r>
              <a:rPr lang="en-GB" baseline="0" dirty="0" err="1"/>
              <a:t>OR’d</a:t>
            </a:r>
            <a:r>
              <a:rPr lang="en-GB" baseline="0" dirty="0"/>
              <a:t> with a </a:t>
            </a:r>
            <a:r>
              <a:rPr lang="en-GB" b="1" baseline="0" dirty="0"/>
              <a:t>true</a:t>
            </a:r>
            <a:r>
              <a:rPr lang="en-GB" baseline="0" dirty="0"/>
              <a:t> </a:t>
            </a:r>
            <a:r>
              <a:rPr lang="en-GB" b="0" baseline="0" dirty="0"/>
              <a:t>(var2 does equal 2) </a:t>
            </a:r>
            <a:r>
              <a:rPr lang="en-GB" baseline="0" dirty="0"/>
              <a:t>yields a </a:t>
            </a:r>
            <a:r>
              <a:rPr lang="en-GB" b="1" baseline="0" dirty="0"/>
              <a:t>true</a:t>
            </a:r>
            <a:r>
              <a:rPr lang="en-GB" b="0" baseline="0" dirty="0"/>
              <a:t>, </a:t>
            </a:r>
            <a:r>
              <a:rPr lang="en-GB" b="0" baseline="0" dirty="0" err="1"/>
              <a:t>AND’ing</a:t>
            </a:r>
            <a:r>
              <a:rPr lang="en-GB" b="0" baseline="0" dirty="0"/>
              <a:t> this result with a </a:t>
            </a:r>
            <a:r>
              <a:rPr lang="en-GB" b="1" baseline="0" dirty="0"/>
              <a:t>false</a:t>
            </a:r>
            <a:r>
              <a:rPr lang="en-GB" b="0" baseline="0" dirty="0"/>
              <a:t> (var3 does not equal 1) would yield a final result of </a:t>
            </a:r>
            <a:r>
              <a:rPr lang="en-GB" b="1" baseline="0" dirty="0"/>
              <a:t>false</a:t>
            </a:r>
            <a:r>
              <a:rPr lang="en-GB" b="0" baseline="0" dirty="0"/>
              <a:t>. However, although this appears to make logical sense, it is not the result that a running program would produce. This is because all AND’s are executed before OR’s no matter where they appear in the sequence. Consequently we would do the AND first followed by the OR.  </a:t>
            </a:r>
            <a:r>
              <a:rPr lang="en-GB" b="0" baseline="0" dirty="0" err="1"/>
              <a:t>AND’ing</a:t>
            </a:r>
            <a:r>
              <a:rPr lang="en-GB" b="0" baseline="0" dirty="0"/>
              <a:t> a </a:t>
            </a:r>
            <a:r>
              <a:rPr lang="en-GB" b="1" baseline="0" dirty="0"/>
              <a:t>true </a:t>
            </a:r>
            <a:r>
              <a:rPr lang="en-GB" b="0" baseline="0" dirty="0"/>
              <a:t>(var2 does equal 2) with a </a:t>
            </a:r>
            <a:r>
              <a:rPr lang="en-GB" b="1" baseline="0" dirty="0"/>
              <a:t>false </a:t>
            </a:r>
            <a:r>
              <a:rPr lang="en-GB" b="0" baseline="0" dirty="0"/>
              <a:t>(var3 does not equal 1) would yield a </a:t>
            </a:r>
            <a:r>
              <a:rPr lang="en-GB" b="1" baseline="0" dirty="0"/>
              <a:t>false</a:t>
            </a:r>
            <a:r>
              <a:rPr lang="en-GB" b="0" baseline="0" dirty="0"/>
              <a:t>, </a:t>
            </a:r>
            <a:r>
              <a:rPr lang="en-GB" b="0" baseline="0" dirty="0" err="1"/>
              <a:t>OR’ing</a:t>
            </a:r>
            <a:r>
              <a:rPr lang="en-GB" b="0" baseline="0" dirty="0"/>
              <a:t> this result with a </a:t>
            </a:r>
            <a:r>
              <a:rPr lang="en-GB" b="1" baseline="0" dirty="0"/>
              <a:t>true</a:t>
            </a:r>
            <a:r>
              <a:rPr lang="en-GB" b="0" baseline="0" dirty="0"/>
              <a:t> (var1 does equal 1) would yield a final result of </a:t>
            </a:r>
            <a:r>
              <a:rPr lang="en-GB" b="1" baseline="0" dirty="0"/>
              <a:t>true </a:t>
            </a:r>
            <a:r>
              <a:rPr lang="en-GB" b="0" baseline="0" dirty="0"/>
              <a:t>and the message would get written to the Console! If you would prefer to get the former outcome you can always prioritise things by using parentheses in much the same way you would when doing a maths calculation when you wanted an addition to be done before a multiplication:</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if </a:t>
            </a:r>
            <a:r>
              <a:rPr lang="en-GB" b="1" dirty="0"/>
              <a:t>((</a:t>
            </a:r>
            <a:r>
              <a:rPr lang="en-GB" dirty="0"/>
              <a:t>(var1 == 1) || (var2 == 2)</a:t>
            </a:r>
            <a:r>
              <a:rPr lang="en-GB" b="1" dirty="0"/>
              <a:t>)</a:t>
            </a:r>
            <a:r>
              <a:rPr lang="en-GB" dirty="0"/>
              <a:t> &amp;&amp; (var3 == 1)).</a:t>
            </a:r>
            <a:endParaRPr lang="en-GB" b="1" dirty="0"/>
          </a:p>
          <a:p>
            <a:endParaRPr lang="en-GB" dirty="0"/>
          </a:p>
        </p:txBody>
      </p:sp>
    </p:spTree>
    <p:extLst>
      <p:ext uri="{BB962C8B-B14F-4D97-AF65-F5344CB8AC3E}">
        <p14:creationId xmlns:p14="http://schemas.microsoft.com/office/powerpoint/2010/main" val="1735968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4778571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643340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A method that returns nothing should be rare. Testing</a:t>
            </a:r>
            <a:r>
              <a:rPr lang="en-GB" baseline="0" dirty="0"/>
              <a:t> these kinds of methods are quite difficult. If a method returns nothing, how would a caller know it has succeeded?</a:t>
            </a:r>
          </a:p>
          <a:p>
            <a:r>
              <a:rPr lang="en-GB" baseline="0" dirty="0"/>
              <a:t>In the above example, the add method prints the sum of a + b to console. We might want the result to be put in a text file instead of just printing to console.</a:t>
            </a:r>
          </a:p>
          <a:p>
            <a:r>
              <a:rPr lang="en-GB" baseline="0" dirty="0"/>
              <a:t>See the next slide for an example of a method that returns a value to the caller.</a:t>
            </a:r>
          </a:p>
          <a:p>
            <a:endParaRPr lang="en-GB" dirty="0"/>
          </a:p>
        </p:txBody>
      </p:sp>
    </p:spTree>
    <p:extLst>
      <p:ext uri="{BB962C8B-B14F-4D97-AF65-F5344CB8AC3E}">
        <p14:creationId xmlns:p14="http://schemas.microsoft.com/office/powerpoint/2010/main" val="2372238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The </a:t>
            </a:r>
            <a:r>
              <a:rPr lang="en-GB" dirty="0" err="1"/>
              <a:t>getSum</a:t>
            </a:r>
            <a:r>
              <a:rPr lang="en-GB" dirty="0"/>
              <a:t> method return an</a:t>
            </a:r>
            <a:r>
              <a:rPr lang="en-GB" baseline="0" dirty="0"/>
              <a:t> integer to the caller which is the sum of a + b. </a:t>
            </a:r>
          </a:p>
          <a:p>
            <a:r>
              <a:rPr lang="en-GB" baseline="0" dirty="0"/>
              <a:t>This is done via the line   </a:t>
            </a:r>
            <a:r>
              <a:rPr lang="en-GB" b="1" baseline="0" dirty="0"/>
              <a:t>return a + b;</a:t>
            </a:r>
          </a:p>
          <a:p>
            <a:r>
              <a:rPr lang="en-GB" b="0" baseline="0" dirty="0"/>
              <a:t>A method can have multiple return statements. Wen the return statement is executed the method ends and returns whatever follows the return keyword.</a:t>
            </a:r>
          </a:p>
          <a:p>
            <a:r>
              <a:rPr lang="en-GB" b="0" baseline="0" dirty="0"/>
              <a:t>Although it is possible to have many return statements in a method, we always try to stick to one. A method with too many return statements is like a room with many exit doors, and that's just too confusing!</a:t>
            </a:r>
          </a:p>
          <a:p>
            <a:r>
              <a:rPr lang="en-GB" b="0" baseline="0" dirty="0"/>
              <a:t>We'll have examples of this in your labs, and you'll see what I exactly mean.</a:t>
            </a:r>
            <a:endParaRPr lang="en-GB" b="0" dirty="0"/>
          </a:p>
        </p:txBody>
      </p:sp>
    </p:spTree>
    <p:extLst>
      <p:ext uri="{BB962C8B-B14F-4D97-AF65-F5344CB8AC3E}">
        <p14:creationId xmlns:p14="http://schemas.microsoft.com/office/powerpoint/2010/main" val="9805283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There will be a number of situations where you will want to pass different parameter types to a method. A classic example of this is the </a:t>
            </a:r>
            <a:r>
              <a:rPr lang="en-GB" dirty="0" err="1"/>
              <a:t>System.out.println</a:t>
            </a:r>
            <a:r>
              <a:rPr lang="en-GB" dirty="0"/>
              <a:t>() method, to which you might want to pass a String, and integer, a </a:t>
            </a:r>
            <a:r>
              <a:rPr lang="en-GB" dirty="0" err="1"/>
              <a:t>boolean</a:t>
            </a:r>
            <a:r>
              <a:rPr lang="en-GB" dirty="0"/>
              <a:t>  etc.</a:t>
            </a:r>
          </a:p>
          <a:p>
            <a:r>
              <a:rPr lang="en-GB" dirty="0"/>
              <a:t>To support this, C# lets you overload a method. All this means is that your type contains multiple definitions for the method, each of which differs from the others in the number, order and types of parameters. In the example above there are two overloads for the print method, one of which takes 2 parameters and one that takes 3. Each overload must have a unique signature (remember, it's not the names of the parameters that is considered, it is their type).</a:t>
            </a:r>
          </a:p>
          <a:p>
            <a:r>
              <a:rPr lang="en-GB" dirty="0"/>
              <a:t>An important thing to note is that the return type or access modifier is not considered in determining whether methods are unique or not.</a:t>
            </a:r>
          </a:p>
          <a:p>
            <a:r>
              <a:rPr lang="en-GB" dirty="0"/>
              <a:t>Finally, one thing that you can do with overloads is to emulate other languages concept of default parameters.</a:t>
            </a:r>
          </a:p>
          <a:p>
            <a:endParaRPr lang="en-GB" dirty="0"/>
          </a:p>
          <a:p>
            <a:r>
              <a:rPr lang="en-GB" dirty="0"/>
              <a:t>In the above example, the first call to </a:t>
            </a:r>
            <a:r>
              <a:rPr lang="en-GB" dirty="0" err="1"/>
              <a:t>getTax</a:t>
            </a:r>
            <a:r>
              <a:rPr lang="en-GB" dirty="0"/>
              <a:t> is directed to the </a:t>
            </a:r>
            <a:r>
              <a:rPr lang="en-GB" dirty="0" err="1"/>
              <a:t>getTax</a:t>
            </a:r>
            <a:r>
              <a:rPr lang="en-GB" dirty="0"/>
              <a:t> version with one parameter. Here we assume a tax rate of 0.25.</a:t>
            </a:r>
          </a:p>
          <a:p>
            <a:r>
              <a:rPr lang="en-GB" dirty="0"/>
              <a:t>The second call to </a:t>
            </a:r>
            <a:r>
              <a:rPr lang="en-GB" dirty="0" err="1"/>
              <a:t>getTax</a:t>
            </a:r>
            <a:r>
              <a:rPr lang="en-GB" dirty="0"/>
              <a:t> passes two parameters and therefore will call the version</a:t>
            </a:r>
            <a:r>
              <a:rPr lang="en-GB" baseline="0" dirty="0"/>
              <a:t> of </a:t>
            </a:r>
            <a:r>
              <a:rPr lang="en-GB" baseline="0" dirty="0" err="1"/>
              <a:t>getTax</a:t>
            </a:r>
            <a:r>
              <a:rPr lang="en-GB" baseline="0" dirty="0"/>
              <a:t> that accepts two parameters. Here we pass in the tax rate instead of accepting the default 0.25 tax rate.</a:t>
            </a:r>
          </a:p>
          <a:p>
            <a:r>
              <a:rPr lang="en-GB" baseline="0" dirty="0"/>
              <a:t>Method overloading is very common and can be </a:t>
            </a:r>
            <a:r>
              <a:rPr lang="en-GB" baseline="0" dirty="0" err="1"/>
              <a:t>extreamely</a:t>
            </a:r>
            <a:r>
              <a:rPr lang="en-GB" baseline="0" dirty="0"/>
              <a:t> useful.</a:t>
            </a:r>
            <a:endParaRPr lang="en-GB" dirty="0"/>
          </a:p>
        </p:txBody>
      </p:sp>
    </p:spTree>
    <p:extLst>
      <p:ext uri="{BB962C8B-B14F-4D97-AF65-F5344CB8AC3E}">
        <p14:creationId xmlns:p14="http://schemas.microsoft.com/office/powerpoint/2010/main" val="25236087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854674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Rot="1" noChangeAspect="1" noChangeArrowheads="1" noTextEdit="1"/>
          </p:cNvSpPr>
          <p:nvPr>
            <p:ph type="sldImg"/>
          </p:nvPr>
        </p:nvSpPr>
        <p:spPr>
          <a:ln/>
        </p:spPr>
      </p:sp>
      <p:sp>
        <p:nvSpPr>
          <p:cNvPr id="831491" name="Rectangle 3"/>
          <p:cNvSpPr>
            <a:spLocks noGrp="1" noChangeArrowheads="1"/>
          </p:cNvSpPr>
          <p:nvPr>
            <p:ph type="body" idx="1"/>
          </p:nvPr>
        </p:nvSpPr>
        <p:spPr/>
        <p:txBody>
          <a:bodyPr/>
          <a:lstStyle/>
          <a:p>
            <a:r>
              <a:rPr lang="en-GB" dirty="0"/>
              <a:t>The simplest looping construct in C# is the while loop.</a:t>
            </a:r>
          </a:p>
          <a:p>
            <a:r>
              <a:rPr lang="en-GB" dirty="0"/>
              <a:t>The do while loop is similar to the while loop, except that the Boolean control-expression is evaluated after the loop body has been executed. This means that the statement (i.e. the loop body) executes at least once. </a:t>
            </a:r>
          </a:p>
          <a:p>
            <a:r>
              <a:rPr lang="en-GB" dirty="0"/>
              <a:t>The for loop combines all four components of a typical while loop into a single construct with place-holders for each component. Note that the three expressions enclosed in parentheses are separated by semicolons.</a:t>
            </a:r>
          </a:p>
          <a:p>
            <a:r>
              <a:rPr lang="en-GB" dirty="0"/>
              <a:t>C#’s ‘enhanced’ for loop (code snippet ‘foreach’) is a very useful way of iterating through all the elements in an array or other collection.</a:t>
            </a:r>
          </a:p>
          <a:p>
            <a:endParaRPr lang="en-GB" dirty="0"/>
          </a:p>
          <a:p>
            <a:endParaRPr lang="en-GB" dirty="0"/>
          </a:p>
        </p:txBody>
      </p:sp>
    </p:spTree>
    <p:extLst>
      <p:ext uri="{BB962C8B-B14F-4D97-AF65-F5344CB8AC3E}">
        <p14:creationId xmlns:p14="http://schemas.microsoft.com/office/powerpoint/2010/main" val="6991662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8" name="Rectangle 4"/>
          <p:cNvSpPr>
            <a:spLocks noGrp="1" noChangeArrowheads="1"/>
          </p:cNvSpPr>
          <p:nvPr>
            <p:ph type="body" idx="1"/>
          </p:nvPr>
        </p:nvSpPr>
        <p:spPr>
          <a:noFill/>
          <a:ln/>
        </p:spPr>
        <p:txBody>
          <a:bodyPr lIns="90327" tIns="45164" rIns="90327" bIns="45164"/>
          <a:lstStyle/>
          <a:p>
            <a:r>
              <a:rPr lang="en-GB" b="1" dirty="0">
                <a:latin typeface="Courier New" pitchFamily="49" charset="0"/>
              </a:rPr>
              <a:t>While</a:t>
            </a:r>
            <a:r>
              <a:rPr lang="en-GB" b="1" baseline="0" dirty="0">
                <a:latin typeface="Courier New" pitchFamily="49" charset="0"/>
              </a:rPr>
              <a:t> </a:t>
            </a:r>
            <a:r>
              <a:rPr lang="en-GB" b="0" baseline="0" dirty="0">
                <a:latin typeface="Courier New" pitchFamily="49" charset="0"/>
              </a:rPr>
              <a:t>loop </a:t>
            </a:r>
            <a:r>
              <a:rPr lang="en-GB" dirty="0"/>
              <a:t>is a conventional looping construct controlled by a </a:t>
            </a:r>
            <a:r>
              <a:rPr lang="en-GB" dirty="0" err="1"/>
              <a:t>boolean</a:t>
            </a:r>
            <a:r>
              <a:rPr lang="en-GB" dirty="0"/>
              <a:t> test.  The test is placed after the  </a:t>
            </a:r>
            <a:r>
              <a:rPr lang="en-GB" b="1" dirty="0">
                <a:latin typeface="Courier New" pitchFamily="49" charset="0"/>
              </a:rPr>
              <a:t>while</a:t>
            </a:r>
            <a:r>
              <a:rPr lang="en-GB" dirty="0"/>
              <a:t>  keyword so that the concept is that of  ‘loop while true’.  </a:t>
            </a:r>
          </a:p>
          <a:p>
            <a:r>
              <a:rPr lang="en-GB" dirty="0"/>
              <a:t>In either case the test could be at the start or the end of the construct enabling both entry and exit condition testing.  With a test at the end the loop will execute </a:t>
            </a:r>
            <a:r>
              <a:rPr lang="en-GB" i="1" dirty="0"/>
              <a:t>at least </a:t>
            </a:r>
            <a:r>
              <a:rPr lang="en-GB" dirty="0"/>
              <a:t>once.</a:t>
            </a:r>
          </a:p>
          <a:p>
            <a:endParaRPr lang="en-GB" dirty="0"/>
          </a:p>
        </p:txBody>
      </p:sp>
      <p:sp>
        <p:nvSpPr>
          <p:cNvPr id="425989" name="Rectangle 5"/>
          <p:cNvSpPr>
            <a:spLocks noGrp="1" noRot="1" noChangeAspect="1" noChangeArrowheads="1" noTextEdit="1"/>
          </p:cNvSpPr>
          <p:nvPr>
            <p:ph type="sldImg"/>
          </p:nvPr>
        </p:nvSpPr>
        <p:spPr>
          <a:xfrm>
            <a:off x="-87313" y="744538"/>
            <a:ext cx="6937376" cy="3903662"/>
          </a:xfrm>
          <a:ln/>
        </p:spPr>
      </p:sp>
    </p:spTree>
    <p:extLst>
      <p:ext uri="{BB962C8B-B14F-4D97-AF65-F5344CB8AC3E}">
        <p14:creationId xmlns:p14="http://schemas.microsoft.com/office/powerpoint/2010/main" val="3090075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p:spPr>
        <p:txBody>
          <a:bodyPr/>
          <a:lstStyle/>
          <a:p>
            <a:r>
              <a:rPr lang="en-GB" dirty="0"/>
              <a:t>The initialisation expression in a for loop may be replaced by a declaration and initialisation as shown in the first example on the slide. Note that any variable declared here is local to the for loop itself. Once execution leaves the for loop, the variable goes out of scope.</a:t>
            </a:r>
          </a:p>
          <a:p>
            <a:r>
              <a:rPr lang="en-GB" dirty="0"/>
              <a:t>The initialisation and update components can consist of a number of comma-separated expressions, as shown in the second example on the slide, in which two indices (say) are updated in opposite directions.</a:t>
            </a:r>
          </a:p>
          <a:p>
            <a:r>
              <a:rPr lang="en-GB" dirty="0"/>
              <a:t>Any of the components of a for loop can be omitted. For example, a common way to implement a do-forever loop is as follows:</a:t>
            </a:r>
          </a:p>
          <a:p>
            <a:r>
              <a:rPr lang="en-GB" dirty="0"/>
              <a:t>  for (;;) // do forever</a:t>
            </a:r>
            <a:br>
              <a:rPr lang="en-GB" dirty="0"/>
            </a:br>
            <a:r>
              <a:rPr lang="en-GB" dirty="0"/>
              <a:t>  {</a:t>
            </a:r>
            <a:br>
              <a:rPr lang="en-GB" dirty="0"/>
            </a:br>
            <a:r>
              <a:rPr lang="en-GB" dirty="0"/>
              <a:t>    ...</a:t>
            </a:r>
            <a:br>
              <a:rPr lang="en-GB" dirty="0"/>
            </a:br>
            <a:r>
              <a:rPr lang="en-GB" dirty="0"/>
              <a:t>  }</a:t>
            </a:r>
          </a:p>
          <a:p>
            <a:r>
              <a:rPr lang="en-GB" dirty="0"/>
              <a:t>Right now, this may seem to be a strange way to write a program, but it is fairly typical in multi-threaded applications. However, this kind of loop must be exited by some other means such as a break statement, which we'll cover soon.</a:t>
            </a:r>
          </a:p>
          <a:p>
            <a:r>
              <a:rPr lang="en-GB" dirty="0"/>
              <a:t>Since you can achieve quite a lot in the test and update expressions of a for loop, you may not need to do anything in the loop body. In such cases, you need to provide a null statement, an pair of empty parentheses on the next line is definitely preferable to a simple semi-colon.</a:t>
            </a:r>
          </a:p>
        </p:txBody>
      </p:sp>
    </p:spTree>
    <p:extLst>
      <p:ext uri="{BB962C8B-B14F-4D97-AF65-F5344CB8AC3E}">
        <p14:creationId xmlns:p14="http://schemas.microsoft.com/office/powerpoint/2010/main" val="39047846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p:spPr>
        <p:txBody>
          <a:bodyPr/>
          <a:lstStyle/>
          <a:p>
            <a:r>
              <a:rPr lang="en-GB" dirty="0"/>
              <a:t>It is important to be able to control execution flow within a loop, although it is generally regarded to be good programming practice to design your code so that control flow is easy to follow.</a:t>
            </a:r>
          </a:p>
          <a:p>
            <a:r>
              <a:rPr lang="en-GB" dirty="0"/>
              <a:t>C# provides two mechanisms for controlling loop execution, as shown above.</a:t>
            </a:r>
          </a:p>
          <a:p>
            <a:r>
              <a:rPr lang="en-GB" dirty="0"/>
              <a:t>A break statement can be used to exit a while, do while or for loop prematurely. Control is transferred to the first statement following the closing brace of the loop body. </a:t>
            </a:r>
          </a:p>
          <a:p>
            <a:r>
              <a:rPr lang="en-GB" dirty="0"/>
              <a:t>A continue statement can be used to transfer control to the end of a loop body prior to the re-evaluation of the loop's test expression. Note that in a for loop, the update expression is executed before the re-evaluation of the test. </a:t>
            </a:r>
          </a:p>
          <a:p>
            <a:endParaRPr lang="en-GB" dirty="0"/>
          </a:p>
          <a:p>
            <a:r>
              <a:rPr lang="en-GB" dirty="0"/>
              <a:t>C# also allows a loop</a:t>
            </a:r>
            <a:r>
              <a:rPr lang="en-GB" baseline="0" dirty="0"/>
              <a:t> to be labelled e.g.</a:t>
            </a:r>
            <a:br>
              <a:rPr lang="en-GB" baseline="0" dirty="0"/>
            </a:br>
            <a:r>
              <a:rPr lang="en-GB" baseline="0" dirty="0" err="1"/>
              <a:t>outer_loop</a:t>
            </a:r>
            <a:r>
              <a:rPr lang="en-GB" baseline="0" dirty="0"/>
              <a:t>:</a:t>
            </a:r>
            <a:br>
              <a:rPr lang="en-GB" baseline="0" dirty="0"/>
            </a:br>
            <a:r>
              <a:rPr lang="en-GB" baseline="0" dirty="0"/>
              <a:t>for(..) {</a:t>
            </a:r>
            <a:br>
              <a:rPr lang="en-GB" baseline="0" dirty="0"/>
            </a:br>
            <a:r>
              <a:rPr lang="en-GB" dirty="0"/>
              <a:t>This is occasionally of use as a nested loop inside it can then code the statement</a:t>
            </a:r>
            <a:br>
              <a:rPr lang="en-GB" dirty="0"/>
            </a:br>
            <a:r>
              <a:rPr lang="en-GB" dirty="0"/>
              <a:t>break </a:t>
            </a:r>
            <a:r>
              <a:rPr lang="en-GB" dirty="0" err="1"/>
              <a:t>outer_loop</a:t>
            </a:r>
            <a:r>
              <a:rPr lang="en-GB" dirty="0"/>
              <a:t>; </a:t>
            </a:r>
            <a:br>
              <a:rPr lang="en-GB" dirty="0"/>
            </a:br>
            <a:r>
              <a:rPr lang="en-GB" dirty="0"/>
              <a:t>as opposed to just </a:t>
            </a:r>
            <a:br>
              <a:rPr lang="en-GB" dirty="0"/>
            </a:br>
            <a:r>
              <a:rPr lang="en-GB" dirty="0"/>
              <a:t>break; </a:t>
            </a:r>
            <a:br>
              <a:rPr lang="en-GB" dirty="0"/>
            </a:br>
            <a:r>
              <a:rPr lang="en-GB" dirty="0"/>
              <a:t>which would only exit the nested loop potentially re-entering</a:t>
            </a:r>
            <a:r>
              <a:rPr lang="en-GB" baseline="0" dirty="0"/>
              <a:t> it from the outer loop.</a:t>
            </a:r>
            <a:endParaRPr lang="en-GB" dirty="0"/>
          </a:p>
          <a:p>
            <a:r>
              <a:rPr lang="en-GB" b="0" dirty="0"/>
              <a:t>It avoids having to potentially</a:t>
            </a:r>
            <a:r>
              <a:rPr lang="en-GB" b="0" baseline="0" dirty="0"/>
              <a:t> code a break statement in each loop.</a:t>
            </a:r>
            <a:endParaRPr lang="en-GB" b="0" dirty="0"/>
          </a:p>
          <a:p>
            <a:endParaRPr lang="en-GB" dirty="0"/>
          </a:p>
        </p:txBody>
      </p:sp>
    </p:spTree>
    <p:extLst>
      <p:ext uri="{BB962C8B-B14F-4D97-AF65-F5344CB8AC3E}">
        <p14:creationId xmlns:p14="http://schemas.microsoft.com/office/powerpoint/2010/main" val="41355256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p:spPr>
        <p:txBody>
          <a:bodyPr/>
          <a:lstStyle/>
          <a:p>
            <a:r>
              <a:rPr lang="en-GB" dirty="0"/>
              <a:t>It is important to be able to control execution flow within a loop, although it is generally regarded to be good programming practice to design your code so that control flow is easy to follow.</a:t>
            </a:r>
          </a:p>
          <a:p>
            <a:r>
              <a:rPr lang="en-GB" dirty="0"/>
              <a:t>C# provides two mechanisms for controlling loop execution, as shown above.</a:t>
            </a:r>
          </a:p>
          <a:p>
            <a:r>
              <a:rPr lang="en-GB" dirty="0"/>
              <a:t>A break statement can be used to exit a while, do while or for loop prematurely. Control is transferred to the first statement following the closing brace of the loop body. </a:t>
            </a:r>
          </a:p>
          <a:p>
            <a:r>
              <a:rPr lang="en-GB" dirty="0"/>
              <a:t>A continue statement can be used to transfer control to the end of a loop body prior to the re-evaluation of the loop's test expression. Note that in a for loop, the update expression is executed before the re-evaluation of the test. </a:t>
            </a:r>
          </a:p>
          <a:p>
            <a:endParaRPr lang="en-GB" dirty="0"/>
          </a:p>
          <a:p>
            <a:r>
              <a:rPr lang="en-GB" dirty="0"/>
              <a:t>C# also allows a loop</a:t>
            </a:r>
            <a:r>
              <a:rPr lang="en-GB" baseline="0" dirty="0"/>
              <a:t> to be labelled e.g.</a:t>
            </a:r>
            <a:br>
              <a:rPr lang="en-GB" baseline="0" dirty="0"/>
            </a:br>
            <a:r>
              <a:rPr lang="en-GB" baseline="0" dirty="0" err="1"/>
              <a:t>outer_loop</a:t>
            </a:r>
            <a:r>
              <a:rPr lang="en-GB" baseline="0" dirty="0"/>
              <a:t>:</a:t>
            </a:r>
            <a:br>
              <a:rPr lang="en-GB" baseline="0" dirty="0"/>
            </a:br>
            <a:r>
              <a:rPr lang="en-GB" baseline="0" dirty="0"/>
              <a:t>for(..) {</a:t>
            </a:r>
            <a:br>
              <a:rPr lang="en-GB" baseline="0" dirty="0"/>
            </a:br>
            <a:r>
              <a:rPr lang="en-GB" dirty="0"/>
              <a:t>This is occasionally of use as a nested loop inside it can then code the statement</a:t>
            </a:r>
            <a:br>
              <a:rPr lang="en-GB" dirty="0"/>
            </a:br>
            <a:r>
              <a:rPr lang="en-GB" dirty="0"/>
              <a:t>break </a:t>
            </a:r>
            <a:r>
              <a:rPr lang="en-GB" dirty="0" err="1"/>
              <a:t>outer_loop</a:t>
            </a:r>
            <a:r>
              <a:rPr lang="en-GB" dirty="0"/>
              <a:t>; </a:t>
            </a:r>
            <a:br>
              <a:rPr lang="en-GB" dirty="0"/>
            </a:br>
            <a:r>
              <a:rPr lang="en-GB" dirty="0"/>
              <a:t>as opposed to just </a:t>
            </a:r>
            <a:br>
              <a:rPr lang="en-GB" dirty="0"/>
            </a:br>
            <a:r>
              <a:rPr lang="en-GB" dirty="0"/>
              <a:t>break; </a:t>
            </a:r>
            <a:br>
              <a:rPr lang="en-GB" dirty="0"/>
            </a:br>
            <a:r>
              <a:rPr lang="en-GB" dirty="0"/>
              <a:t>which would only exit the nested loop potentially re-entering</a:t>
            </a:r>
            <a:r>
              <a:rPr lang="en-GB" baseline="0" dirty="0"/>
              <a:t> it from the outer loop.</a:t>
            </a:r>
            <a:endParaRPr lang="en-GB" dirty="0"/>
          </a:p>
          <a:p>
            <a:r>
              <a:rPr lang="en-GB" b="0" dirty="0"/>
              <a:t>It avoids having to potentially</a:t>
            </a:r>
            <a:r>
              <a:rPr lang="en-GB" b="0" baseline="0" dirty="0"/>
              <a:t> code a break statement in each loop.</a:t>
            </a:r>
            <a:endParaRPr lang="en-GB" b="0" dirty="0"/>
          </a:p>
          <a:p>
            <a:endParaRPr lang="en-GB" dirty="0"/>
          </a:p>
        </p:txBody>
      </p:sp>
    </p:spTree>
    <p:extLst>
      <p:ext uri="{BB962C8B-B14F-4D97-AF65-F5344CB8AC3E}">
        <p14:creationId xmlns:p14="http://schemas.microsoft.com/office/powerpoint/2010/main" val="15288631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4038867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endParaRPr lang="en-US"/>
          </a:p>
        </p:txBody>
      </p:sp>
      <p:sp>
        <p:nvSpPr>
          <p:cNvPr id="2" name="Slide Number Placeholder 1"/>
          <p:cNvSpPr>
            <a:spLocks noGrp="1"/>
          </p:cNvSpPr>
          <p:nvPr>
            <p:ph type="sldNum" sz="quarter" idx="10"/>
          </p:nvPr>
        </p:nvSpPr>
        <p:spPr/>
        <p:txBody>
          <a:bodyPr/>
          <a:lstStyle/>
          <a:p>
            <a:fld id="{548901C6-1DA1-FB44-ABEE-06A0FEB7738E}" type="slidenum">
              <a:rPr lang="en-GB" smtClean="0"/>
              <a:pPr/>
              <a:t>39</a:t>
            </a:fld>
            <a:endParaRPr lang="en-GB"/>
          </a:p>
        </p:txBody>
      </p:sp>
    </p:spTree>
    <p:extLst>
      <p:ext uri="{BB962C8B-B14F-4D97-AF65-F5344CB8AC3E}">
        <p14:creationId xmlns:p14="http://schemas.microsoft.com/office/powerpoint/2010/main" val="13976109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endParaRPr lang="en-US"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40</a:t>
            </a:fld>
            <a:endParaRPr lang="en-GB"/>
          </a:p>
        </p:txBody>
      </p:sp>
    </p:spTree>
    <p:extLst>
      <p:ext uri="{BB962C8B-B14F-4D97-AF65-F5344CB8AC3E}">
        <p14:creationId xmlns:p14="http://schemas.microsoft.com/office/powerpoint/2010/main" val="32439068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p:spPr>
        <p:txBody>
          <a:bodyPr/>
          <a:lstStyle/>
          <a:p>
            <a:r>
              <a:rPr lang="en-GB" dirty="0"/>
              <a:t>Precedence refers to the order in which operators are executed. For example, multiplication is always performed before addition or subtraction. The table on the slide shows all the operators in order of precedence (i.e. 1 is the highest). With the exception of the unary and assignment operators, which are right associative, operators with the same precedence are executed from left to right.</a:t>
            </a:r>
          </a:p>
          <a:p>
            <a:r>
              <a:rPr lang="en-GB" dirty="0"/>
              <a:t>The assignment operator</a:t>
            </a:r>
            <a:r>
              <a:rPr lang="en-GB" baseline="0" dirty="0"/>
              <a:t> has the lowest precedence of all which is why the final code sample above has extra parentheses in as you want the assignment to happen before the != gets evaluated.</a:t>
            </a:r>
            <a:r>
              <a:rPr lang="en-GB" dirty="0"/>
              <a:t> </a:t>
            </a:r>
          </a:p>
          <a:p>
            <a:r>
              <a:rPr lang="en-GB" dirty="0"/>
              <a:t>As alluded to above in the first code sample when you get further into your C# you will find that &lt;dot&gt; having greater precedence than the casting operator (Type) will affect you will want to be casting</a:t>
            </a:r>
            <a:r>
              <a:rPr lang="en-GB" baseline="0" dirty="0"/>
              <a:t> and ‘dotting’ in that order. Later chapter...all will become clear.</a:t>
            </a:r>
            <a:endParaRPr lang="en-GB" dirty="0"/>
          </a:p>
        </p:txBody>
      </p:sp>
    </p:spTree>
    <p:extLst>
      <p:ext uri="{BB962C8B-B14F-4D97-AF65-F5344CB8AC3E}">
        <p14:creationId xmlns:p14="http://schemas.microsoft.com/office/powerpoint/2010/main" val="40394210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392098513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00292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10" name="Text Placeholder 2"/>
          <p:cNvSpPr>
            <a:spLocks noGrp="1"/>
          </p:cNvSpPr>
          <p:nvPr>
            <p:ph type="body" sz="quarter" idx="16"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1"/>
          <a:stretch/>
        </p:blipFill>
        <p:spPr>
          <a:xfrm>
            <a:off x="-6057" y="3264823"/>
            <a:ext cx="5967455" cy="2859259"/>
          </a:xfrm>
          <a:prstGeom prst="rect">
            <a:avLst/>
          </a:prstGeom>
        </p:spPr>
      </p:pic>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ct val="100000"/>
              </a:lnSpc>
              <a:defRPr sz="3600" spc="60" baseline="0">
                <a:solidFill>
                  <a:srgbClr val="004050"/>
                </a:solidFill>
              </a:defRPr>
            </a:lvl1pPr>
          </a:lstStyle>
          <a:p>
            <a:r>
              <a:rPr lang="en-US" noProof="0" dirty="0"/>
              <a:t>CLICK TO EDIT MASTER TITLE STYLE</a:t>
            </a:r>
            <a:endParaRPr lang="en-GB" noProof="0" dirty="0"/>
          </a:p>
        </p:txBody>
      </p:sp>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rgbClr val="004050"/>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2116144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grpSp>
        <p:nvGrpSpPr>
          <p:cNvPr id="2" name="Group 1"/>
          <p:cNvGrpSpPr/>
          <p:nvPr userDrawn="1"/>
        </p:nvGrpSpPr>
        <p:grpSpPr>
          <a:xfrm>
            <a:off x="-6058" y="3516217"/>
            <a:ext cx="5797612" cy="2396903"/>
            <a:chOff x="1320045" y="4580698"/>
            <a:chExt cx="3312434" cy="1370734"/>
          </a:xfrm>
          <a:solidFill>
            <a:srgbClr val="28CFF9"/>
          </a:solidFill>
        </p:grpSpPr>
        <p:sp>
          <p:nvSpPr>
            <p:cNvPr id="12" name="Rectangle 11"/>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5" name="Freeform 14">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F8D237"/>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1786"/>
            <a:ext cx="8212667"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5471"/>
            <a:ext cx="8146316"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223561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327195" y="4606108"/>
            <a:ext cx="2293146" cy="1326143"/>
            <a:chOff x="7799133" y="1870745"/>
            <a:chExt cx="1010349" cy="584292"/>
          </a:xfrm>
          <a:solidFill>
            <a:srgbClr val="FF004C"/>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3" name="Rectangle 2"/>
          <p:cNvSpPr/>
          <p:nvPr userDrawn="1"/>
        </p:nvSpPr>
        <p:spPr>
          <a:xfrm>
            <a:off x="-11069" y="5042941"/>
            <a:ext cx="2506981" cy="126517"/>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0" y="5374222"/>
            <a:ext cx="2506981" cy="126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grpSp>
        <p:nvGrpSpPr>
          <p:cNvPr id="15" name="Group 14"/>
          <p:cNvGrpSpPr/>
          <p:nvPr userDrawn="1"/>
        </p:nvGrpSpPr>
        <p:grpSpPr>
          <a:xfrm>
            <a:off x="-6058" y="3516217"/>
            <a:ext cx="5797612" cy="2396903"/>
            <a:chOff x="1320045" y="4580698"/>
            <a:chExt cx="3312434" cy="1370734"/>
          </a:xfrm>
          <a:solidFill>
            <a:srgbClr val="7E007C"/>
          </a:solidFill>
        </p:grpSpPr>
        <p:sp>
          <p:nvSpPr>
            <p:cNvPr id="16" name="Rectangle 15"/>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7" name="Group 6"/>
          <p:cNvGrpSpPr/>
          <p:nvPr userDrawn="1"/>
        </p:nvGrpSpPr>
        <p:grpSpPr>
          <a:xfrm>
            <a:off x="-1" y="3516594"/>
            <a:ext cx="7016814" cy="2396903"/>
            <a:chOff x="623461" y="4580698"/>
            <a:chExt cx="4009018" cy="1370734"/>
          </a:xfrm>
          <a:solidFill>
            <a:srgbClr val="004050"/>
          </a:solidFill>
        </p:grpSpPr>
        <p:sp>
          <p:nvSpPr>
            <p:cNvPr id="9" name="Rectangle 8"/>
            <p:cNvSpPr/>
            <p:nvPr userDrawn="1"/>
          </p:nvSpPr>
          <p:spPr>
            <a:xfrm>
              <a:off x="623462" y="5031740"/>
              <a:ext cx="19306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623461" y="5373431"/>
              <a:ext cx="1930689"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82109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61568229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902" r:id="rId2"/>
    <p:sldLayoutId id="2147483812" r:id="rId3"/>
    <p:sldLayoutId id="2147483813" r:id="rId4"/>
    <p:sldLayoutId id="2147483798" r:id="rId5"/>
    <p:sldLayoutId id="2147483806" r:id="rId6"/>
    <p:sldLayoutId id="2147483709" r:id="rId7"/>
    <p:sldLayoutId id="2147483822" r:id="rId8"/>
    <p:sldLayoutId id="2147483802" r:id="rId9"/>
    <p:sldLayoutId id="2147483792" r:id="rId10"/>
    <p:sldLayoutId id="2147483810" r:id="rId11"/>
    <p:sldLayoutId id="2147483804" r:id="rId12"/>
    <p:sldLayoutId id="2147483821" r:id="rId13"/>
    <p:sldLayoutId id="2147483824" r:id="rId14"/>
    <p:sldLayoutId id="2147483828" r:id="rId15"/>
    <p:sldLayoutId id="2147483853" r:id="rId16"/>
    <p:sldLayoutId id="2147483899" r:id="rId17"/>
    <p:sldLayoutId id="2147483832" r:id="rId18"/>
    <p:sldLayoutId id="2147483833" r:id="rId19"/>
    <p:sldLayoutId id="2147483836" r:id="rId20"/>
    <p:sldLayoutId id="2147483852" r:id="rId21"/>
    <p:sldLayoutId id="2147483900" r:id="rId22"/>
    <p:sldLayoutId id="2147483820" r:id="rId23"/>
    <p:sldLayoutId id="2147483842" r:id="rId24"/>
    <p:sldLayoutId id="2147483845" r:id="rId25"/>
    <p:sldLayoutId id="2147483851" r:id="rId26"/>
    <p:sldLayoutId id="2147483901" r:id="rId27"/>
    <p:sldLayoutId id="2147483650" r:id="rId28"/>
    <p:sldLayoutId id="2147483734" r:id="rId29"/>
    <p:sldLayoutId id="2147483796" r:id="rId30"/>
    <p:sldLayoutId id="2147483719" r:id="rId31"/>
    <p:sldLayoutId id="2147483721" r:id="rId32"/>
    <p:sldLayoutId id="2147483724" r:id="rId33"/>
    <p:sldLayoutId id="2147483797" r:id="rId34"/>
    <p:sldLayoutId id="2147483814" r:id="rId35"/>
    <p:sldLayoutId id="2147483903" r:id="rId36"/>
    <p:sldLayoutId id="2147483904" r:id="rId37"/>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9"/>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9"/>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9"/>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t>Introduction </a:t>
            </a:r>
            <a:br>
              <a:rPr lang="en-GB" dirty="0"/>
            </a:br>
            <a:r>
              <a:rPr lang="en-GB" dirty="0"/>
              <a:t>C# Basics (revision)</a:t>
            </a:r>
            <a:endParaRPr lang="en-US" dirty="0"/>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title"/>
          </p:nvPr>
        </p:nvSpPr>
        <p:spPr>
          <a:xfrm>
            <a:off x="339971" y="562058"/>
            <a:ext cx="11517818" cy="805001"/>
          </a:xfrm>
        </p:spPr>
        <p:txBody>
          <a:bodyPr anchor="t">
            <a:normAutofit/>
          </a:bodyPr>
          <a:lstStyle/>
          <a:p>
            <a:r>
              <a:rPr lang="en-GB" dirty="0"/>
              <a:t>Contents</a:t>
            </a:r>
            <a:endParaRPr lang="en-IN" dirty="0"/>
          </a:p>
        </p:txBody>
      </p:sp>
      <p:graphicFrame>
        <p:nvGraphicFramePr>
          <p:cNvPr id="7" name="Text Placeholder 4">
            <a:extLst>
              <a:ext uri="{FF2B5EF4-FFF2-40B4-BE49-F238E27FC236}">
                <a16:creationId xmlns:a16="http://schemas.microsoft.com/office/drawing/2014/main" id="{C5918587-8AC2-7D79-92C1-D96241E20D12}"/>
              </a:ext>
            </a:extLst>
          </p:cNvPr>
          <p:cNvGraphicFramePr/>
          <p:nvPr>
            <p:extLst>
              <p:ext uri="{D42A27DB-BD31-4B8C-83A1-F6EECF244321}">
                <p14:modId xmlns:p14="http://schemas.microsoft.com/office/powerpoint/2010/main" val="1428326434"/>
              </p:ext>
            </p:extLst>
          </p:nvPr>
        </p:nvGraphicFramePr>
        <p:xfrm>
          <a:off x="341272" y="1368256"/>
          <a:ext cx="11516239" cy="4955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624853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971" y="562058"/>
            <a:ext cx="11517818" cy="805001"/>
          </a:xfrm>
        </p:spPr>
        <p:txBody>
          <a:bodyPr anchor="t">
            <a:normAutofit/>
          </a:bodyPr>
          <a:lstStyle/>
          <a:p>
            <a:r>
              <a:rPr lang="en-GB" dirty="0"/>
              <a:t>What is the .NET framework?</a:t>
            </a:r>
          </a:p>
        </p:txBody>
      </p:sp>
      <p:graphicFrame>
        <p:nvGraphicFramePr>
          <p:cNvPr id="5" name="Content Placeholder 2">
            <a:extLst>
              <a:ext uri="{FF2B5EF4-FFF2-40B4-BE49-F238E27FC236}">
                <a16:creationId xmlns:a16="http://schemas.microsoft.com/office/drawing/2014/main" id="{7DBE7742-645B-F61A-96D3-43C820DE3F4D}"/>
              </a:ext>
            </a:extLst>
          </p:cNvPr>
          <p:cNvGraphicFramePr>
            <a:graphicFrameLocks noGrp="1"/>
          </p:cNvGraphicFramePr>
          <p:nvPr>
            <p:ph idx="1"/>
            <p:extLst>
              <p:ext uri="{D42A27DB-BD31-4B8C-83A1-F6EECF244321}">
                <p14:modId xmlns:p14="http://schemas.microsoft.com/office/powerpoint/2010/main" val="1436925898"/>
              </p:ext>
            </p:extLst>
          </p:nvPr>
        </p:nvGraphicFramePr>
        <p:xfrm>
          <a:off x="341272" y="1368256"/>
          <a:ext cx="11516239" cy="4955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6588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Managed code?</a:t>
            </a:r>
          </a:p>
        </p:txBody>
      </p:sp>
      <p:sp>
        <p:nvSpPr>
          <p:cNvPr id="3" name="Content Placeholder 2"/>
          <p:cNvSpPr>
            <a:spLocks noGrp="1"/>
          </p:cNvSpPr>
          <p:nvPr>
            <p:ph idx="1"/>
          </p:nvPr>
        </p:nvSpPr>
        <p:spPr/>
        <p:txBody>
          <a:bodyPr vert="horz" lIns="0" tIns="0" rIns="0" bIns="0" rtlCol="0" anchor="t" anchorCtr="0">
            <a:noAutofit/>
          </a:bodyPr>
          <a:lstStyle/>
          <a:p>
            <a:pPr marL="342900" indent="-342900">
              <a:buFont typeface="Arial" panose="020B0604020202020204" pitchFamily="34" charset="0"/>
              <a:buChar char="•"/>
            </a:pPr>
            <a:r>
              <a:rPr lang="en-GB" b="1" dirty="0"/>
              <a:t>Before .NET, there was no way of knowing what the compiled code would do</a:t>
            </a:r>
          </a:p>
          <a:p>
            <a:pPr marL="342900" indent="-342900">
              <a:buFont typeface="Arial" panose="020B0604020202020204" pitchFamily="34" charset="0"/>
              <a:buChar char="•"/>
            </a:pPr>
            <a:r>
              <a:rPr lang="en-GB" b="1" dirty="0"/>
              <a:t>The code was compiled for Windows OS only</a:t>
            </a:r>
          </a:p>
        </p:txBody>
      </p:sp>
      <p:grpSp>
        <p:nvGrpSpPr>
          <p:cNvPr id="5" name="Group 4">
            <a:extLst>
              <a:ext uri="{FF2B5EF4-FFF2-40B4-BE49-F238E27FC236}">
                <a16:creationId xmlns:a16="http://schemas.microsoft.com/office/drawing/2014/main" id="{39150B74-0739-1A4A-D0F6-254F9EBE0E1D}"/>
              </a:ext>
            </a:extLst>
          </p:cNvPr>
          <p:cNvGrpSpPr/>
          <p:nvPr/>
        </p:nvGrpSpPr>
        <p:grpSpPr>
          <a:xfrm>
            <a:off x="1022349" y="2443477"/>
            <a:ext cx="6474823" cy="1343746"/>
            <a:chOff x="723900" y="3060700"/>
            <a:chExt cx="5854700" cy="1612900"/>
          </a:xfrm>
        </p:grpSpPr>
        <p:sp>
          <p:nvSpPr>
            <p:cNvPr id="13" name="Rectangle: Rounded Corners 12">
              <a:extLst>
                <a:ext uri="{FF2B5EF4-FFF2-40B4-BE49-F238E27FC236}">
                  <a16:creationId xmlns:a16="http://schemas.microsoft.com/office/drawing/2014/main" id="{7416E3A6-EE4D-A02B-1E61-755963A4D2FB}"/>
                </a:ext>
              </a:extLst>
            </p:cNvPr>
            <p:cNvSpPr/>
            <p:nvPr/>
          </p:nvSpPr>
          <p:spPr>
            <a:xfrm>
              <a:off x="2768600" y="3060700"/>
              <a:ext cx="1485900" cy="1574800"/>
            </a:xfrm>
            <a:prstGeom prst="roundRect">
              <a:avLst/>
            </a:prstGeom>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t>Compiled .exe/.</a:t>
              </a:r>
              <a:r>
                <a:rPr lang="en-GB" sz="1600" b="1" dirty="0" err="1"/>
                <a:t>dll</a:t>
              </a:r>
              <a:endParaRPr lang="en-GB" sz="1600" b="1" dirty="0"/>
            </a:p>
          </p:txBody>
        </p:sp>
        <p:grpSp>
          <p:nvGrpSpPr>
            <p:cNvPr id="4" name="Group 3">
              <a:extLst>
                <a:ext uri="{FF2B5EF4-FFF2-40B4-BE49-F238E27FC236}">
                  <a16:creationId xmlns:a16="http://schemas.microsoft.com/office/drawing/2014/main" id="{FF877156-05CB-0DAD-BC8B-40ACD105995A}"/>
                </a:ext>
              </a:extLst>
            </p:cNvPr>
            <p:cNvGrpSpPr/>
            <p:nvPr/>
          </p:nvGrpSpPr>
          <p:grpSpPr>
            <a:xfrm>
              <a:off x="723900" y="3098800"/>
              <a:ext cx="5854700" cy="1574800"/>
              <a:chOff x="723900" y="3060700"/>
              <a:chExt cx="5854700" cy="1574800"/>
            </a:xfrm>
          </p:grpSpPr>
          <p:sp>
            <p:nvSpPr>
              <p:cNvPr id="11" name="Scroll: Vertical 10">
                <a:extLst>
                  <a:ext uri="{FF2B5EF4-FFF2-40B4-BE49-F238E27FC236}">
                    <a16:creationId xmlns:a16="http://schemas.microsoft.com/office/drawing/2014/main" id="{CE7E3371-65B9-032F-711E-2390120C7C77}"/>
                  </a:ext>
                </a:extLst>
              </p:cNvPr>
              <p:cNvSpPr/>
              <p:nvPr/>
            </p:nvSpPr>
            <p:spPr>
              <a:xfrm>
                <a:off x="723900" y="3060700"/>
                <a:ext cx="1803400" cy="1574800"/>
              </a:xfrm>
              <a:prstGeom prst="verticalScroll">
                <a:avLst/>
              </a:prstGeom>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GB" sz="1600" b="1" dirty="0"/>
                  <a:t>C, C++, assembler code</a:t>
                </a:r>
              </a:p>
            </p:txBody>
          </p:sp>
          <p:sp>
            <p:nvSpPr>
              <p:cNvPr id="12" name="Oval 11">
                <a:extLst>
                  <a:ext uri="{FF2B5EF4-FFF2-40B4-BE49-F238E27FC236}">
                    <a16:creationId xmlns:a16="http://schemas.microsoft.com/office/drawing/2014/main" id="{4D0E7E11-E12D-8865-9244-66D61F247C64}"/>
                  </a:ext>
                </a:extLst>
              </p:cNvPr>
              <p:cNvSpPr/>
              <p:nvPr/>
            </p:nvSpPr>
            <p:spPr>
              <a:xfrm>
                <a:off x="4686300" y="3403600"/>
                <a:ext cx="1892300" cy="849910"/>
              </a:xfrm>
              <a:prstGeom prst="ellipse">
                <a:avLst/>
              </a:prstGeom>
              <a:ln/>
              <a:effectLst>
                <a:outerShdw blurRad="50800" dist="38100" algn="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rPr>
                  <a:t>Windows </a:t>
                </a:r>
                <a:endParaRPr lang="en-GB" sz="1600" b="1" dirty="0">
                  <a:solidFill>
                    <a:schemeClr val="tx1"/>
                  </a:solidFill>
                </a:endParaRPr>
              </a:p>
            </p:txBody>
          </p:sp>
          <p:sp>
            <p:nvSpPr>
              <p:cNvPr id="14" name="Arrow: Right 13">
                <a:extLst>
                  <a:ext uri="{FF2B5EF4-FFF2-40B4-BE49-F238E27FC236}">
                    <a16:creationId xmlns:a16="http://schemas.microsoft.com/office/drawing/2014/main" id="{A0307FED-E625-8007-DBFF-7823AF800F63}"/>
                  </a:ext>
                </a:extLst>
              </p:cNvPr>
              <p:cNvSpPr/>
              <p:nvPr/>
            </p:nvSpPr>
            <p:spPr>
              <a:xfrm>
                <a:off x="2336800" y="363220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id="{650BD034-8544-D301-FA16-520347A0803B}"/>
                  </a:ext>
                </a:extLst>
              </p:cNvPr>
              <p:cNvSpPr/>
              <p:nvPr/>
            </p:nvSpPr>
            <p:spPr>
              <a:xfrm>
                <a:off x="4292600" y="365760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grpSp>
      </p:grpSp>
      <p:grpSp>
        <p:nvGrpSpPr>
          <p:cNvPr id="28" name="Group 27">
            <a:extLst>
              <a:ext uri="{FF2B5EF4-FFF2-40B4-BE49-F238E27FC236}">
                <a16:creationId xmlns:a16="http://schemas.microsoft.com/office/drawing/2014/main" id="{1FD94993-5F80-2300-B497-BB262CDEB003}"/>
              </a:ext>
            </a:extLst>
          </p:cNvPr>
          <p:cNvGrpSpPr/>
          <p:nvPr/>
        </p:nvGrpSpPr>
        <p:grpSpPr>
          <a:xfrm>
            <a:off x="1022349" y="4485862"/>
            <a:ext cx="10147301" cy="1454263"/>
            <a:chOff x="723900" y="4728461"/>
            <a:chExt cx="10147301" cy="1947327"/>
          </a:xfrm>
        </p:grpSpPr>
        <p:sp>
          <p:nvSpPr>
            <p:cNvPr id="23" name="Oval 22">
              <a:extLst>
                <a:ext uri="{FF2B5EF4-FFF2-40B4-BE49-F238E27FC236}">
                  <a16:creationId xmlns:a16="http://schemas.microsoft.com/office/drawing/2014/main" id="{FEC6CC1A-92D4-8207-C817-1219B7E80B33}"/>
                </a:ext>
              </a:extLst>
            </p:cNvPr>
            <p:cNvSpPr/>
            <p:nvPr/>
          </p:nvSpPr>
          <p:spPr>
            <a:xfrm>
              <a:off x="6176405" y="5783860"/>
              <a:ext cx="1782205" cy="891928"/>
            </a:xfrm>
            <a:prstGeom prst="ellipse">
              <a:avLst/>
            </a:prstGeom>
            <a:ln/>
            <a:effectLst>
              <a:outerShdw blurRad="50800" dist="38100" algn="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rPr>
                <a:t>Linux</a:t>
              </a:r>
            </a:p>
          </p:txBody>
        </p:sp>
        <p:grpSp>
          <p:nvGrpSpPr>
            <p:cNvPr id="27" name="Group 26">
              <a:extLst>
                <a:ext uri="{FF2B5EF4-FFF2-40B4-BE49-F238E27FC236}">
                  <a16:creationId xmlns:a16="http://schemas.microsoft.com/office/drawing/2014/main" id="{1E892029-C6B5-1E81-2DCE-212BA9A14B50}"/>
                </a:ext>
              </a:extLst>
            </p:cNvPr>
            <p:cNvGrpSpPr/>
            <p:nvPr/>
          </p:nvGrpSpPr>
          <p:grpSpPr>
            <a:xfrm>
              <a:off x="723900" y="4728461"/>
              <a:ext cx="10147301" cy="1761239"/>
              <a:chOff x="723900" y="4728461"/>
              <a:chExt cx="10147301" cy="1761239"/>
            </a:xfrm>
          </p:grpSpPr>
          <p:sp>
            <p:nvSpPr>
              <p:cNvPr id="17" name="Scroll: Vertical 16">
                <a:extLst>
                  <a:ext uri="{FF2B5EF4-FFF2-40B4-BE49-F238E27FC236}">
                    <a16:creationId xmlns:a16="http://schemas.microsoft.com/office/drawing/2014/main" id="{1D5D5410-368E-059E-13B7-8D1AB3CA3BF5}"/>
                  </a:ext>
                </a:extLst>
              </p:cNvPr>
              <p:cNvSpPr/>
              <p:nvPr/>
            </p:nvSpPr>
            <p:spPr>
              <a:xfrm>
                <a:off x="723900" y="4914900"/>
                <a:ext cx="1803400" cy="1574800"/>
              </a:xfrm>
              <a:prstGeom prst="verticalScroll">
                <a:avLst/>
              </a:prstGeom>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GB" sz="1600" b="1" dirty="0"/>
                  <a:t>C#, Or other </a:t>
                </a:r>
                <a:br>
                  <a:rPr lang="en-GB" sz="1600" b="1" dirty="0"/>
                </a:br>
                <a:r>
                  <a:rPr lang="en-GB" sz="1600" b="1" dirty="0" err="1"/>
                  <a:t>.Net</a:t>
                </a:r>
                <a:r>
                  <a:rPr lang="en-GB" sz="1600" b="1" dirty="0"/>
                  <a:t> languages</a:t>
                </a:r>
                <a:endParaRPr lang="en-GB" b="1" dirty="0"/>
              </a:p>
            </p:txBody>
          </p:sp>
          <p:sp>
            <p:nvSpPr>
              <p:cNvPr id="18" name="Oval 17">
                <a:extLst>
                  <a:ext uri="{FF2B5EF4-FFF2-40B4-BE49-F238E27FC236}">
                    <a16:creationId xmlns:a16="http://schemas.microsoft.com/office/drawing/2014/main" id="{1BFCFFCF-9A3A-2FE4-6775-5878F0A29867}"/>
                  </a:ext>
                </a:extLst>
              </p:cNvPr>
              <p:cNvSpPr/>
              <p:nvPr/>
            </p:nvSpPr>
            <p:spPr>
              <a:xfrm>
                <a:off x="6151005" y="4728461"/>
                <a:ext cx="1892300" cy="891928"/>
              </a:xfrm>
              <a:prstGeom prst="ellipse">
                <a:avLst/>
              </a:prstGeom>
              <a:ln/>
              <a:effectLst>
                <a:outerShdw blurRad="50800" dist="38100" algn="l" rotWithShape="0">
                  <a:prstClr val="black">
                    <a:alpha val="40000"/>
                  </a:prstClr>
                </a:outerShdw>
              </a:effectLst>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rPr>
                  <a:t>Windows</a:t>
                </a:r>
              </a:p>
            </p:txBody>
          </p:sp>
          <p:sp>
            <p:nvSpPr>
              <p:cNvPr id="19" name="Rectangle: Rounded Corners 18">
                <a:extLst>
                  <a:ext uri="{FF2B5EF4-FFF2-40B4-BE49-F238E27FC236}">
                    <a16:creationId xmlns:a16="http://schemas.microsoft.com/office/drawing/2014/main" id="{3D8DEC4C-8A8C-7203-F9DC-59AEA9CB67B5}"/>
                  </a:ext>
                </a:extLst>
              </p:cNvPr>
              <p:cNvSpPr/>
              <p:nvPr/>
            </p:nvSpPr>
            <p:spPr>
              <a:xfrm>
                <a:off x="2768600" y="4914900"/>
                <a:ext cx="1485900" cy="1574800"/>
              </a:xfrm>
              <a:prstGeom prst="roundRect">
                <a:avLst/>
              </a:prstGeom>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t>Compiled to IL code</a:t>
                </a:r>
              </a:p>
            </p:txBody>
          </p:sp>
          <p:sp>
            <p:nvSpPr>
              <p:cNvPr id="20" name="Arrow: Right 19">
                <a:extLst>
                  <a:ext uri="{FF2B5EF4-FFF2-40B4-BE49-F238E27FC236}">
                    <a16:creationId xmlns:a16="http://schemas.microsoft.com/office/drawing/2014/main" id="{5C409DCD-EEE9-5580-B2E5-77B6A566C7CC}"/>
                  </a:ext>
                </a:extLst>
              </p:cNvPr>
              <p:cNvSpPr/>
              <p:nvPr/>
            </p:nvSpPr>
            <p:spPr>
              <a:xfrm>
                <a:off x="2336800" y="548640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21" name="Arrow: Right 20">
                <a:extLst>
                  <a:ext uri="{FF2B5EF4-FFF2-40B4-BE49-F238E27FC236}">
                    <a16:creationId xmlns:a16="http://schemas.microsoft.com/office/drawing/2014/main" id="{3ADCF2FC-D6E6-4354-3D34-3AF2BD4D704F}"/>
                  </a:ext>
                </a:extLst>
              </p:cNvPr>
              <p:cNvSpPr/>
              <p:nvPr/>
            </p:nvSpPr>
            <p:spPr>
              <a:xfrm rot="20356524">
                <a:off x="5744605" y="5231905"/>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22" name="Speech Bubble: Rectangle with Corners Rounded 21">
                <a:extLst>
                  <a:ext uri="{FF2B5EF4-FFF2-40B4-BE49-F238E27FC236}">
                    <a16:creationId xmlns:a16="http://schemas.microsoft.com/office/drawing/2014/main" id="{90CEE362-7B24-D817-EA7F-370F4AD7DAC2}"/>
                  </a:ext>
                </a:extLst>
              </p:cNvPr>
              <p:cNvSpPr/>
              <p:nvPr/>
            </p:nvSpPr>
            <p:spPr>
              <a:xfrm>
                <a:off x="8267617" y="5384799"/>
                <a:ext cx="2603584" cy="1090901"/>
              </a:xfrm>
              <a:prstGeom prst="wedgeRoundRectCallout">
                <a:avLst>
                  <a:gd name="adj1" fmla="val -54490"/>
                  <a:gd name="adj2" fmla="val -19318"/>
                  <a:gd name="adj3" fmla="val 16667"/>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600" b="1" dirty="0"/>
                  <a:t>.NET</a:t>
                </a:r>
                <a:br>
                  <a:rPr lang="en-GB" sz="1600" b="1" dirty="0"/>
                </a:br>
                <a:r>
                  <a:rPr lang="en-GB" sz="1600" b="1" dirty="0"/>
                  <a:t>Checks before running code</a:t>
                </a:r>
              </a:p>
            </p:txBody>
          </p:sp>
          <p:sp>
            <p:nvSpPr>
              <p:cNvPr id="24" name="Arrow: Right 23">
                <a:extLst>
                  <a:ext uri="{FF2B5EF4-FFF2-40B4-BE49-F238E27FC236}">
                    <a16:creationId xmlns:a16="http://schemas.microsoft.com/office/drawing/2014/main" id="{C58827F4-19CC-A512-CA12-CE77BB3BA30C}"/>
                  </a:ext>
                </a:extLst>
              </p:cNvPr>
              <p:cNvSpPr/>
              <p:nvPr/>
            </p:nvSpPr>
            <p:spPr>
              <a:xfrm>
                <a:off x="5744605" y="593626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C84841C9-6131-9046-08B8-BA3ABC8A140C}"/>
                  </a:ext>
                </a:extLst>
              </p:cNvPr>
              <p:cNvSpPr/>
              <p:nvPr/>
            </p:nvSpPr>
            <p:spPr>
              <a:xfrm>
                <a:off x="4445000" y="5117605"/>
                <a:ext cx="1452005" cy="1313955"/>
              </a:xfrm>
              <a:prstGeom prst="ellipse">
                <a:avLst/>
              </a:prstGeom>
              <a:ln/>
            </p:spPr>
            <p:style>
              <a:lnRef idx="0">
                <a:schemeClr val="dk1"/>
              </a:lnRef>
              <a:fillRef idx="3">
                <a:schemeClr val="dk1"/>
              </a:fillRef>
              <a:effectRef idx="3">
                <a:schemeClr val="dk1"/>
              </a:effectRef>
              <a:fontRef idx="minor">
                <a:schemeClr val="lt1"/>
              </a:fontRef>
            </p:style>
            <p:txBody>
              <a:bodyPr rtlCol="0" anchor="ctr"/>
              <a:lstStyle/>
              <a:p>
                <a:pPr algn="ctr"/>
                <a:r>
                  <a:rPr lang="en-GB" sz="2000" b="1" dirty="0"/>
                  <a:t>CLR</a:t>
                </a:r>
                <a:endParaRPr lang="en-GB" sz="1600" b="1" dirty="0"/>
              </a:p>
            </p:txBody>
          </p:sp>
          <p:sp>
            <p:nvSpPr>
              <p:cNvPr id="26" name="Arrow: Right 25">
                <a:extLst>
                  <a:ext uri="{FF2B5EF4-FFF2-40B4-BE49-F238E27FC236}">
                    <a16:creationId xmlns:a16="http://schemas.microsoft.com/office/drawing/2014/main" id="{086AC0FF-AD0A-9BF1-02CD-48A9AD92AA9B}"/>
                  </a:ext>
                </a:extLst>
              </p:cNvPr>
              <p:cNvSpPr/>
              <p:nvPr/>
            </p:nvSpPr>
            <p:spPr>
              <a:xfrm>
                <a:off x="4203700" y="5524500"/>
                <a:ext cx="355600" cy="393700"/>
              </a:xfrm>
              <a:prstGeom prst="rightArrow">
                <a:avLst/>
              </a:prstGeom>
              <a:ln/>
              <a:effectLst>
                <a:outerShdw blurRad="50800" dist="38100" algn="l"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3549073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b="1" dirty="0"/>
              <a:t>namespaces </a:t>
            </a:r>
            <a:r>
              <a:rPr lang="en-US" dirty="0"/>
              <a:t>- </a:t>
            </a:r>
            <a:r>
              <a:rPr lang="en-US" sz="2400" b="1" dirty="0"/>
              <a:t>Used to group types and avoid naming conflicts</a:t>
            </a:r>
            <a:br>
              <a:rPr lang="en-US" b="1" dirty="0"/>
            </a:br>
            <a:r>
              <a:rPr lang="en-US" dirty="0"/>
              <a:t> </a:t>
            </a:r>
          </a:p>
        </p:txBody>
      </p:sp>
      <p:sp>
        <p:nvSpPr>
          <p:cNvPr id="7" name="Rectangle 4"/>
          <p:cNvSpPr>
            <a:spLocks noChangeArrowheads="1"/>
          </p:cNvSpPr>
          <p:nvPr/>
        </p:nvSpPr>
        <p:spPr bwMode="auto">
          <a:xfrm>
            <a:off x="890866" y="1475737"/>
            <a:ext cx="4557434"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sz="1800" b="1" dirty="0">
                <a:solidFill>
                  <a:srgbClr val="0000FF"/>
                </a:solidFill>
                <a:latin typeface="Cascadia Mono" panose="020B0609020000020004" pitchFamily="49" charset="0"/>
              </a:rPr>
              <a:t>namespace</a:t>
            </a:r>
            <a:r>
              <a:rPr lang="en-US" dirty="0">
                <a:latin typeface="Lucida Console" pitchFamily="49" charset="0"/>
              </a:rPr>
              <a:t> </a:t>
            </a:r>
            <a:r>
              <a:rPr lang="en-US" b="1" dirty="0">
                <a:solidFill>
                  <a:srgbClr val="000000"/>
                </a:solidFill>
                <a:latin typeface="Lucida Console" pitchFamily="49" charset="0"/>
              </a:rPr>
              <a:t>QA.hr </a:t>
            </a:r>
            <a:r>
              <a:rPr lang="en-US" dirty="0">
                <a:solidFill>
                  <a:srgbClr val="000000"/>
                </a:solidFill>
                <a:latin typeface="Lucida Console" pitchFamily="49" charset="0"/>
              </a:rPr>
              <a:t>{</a:t>
            </a:r>
            <a:br>
              <a:rPr lang="en-US" dirty="0">
                <a:solidFill>
                  <a:srgbClr val="000000"/>
                </a:solidFill>
                <a:latin typeface="Lucida Console" pitchFamily="49" charset="0"/>
              </a:rPr>
            </a:br>
            <a:endParaRPr lang="en-US" dirty="0">
              <a:solidFill>
                <a:srgbClr val="000000"/>
              </a:solidFill>
              <a:latin typeface="Lucida Console" pitchFamily="49" charset="0"/>
            </a:endParaRPr>
          </a:p>
          <a:p>
            <a:pPr defTabSz="739775" eaLnBrk="0" hangingPunct="0">
              <a:defRPr/>
            </a:pPr>
            <a:r>
              <a:rPr lang="en-US" dirty="0">
                <a:solidFill>
                  <a:srgbClr val="0000FF"/>
                </a:solidFill>
                <a:latin typeface="Lucida Console" pitchFamily="49" charset="0"/>
              </a:rPr>
              <a:t>  public class</a:t>
            </a:r>
            <a:r>
              <a:rPr lang="en-US" dirty="0">
                <a:latin typeface="Lucida Console" pitchFamily="49" charset="0"/>
              </a:rPr>
              <a:t> </a:t>
            </a:r>
            <a:r>
              <a:rPr lang="en-US" dirty="0">
                <a:solidFill>
                  <a:srgbClr val="000000"/>
                </a:solidFill>
                <a:latin typeface="Lucida Console" pitchFamily="49" charset="0"/>
              </a:rPr>
              <a:t>Timetable {</a:t>
            </a:r>
          </a:p>
          <a:p>
            <a:pPr defTabSz="739775" eaLnBrk="0" hangingPunct="0">
              <a:defRPr/>
            </a:pPr>
            <a:r>
              <a:rPr lang="en-US" dirty="0">
                <a:solidFill>
                  <a:schemeClr val="accent6">
                    <a:lumMod val="50000"/>
                  </a:schemeClr>
                </a:solidFill>
                <a:latin typeface="Lucida Console" pitchFamily="49" charset="0"/>
              </a:rPr>
              <a:t> 	// code</a:t>
            </a:r>
            <a:endParaRPr lang="en-US" dirty="0">
              <a:solidFill>
                <a:srgbClr val="000000"/>
              </a:solidFill>
              <a:latin typeface="Lucida Console" pitchFamily="49" charset="0"/>
            </a:endParaRPr>
          </a:p>
          <a:p>
            <a:pPr defTabSz="739775" eaLnBrk="0" hangingPunct="0">
              <a:defRPr/>
            </a:pPr>
            <a:r>
              <a:rPr lang="en-US" dirty="0">
                <a:solidFill>
                  <a:srgbClr val="000000"/>
                </a:solidFill>
                <a:latin typeface="Lucida Console" pitchFamily="49" charset="0"/>
              </a:rPr>
              <a:t>  }</a:t>
            </a:r>
          </a:p>
          <a:p>
            <a:pPr defTabSz="739775" eaLnBrk="0" hangingPunct="0">
              <a:defRPr/>
            </a:pPr>
            <a:r>
              <a:rPr lang="en-US" dirty="0">
                <a:solidFill>
                  <a:srgbClr val="000000"/>
                </a:solidFill>
                <a:latin typeface="Lucida Console" pitchFamily="49" charset="0"/>
              </a:rPr>
              <a:t>}</a:t>
            </a:r>
            <a:endParaRPr lang="en-US" dirty="0">
              <a:solidFill>
                <a:srgbClr val="008000"/>
              </a:solidFill>
              <a:latin typeface="Lucida Console" pitchFamily="49" charset="0"/>
            </a:endParaRPr>
          </a:p>
        </p:txBody>
      </p:sp>
      <p:sp>
        <p:nvSpPr>
          <p:cNvPr id="8" name="Rectangle 4"/>
          <p:cNvSpPr>
            <a:spLocks noChangeArrowheads="1"/>
          </p:cNvSpPr>
          <p:nvPr/>
        </p:nvSpPr>
        <p:spPr bwMode="auto">
          <a:xfrm>
            <a:off x="5950413" y="1475737"/>
            <a:ext cx="4806487"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sz="1800" b="1" dirty="0">
                <a:solidFill>
                  <a:srgbClr val="0000FF"/>
                </a:solidFill>
                <a:latin typeface="Cascadia Mono" panose="020B0609020000020004" pitchFamily="49" charset="0"/>
              </a:rPr>
              <a:t>namespace</a:t>
            </a:r>
            <a:r>
              <a:rPr lang="en-US" dirty="0">
                <a:latin typeface="Lucida Console" pitchFamily="49" charset="0"/>
              </a:rPr>
              <a:t> </a:t>
            </a:r>
            <a:r>
              <a:rPr lang="en-US" b="1" dirty="0" err="1">
                <a:solidFill>
                  <a:srgbClr val="000000"/>
                </a:solidFill>
                <a:latin typeface="Lucida Console" pitchFamily="49" charset="0"/>
              </a:rPr>
              <a:t>QA.apprentice</a:t>
            </a:r>
            <a:r>
              <a:rPr lang="en-US" b="1" dirty="0">
                <a:solidFill>
                  <a:srgbClr val="000000"/>
                </a:solidFill>
                <a:latin typeface="Lucida Console" pitchFamily="49" charset="0"/>
              </a:rPr>
              <a:t> </a:t>
            </a:r>
            <a:r>
              <a:rPr lang="en-US" dirty="0">
                <a:solidFill>
                  <a:srgbClr val="000000"/>
                </a:solidFill>
                <a:latin typeface="Lucida Console" pitchFamily="49" charset="0"/>
              </a:rPr>
              <a:t>{</a:t>
            </a:r>
            <a:br>
              <a:rPr lang="en-US" dirty="0">
                <a:solidFill>
                  <a:srgbClr val="000000"/>
                </a:solidFill>
                <a:latin typeface="Lucida Console" pitchFamily="49" charset="0"/>
              </a:rPr>
            </a:br>
            <a:endParaRPr lang="en-US" dirty="0">
              <a:solidFill>
                <a:srgbClr val="000000"/>
              </a:solidFill>
              <a:latin typeface="Lucida Console" pitchFamily="49" charset="0"/>
            </a:endParaRPr>
          </a:p>
          <a:p>
            <a:pPr defTabSz="739775" eaLnBrk="0" hangingPunct="0">
              <a:defRPr/>
            </a:pPr>
            <a:r>
              <a:rPr lang="en-US" dirty="0">
                <a:solidFill>
                  <a:srgbClr val="0000FF"/>
                </a:solidFill>
                <a:latin typeface="Lucida Console" pitchFamily="49" charset="0"/>
              </a:rPr>
              <a:t>  public class</a:t>
            </a:r>
            <a:r>
              <a:rPr lang="en-US" dirty="0">
                <a:latin typeface="Lucida Console" pitchFamily="49" charset="0"/>
              </a:rPr>
              <a:t> </a:t>
            </a:r>
            <a:r>
              <a:rPr lang="en-US" dirty="0">
                <a:solidFill>
                  <a:srgbClr val="000000"/>
                </a:solidFill>
                <a:latin typeface="Lucida Console" pitchFamily="49" charset="0"/>
              </a:rPr>
              <a:t>Timetable {</a:t>
            </a:r>
          </a:p>
          <a:p>
            <a:pPr defTabSz="739775" eaLnBrk="0" hangingPunct="0">
              <a:defRPr/>
            </a:pPr>
            <a:r>
              <a:rPr lang="en-US" dirty="0">
                <a:solidFill>
                  <a:schemeClr val="accent6">
                    <a:lumMod val="50000"/>
                  </a:schemeClr>
                </a:solidFill>
                <a:latin typeface="Lucida Console" pitchFamily="49" charset="0"/>
              </a:rPr>
              <a:t> 	// code</a:t>
            </a:r>
            <a:endParaRPr lang="en-US" dirty="0">
              <a:solidFill>
                <a:srgbClr val="000000"/>
              </a:solidFill>
              <a:latin typeface="Lucida Console" pitchFamily="49" charset="0"/>
            </a:endParaRPr>
          </a:p>
          <a:p>
            <a:pPr defTabSz="739775" eaLnBrk="0" hangingPunct="0">
              <a:defRPr/>
            </a:pPr>
            <a:r>
              <a:rPr lang="en-US" dirty="0">
                <a:solidFill>
                  <a:srgbClr val="000000"/>
                </a:solidFill>
                <a:latin typeface="Lucida Console" pitchFamily="49" charset="0"/>
              </a:rPr>
              <a:t>  }</a:t>
            </a:r>
          </a:p>
          <a:p>
            <a:pPr defTabSz="739775" eaLnBrk="0" hangingPunct="0">
              <a:defRPr/>
            </a:pPr>
            <a:r>
              <a:rPr lang="en-US" dirty="0">
                <a:solidFill>
                  <a:srgbClr val="000000"/>
                </a:solidFill>
                <a:latin typeface="Lucida Console" pitchFamily="49" charset="0"/>
              </a:rPr>
              <a:t>}</a:t>
            </a:r>
            <a:endParaRPr lang="en-US" dirty="0">
              <a:solidFill>
                <a:srgbClr val="008000"/>
              </a:solidFill>
              <a:latin typeface="Lucida Console" pitchFamily="49" charset="0"/>
            </a:endParaRPr>
          </a:p>
        </p:txBody>
      </p:sp>
      <p:sp>
        <p:nvSpPr>
          <p:cNvPr id="3" name="TextBox 2">
            <a:extLst>
              <a:ext uri="{FF2B5EF4-FFF2-40B4-BE49-F238E27FC236}">
                <a16:creationId xmlns:a16="http://schemas.microsoft.com/office/drawing/2014/main" id="{552EFF8C-D68A-EA79-3D3B-C7E2C3EFFD61}"/>
              </a:ext>
            </a:extLst>
          </p:cNvPr>
          <p:cNvSpPr txBox="1"/>
          <p:nvPr/>
        </p:nvSpPr>
        <p:spPr>
          <a:xfrm>
            <a:off x="890866" y="3428957"/>
            <a:ext cx="9866034" cy="2862322"/>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QA.hr.Timesheet</a:t>
            </a:r>
            <a:r>
              <a:rPr lang="en-GB" sz="1800" dirty="0">
                <a:solidFill>
                  <a:srgbClr val="000000"/>
                </a:solidFill>
                <a:latin typeface="Cascadia Mono" panose="020B0609020000020004" pitchFamily="49" charset="0"/>
              </a:rPr>
              <a:t> t1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QA.hr.Timesheet</a:t>
            </a:r>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QA.apprentice.Timesheet</a:t>
            </a:r>
            <a:r>
              <a:rPr lang="en-GB" sz="1800" dirty="0">
                <a:solidFill>
                  <a:srgbClr val="000000"/>
                </a:solidFill>
                <a:latin typeface="Cascadia Mono" panose="020B0609020000020004" pitchFamily="49" charset="0"/>
              </a:rPr>
              <a:t> t2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QA.apprentice.Timesheet</a:t>
            </a:r>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endParaRPr lang="en-GB" dirty="0"/>
          </a:p>
        </p:txBody>
      </p:sp>
    </p:spTree>
    <p:extLst>
      <p:ext uri="{BB962C8B-B14F-4D97-AF65-F5344CB8AC3E}">
        <p14:creationId xmlns:p14="http://schemas.microsoft.com/office/powerpoint/2010/main" val="271451650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using statement</a:t>
            </a:r>
          </a:p>
        </p:txBody>
      </p:sp>
      <p:sp>
        <p:nvSpPr>
          <p:cNvPr id="3" name="Rectangle 3"/>
          <p:cNvSpPr txBox="1">
            <a:spLocks noChangeArrowheads="1"/>
          </p:cNvSpPr>
          <p:nvPr/>
        </p:nvSpPr>
        <p:spPr>
          <a:xfrm>
            <a:off x="1773239" y="780615"/>
            <a:ext cx="8709025" cy="5568950"/>
          </a:xfrm>
          <a:prstGeom prst="rect">
            <a:avLst/>
          </a:prstGeom>
        </p:spPr>
        <p:txBody>
          <a:bodyPr/>
          <a:lstStyle/>
          <a:p>
            <a:pPr marL="288925" indent="-288925" eaLnBrk="0" fontAlgn="base" hangingPunct="0">
              <a:lnSpc>
                <a:spcPct val="120000"/>
              </a:lnSpc>
              <a:spcBef>
                <a:spcPct val="60000"/>
              </a:spcBef>
              <a:spcAft>
                <a:spcPct val="0"/>
              </a:spcAft>
              <a:buClr>
                <a:schemeClr val="bg2"/>
              </a:buClr>
              <a:buFontTx/>
              <a:buChar char="•"/>
              <a:defRPr/>
            </a:pPr>
            <a:endParaRPr lang="en-US" sz="2400" b="1" kern="0" dirty="0">
              <a:solidFill>
                <a:srgbClr val="134183"/>
              </a:solidFill>
            </a:endParaRPr>
          </a:p>
        </p:txBody>
      </p:sp>
      <p:sp>
        <p:nvSpPr>
          <p:cNvPr id="4" name="TextBox 3">
            <a:extLst>
              <a:ext uri="{FF2B5EF4-FFF2-40B4-BE49-F238E27FC236}">
                <a16:creationId xmlns:a16="http://schemas.microsoft.com/office/drawing/2014/main" id="{E7A83753-8D2A-B7F7-A8F5-94B7B4FE213A}"/>
              </a:ext>
            </a:extLst>
          </p:cNvPr>
          <p:cNvSpPr txBox="1"/>
          <p:nvPr/>
        </p:nvSpPr>
        <p:spPr>
          <a:xfrm>
            <a:off x="616230" y="1756496"/>
            <a:ext cx="10496270" cy="4524315"/>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ascadia Mono" panose="020B0609020000020004" pitchFamily="49" charset="0"/>
              </a:rPr>
              <a:t>using</a:t>
            </a:r>
            <a:r>
              <a:rPr lang="en-GB" sz="1800" b="1" dirty="0">
                <a:solidFill>
                  <a:srgbClr val="000000"/>
                </a:solidFill>
                <a:latin typeface="Cascadia Mono" panose="020B0609020000020004" pitchFamily="49" charset="0"/>
              </a:rPr>
              <a:t> </a:t>
            </a:r>
            <a:r>
              <a:rPr lang="en-GB" sz="1800" b="1" dirty="0" err="1">
                <a:solidFill>
                  <a:srgbClr val="000000"/>
                </a:solidFill>
                <a:latin typeface="Cascadia Mono" panose="020B0609020000020004" pitchFamily="49" charset="0"/>
              </a:rPr>
              <a:t>QA.apprentice</a:t>
            </a:r>
            <a:r>
              <a:rPr lang="en-GB" sz="1800" b="1" dirty="0">
                <a:solidFill>
                  <a:srgbClr val="000000"/>
                </a:solidFill>
                <a:latin typeface="Cascadia Mono" panose="020B0609020000020004" pitchFamily="49" charset="0"/>
              </a:rPr>
              <a:t>;</a:t>
            </a:r>
          </a:p>
          <a:p>
            <a:endParaRPr lang="en-GB" sz="1800" dirty="0">
              <a:solidFill>
                <a:srgbClr val="0000FF"/>
              </a:solidFill>
              <a:latin typeface="Cascadia Mono" panose="020B0609020000020004" pitchFamily="49" charset="0"/>
            </a:endParaRPr>
          </a:p>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r>
              <a:rPr lang="en-GB" sz="1800" dirty="0">
                <a:solidFill>
                  <a:srgbClr val="000000"/>
                </a:solidFill>
                <a:latin typeface="Cascadia Mono" panose="020B0609020000020004" pitchFamily="49" charset="0"/>
              </a:rPr>
              <a:t>{</a:t>
            </a:r>
          </a:p>
          <a:p>
            <a:endParaRPr lang="en-GB" sz="1800"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b="1" dirty="0">
                <a:solidFill>
                  <a:srgbClr val="000000"/>
                </a:solidFill>
                <a:latin typeface="Cascadia Mono" panose="020B0609020000020004" pitchFamily="49" charset="0"/>
              </a:rPr>
              <a:t>		Timesheet t1 = </a:t>
            </a:r>
            <a:r>
              <a:rPr lang="en-GB" sz="1800" b="1" dirty="0">
                <a:solidFill>
                  <a:srgbClr val="0000FF"/>
                </a:solidFill>
                <a:latin typeface="Cascadia Mono" panose="020B0609020000020004" pitchFamily="49" charset="0"/>
              </a:rPr>
              <a:t>new</a:t>
            </a:r>
            <a:r>
              <a:rPr lang="en-GB" sz="1800" b="1" dirty="0">
                <a:solidFill>
                  <a:srgbClr val="000000"/>
                </a:solidFill>
                <a:latin typeface="Cascadia Mono" panose="020B0609020000020004" pitchFamily="49" charset="0"/>
              </a:rPr>
              <a:t> Timesheet();</a:t>
            </a:r>
          </a:p>
          <a:p>
            <a:endParaRPr lang="en-GB" b="1" dirty="0">
              <a:solidFill>
                <a:srgbClr val="000000"/>
              </a:solidFill>
              <a:latin typeface="Cascadia Mono" panose="020B0609020000020004" pitchFamily="49" charset="0"/>
            </a:endParaRPr>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 </a:t>
            </a:r>
            <a:r>
              <a:rPr lang="en-GB" sz="1800" b="1" dirty="0">
                <a:solidFill>
                  <a:srgbClr val="000000"/>
                </a:solidFill>
                <a:latin typeface="Cascadia Mono" panose="020B0609020000020004" pitchFamily="49" charset="0"/>
              </a:rPr>
              <a:t>t2</a:t>
            </a:r>
            <a:r>
              <a:rPr lang="en-GB" sz="1800" dirty="0">
                <a:solidFill>
                  <a:srgbClr val="000000"/>
                </a:solidFill>
                <a:latin typeface="Cascadia Mono" panose="020B0609020000020004" pitchFamily="49" charset="0"/>
              </a:rPr>
              <a:t>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a:t>
            </a:r>
            <a:endParaRPr lang="en-GB" dirty="0"/>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endParaRPr lang="en-GB" dirty="0"/>
          </a:p>
        </p:txBody>
      </p:sp>
      <p:sp>
        <p:nvSpPr>
          <p:cNvPr id="5" name="Speech Bubble: Rectangle with Corners Rounded 4">
            <a:extLst>
              <a:ext uri="{FF2B5EF4-FFF2-40B4-BE49-F238E27FC236}">
                <a16:creationId xmlns:a16="http://schemas.microsoft.com/office/drawing/2014/main" id="{28641BFD-4CCC-2A81-4A76-76732FB29091}"/>
              </a:ext>
            </a:extLst>
          </p:cNvPr>
          <p:cNvSpPr/>
          <p:nvPr/>
        </p:nvSpPr>
        <p:spPr>
          <a:xfrm>
            <a:off x="7099300" y="3937000"/>
            <a:ext cx="3332164" cy="482600"/>
          </a:xfrm>
          <a:prstGeom prst="wedgeRoundRectCallout">
            <a:avLst>
              <a:gd name="adj1" fmla="val -55409"/>
              <a:gd name="adj2" fmla="val -11085"/>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600" dirty="0" err="1">
                <a:solidFill>
                  <a:srgbClr val="0000FF"/>
                </a:solidFill>
                <a:latin typeface="Cascadia Mono" panose="020B0609020000020004" pitchFamily="49" charset="0"/>
              </a:rPr>
              <a:t>QA</a:t>
            </a:r>
            <a:r>
              <a:rPr lang="en-GB" sz="1600" dirty="0" err="1">
                <a:solidFill>
                  <a:srgbClr val="000000"/>
                </a:solidFill>
                <a:latin typeface="Cascadia Mono" panose="020B0609020000020004" pitchFamily="49" charset="0"/>
              </a:rPr>
              <a:t>.</a:t>
            </a:r>
            <a:r>
              <a:rPr lang="en-GB" sz="1600" dirty="0" err="1">
                <a:solidFill>
                  <a:srgbClr val="0000FF"/>
                </a:solidFill>
                <a:latin typeface="Cascadia Mono" panose="020B0609020000020004" pitchFamily="49" charset="0"/>
              </a:rPr>
              <a:t>apprentice</a:t>
            </a:r>
            <a:r>
              <a:rPr lang="en-GB" sz="1600" dirty="0" err="1">
                <a:solidFill>
                  <a:srgbClr val="000000"/>
                </a:solidFill>
                <a:latin typeface="Cascadia Mono" panose="020B0609020000020004" pitchFamily="49" charset="0"/>
              </a:rPr>
              <a:t>.Timesheet</a:t>
            </a:r>
            <a:endParaRPr lang="en-GB" sz="1600" dirty="0"/>
          </a:p>
        </p:txBody>
      </p:sp>
    </p:spTree>
    <p:extLst>
      <p:ext uri="{BB962C8B-B14F-4D97-AF65-F5344CB8AC3E}">
        <p14:creationId xmlns:p14="http://schemas.microsoft.com/office/powerpoint/2010/main" val="4034051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using statement in .NET 6</a:t>
            </a:r>
          </a:p>
        </p:txBody>
      </p:sp>
      <p:sp>
        <p:nvSpPr>
          <p:cNvPr id="4" name="TextBox 3">
            <a:extLst>
              <a:ext uri="{FF2B5EF4-FFF2-40B4-BE49-F238E27FC236}">
                <a16:creationId xmlns:a16="http://schemas.microsoft.com/office/drawing/2014/main" id="{E7A83753-8D2A-B7F7-A8F5-94B7B4FE213A}"/>
              </a:ext>
            </a:extLst>
          </p:cNvPr>
          <p:cNvSpPr txBox="1"/>
          <p:nvPr/>
        </p:nvSpPr>
        <p:spPr>
          <a:xfrm>
            <a:off x="616230" y="1756496"/>
            <a:ext cx="10496270" cy="4247317"/>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ascadia Mono" panose="020B0609020000020004" pitchFamily="49" charset="0"/>
              </a:rPr>
              <a:t>using</a:t>
            </a:r>
            <a:r>
              <a:rPr lang="en-GB" sz="1800" b="1" dirty="0">
                <a:solidFill>
                  <a:srgbClr val="000000"/>
                </a:solidFill>
                <a:latin typeface="Cascadia Mono" panose="020B0609020000020004" pitchFamily="49" charset="0"/>
              </a:rPr>
              <a:t> </a:t>
            </a:r>
            <a:r>
              <a:rPr lang="en-GB" sz="1800" b="1" dirty="0" err="1">
                <a:solidFill>
                  <a:srgbClr val="000000"/>
                </a:solidFill>
                <a:latin typeface="Cascadia Mono" panose="020B0609020000020004" pitchFamily="49" charset="0"/>
              </a:rPr>
              <a:t>QA.apprentice</a:t>
            </a:r>
            <a:r>
              <a:rPr lang="en-GB" sz="1800" b="1" dirty="0">
                <a:solidFill>
                  <a:srgbClr val="000000"/>
                </a:solidFill>
                <a:latin typeface="Cascadia Mono" panose="020B0609020000020004" pitchFamily="49" charset="0"/>
              </a:rPr>
              <a:t>;</a:t>
            </a:r>
          </a:p>
          <a:p>
            <a:endParaRPr lang="en-GB" sz="1800" dirty="0">
              <a:solidFill>
                <a:srgbClr val="0000FF"/>
              </a:solidFill>
              <a:latin typeface="Cascadia Mono" panose="020B0609020000020004" pitchFamily="49" charset="0"/>
            </a:endParaRPr>
          </a:p>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endParaRPr lang="en-GB" sz="1800" dirty="0">
              <a:solidFill>
                <a:srgbClr val="000000"/>
              </a:solidFill>
              <a:latin typeface="Cascadia Mono" panose="020B0609020000020004" pitchFamily="49" charset="0"/>
            </a:endParaRPr>
          </a:p>
          <a:p>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endParaRPr lang="en-GB" sz="1800"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b="1" dirty="0">
                <a:solidFill>
                  <a:srgbClr val="000000"/>
                </a:solidFill>
                <a:latin typeface="Cascadia Mono" panose="020B0609020000020004" pitchFamily="49" charset="0"/>
              </a:rPr>
              <a:t>		Timesheet t1 = </a:t>
            </a:r>
            <a:r>
              <a:rPr lang="en-GB" sz="1800" b="1" dirty="0">
                <a:solidFill>
                  <a:srgbClr val="0000FF"/>
                </a:solidFill>
                <a:latin typeface="Cascadia Mono" panose="020B0609020000020004" pitchFamily="49" charset="0"/>
              </a:rPr>
              <a:t>new</a:t>
            </a:r>
            <a:r>
              <a:rPr lang="en-GB" sz="1800" b="1" dirty="0">
                <a:solidFill>
                  <a:srgbClr val="000000"/>
                </a:solidFill>
                <a:latin typeface="Cascadia Mono" panose="020B0609020000020004" pitchFamily="49" charset="0"/>
              </a:rPr>
              <a:t> Timesheet();</a:t>
            </a:r>
          </a:p>
          <a:p>
            <a:endParaRPr lang="en-GB" b="1" dirty="0">
              <a:solidFill>
                <a:srgbClr val="000000"/>
              </a:solidFill>
              <a:latin typeface="Cascadia Mono" panose="020B0609020000020004" pitchFamily="49" charset="0"/>
            </a:endParaRPr>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 </a:t>
            </a:r>
            <a:r>
              <a:rPr lang="en-GB" sz="1800" b="1" dirty="0">
                <a:solidFill>
                  <a:srgbClr val="000000"/>
                </a:solidFill>
                <a:latin typeface="Cascadia Mono" panose="020B0609020000020004" pitchFamily="49" charset="0"/>
              </a:rPr>
              <a:t>t2</a:t>
            </a:r>
            <a:r>
              <a:rPr lang="en-GB" sz="1800" dirty="0">
                <a:solidFill>
                  <a:srgbClr val="000000"/>
                </a:solidFill>
                <a:latin typeface="Cascadia Mono" panose="020B0609020000020004" pitchFamily="49" charset="0"/>
              </a:rPr>
              <a:t>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a:t>
            </a:r>
            <a:endParaRPr lang="en-GB" dirty="0"/>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p>
          <a:p>
            <a:endParaRPr lang="en-GB" dirty="0"/>
          </a:p>
        </p:txBody>
      </p:sp>
      <p:sp>
        <p:nvSpPr>
          <p:cNvPr id="5" name="Speech Bubble: Rectangle with Corners Rounded 4">
            <a:extLst>
              <a:ext uri="{FF2B5EF4-FFF2-40B4-BE49-F238E27FC236}">
                <a16:creationId xmlns:a16="http://schemas.microsoft.com/office/drawing/2014/main" id="{28641BFD-4CCC-2A81-4A76-76732FB29091}"/>
              </a:ext>
            </a:extLst>
          </p:cNvPr>
          <p:cNvSpPr/>
          <p:nvPr/>
        </p:nvSpPr>
        <p:spPr>
          <a:xfrm>
            <a:off x="6972300" y="3924300"/>
            <a:ext cx="3332164" cy="508000"/>
          </a:xfrm>
          <a:prstGeom prst="wedgeRoundRectCallout">
            <a:avLst>
              <a:gd name="adj1" fmla="val -55409"/>
              <a:gd name="adj2" fmla="val -11085"/>
              <a:gd name="adj3" fmla="val 16667"/>
            </a:avLst>
          </a:prstGeom>
          <a:ln/>
          <a:effectLst>
            <a:innerShdw blurRad="63500" dist="50800" dir="13500000">
              <a:prstClr val="black">
                <a:alpha val="50000"/>
              </a:prstClr>
            </a:inn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GB" sz="1600" dirty="0" err="1">
                <a:solidFill>
                  <a:srgbClr val="0000FF"/>
                </a:solidFill>
                <a:latin typeface="Cascadia Mono" panose="020B0609020000020004" pitchFamily="49" charset="0"/>
              </a:rPr>
              <a:t>QA</a:t>
            </a:r>
            <a:r>
              <a:rPr lang="en-GB" sz="1600" dirty="0" err="1">
                <a:solidFill>
                  <a:srgbClr val="000000"/>
                </a:solidFill>
                <a:latin typeface="Cascadia Mono" panose="020B0609020000020004" pitchFamily="49" charset="0"/>
              </a:rPr>
              <a:t>.</a:t>
            </a:r>
            <a:r>
              <a:rPr lang="en-GB" sz="1600" dirty="0" err="1">
                <a:solidFill>
                  <a:srgbClr val="0000FF"/>
                </a:solidFill>
                <a:latin typeface="Cascadia Mono" panose="020B0609020000020004" pitchFamily="49" charset="0"/>
              </a:rPr>
              <a:t>apprentice</a:t>
            </a:r>
            <a:r>
              <a:rPr lang="en-GB" sz="1600" dirty="0" err="1">
                <a:solidFill>
                  <a:srgbClr val="000000"/>
                </a:solidFill>
                <a:latin typeface="Cascadia Mono" panose="020B0609020000020004" pitchFamily="49" charset="0"/>
              </a:rPr>
              <a:t>.Timesheet</a:t>
            </a:r>
            <a:endParaRPr lang="en-GB" sz="1600" dirty="0"/>
          </a:p>
        </p:txBody>
      </p:sp>
    </p:spTree>
    <p:extLst>
      <p:ext uri="{BB962C8B-B14F-4D97-AF65-F5344CB8AC3E}">
        <p14:creationId xmlns:p14="http://schemas.microsoft.com/office/powerpoint/2010/main" val="873547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2"/>
          </p:nvPr>
        </p:nvSpPr>
        <p:spPr/>
        <p:txBody>
          <a:bodyPr/>
          <a:lstStyle/>
          <a:p>
            <a:endParaRPr lang="en-IN"/>
          </a:p>
        </p:txBody>
      </p:sp>
      <p:sp>
        <p:nvSpPr>
          <p:cNvPr id="4" name="Title 3"/>
          <p:cNvSpPr>
            <a:spLocks noGrp="1"/>
          </p:cNvSpPr>
          <p:nvPr>
            <p:ph type="ctrTitle"/>
          </p:nvPr>
        </p:nvSpPr>
        <p:spPr/>
        <p:txBody>
          <a:bodyPr/>
          <a:lstStyle/>
          <a:p>
            <a:r>
              <a:rPr lang="en-US" dirty="0"/>
              <a:t>C# Language basics</a:t>
            </a:r>
            <a:endParaRPr lang="en-IN" dirty="0"/>
          </a:p>
        </p:txBody>
      </p:sp>
    </p:spTree>
    <p:extLst>
      <p:ext uri="{BB962C8B-B14F-4D97-AF65-F5344CB8AC3E}">
        <p14:creationId xmlns:p14="http://schemas.microsoft.com/office/powerpoint/2010/main" val="2242128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dirty="0"/>
              <a:t>Variables </a:t>
            </a:r>
            <a:r>
              <a:rPr lang="en-GB" sz="3200" dirty="0"/>
              <a:t>(</a:t>
            </a:r>
            <a:r>
              <a:rPr lang="en-GB" sz="2400" dirty="0"/>
              <a:t>Symbolic name for an address in memory)</a:t>
            </a:r>
            <a:br>
              <a:rPr lang="en-GB" dirty="0"/>
            </a:br>
            <a:endParaRPr lang="en-GB" dirty="0"/>
          </a:p>
        </p:txBody>
      </p:sp>
      <p:sp>
        <p:nvSpPr>
          <p:cNvPr id="8195" name="Rectangle 3"/>
          <p:cNvSpPr>
            <a:spLocks noGrp="1" noChangeArrowheads="1"/>
          </p:cNvSpPr>
          <p:nvPr>
            <p:ph idx="1"/>
          </p:nvPr>
        </p:nvSpPr>
        <p:spPr>
          <a:xfrm>
            <a:off x="341272" y="1368256"/>
            <a:ext cx="11516239" cy="1129847"/>
          </a:xfrm>
        </p:spPr>
        <p:txBody>
          <a:bodyPr vert="horz" lIns="0" tIns="0" rIns="0" bIns="0" rtlCol="0" anchor="t" anchorCtr="0">
            <a:noAutofit/>
          </a:bodyPr>
          <a:lstStyle/>
          <a:p>
            <a:pPr marL="342000" lvl="1" indent="-342900">
              <a:buSzPct val="115000"/>
            </a:pPr>
            <a:r>
              <a:rPr lang="en-US" dirty="0"/>
              <a:t>Must be declared with a type before use</a:t>
            </a:r>
          </a:p>
          <a:p>
            <a:pPr marL="342000" lvl="1" indent="-342900">
              <a:buSzPct val="115000"/>
            </a:pPr>
            <a:r>
              <a:rPr lang="en-US" dirty="0"/>
              <a:t>Variables in a method must be </a:t>
            </a:r>
            <a:r>
              <a:rPr lang="en-GB" dirty="0"/>
              <a:t>initialised</a:t>
            </a:r>
            <a:r>
              <a:rPr lang="en-US" dirty="0"/>
              <a:t> before use</a:t>
            </a:r>
            <a:br>
              <a:rPr lang="en-US" dirty="0"/>
            </a:br>
            <a:br>
              <a:rPr lang="en-US" dirty="0"/>
            </a:b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3EFFD1B3-E4CE-DEB9-1701-654C223C0D28}"/>
              </a:ext>
            </a:extLst>
          </p:cNvPr>
          <p:cNvSpPr txBox="1"/>
          <p:nvPr/>
        </p:nvSpPr>
        <p:spPr>
          <a:xfrm>
            <a:off x="2276327" y="2688977"/>
            <a:ext cx="6606416" cy="3046988"/>
          </a:xfrm>
          <a:prstGeom prst="rect">
            <a:avLst/>
          </a:prstGeom>
          <a:solidFill>
            <a:schemeClr val="accent5">
              <a:lumMod val="20000"/>
              <a:lumOff val="80000"/>
            </a:schemeClr>
          </a:solidFill>
          <a:effectLst>
            <a:outerShdw blurRad="50800" dist="38100" algn="l" rotWithShape="0">
              <a:prstClr val="black">
                <a:alpha val="40000"/>
              </a:prstClr>
            </a:outerShdw>
          </a:effectLst>
        </p:spPr>
        <p:txBody>
          <a:bodyPr wrap="square">
            <a:spAutoFit/>
          </a:bodyPr>
          <a:lstStyle/>
          <a:p>
            <a:r>
              <a:rPr lang="en-GB" sz="1600" b="1" dirty="0">
                <a:solidFill>
                  <a:srgbClr val="0000FF"/>
                </a:solidFill>
                <a:latin typeface="Cascadia Mono" panose="020B0609020000020004" pitchFamily="49" charset="0"/>
              </a:rPr>
              <a:t>public</a:t>
            </a:r>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void</a:t>
            </a:r>
            <a:r>
              <a:rPr lang="en-GB" sz="1600" b="1" dirty="0">
                <a:solidFill>
                  <a:srgbClr val="000000"/>
                </a:solidFill>
                <a:latin typeface="Cascadia Mono" panose="020B0609020000020004" pitchFamily="49" charset="0"/>
              </a:rPr>
              <a:t> Main(</a:t>
            </a:r>
            <a:r>
              <a:rPr lang="en-GB" sz="1600" b="1" dirty="0">
                <a:solidFill>
                  <a:srgbClr val="0000FF"/>
                </a:solidFill>
                <a:latin typeface="Cascadia Mono" panose="020B0609020000020004" pitchFamily="49" charset="0"/>
              </a:rPr>
              <a:t>string</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args</a:t>
            </a:r>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int</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myAge</a:t>
            </a:r>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bool</a:t>
            </a:r>
            <a:r>
              <a:rPr lang="en-GB" sz="1600" b="1" dirty="0">
                <a:solidFill>
                  <a:srgbClr val="000000"/>
                </a:solidFill>
                <a:latin typeface="Cascadia Mono" panose="020B0609020000020004" pitchFamily="49" charset="0"/>
              </a:rPr>
              <a:t> answer = </a:t>
            </a:r>
            <a:r>
              <a:rPr lang="en-GB" sz="1600" b="1" dirty="0">
                <a:solidFill>
                  <a:srgbClr val="0000FF"/>
                </a:solidFill>
                <a:latin typeface="Cascadia Mono" panose="020B0609020000020004" pitchFamily="49" charset="0"/>
              </a:rPr>
              <a:t>true</a:t>
            </a:r>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string</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myName</a:t>
            </a:r>
            <a:r>
              <a:rPr lang="en-GB" sz="1600" b="1" dirty="0">
                <a:solidFill>
                  <a:srgbClr val="000000"/>
                </a:solidFill>
                <a:latin typeface="Cascadia Mono" panose="020B0609020000020004" pitchFamily="49" charset="0"/>
              </a:rPr>
              <a:t> = </a:t>
            </a:r>
            <a:r>
              <a:rPr lang="en-GB" sz="1600" b="1" dirty="0">
                <a:solidFill>
                  <a:srgbClr val="A31515"/>
                </a:solidFill>
                <a:latin typeface="Cascadia Mono" panose="020B0609020000020004" pitchFamily="49" charset="0"/>
              </a:rPr>
              <a:t>"Samantha"</a:t>
            </a:r>
            <a:r>
              <a:rPr lang="en-GB" sz="1600" b="1" dirty="0">
                <a:solidFill>
                  <a:srgbClr val="000000"/>
                </a:solidFill>
                <a:latin typeface="Cascadia Mono" panose="020B0609020000020004" pitchFamily="49" charset="0"/>
              </a:rPr>
              <a:t>;</a:t>
            </a:r>
          </a:p>
          <a:p>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int</a:t>
            </a: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i</a:t>
            </a:r>
            <a:r>
              <a:rPr lang="en-GB" sz="1600" b="1" dirty="0">
                <a:solidFill>
                  <a:srgbClr val="000000"/>
                </a:solidFill>
                <a:latin typeface="Cascadia Mono" panose="020B0609020000020004" pitchFamily="49" charset="0"/>
              </a:rPr>
              <a:t> = 0, j;</a:t>
            </a:r>
          </a:p>
          <a:p>
            <a:endParaRPr lang="en-GB" sz="1600" b="1" dirty="0">
              <a:solidFill>
                <a:srgbClr val="000000"/>
              </a:solidFill>
              <a:highlight>
                <a:srgbClr val="FFFFFF"/>
              </a:highlight>
              <a:latin typeface="Cascadia Mono" panose="020B0609020000020004" pitchFamily="49" charset="0"/>
            </a:endParaRPr>
          </a:p>
          <a:p>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myAge</a:t>
            </a:r>
            <a:r>
              <a:rPr lang="en-GB" sz="1600" b="1" dirty="0">
                <a:solidFill>
                  <a:srgbClr val="000000"/>
                </a:solidFill>
                <a:latin typeface="Cascadia Mono" panose="020B0609020000020004" pitchFamily="49" charset="0"/>
              </a:rPr>
              <a:t> = 21; </a:t>
            </a:r>
          </a:p>
          <a:p>
            <a:endParaRPr lang="en-GB" sz="1600" b="1" dirty="0">
              <a:solidFill>
                <a:srgbClr val="000000"/>
              </a:solidFill>
              <a:latin typeface="Cascadia Mono" panose="020B0609020000020004" pitchFamily="49" charset="0"/>
            </a:endParaRPr>
          </a:p>
          <a:p>
            <a:r>
              <a:rPr lang="en-GB" sz="1600" b="1" dirty="0">
                <a:solidFill>
                  <a:srgbClr val="000000"/>
                </a:solidFill>
                <a:latin typeface="Cascadia Mono" panose="020B0609020000020004" pitchFamily="49" charset="0"/>
              </a:rPr>
              <a:t>    </a:t>
            </a:r>
            <a:r>
              <a:rPr lang="en-GB" sz="1600" b="1" dirty="0" err="1">
                <a:solidFill>
                  <a:srgbClr val="2B91AF"/>
                </a:solidFill>
                <a:latin typeface="Cascadia Mono" panose="020B0609020000020004" pitchFamily="49" charset="0"/>
              </a:rPr>
              <a:t>Console</a:t>
            </a:r>
            <a:r>
              <a:rPr lang="en-GB" sz="1600" b="1" dirty="0" err="1">
                <a:solidFill>
                  <a:srgbClr val="000000"/>
                </a:solidFill>
                <a:latin typeface="Cascadia Mono" panose="020B0609020000020004" pitchFamily="49" charset="0"/>
              </a:rPr>
              <a:t>.WriteLine</a:t>
            </a:r>
            <a:r>
              <a:rPr lang="en-GB" sz="1600" b="1" dirty="0">
                <a:solidFill>
                  <a:srgbClr val="000000"/>
                </a:solidFill>
                <a:latin typeface="Cascadia Mono" panose="020B0609020000020004" pitchFamily="49" charset="0"/>
              </a:rPr>
              <a:t>(</a:t>
            </a:r>
            <a:r>
              <a:rPr lang="en-GB" sz="1600" b="1" dirty="0" err="1">
                <a:solidFill>
                  <a:srgbClr val="000000"/>
                </a:solidFill>
                <a:latin typeface="Cascadia Mono" panose="020B0609020000020004" pitchFamily="49" charset="0"/>
              </a:rPr>
              <a:t>i</a:t>
            </a:r>
            <a:r>
              <a:rPr lang="en-GB" sz="1600" b="1" dirty="0">
                <a:solidFill>
                  <a:srgbClr val="000000"/>
                </a:solidFill>
                <a:latin typeface="Cascadia Mono" panose="020B0609020000020004" pitchFamily="49" charset="0"/>
              </a:rPr>
              <a:t>); </a:t>
            </a:r>
          </a:p>
          <a:p>
            <a:r>
              <a:rPr lang="en-GB" sz="1600" b="1" dirty="0">
                <a:solidFill>
                  <a:srgbClr val="000000"/>
                </a:solidFill>
                <a:latin typeface="Cascadia Mono" panose="020B0609020000020004" pitchFamily="49" charset="0"/>
              </a:rPr>
              <a:t>    </a:t>
            </a:r>
            <a:r>
              <a:rPr lang="en-GB" sz="1600" b="1" dirty="0" err="1">
                <a:solidFill>
                  <a:srgbClr val="2B91AF"/>
                </a:solidFill>
                <a:latin typeface="Cascadia Mono" panose="020B0609020000020004" pitchFamily="49" charset="0"/>
              </a:rPr>
              <a:t>Console</a:t>
            </a:r>
            <a:r>
              <a:rPr lang="en-GB" sz="1600" b="1" dirty="0" err="1">
                <a:solidFill>
                  <a:srgbClr val="000000"/>
                </a:solidFill>
                <a:latin typeface="Cascadia Mono" panose="020B0609020000020004" pitchFamily="49" charset="0"/>
              </a:rPr>
              <a:t>.WriteLine</a:t>
            </a:r>
            <a:r>
              <a:rPr lang="en-GB" sz="1600" b="1" dirty="0">
                <a:solidFill>
                  <a:srgbClr val="000000"/>
                </a:solidFill>
                <a:latin typeface="Cascadia Mono" panose="020B0609020000020004" pitchFamily="49" charset="0"/>
              </a:rPr>
              <a:t>(j);     </a:t>
            </a:r>
            <a:r>
              <a:rPr lang="en-GB" sz="1600" b="1" dirty="0">
                <a:solidFill>
                  <a:srgbClr val="008000"/>
                </a:solidFill>
                <a:latin typeface="Cascadia Mono" panose="020B0609020000020004" pitchFamily="49" charset="0"/>
              </a:rPr>
              <a:t>// not initialised</a:t>
            </a:r>
            <a:endParaRPr lang="en-GB" sz="1600" b="1" dirty="0">
              <a:solidFill>
                <a:srgbClr val="000000"/>
              </a:solidFill>
              <a:latin typeface="Cascadia Mono" panose="020B0609020000020004" pitchFamily="49" charset="0"/>
            </a:endParaRPr>
          </a:p>
          <a:p>
            <a:r>
              <a:rPr lang="en-GB" sz="1600" b="1" dirty="0">
                <a:solidFill>
                  <a:srgbClr val="000000"/>
                </a:solidFill>
                <a:highlight>
                  <a:srgbClr val="FFFFFF"/>
                </a:highlight>
                <a:latin typeface="Cascadia Mono" panose="020B0609020000020004" pitchFamily="49" charset="0"/>
              </a:rPr>
              <a:t>}</a:t>
            </a:r>
            <a:endParaRPr lang="en-GB" sz="4000" b="1" dirty="0"/>
          </a:p>
        </p:txBody>
      </p:sp>
    </p:spTree>
    <p:extLst>
      <p:ext uri="{BB962C8B-B14F-4D97-AF65-F5344CB8AC3E}">
        <p14:creationId xmlns:p14="http://schemas.microsoft.com/office/powerpoint/2010/main" val="119938767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GB" dirty="0"/>
              <a:t>Pre-defined in-built primitive data types</a:t>
            </a:r>
          </a:p>
        </p:txBody>
      </p:sp>
      <p:sp>
        <p:nvSpPr>
          <p:cNvPr id="9219" name="Rectangle 3"/>
          <p:cNvSpPr>
            <a:spLocks noGrp="1" noChangeArrowheads="1"/>
          </p:cNvSpPr>
          <p:nvPr>
            <p:ph idx="1"/>
          </p:nvPr>
        </p:nvSpPr>
        <p:spPr/>
        <p:txBody>
          <a:bodyPr/>
          <a:lstStyle/>
          <a:p>
            <a:endParaRPr lang="en-GB" dirty="0"/>
          </a:p>
          <a:p>
            <a:br>
              <a:rPr lang="en-GB" dirty="0"/>
            </a:br>
            <a:endParaRPr lang="en-GB" dirty="0"/>
          </a:p>
          <a:p>
            <a:endParaRPr lang="en-GB" dirty="0"/>
          </a:p>
          <a:p>
            <a:endParaRPr lang="en-GB" dirty="0"/>
          </a:p>
          <a:p>
            <a:endParaRPr lang="en-US" dirty="0"/>
          </a:p>
        </p:txBody>
      </p:sp>
      <p:sp>
        <p:nvSpPr>
          <p:cNvPr id="814084" name="Rectangle 4"/>
          <p:cNvSpPr>
            <a:spLocks noChangeArrowheads="1"/>
          </p:cNvSpPr>
          <p:nvPr/>
        </p:nvSpPr>
        <p:spPr bwMode="auto">
          <a:xfrm>
            <a:off x="1236846" y="1474887"/>
            <a:ext cx="3573486" cy="1597873"/>
          </a:xfrm>
          <a:prstGeom prst="rect">
            <a:avLst/>
          </a:prstGeom>
          <a:solidFill>
            <a:schemeClr val="bg1"/>
          </a:solidFill>
          <a:ln w="19050">
            <a:no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eaLnBrk="0" hangingPunct="0">
              <a:tabLst>
                <a:tab pos="1252538" algn="l"/>
                <a:tab pos="2917825" algn="l"/>
              </a:tabLst>
              <a:defRPr/>
            </a:pPr>
            <a:r>
              <a:rPr lang="en-GB" sz="1400" b="1" dirty="0">
                <a:solidFill>
                  <a:srgbClr val="0000FF"/>
                </a:solidFill>
                <a:latin typeface="Lucida Console" pitchFamily="49" charset="0"/>
              </a:rPr>
              <a:t>byte</a:t>
            </a:r>
            <a:r>
              <a:rPr lang="en-GB" sz="1400" dirty="0">
                <a:latin typeface="Lucida Console" pitchFamily="49" charset="0"/>
              </a:rPr>
              <a:t>	</a:t>
            </a:r>
            <a:r>
              <a:rPr lang="en-GB" sz="1400" dirty="0" err="1">
                <a:solidFill>
                  <a:srgbClr val="000000"/>
                </a:solidFill>
                <a:latin typeface="Lucida Console" pitchFamily="49" charset="0"/>
              </a:rPr>
              <a:t>eightBit</a:t>
            </a:r>
            <a:r>
              <a:rPr lang="en-GB" sz="1400" dirty="0">
                <a:solidFill>
                  <a:srgbClr val="000000"/>
                </a:solidFill>
                <a:latin typeface="Lucida Console" pitchFamily="49" charset="0"/>
              </a:rPr>
              <a:t>; </a:t>
            </a:r>
            <a:r>
              <a:rPr lang="en-GB" sz="1400" dirty="0">
                <a:latin typeface="Lucida Console" pitchFamily="49" charset="0"/>
              </a:rPr>
              <a:t>   </a:t>
            </a:r>
            <a:endParaRPr lang="en-GB" sz="1400" dirty="0">
              <a:solidFill>
                <a:srgbClr val="008000"/>
              </a:solidFill>
              <a:latin typeface="Lucida Console" pitchFamily="49" charset="0"/>
            </a:endParaRPr>
          </a:p>
          <a:p>
            <a:pPr defTabSz="739775" eaLnBrk="0" hangingPunct="0">
              <a:tabLst>
                <a:tab pos="1252538" algn="l"/>
                <a:tab pos="2917825" algn="l"/>
              </a:tabLst>
              <a:defRPr/>
            </a:pPr>
            <a:endParaRPr lang="en-GB" sz="1400" dirty="0">
              <a:solidFill>
                <a:srgbClr val="0000FF"/>
              </a:solidFill>
              <a:latin typeface="Lucida Console" pitchFamily="49" charset="0"/>
            </a:endParaRPr>
          </a:p>
          <a:p>
            <a:pPr defTabSz="739775" eaLnBrk="0" hangingPunct="0">
              <a:tabLst>
                <a:tab pos="1252538" algn="l"/>
                <a:tab pos="2917825" algn="l"/>
              </a:tabLst>
              <a:defRPr/>
            </a:pPr>
            <a:r>
              <a:rPr lang="en-GB" sz="1400" b="1" dirty="0">
                <a:solidFill>
                  <a:srgbClr val="0000FF"/>
                </a:solidFill>
                <a:latin typeface="Lucida Console" pitchFamily="49" charset="0"/>
              </a:rPr>
              <a:t>short</a:t>
            </a:r>
            <a:r>
              <a:rPr lang="en-GB" sz="1400" dirty="0">
                <a:latin typeface="Lucida Console" pitchFamily="49" charset="0"/>
              </a:rPr>
              <a:t>	</a:t>
            </a:r>
            <a:r>
              <a:rPr lang="en-GB" sz="1400" dirty="0" err="1">
                <a:solidFill>
                  <a:srgbClr val="000000"/>
                </a:solidFill>
                <a:latin typeface="Lucida Console" pitchFamily="49" charset="0"/>
              </a:rPr>
              <a:t>sixteenBit</a:t>
            </a:r>
            <a:r>
              <a:rPr lang="en-GB" sz="1400" dirty="0">
                <a:solidFill>
                  <a:srgbClr val="000000"/>
                </a:solidFill>
                <a:latin typeface="Lucida Console" pitchFamily="49" charset="0"/>
              </a:rPr>
              <a:t>;</a:t>
            </a:r>
            <a:endParaRPr lang="en-GB" sz="1400" dirty="0">
              <a:solidFill>
                <a:srgbClr val="008000"/>
              </a:solidFill>
              <a:latin typeface="Lucida Console" pitchFamily="49" charset="0"/>
            </a:endParaRPr>
          </a:p>
          <a:p>
            <a:pPr defTabSz="739775" eaLnBrk="0" hangingPunct="0">
              <a:tabLst>
                <a:tab pos="1252538" algn="l"/>
                <a:tab pos="2917825" algn="l"/>
              </a:tabLst>
              <a:defRPr/>
            </a:pPr>
            <a:endParaRPr lang="en-GB" sz="1400" dirty="0">
              <a:solidFill>
                <a:srgbClr val="0000FF"/>
              </a:solidFill>
              <a:latin typeface="Lucida Console" pitchFamily="49" charset="0"/>
            </a:endParaRPr>
          </a:p>
          <a:p>
            <a:pPr defTabSz="739775" eaLnBrk="0" hangingPunct="0">
              <a:tabLst>
                <a:tab pos="1252538" algn="l"/>
                <a:tab pos="2917825" algn="l"/>
              </a:tabLst>
              <a:defRPr/>
            </a:pPr>
            <a:r>
              <a:rPr lang="en-GB" sz="1400" b="1" dirty="0">
                <a:solidFill>
                  <a:srgbClr val="0000FF"/>
                </a:solidFill>
                <a:latin typeface="Lucida Console" pitchFamily="49" charset="0"/>
              </a:rPr>
              <a:t>int</a:t>
            </a:r>
            <a:r>
              <a:rPr lang="en-GB" sz="1400" dirty="0">
                <a:latin typeface="Lucida Console" pitchFamily="49" charset="0"/>
              </a:rPr>
              <a:t>	</a:t>
            </a:r>
            <a:r>
              <a:rPr lang="en-GB" sz="1400" dirty="0" err="1">
                <a:solidFill>
                  <a:srgbClr val="000000"/>
                </a:solidFill>
                <a:latin typeface="Lucida Console" pitchFamily="49" charset="0"/>
              </a:rPr>
              <a:t>thirtyTwoBit</a:t>
            </a:r>
            <a:r>
              <a:rPr lang="en-GB" sz="1400" dirty="0">
                <a:solidFill>
                  <a:srgbClr val="000000"/>
                </a:solidFill>
                <a:latin typeface="Lucida Console" pitchFamily="49" charset="0"/>
              </a:rPr>
              <a:t>;</a:t>
            </a:r>
            <a:endParaRPr lang="en-GB" sz="1400" dirty="0">
              <a:solidFill>
                <a:srgbClr val="008000"/>
              </a:solidFill>
              <a:latin typeface="Lucida Console" pitchFamily="49" charset="0"/>
            </a:endParaRPr>
          </a:p>
          <a:p>
            <a:pPr defTabSz="739775" eaLnBrk="0" hangingPunct="0">
              <a:tabLst>
                <a:tab pos="1252538" algn="l"/>
                <a:tab pos="2917825" algn="l"/>
              </a:tabLst>
              <a:defRPr/>
            </a:pPr>
            <a:r>
              <a:rPr lang="en-GB" sz="1400" b="1" dirty="0">
                <a:solidFill>
                  <a:srgbClr val="0000FF"/>
                </a:solidFill>
                <a:latin typeface="Lucida Console" pitchFamily="49" charset="0"/>
              </a:rPr>
              <a:t>long</a:t>
            </a:r>
            <a:r>
              <a:rPr lang="en-GB" sz="1400" dirty="0">
                <a:latin typeface="Lucida Console" pitchFamily="49" charset="0"/>
              </a:rPr>
              <a:t>	</a:t>
            </a:r>
            <a:r>
              <a:rPr lang="en-GB" sz="1400" dirty="0" err="1">
                <a:solidFill>
                  <a:srgbClr val="000000"/>
                </a:solidFill>
                <a:latin typeface="Lucida Console" pitchFamily="49" charset="0"/>
              </a:rPr>
              <a:t>sixtyFourBit</a:t>
            </a:r>
            <a:r>
              <a:rPr lang="en-GB" sz="1400" dirty="0">
                <a:solidFill>
                  <a:srgbClr val="000000"/>
                </a:solidFill>
                <a:latin typeface="Lucida Console" pitchFamily="49" charset="0"/>
              </a:rPr>
              <a:t>;</a:t>
            </a:r>
          </a:p>
          <a:p>
            <a:pPr defTabSz="739775" eaLnBrk="0" hangingPunct="0">
              <a:tabLst>
                <a:tab pos="1252538" algn="l"/>
                <a:tab pos="2917825" algn="l"/>
              </a:tabLst>
              <a:defRPr/>
            </a:pPr>
            <a:r>
              <a:rPr lang="en-GB" sz="1400" dirty="0">
                <a:latin typeface="Lucida Console" pitchFamily="49" charset="0"/>
              </a:rPr>
              <a:t>	</a:t>
            </a:r>
            <a:endParaRPr lang="en-GB" sz="1400" dirty="0">
              <a:solidFill>
                <a:srgbClr val="008000"/>
              </a:solidFill>
              <a:latin typeface="Lucida Console" pitchFamily="49" charset="0"/>
            </a:endParaRPr>
          </a:p>
        </p:txBody>
      </p:sp>
      <p:sp>
        <p:nvSpPr>
          <p:cNvPr id="814085" name="Rectangle 5"/>
          <p:cNvSpPr>
            <a:spLocks noChangeArrowheads="1"/>
          </p:cNvSpPr>
          <p:nvPr/>
        </p:nvSpPr>
        <p:spPr bwMode="auto">
          <a:xfrm>
            <a:off x="4952034" y="1485320"/>
            <a:ext cx="6579566" cy="1443985"/>
          </a:xfrm>
          <a:prstGeom prst="rect">
            <a:avLst/>
          </a:prstGeom>
          <a:solidFill>
            <a:schemeClr val="bg1"/>
          </a:solidFill>
          <a:ln w="19050">
            <a:no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eaLnBrk="0" hangingPunct="0">
              <a:tabLst>
                <a:tab pos="1252538" algn="l"/>
                <a:tab pos="2917825" algn="l"/>
              </a:tabLst>
              <a:defRPr/>
            </a:pPr>
            <a:r>
              <a:rPr lang="en-GB" sz="1400" b="1" dirty="0">
                <a:solidFill>
                  <a:srgbClr val="0000FF"/>
                </a:solidFill>
                <a:latin typeface="Lucida Console" pitchFamily="49" charset="0"/>
              </a:rPr>
              <a:t>Float</a:t>
            </a:r>
            <a:r>
              <a:rPr lang="en-GB" sz="1400" dirty="0">
                <a:solidFill>
                  <a:srgbClr val="0000FF"/>
                </a:solidFill>
                <a:latin typeface="Lucida Console" pitchFamily="49" charset="0"/>
              </a:rPr>
              <a:t>	     </a:t>
            </a:r>
            <a:r>
              <a:rPr lang="en-GB" sz="1400" b="1" dirty="0"/>
              <a:t>7</a:t>
            </a:r>
            <a:r>
              <a:rPr lang="en-GB" sz="1400" dirty="0"/>
              <a:t> digits of precision</a:t>
            </a:r>
            <a:endParaRPr lang="en-GB" sz="1400" b="1" dirty="0">
              <a:solidFill>
                <a:srgbClr val="000000"/>
              </a:solidFill>
              <a:latin typeface="Consolas" panose="020B0609020204030204" pitchFamily="49" charset="0"/>
            </a:endParaRPr>
          </a:p>
          <a:p>
            <a:endParaRPr lang="en-GB" sz="1400" dirty="0">
              <a:solidFill>
                <a:srgbClr val="0000FF"/>
              </a:solidFill>
              <a:latin typeface="Lucida Console" pitchFamily="49" charset="0"/>
            </a:endParaRPr>
          </a:p>
          <a:p>
            <a:r>
              <a:rPr lang="en-GB" sz="1400" b="1" dirty="0">
                <a:solidFill>
                  <a:srgbClr val="0000FF"/>
                </a:solidFill>
                <a:latin typeface="Lucida Console" pitchFamily="49" charset="0"/>
              </a:rPr>
              <a:t>double</a:t>
            </a:r>
            <a:r>
              <a:rPr lang="en-GB" sz="1400" dirty="0">
                <a:solidFill>
                  <a:srgbClr val="0000FF"/>
                </a:solidFill>
                <a:latin typeface="Lucida Console" pitchFamily="49" charset="0"/>
              </a:rPr>
              <a:t> 		</a:t>
            </a:r>
            <a:r>
              <a:rPr lang="en-GB" sz="1400" b="1" dirty="0"/>
              <a:t>16</a:t>
            </a:r>
            <a:r>
              <a:rPr lang="en-GB" sz="1400" dirty="0"/>
              <a:t> digits of precision</a:t>
            </a:r>
          </a:p>
          <a:p>
            <a:endParaRPr lang="en-GB" sz="1400" dirty="0">
              <a:solidFill>
                <a:srgbClr val="0000FF"/>
              </a:solidFill>
              <a:latin typeface="Lucida Console" pitchFamily="49" charset="0"/>
            </a:endParaRPr>
          </a:p>
          <a:p>
            <a:r>
              <a:rPr lang="en-GB" sz="1400" b="1" dirty="0">
                <a:solidFill>
                  <a:srgbClr val="0000FF"/>
                </a:solidFill>
                <a:latin typeface="Lucida Console" pitchFamily="49" charset="0"/>
              </a:rPr>
              <a:t>decimal</a:t>
            </a:r>
            <a:r>
              <a:rPr lang="en-GB" sz="1400" dirty="0">
                <a:solidFill>
                  <a:srgbClr val="0000FF"/>
                </a:solidFill>
                <a:latin typeface="Lucida Console" pitchFamily="49" charset="0"/>
              </a:rPr>
              <a:t>		</a:t>
            </a:r>
            <a:r>
              <a:rPr lang="en-GB" sz="1600" b="1" i="0" dirty="0">
                <a:solidFill>
                  <a:srgbClr val="4B4B5A"/>
                </a:solidFill>
                <a:effectLst/>
                <a:latin typeface="Mulish"/>
              </a:rPr>
              <a:t>128-bit</a:t>
            </a:r>
            <a:r>
              <a:rPr lang="en-GB" sz="1600" b="0" i="0" dirty="0">
                <a:solidFill>
                  <a:srgbClr val="4B4B5A"/>
                </a:solidFill>
                <a:effectLst/>
                <a:latin typeface="Mulish"/>
              </a:rPr>
              <a:t> floating-point number with a higher precision</a:t>
            </a:r>
          </a:p>
          <a:p>
            <a:endParaRPr lang="en-GB" sz="1600" b="1" dirty="0"/>
          </a:p>
        </p:txBody>
      </p:sp>
      <p:sp>
        <p:nvSpPr>
          <p:cNvPr id="10" name="Rectangle 6"/>
          <p:cNvSpPr>
            <a:spLocks noChangeArrowheads="1"/>
          </p:cNvSpPr>
          <p:nvPr/>
        </p:nvSpPr>
        <p:spPr bwMode="auto">
          <a:xfrm>
            <a:off x="2274254" y="3617033"/>
            <a:ext cx="6459354" cy="2305759"/>
          </a:xfrm>
          <a:prstGeom prst="rect">
            <a:avLst/>
          </a:prstGeom>
          <a:solidFill>
            <a:schemeClr val="accent5">
              <a:lumMod val="20000"/>
              <a:lumOff val="80000"/>
            </a:schemeClr>
          </a:solidFill>
          <a:ln w="19050">
            <a:noFill/>
            <a:miter lim="800000"/>
            <a:headEnd/>
            <a:tailEnd/>
          </a:ln>
          <a:effectLst>
            <a:outerShdw blurRad="50800" dist="38100" dir="2700000" algn="tl" rotWithShape="0">
              <a:prstClr val="black">
                <a:alpha val="40000"/>
              </a:prstClr>
            </a:outerShdw>
          </a:effectLst>
        </p:spPr>
        <p:txBody>
          <a:bodyPr wrap="square" lIns="90488" tIns="44450" rIns="90488" bIns="44450">
            <a:spAutoFit/>
          </a:bodyPr>
          <a:lstStyle/>
          <a:p>
            <a:pPr defTabSz="739775" eaLnBrk="0" hangingPunct="0">
              <a:tabLst>
                <a:tab pos="1252538" algn="l"/>
                <a:tab pos="2968625" algn="l"/>
              </a:tabLst>
              <a:defRPr/>
            </a:pPr>
            <a:r>
              <a:rPr lang="en-GB" sz="1600" b="1" dirty="0">
                <a:solidFill>
                  <a:srgbClr val="0000FF"/>
                </a:solidFill>
                <a:latin typeface="Lucida Console" pitchFamily="49" charset="0"/>
              </a:rPr>
              <a:t>Char</a:t>
            </a:r>
            <a:r>
              <a:rPr lang="en-GB" sz="1600" dirty="0">
                <a:solidFill>
                  <a:srgbClr val="0000FF"/>
                </a:solidFill>
                <a:latin typeface="Lucida Console" pitchFamily="49" charset="0"/>
              </a:rPr>
              <a:t>     </a:t>
            </a:r>
            <a:r>
              <a:rPr lang="en-GB" sz="1600" b="1" dirty="0">
                <a:solidFill>
                  <a:srgbClr val="000000"/>
                </a:solidFill>
                <a:latin typeface="Lucida Console" pitchFamily="49" charset="0"/>
              </a:rPr>
              <a:t>initial</a:t>
            </a:r>
            <a:r>
              <a:rPr lang="en-GB" sz="1600" dirty="0">
                <a:solidFill>
                  <a:srgbClr val="000000"/>
                </a:solidFill>
                <a:latin typeface="Lucida Console" pitchFamily="49" charset="0"/>
              </a:rPr>
              <a:t>;    </a:t>
            </a:r>
            <a:r>
              <a:rPr lang="en-GB" sz="1600" b="1" dirty="0">
                <a:solidFill>
                  <a:srgbClr val="008000"/>
                </a:solidFill>
                <a:latin typeface="Lucida Console" pitchFamily="49" charset="0"/>
              </a:rPr>
              <a:t>// Unicode character (16 bits)</a:t>
            </a:r>
          </a:p>
          <a:p>
            <a:pPr defTabSz="739775" eaLnBrk="0" hangingPunct="0">
              <a:tabLst>
                <a:tab pos="1252538" algn="l"/>
                <a:tab pos="2968625" algn="l"/>
              </a:tabLst>
              <a:defRPr/>
            </a:pPr>
            <a:endParaRPr lang="en-GB" sz="1600" dirty="0">
              <a:solidFill>
                <a:srgbClr val="0000FF"/>
              </a:solidFill>
              <a:latin typeface="Lucida Console" pitchFamily="49" charset="0"/>
            </a:endParaRPr>
          </a:p>
          <a:p>
            <a:pPr defTabSz="739775" eaLnBrk="0" hangingPunct="0">
              <a:tabLst>
                <a:tab pos="1252538" algn="l"/>
                <a:tab pos="2968625" algn="l"/>
              </a:tabLst>
              <a:defRPr/>
            </a:pPr>
            <a:r>
              <a:rPr lang="en-GB" sz="1600" b="1" dirty="0">
                <a:solidFill>
                  <a:srgbClr val="0000FF"/>
                </a:solidFill>
                <a:latin typeface="Lucida Console" pitchFamily="49" charset="0"/>
              </a:rPr>
              <a:t>bool</a:t>
            </a:r>
            <a:r>
              <a:rPr lang="en-GB" sz="1600" dirty="0">
                <a:solidFill>
                  <a:srgbClr val="0000FF"/>
                </a:solidFill>
                <a:latin typeface="Lucida Console" pitchFamily="49" charset="0"/>
              </a:rPr>
              <a:t>     </a:t>
            </a:r>
            <a:r>
              <a:rPr lang="en-GB" sz="1600" b="1" dirty="0" err="1">
                <a:latin typeface="Lucida Console" pitchFamily="49" charset="0"/>
              </a:rPr>
              <a:t>isActive</a:t>
            </a:r>
            <a:r>
              <a:rPr lang="en-GB" sz="1600" dirty="0">
                <a:latin typeface="Lucida Console" pitchFamily="49" charset="0"/>
              </a:rPr>
              <a:t>;   </a:t>
            </a:r>
            <a:r>
              <a:rPr lang="en-GB" sz="1600" b="1" dirty="0">
                <a:solidFill>
                  <a:srgbClr val="008000"/>
                </a:solidFill>
                <a:latin typeface="Lucida Console" pitchFamily="49" charset="0"/>
              </a:rPr>
              <a:t>// can be set to </a:t>
            </a:r>
            <a:r>
              <a:rPr lang="en-GB" sz="1600" dirty="0">
                <a:solidFill>
                  <a:srgbClr val="0000FF"/>
                </a:solidFill>
                <a:latin typeface="Lucida Console" pitchFamily="49" charset="0"/>
              </a:rPr>
              <a:t>true</a:t>
            </a:r>
            <a:r>
              <a:rPr lang="en-GB" sz="1600" b="1" dirty="0">
                <a:solidFill>
                  <a:srgbClr val="008000"/>
                </a:solidFill>
                <a:latin typeface="Lucida Console" pitchFamily="49" charset="0"/>
              </a:rPr>
              <a:t>/</a:t>
            </a:r>
            <a:r>
              <a:rPr lang="en-GB" sz="1600" dirty="0">
                <a:solidFill>
                  <a:srgbClr val="0000FF"/>
                </a:solidFill>
                <a:latin typeface="Lucida Console" pitchFamily="49" charset="0"/>
              </a:rPr>
              <a:t>false</a:t>
            </a:r>
            <a:endParaRPr lang="en-GB" sz="1600" b="1" dirty="0">
              <a:solidFill>
                <a:srgbClr val="008000"/>
              </a:solidFill>
              <a:latin typeface="Lucida Console" pitchFamily="49" charset="0"/>
            </a:endParaRPr>
          </a:p>
          <a:p>
            <a:pPr defTabSz="739775" eaLnBrk="0" hangingPunct="0">
              <a:tabLst>
                <a:tab pos="1252538" algn="l"/>
                <a:tab pos="2968625" algn="l"/>
              </a:tabLst>
              <a:defRPr/>
            </a:pPr>
            <a:endParaRPr lang="en-GB" sz="1600" dirty="0">
              <a:solidFill>
                <a:srgbClr val="008000"/>
              </a:solidFill>
              <a:latin typeface="Lucida Console" pitchFamily="49" charset="0"/>
            </a:endParaRPr>
          </a:p>
          <a:p>
            <a:pPr defTabSz="739775" eaLnBrk="0" hangingPunct="0">
              <a:tabLst>
                <a:tab pos="1252538" algn="l"/>
                <a:tab pos="2968625" algn="l"/>
              </a:tabLst>
              <a:defRPr/>
            </a:pPr>
            <a:endParaRPr lang="en-GB" sz="1600" dirty="0">
              <a:solidFill>
                <a:srgbClr val="000000"/>
              </a:solidFill>
              <a:latin typeface="Lucida Console" pitchFamily="49" charset="0"/>
            </a:endParaRPr>
          </a:p>
          <a:p>
            <a:pPr defTabSz="739775" eaLnBrk="0" hangingPunct="0">
              <a:tabLst>
                <a:tab pos="1252538" algn="l"/>
                <a:tab pos="2968625" algn="l"/>
              </a:tabLst>
              <a:defRPr/>
            </a:pPr>
            <a:r>
              <a:rPr lang="en-GB" sz="1600" b="1" dirty="0">
                <a:solidFill>
                  <a:srgbClr val="000000"/>
                </a:solidFill>
                <a:latin typeface="Lucida Console" pitchFamily="49" charset="0"/>
              </a:rPr>
              <a:t>initial</a:t>
            </a:r>
            <a:r>
              <a:rPr lang="en-GB" sz="1600" dirty="0">
                <a:solidFill>
                  <a:srgbClr val="000000"/>
                </a:solidFill>
                <a:latin typeface="Lucida Console" pitchFamily="49" charset="0"/>
              </a:rPr>
              <a:t> = </a:t>
            </a:r>
            <a:r>
              <a:rPr lang="en-GB" sz="1600" b="1" dirty="0">
                <a:solidFill>
                  <a:srgbClr val="000000"/>
                </a:solidFill>
                <a:latin typeface="Lucida Console" pitchFamily="49" charset="0"/>
              </a:rPr>
              <a:t>'</a:t>
            </a:r>
            <a:r>
              <a:rPr lang="en-GB" sz="1600" b="1" dirty="0">
                <a:solidFill>
                  <a:srgbClr val="0000FF"/>
                </a:solidFill>
                <a:latin typeface="Lucida Console" pitchFamily="49" charset="0"/>
              </a:rPr>
              <a:t>M</a:t>
            </a:r>
            <a:r>
              <a:rPr lang="en-GB" sz="1600" b="1" dirty="0">
                <a:solidFill>
                  <a:srgbClr val="000000"/>
                </a:solidFill>
                <a:latin typeface="Lucida Console" pitchFamily="49" charset="0"/>
              </a:rPr>
              <a:t>'</a:t>
            </a:r>
            <a:r>
              <a:rPr lang="en-GB" sz="1600" dirty="0">
                <a:solidFill>
                  <a:srgbClr val="000000"/>
                </a:solidFill>
                <a:latin typeface="Lucida Console" pitchFamily="49" charset="0"/>
              </a:rPr>
              <a:t>;</a:t>
            </a:r>
          </a:p>
          <a:p>
            <a:pPr defTabSz="739775" eaLnBrk="0" hangingPunct="0">
              <a:tabLst>
                <a:tab pos="1252538" algn="l"/>
                <a:tab pos="2968625" algn="l"/>
              </a:tabLst>
              <a:defRPr/>
            </a:pPr>
            <a:endParaRPr lang="en-GB" sz="1600" dirty="0">
              <a:solidFill>
                <a:srgbClr val="000000"/>
              </a:solidFill>
              <a:latin typeface="Lucida Console" pitchFamily="49" charset="0"/>
            </a:endParaRPr>
          </a:p>
          <a:p>
            <a:pPr defTabSz="739775" eaLnBrk="0" hangingPunct="0">
              <a:tabLst>
                <a:tab pos="1252538" algn="l"/>
                <a:tab pos="2968625" algn="l"/>
              </a:tabLst>
              <a:defRPr/>
            </a:pPr>
            <a:r>
              <a:rPr lang="en-GB" sz="1600" b="1" dirty="0" err="1">
                <a:latin typeface="Lucida Console" pitchFamily="49" charset="0"/>
              </a:rPr>
              <a:t>isActive</a:t>
            </a:r>
            <a:r>
              <a:rPr lang="en-GB" sz="1600" dirty="0">
                <a:latin typeface="Lucida Console" pitchFamily="49" charset="0"/>
              </a:rPr>
              <a:t> = </a:t>
            </a:r>
            <a:r>
              <a:rPr lang="en-GB" sz="1600" b="1" dirty="0">
                <a:solidFill>
                  <a:srgbClr val="0000FF"/>
                </a:solidFill>
                <a:latin typeface="Lucida Console" pitchFamily="49" charset="0"/>
              </a:rPr>
              <a:t>true</a:t>
            </a:r>
            <a:r>
              <a:rPr lang="en-GB" sz="1600" dirty="0">
                <a:latin typeface="Lucida Console" pitchFamily="49" charset="0"/>
              </a:rPr>
              <a:t>;</a:t>
            </a:r>
          </a:p>
          <a:p>
            <a:pPr defTabSz="739775" eaLnBrk="0" hangingPunct="0">
              <a:tabLst>
                <a:tab pos="1252538" algn="l"/>
                <a:tab pos="2968625" algn="l"/>
              </a:tabLst>
              <a:defRPr/>
            </a:pPr>
            <a:endParaRPr lang="en-GB" sz="1600" dirty="0">
              <a:latin typeface="Lucida Console" pitchFamily="49" charset="0"/>
            </a:endParaRPr>
          </a:p>
        </p:txBody>
      </p:sp>
    </p:spTree>
    <p:extLst>
      <p:ext uri="{BB962C8B-B14F-4D97-AF65-F5344CB8AC3E}">
        <p14:creationId xmlns:p14="http://schemas.microsoft.com/office/powerpoint/2010/main" val="361628543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Standard Mathematical Operators</a:t>
            </a:r>
          </a:p>
        </p:txBody>
      </p:sp>
      <p:grpSp>
        <p:nvGrpSpPr>
          <p:cNvPr id="2" name="Group 4"/>
          <p:cNvGrpSpPr>
            <a:grpSpLocks/>
          </p:cNvGrpSpPr>
          <p:nvPr/>
        </p:nvGrpSpPr>
        <p:grpSpPr bwMode="auto">
          <a:xfrm>
            <a:off x="7578370" y="1537067"/>
            <a:ext cx="2619017" cy="1412651"/>
            <a:chOff x="724" y="964"/>
            <a:chExt cx="2824" cy="1240"/>
          </a:xfrm>
        </p:grpSpPr>
        <p:sp>
          <p:nvSpPr>
            <p:cNvPr id="822277" name="Rectangle 5"/>
            <p:cNvSpPr>
              <a:spLocks noChangeArrowheads="1"/>
            </p:cNvSpPr>
            <p:nvPr/>
          </p:nvSpPr>
          <p:spPr bwMode="auto">
            <a:xfrm>
              <a:off x="724" y="964"/>
              <a:ext cx="2824" cy="124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anchor="ctr"/>
            <a:lstStyle/>
            <a:p>
              <a:pPr eaLnBrk="0" hangingPunct="0">
                <a:spcBef>
                  <a:spcPct val="50000"/>
                </a:spcBef>
                <a:defRPr/>
              </a:pPr>
              <a:endParaRPr lang="en-GB"/>
            </a:p>
          </p:txBody>
        </p:sp>
        <p:sp>
          <p:nvSpPr>
            <p:cNvPr id="13324" name="Rectangle 6"/>
            <p:cNvSpPr>
              <a:spLocks noChangeArrowheads="1"/>
            </p:cNvSpPr>
            <p:nvPr/>
          </p:nvSpPr>
          <p:spPr bwMode="auto">
            <a:xfrm>
              <a:off x="1300" y="964"/>
              <a:ext cx="2248" cy="124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90488" tIns="44450" rIns="90488" bIns="44450"/>
            <a:lstStyle/>
            <a:p>
              <a:pPr defTabSz="739775" eaLnBrk="0" hangingPunct="0"/>
              <a:r>
                <a:rPr lang="en-GB" sz="1600" b="1" dirty="0"/>
                <a:t>addition</a:t>
              </a:r>
            </a:p>
            <a:p>
              <a:pPr defTabSz="739775" eaLnBrk="0" hangingPunct="0"/>
              <a:r>
                <a:rPr lang="en-GB" sz="1600" b="1" dirty="0"/>
                <a:t>subtraction</a:t>
              </a:r>
            </a:p>
            <a:p>
              <a:pPr defTabSz="739775" eaLnBrk="0" hangingPunct="0"/>
              <a:r>
                <a:rPr lang="en-GB" sz="1600" b="1" dirty="0"/>
                <a:t>multiplication</a:t>
              </a:r>
            </a:p>
            <a:p>
              <a:pPr defTabSz="739775" eaLnBrk="0" hangingPunct="0"/>
              <a:r>
                <a:rPr lang="en-GB" sz="1600" b="1" dirty="0"/>
                <a:t>division</a:t>
              </a:r>
            </a:p>
            <a:p>
              <a:pPr defTabSz="739775" eaLnBrk="0" hangingPunct="0"/>
              <a:r>
                <a:rPr lang="en-GB" sz="1600" b="1" dirty="0"/>
                <a:t>modulus division</a:t>
              </a:r>
            </a:p>
          </p:txBody>
        </p:sp>
        <p:sp>
          <p:nvSpPr>
            <p:cNvPr id="13325" name="Rectangle 7"/>
            <p:cNvSpPr>
              <a:spLocks noChangeArrowheads="1"/>
            </p:cNvSpPr>
            <p:nvPr/>
          </p:nvSpPr>
          <p:spPr bwMode="auto">
            <a:xfrm>
              <a:off x="724" y="964"/>
              <a:ext cx="568" cy="1240"/>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none" lIns="90488" tIns="44450" rIns="90488" bIns="44450"/>
            <a:lstStyle/>
            <a:p>
              <a:pPr defTabSz="739775" eaLnBrk="0" hangingPunct="0"/>
              <a:r>
                <a:rPr lang="en-GB" sz="1600" b="1" dirty="0">
                  <a:latin typeface="Courier New" pitchFamily="49" charset="0"/>
                </a:rPr>
                <a:t>+</a:t>
              </a:r>
            </a:p>
            <a:p>
              <a:pPr defTabSz="739775" eaLnBrk="0" hangingPunct="0"/>
              <a:r>
                <a:rPr lang="en-GB" sz="1600" b="1" dirty="0">
                  <a:latin typeface="Courier New" pitchFamily="49" charset="0"/>
                </a:rPr>
                <a:t>-</a:t>
              </a:r>
            </a:p>
            <a:p>
              <a:pPr defTabSz="739775" eaLnBrk="0" hangingPunct="0"/>
              <a:r>
                <a:rPr lang="en-GB" sz="1600" b="1" dirty="0">
                  <a:latin typeface="Courier New" pitchFamily="49" charset="0"/>
                </a:rPr>
                <a:t>*</a:t>
              </a:r>
            </a:p>
            <a:p>
              <a:pPr defTabSz="739775" eaLnBrk="0" hangingPunct="0"/>
              <a:r>
                <a:rPr lang="en-GB" sz="1600" b="1" dirty="0">
                  <a:latin typeface="Courier New" pitchFamily="49" charset="0"/>
                </a:rPr>
                <a:t>/</a:t>
              </a:r>
            </a:p>
            <a:p>
              <a:pPr defTabSz="739775" eaLnBrk="0" hangingPunct="0"/>
              <a:r>
                <a:rPr lang="en-GB" sz="1600" b="1" dirty="0">
                  <a:latin typeface="Courier New" pitchFamily="49" charset="0"/>
                </a:rPr>
                <a:t>%</a:t>
              </a:r>
            </a:p>
          </p:txBody>
        </p:sp>
      </p:grpSp>
      <p:sp>
        <p:nvSpPr>
          <p:cNvPr id="14" name="Rectangle 4"/>
          <p:cNvSpPr>
            <a:spLocks noChangeArrowheads="1"/>
          </p:cNvSpPr>
          <p:nvPr/>
        </p:nvSpPr>
        <p:spPr bwMode="auto">
          <a:xfrm>
            <a:off x="594825" y="1537067"/>
            <a:ext cx="5014081" cy="2305759"/>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sz="1600" dirty="0" err="1">
                <a:solidFill>
                  <a:srgbClr val="0000C8"/>
                </a:solidFill>
                <a:latin typeface="Lucida Console" pitchFamily="49" charset="0"/>
              </a:rPr>
              <a:t>int</a:t>
            </a:r>
            <a:r>
              <a:rPr lang="en-GB" sz="1600" dirty="0">
                <a:solidFill>
                  <a:srgbClr val="0000C8"/>
                </a:solidFill>
                <a:latin typeface="Lucida Console" pitchFamily="49" charset="0"/>
              </a:rPr>
              <a:t> </a:t>
            </a:r>
            <a:r>
              <a:rPr lang="en-GB" sz="1600" dirty="0">
                <a:latin typeface="Lucida Console" pitchFamily="49" charset="0"/>
              </a:rPr>
              <a:t>x = 4;</a:t>
            </a:r>
            <a:br>
              <a:rPr lang="en-GB" sz="1600" dirty="0">
                <a:latin typeface="Lucida Console" pitchFamily="49" charset="0"/>
              </a:rPr>
            </a:br>
            <a:r>
              <a:rPr lang="en-GB" sz="1600" dirty="0">
                <a:latin typeface="Lucida Console" pitchFamily="49" charset="0"/>
              </a:rPr>
              <a:t>x</a:t>
            </a:r>
            <a:r>
              <a:rPr lang="en-GB" sz="1600" dirty="0">
                <a:solidFill>
                  <a:srgbClr val="0000C8"/>
                </a:solidFill>
                <a:latin typeface="Lucida Console" pitchFamily="49" charset="0"/>
              </a:rPr>
              <a:t> </a:t>
            </a:r>
            <a:r>
              <a:rPr lang="en-GB" sz="1600" dirty="0">
                <a:latin typeface="Lucida Console" pitchFamily="49" charset="0"/>
              </a:rPr>
              <a:t>= x + 5;                  </a:t>
            </a:r>
            <a:r>
              <a:rPr lang="en-GB" sz="1600" b="1" dirty="0">
                <a:solidFill>
                  <a:schemeClr val="accent6">
                    <a:lumMod val="50000"/>
                  </a:schemeClr>
                </a:solidFill>
                <a:latin typeface="Lucida Console" pitchFamily="49" charset="0"/>
              </a:rPr>
              <a:t>// x is 9</a:t>
            </a:r>
          </a:p>
          <a:p>
            <a:pPr defTabSz="739775" eaLnBrk="0" hangingPunct="0">
              <a:tabLst>
                <a:tab pos="1336675" algn="l"/>
                <a:tab pos="2286000" algn="l"/>
                <a:tab pos="3429000" algn="l"/>
                <a:tab pos="4572000" algn="l"/>
                <a:tab pos="5715000" algn="l"/>
              </a:tabLst>
              <a:defRPr/>
            </a:pPr>
            <a:endParaRPr lang="en-GB" sz="1600" dirty="0">
              <a:latin typeface="Lucida Console" pitchFamily="49" charset="0"/>
            </a:endParaRPr>
          </a:p>
          <a:p>
            <a:pPr defTabSz="739775" eaLnBrk="0" hangingPunct="0">
              <a:tabLst>
                <a:tab pos="1336675" algn="l"/>
                <a:tab pos="2286000" algn="l"/>
                <a:tab pos="3429000" algn="l"/>
                <a:tab pos="4572000" algn="l"/>
                <a:tab pos="5715000" algn="l"/>
              </a:tabLst>
              <a:defRPr/>
            </a:pPr>
            <a:r>
              <a:rPr lang="en-GB" sz="1600" dirty="0">
                <a:solidFill>
                  <a:srgbClr val="0000C8"/>
                </a:solidFill>
                <a:latin typeface="Lucida Console" pitchFamily="49" charset="0"/>
              </a:rPr>
              <a:t>double</a:t>
            </a:r>
            <a:r>
              <a:rPr lang="en-GB" sz="1600" dirty="0">
                <a:latin typeface="Lucida Console" pitchFamily="49" charset="0"/>
              </a:rPr>
              <a:t> d = 9.0;</a:t>
            </a:r>
          </a:p>
          <a:p>
            <a:pPr defTabSz="739775" eaLnBrk="0" hangingPunct="0">
              <a:tabLst>
                <a:tab pos="1336675" algn="l"/>
                <a:tab pos="2286000" algn="l"/>
                <a:tab pos="3429000" algn="l"/>
                <a:tab pos="4572000" algn="l"/>
                <a:tab pos="5715000" algn="l"/>
              </a:tabLst>
              <a:defRPr/>
            </a:pPr>
            <a:r>
              <a:rPr lang="en-GB" sz="1600" dirty="0">
                <a:latin typeface="Lucida Console" pitchFamily="49" charset="0"/>
              </a:rPr>
              <a:t>d = d / 2;                  	</a:t>
            </a:r>
            <a:r>
              <a:rPr lang="en-GB" sz="1600" b="1" dirty="0">
                <a:solidFill>
                  <a:schemeClr val="accent6">
                    <a:lumMod val="50000"/>
                  </a:schemeClr>
                </a:solidFill>
                <a:latin typeface="Lucida Console" pitchFamily="49" charset="0"/>
              </a:rPr>
              <a:t>// d is 4.5</a:t>
            </a:r>
          </a:p>
          <a:p>
            <a:pPr defTabSz="739775" eaLnBrk="0" hangingPunct="0">
              <a:tabLst>
                <a:tab pos="1336675" algn="l"/>
                <a:tab pos="2286000" algn="l"/>
                <a:tab pos="3429000" algn="l"/>
                <a:tab pos="4572000" algn="l"/>
                <a:tab pos="5715000" algn="l"/>
              </a:tabLst>
              <a:defRPr/>
            </a:pPr>
            <a:endParaRPr lang="en-GB" sz="1600" dirty="0">
              <a:solidFill>
                <a:schemeClr val="accent6">
                  <a:lumMod val="50000"/>
                </a:schemeClr>
              </a:solidFill>
              <a:latin typeface="Lucida Console" pitchFamily="49" charset="0"/>
            </a:endParaRPr>
          </a:p>
          <a:p>
            <a:pPr defTabSz="739775" eaLnBrk="0" hangingPunct="0">
              <a:tabLst>
                <a:tab pos="1336675" algn="l"/>
                <a:tab pos="2286000" algn="l"/>
                <a:tab pos="3429000" algn="l"/>
                <a:tab pos="4572000" algn="l"/>
                <a:tab pos="5715000" algn="l"/>
              </a:tabLst>
              <a:defRPr/>
            </a:pPr>
            <a:br>
              <a:rPr lang="en-GB" sz="1600" dirty="0">
                <a:solidFill>
                  <a:schemeClr val="accent6">
                    <a:lumMod val="50000"/>
                  </a:schemeClr>
                </a:solidFill>
                <a:latin typeface="Lucida Console" pitchFamily="49" charset="0"/>
              </a:rPr>
            </a:br>
            <a:r>
              <a:rPr lang="en-GB" sz="1600" dirty="0">
                <a:solidFill>
                  <a:srgbClr val="0000C8"/>
                </a:solidFill>
                <a:latin typeface="Lucida Console" pitchFamily="49" charset="0"/>
              </a:rPr>
              <a:t>int </a:t>
            </a:r>
            <a:r>
              <a:rPr lang="en-GB" sz="1600" dirty="0">
                <a:latin typeface="Lucida Console" pitchFamily="49" charset="0"/>
              </a:rPr>
              <a:t>y = ( x % 3 ); 	</a:t>
            </a:r>
            <a:r>
              <a:rPr lang="en-GB" sz="1600" b="1" dirty="0">
                <a:solidFill>
                  <a:schemeClr val="accent6">
                    <a:lumMod val="50000"/>
                  </a:schemeClr>
                </a:solidFill>
                <a:latin typeface="Lucida Console" pitchFamily="49" charset="0"/>
              </a:rPr>
              <a:t>// y is  1</a:t>
            </a:r>
            <a:br>
              <a:rPr lang="en-GB" sz="1600" dirty="0">
                <a:solidFill>
                  <a:schemeClr val="accent6">
                    <a:lumMod val="50000"/>
                  </a:schemeClr>
                </a:solidFill>
                <a:latin typeface="Lucida Console" pitchFamily="49" charset="0"/>
              </a:rPr>
            </a:br>
            <a:endParaRPr lang="en-GB" sz="1600" b="1" dirty="0">
              <a:solidFill>
                <a:schemeClr val="accent6">
                  <a:lumMod val="50000"/>
                </a:schemeClr>
              </a:solidFill>
              <a:latin typeface="Lucida Console" pitchFamily="49" charset="0"/>
            </a:endParaRPr>
          </a:p>
        </p:txBody>
      </p:sp>
      <p:sp>
        <p:nvSpPr>
          <p:cNvPr id="10" name="Rectangle 4">
            <a:extLst>
              <a:ext uri="{FF2B5EF4-FFF2-40B4-BE49-F238E27FC236}">
                <a16:creationId xmlns:a16="http://schemas.microsoft.com/office/drawing/2014/main" id="{82C436A2-F13C-4C5A-8939-FB5C1BE76128}"/>
              </a:ext>
            </a:extLst>
          </p:cNvPr>
          <p:cNvSpPr>
            <a:spLocks noChangeArrowheads="1"/>
          </p:cNvSpPr>
          <p:nvPr/>
        </p:nvSpPr>
        <p:spPr bwMode="auto">
          <a:xfrm>
            <a:off x="594824" y="4166856"/>
            <a:ext cx="5014081" cy="1567096"/>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sz="1600" dirty="0">
                <a:solidFill>
                  <a:srgbClr val="0000C8"/>
                </a:solidFill>
                <a:latin typeface="Lucida Console" pitchFamily="49" charset="0"/>
              </a:rPr>
              <a:t>int </a:t>
            </a:r>
            <a:r>
              <a:rPr lang="en-GB" sz="1600" dirty="0">
                <a:latin typeface="Lucida Console" pitchFamily="49" charset="0"/>
              </a:rPr>
              <a:t>x = 9;</a:t>
            </a:r>
            <a:br>
              <a:rPr lang="en-GB" sz="1600" dirty="0">
                <a:latin typeface="Lucida Console" pitchFamily="49" charset="0"/>
              </a:rPr>
            </a:br>
            <a:r>
              <a:rPr lang="en-GB" sz="1600" dirty="0">
                <a:latin typeface="Lucida Console" pitchFamily="49" charset="0"/>
              </a:rPr>
              <a:t>x</a:t>
            </a:r>
            <a:r>
              <a:rPr lang="en-GB" sz="1600" dirty="0">
                <a:solidFill>
                  <a:srgbClr val="0000C8"/>
                </a:solidFill>
                <a:latin typeface="Lucida Console" pitchFamily="49" charset="0"/>
              </a:rPr>
              <a:t> </a:t>
            </a:r>
            <a:r>
              <a:rPr lang="en-GB" sz="1600" dirty="0">
                <a:latin typeface="Lucida Console" pitchFamily="49" charset="0"/>
              </a:rPr>
              <a:t>= x / 2;                  </a:t>
            </a:r>
            <a:r>
              <a:rPr lang="en-GB" sz="1600" b="1" dirty="0">
                <a:solidFill>
                  <a:schemeClr val="accent6">
                    <a:lumMod val="50000"/>
                  </a:schemeClr>
                </a:solidFill>
                <a:latin typeface="Lucida Console" pitchFamily="49" charset="0"/>
              </a:rPr>
              <a:t>// x is 4!</a:t>
            </a:r>
          </a:p>
          <a:p>
            <a:pPr defTabSz="739775" eaLnBrk="0" hangingPunct="0">
              <a:tabLst>
                <a:tab pos="1336675" algn="l"/>
                <a:tab pos="2286000" algn="l"/>
                <a:tab pos="3429000" algn="l"/>
                <a:tab pos="4572000" algn="l"/>
                <a:tab pos="5715000" algn="l"/>
              </a:tabLst>
              <a:defRPr/>
            </a:pPr>
            <a:endParaRPr lang="en-GB" sz="1600" dirty="0">
              <a:solidFill>
                <a:schemeClr val="accent6">
                  <a:lumMod val="50000"/>
                </a:schemeClr>
              </a:solidFill>
              <a:latin typeface="Lucida Console" pitchFamily="49" charset="0"/>
            </a:endParaRPr>
          </a:p>
          <a:p>
            <a:pPr defTabSz="739775" eaLnBrk="0" hangingPunct="0">
              <a:tabLst>
                <a:tab pos="1336675" algn="l"/>
                <a:tab pos="2286000" algn="l"/>
                <a:tab pos="3429000" algn="l"/>
                <a:tab pos="4572000" algn="l"/>
                <a:tab pos="5715000" algn="l"/>
              </a:tabLst>
              <a:defRPr/>
            </a:pPr>
            <a:r>
              <a:rPr lang="en-GB" sz="1600" dirty="0">
                <a:solidFill>
                  <a:srgbClr val="0000C8"/>
                </a:solidFill>
                <a:latin typeface="Lucida Console" pitchFamily="49" charset="0"/>
              </a:rPr>
              <a:t>double</a:t>
            </a:r>
            <a:r>
              <a:rPr lang="en-GB" sz="1600" dirty="0">
                <a:latin typeface="Lucida Console" pitchFamily="49" charset="0"/>
              </a:rPr>
              <a:t> d = 9.0;</a:t>
            </a:r>
          </a:p>
          <a:p>
            <a:pPr defTabSz="739775" eaLnBrk="0" hangingPunct="0">
              <a:tabLst>
                <a:tab pos="1336675" algn="l"/>
                <a:tab pos="2286000" algn="l"/>
                <a:tab pos="3429000" algn="l"/>
                <a:tab pos="4572000" algn="l"/>
                <a:tab pos="5715000" algn="l"/>
              </a:tabLst>
              <a:defRPr/>
            </a:pPr>
            <a:r>
              <a:rPr lang="en-GB" sz="1600" dirty="0">
                <a:latin typeface="Lucida Console" pitchFamily="49" charset="0"/>
              </a:rPr>
              <a:t>d = d / 2;                  	</a:t>
            </a:r>
            <a:r>
              <a:rPr lang="en-GB" sz="1600" b="1" dirty="0">
                <a:solidFill>
                  <a:schemeClr val="accent6">
                    <a:lumMod val="50000"/>
                  </a:schemeClr>
                </a:solidFill>
                <a:latin typeface="Lucida Console" pitchFamily="49" charset="0"/>
              </a:rPr>
              <a:t>// d is 4.5</a:t>
            </a:r>
          </a:p>
          <a:p>
            <a:pPr defTabSz="739775" eaLnBrk="0" hangingPunct="0">
              <a:tabLst>
                <a:tab pos="1336675" algn="l"/>
                <a:tab pos="2286000" algn="l"/>
                <a:tab pos="3429000" algn="l"/>
                <a:tab pos="4572000" algn="l"/>
                <a:tab pos="5715000" algn="l"/>
              </a:tabLst>
              <a:defRPr/>
            </a:pPr>
            <a:endParaRPr lang="en-GB" sz="1600" b="1" dirty="0">
              <a:solidFill>
                <a:schemeClr val="accent6">
                  <a:lumMod val="50000"/>
                </a:schemeClr>
              </a:solidFill>
              <a:latin typeface="Lucida Console" pitchFamily="49" charset="0"/>
            </a:endParaRPr>
          </a:p>
        </p:txBody>
      </p:sp>
    </p:spTree>
    <p:extLst>
      <p:ext uri="{BB962C8B-B14F-4D97-AF65-F5344CB8AC3E}">
        <p14:creationId xmlns:p14="http://schemas.microsoft.com/office/powerpoint/2010/main" val="86342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Compound Operators</a:t>
            </a:r>
          </a:p>
        </p:txBody>
      </p:sp>
      <p:sp>
        <p:nvSpPr>
          <p:cNvPr id="13315" name="Rectangle 3"/>
          <p:cNvSpPr>
            <a:spLocks noGrp="1" noChangeArrowheads="1"/>
          </p:cNvSpPr>
          <p:nvPr>
            <p:ph idx="1"/>
          </p:nvPr>
        </p:nvSpPr>
        <p:spPr>
          <a:xfrm>
            <a:off x="341272" y="1368256"/>
            <a:ext cx="11516239" cy="392148"/>
          </a:xfrm>
        </p:spPr>
        <p:txBody>
          <a:bodyPr vert="horz" lIns="0" tIns="0" rIns="0" bIns="0" rtlCol="0" anchor="t" anchorCtr="0">
            <a:noAutofit/>
          </a:bodyPr>
          <a:lstStyle/>
          <a:p>
            <a:pPr marL="342900" indent="-342900">
              <a:buFont typeface="Arial" panose="020B0604020202020204" pitchFamily="34" charset="0"/>
              <a:buChar char="•"/>
            </a:pPr>
            <a:r>
              <a:rPr lang="en-GB" b="1" dirty="0"/>
              <a:t>Each mathematical operator can be combined with “=“</a:t>
            </a:r>
            <a:br>
              <a:rPr lang="en-GB" b="1" dirty="0"/>
            </a:br>
            <a:endParaRPr lang="en-GB" b="1" dirty="0"/>
          </a:p>
        </p:txBody>
      </p:sp>
      <p:sp>
        <p:nvSpPr>
          <p:cNvPr id="8" name="Rectangle 4"/>
          <p:cNvSpPr>
            <a:spLocks noChangeArrowheads="1"/>
          </p:cNvSpPr>
          <p:nvPr/>
        </p:nvSpPr>
        <p:spPr bwMode="auto">
          <a:xfrm>
            <a:off x="958722" y="2040214"/>
            <a:ext cx="4362308"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dirty="0">
                <a:solidFill>
                  <a:srgbClr val="0000C8"/>
                </a:solidFill>
                <a:latin typeface="Lucida Console" pitchFamily="49" charset="0"/>
              </a:rPr>
              <a:t>int </a:t>
            </a:r>
            <a:r>
              <a:rPr lang="en-GB" dirty="0">
                <a:latin typeface="Lucida Console" pitchFamily="49" charset="0"/>
              </a:rPr>
              <a:t>x = 4, y = 6;</a:t>
            </a:r>
            <a:br>
              <a:rPr lang="en-GB" dirty="0">
                <a:latin typeface="Lucida Console" pitchFamily="49" charset="0"/>
              </a:rPr>
            </a:br>
            <a:r>
              <a:rPr lang="en-GB" dirty="0">
                <a:latin typeface="Lucida Console" pitchFamily="49" charset="0"/>
              </a:rPr>
              <a:t>x</a:t>
            </a:r>
            <a:r>
              <a:rPr lang="en-GB" dirty="0">
                <a:solidFill>
                  <a:srgbClr val="0000C8"/>
                </a:solidFill>
                <a:latin typeface="Lucida Console" pitchFamily="49" charset="0"/>
              </a:rPr>
              <a:t> </a:t>
            </a:r>
            <a:r>
              <a:rPr lang="en-GB" dirty="0">
                <a:latin typeface="Lucida Console" pitchFamily="49" charset="0"/>
              </a:rPr>
              <a:t>= x + y; 	</a:t>
            </a:r>
            <a:r>
              <a:rPr lang="en-GB" dirty="0">
                <a:solidFill>
                  <a:schemeClr val="accent2">
                    <a:lumMod val="75000"/>
                  </a:schemeClr>
                </a:solidFill>
                <a:latin typeface="Lucida Console" pitchFamily="49" charset="0"/>
              </a:rPr>
              <a:t> // x = 10</a:t>
            </a:r>
            <a:endParaRPr lang="en-GB" dirty="0">
              <a:solidFill>
                <a:schemeClr val="accent6">
                  <a:lumMod val="50000"/>
                </a:schemeClr>
              </a:solidFill>
              <a:latin typeface="Lucida Console" pitchFamily="49" charset="0"/>
            </a:endParaRPr>
          </a:p>
        </p:txBody>
      </p:sp>
      <p:sp>
        <p:nvSpPr>
          <p:cNvPr id="9" name="Rectangle 4"/>
          <p:cNvSpPr>
            <a:spLocks noChangeArrowheads="1"/>
          </p:cNvSpPr>
          <p:nvPr/>
        </p:nvSpPr>
        <p:spPr bwMode="auto">
          <a:xfrm>
            <a:off x="958722" y="3041311"/>
            <a:ext cx="4362308" cy="643766"/>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dirty="0">
                <a:solidFill>
                  <a:srgbClr val="0000C8"/>
                </a:solidFill>
                <a:latin typeface="Lucida Console" pitchFamily="49" charset="0"/>
              </a:rPr>
              <a:t>int</a:t>
            </a:r>
            <a:r>
              <a:rPr lang="en-GB" dirty="0">
                <a:solidFill>
                  <a:schemeClr val="accent6">
                    <a:lumMod val="50000"/>
                  </a:schemeClr>
                </a:solidFill>
                <a:latin typeface="Lucida Console" pitchFamily="49" charset="0"/>
              </a:rPr>
              <a:t> </a:t>
            </a:r>
            <a:r>
              <a:rPr lang="en-GB" dirty="0">
                <a:latin typeface="Lucida Console" pitchFamily="49" charset="0"/>
              </a:rPr>
              <a:t>x = 8;</a:t>
            </a:r>
            <a:br>
              <a:rPr lang="en-GB" dirty="0">
                <a:solidFill>
                  <a:schemeClr val="accent6">
                    <a:lumMod val="50000"/>
                  </a:schemeClr>
                </a:solidFill>
                <a:latin typeface="Lucida Console" pitchFamily="49" charset="0"/>
              </a:rPr>
            </a:br>
            <a:r>
              <a:rPr lang="en-GB" dirty="0">
                <a:latin typeface="Lucida Console" pitchFamily="49" charset="0"/>
              </a:rPr>
              <a:t>x *= 2;          </a:t>
            </a:r>
            <a:r>
              <a:rPr lang="en-GB" dirty="0">
                <a:solidFill>
                  <a:schemeClr val="accent2">
                    <a:lumMod val="75000"/>
                  </a:schemeClr>
                </a:solidFill>
                <a:latin typeface="Lucida Console" pitchFamily="49" charset="0"/>
              </a:rPr>
              <a:t>// x = 16</a:t>
            </a:r>
          </a:p>
        </p:txBody>
      </p:sp>
      <p:sp>
        <p:nvSpPr>
          <p:cNvPr id="16" name="Rectangle 4"/>
          <p:cNvSpPr>
            <a:spLocks noChangeArrowheads="1"/>
          </p:cNvSpPr>
          <p:nvPr/>
        </p:nvSpPr>
        <p:spPr bwMode="auto">
          <a:xfrm>
            <a:off x="958722" y="4539869"/>
            <a:ext cx="8510954" cy="119776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dirty="0">
                <a:solidFill>
                  <a:srgbClr val="0000C8"/>
                </a:solidFill>
                <a:latin typeface="Lucida Console" pitchFamily="49" charset="0"/>
              </a:rPr>
              <a:t>int</a:t>
            </a:r>
            <a:r>
              <a:rPr lang="en-GB" dirty="0">
                <a:solidFill>
                  <a:schemeClr val="accent6">
                    <a:lumMod val="50000"/>
                  </a:schemeClr>
                </a:solidFill>
                <a:latin typeface="Lucida Console" pitchFamily="49" charset="0"/>
              </a:rPr>
              <a:t> </a:t>
            </a:r>
            <a:r>
              <a:rPr lang="en-GB" dirty="0">
                <a:latin typeface="Lucida Console" pitchFamily="49" charset="0"/>
              </a:rPr>
              <a:t>x = 8;</a:t>
            </a:r>
          </a:p>
          <a:p>
            <a:pPr defTabSz="739775" eaLnBrk="0" hangingPunct="0">
              <a:tabLst>
                <a:tab pos="1336675" algn="l"/>
                <a:tab pos="2286000" algn="l"/>
                <a:tab pos="3429000" algn="l"/>
                <a:tab pos="4572000" algn="l"/>
                <a:tab pos="5715000" algn="l"/>
              </a:tabLst>
              <a:defRPr/>
            </a:pPr>
            <a:r>
              <a:rPr lang="en-GB" dirty="0" err="1">
                <a:solidFill>
                  <a:srgbClr val="000000"/>
                </a:solidFill>
                <a:latin typeface="Cascadia Mono" panose="020B0609020000020004" pitchFamily="49" charset="0"/>
              </a:rPr>
              <a:t>Console.WriteLine</a:t>
            </a:r>
            <a:r>
              <a:rPr lang="en-GB" dirty="0">
                <a:latin typeface="Lucida Console" pitchFamily="49" charset="0"/>
              </a:rPr>
              <a:t>(</a:t>
            </a:r>
            <a:r>
              <a:rPr lang="en-GB" b="1" dirty="0">
                <a:latin typeface="Lucida Console" pitchFamily="49" charset="0"/>
              </a:rPr>
              <a:t>x % 5</a:t>
            </a:r>
            <a:r>
              <a:rPr lang="en-GB" dirty="0">
                <a:latin typeface="Lucida Console" pitchFamily="49" charset="0"/>
              </a:rPr>
              <a:t>);    </a:t>
            </a:r>
            <a:r>
              <a:rPr lang="en-GB" dirty="0">
                <a:solidFill>
                  <a:schemeClr val="accent2">
                    <a:lumMod val="75000"/>
                  </a:schemeClr>
                </a:solidFill>
                <a:latin typeface="Lucida Console" pitchFamily="49" charset="0"/>
              </a:rPr>
              <a:t>// displays 3 but x = 8</a:t>
            </a:r>
          </a:p>
          <a:p>
            <a:pPr defTabSz="739775" eaLnBrk="0" hangingPunct="0">
              <a:tabLst>
                <a:tab pos="1336675" algn="l"/>
                <a:tab pos="2286000" algn="l"/>
                <a:tab pos="3429000" algn="l"/>
                <a:tab pos="4572000" algn="l"/>
                <a:tab pos="5715000" algn="l"/>
              </a:tabLst>
              <a:defRPr/>
            </a:pPr>
            <a:endParaRPr lang="en-GB" dirty="0">
              <a:latin typeface="Lucida Console" pitchFamily="49" charset="0"/>
            </a:endParaRPr>
          </a:p>
          <a:p>
            <a:pPr defTabSz="739775" eaLnBrk="0" hangingPunct="0">
              <a:tabLst>
                <a:tab pos="1336675" algn="l"/>
                <a:tab pos="2286000" algn="l"/>
                <a:tab pos="3429000" algn="l"/>
                <a:tab pos="4572000" algn="l"/>
                <a:tab pos="5715000" algn="l"/>
              </a:tabLst>
              <a:defRPr/>
            </a:pPr>
            <a:r>
              <a:rPr lang="en-GB" dirty="0">
                <a:latin typeface="Lucida Console" pitchFamily="49" charset="0"/>
              </a:rPr>
              <a:t>x %= 5;                     </a:t>
            </a:r>
            <a:r>
              <a:rPr lang="en-GB" dirty="0">
                <a:solidFill>
                  <a:schemeClr val="accent2">
                    <a:lumMod val="75000"/>
                  </a:schemeClr>
                </a:solidFill>
                <a:latin typeface="Lucida Console" pitchFamily="49" charset="0"/>
              </a:rPr>
              <a:t>// x = 3</a:t>
            </a:r>
          </a:p>
        </p:txBody>
      </p:sp>
      <p:sp>
        <p:nvSpPr>
          <p:cNvPr id="2" name="Rectangle 4">
            <a:extLst>
              <a:ext uri="{FF2B5EF4-FFF2-40B4-BE49-F238E27FC236}">
                <a16:creationId xmlns:a16="http://schemas.microsoft.com/office/drawing/2014/main" id="{72FAF678-751A-C397-80C2-13ECCC8366B3}"/>
              </a:ext>
            </a:extLst>
          </p:cNvPr>
          <p:cNvSpPr>
            <a:spLocks noChangeArrowheads="1"/>
          </p:cNvSpPr>
          <p:nvPr/>
        </p:nvSpPr>
        <p:spPr bwMode="auto">
          <a:xfrm>
            <a:off x="5846323" y="2055603"/>
            <a:ext cx="4075889" cy="612988"/>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nchor="ctr">
            <a:spAutoFit/>
          </a:bodyPr>
          <a:lstStyle/>
          <a:p>
            <a:pPr defTabSz="739775" eaLnBrk="0" hangingPunct="0">
              <a:tabLst>
                <a:tab pos="1336675" algn="l"/>
                <a:tab pos="2286000" algn="l"/>
                <a:tab pos="3429000" algn="l"/>
                <a:tab pos="4572000" algn="l"/>
                <a:tab pos="5715000" algn="l"/>
              </a:tabLst>
              <a:defRPr/>
            </a:pPr>
            <a:r>
              <a:rPr lang="en-GB" sz="1600" b="1" dirty="0">
                <a:solidFill>
                  <a:schemeClr val="accent6">
                    <a:lumMod val="50000"/>
                  </a:schemeClr>
                </a:solidFill>
                <a:latin typeface="Lucida Console" pitchFamily="49" charset="0"/>
              </a:rPr>
              <a:t>// Can be coded as </a:t>
            </a:r>
          </a:p>
          <a:p>
            <a:pPr defTabSz="739775" eaLnBrk="0" hangingPunct="0">
              <a:tabLst>
                <a:tab pos="1336675" algn="l"/>
                <a:tab pos="2286000" algn="l"/>
                <a:tab pos="3429000" algn="l"/>
                <a:tab pos="4572000" algn="l"/>
                <a:tab pos="5715000" algn="l"/>
              </a:tabLst>
              <a:defRPr/>
            </a:pPr>
            <a:r>
              <a:rPr lang="en-GB" dirty="0">
                <a:latin typeface="Lucida Console" pitchFamily="49" charset="0"/>
              </a:rPr>
              <a:t>x</a:t>
            </a:r>
            <a:r>
              <a:rPr lang="en-GB" dirty="0">
                <a:solidFill>
                  <a:srgbClr val="0000C8"/>
                </a:solidFill>
                <a:latin typeface="Lucida Console" pitchFamily="49" charset="0"/>
              </a:rPr>
              <a:t> </a:t>
            </a:r>
            <a:r>
              <a:rPr lang="en-GB" dirty="0">
                <a:latin typeface="Lucida Console" pitchFamily="49" charset="0"/>
              </a:rPr>
              <a:t>+= y;                  </a:t>
            </a:r>
            <a:endParaRPr lang="en-GB" dirty="0">
              <a:solidFill>
                <a:schemeClr val="accent6">
                  <a:lumMod val="50000"/>
                </a:schemeClr>
              </a:solidFill>
              <a:latin typeface="Lucida Console" pitchFamily="49" charset="0"/>
            </a:endParaRPr>
          </a:p>
        </p:txBody>
      </p:sp>
      <p:sp>
        <p:nvSpPr>
          <p:cNvPr id="11" name="Oval 10"/>
          <p:cNvSpPr/>
          <p:nvPr/>
        </p:nvSpPr>
        <p:spPr bwMode="auto">
          <a:xfrm>
            <a:off x="6172678" y="2360485"/>
            <a:ext cx="404446" cy="346234"/>
          </a:xfrm>
          <a:prstGeom prst="ellipse">
            <a:avLst/>
          </a:prstGeom>
          <a:noFill/>
          <a:ln w="19050" cap="flat" cmpd="sng" algn="ctr">
            <a:noFill/>
            <a:prstDash val="solid"/>
            <a:round/>
            <a:headEnd type="none" w="med" len="med"/>
            <a:tailEnd type="none" w="med" len="med"/>
          </a:ln>
          <a:effectLst>
            <a:outerShdw blurRad="50800" dist="38100" algn="l"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50000"/>
              </a:spcBef>
              <a:spcAft>
                <a:spcPct val="0"/>
              </a:spcAft>
            </a:pPr>
            <a:endParaRPr lang="en-GB" sz="1000">
              <a:latin typeface="Arial" charset="0"/>
            </a:endParaRPr>
          </a:p>
        </p:txBody>
      </p:sp>
    </p:spTree>
    <p:extLst>
      <p:ext uri="{BB962C8B-B14F-4D97-AF65-F5344CB8AC3E}">
        <p14:creationId xmlns:p14="http://schemas.microsoft.com/office/powerpoint/2010/main" val="78025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39970" y="562058"/>
            <a:ext cx="11782899" cy="805001"/>
          </a:xfrm>
        </p:spPr>
        <p:txBody>
          <a:bodyPr/>
          <a:lstStyle/>
          <a:p>
            <a:r>
              <a:rPr lang="en-GB" dirty="0"/>
              <a:t>Pre &amp; Post-fix </a:t>
            </a:r>
            <a:r>
              <a:rPr lang="en-GB" sz="2400" dirty="0">
                <a:latin typeface="+mn-lt"/>
              </a:rPr>
              <a:t>++</a:t>
            </a:r>
            <a:r>
              <a:rPr lang="en-GB" dirty="0"/>
              <a:t> and </a:t>
            </a:r>
            <a:r>
              <a:rPr lang="en-GB" sz="2400" dirty="0">
                <a:latin typeface="+mn-lt"/>
              </a:rPr>
              <a:t>--</a:t>
            </a:r>
            <a:r>
              <a:rPr lang="en-GB" dirty="0"/>
              <a:t> Operators</a:t>
            </a:r>
          </a:p>
        </p:txBody>
      </p:sp>
      <p:sp>
        <p:nvSpPr>
          <p:cNvPr id="824324" name="Rectangle 4"/>
          <p:cNvSpPr>
            <a:spLocks noChangeArrowheads="1"/>
          </p:cNvSpPr>
          <p:nvPr/>
        </p:nvSpPr>
        <p:spPr bwMode="auto">
          <a:xfrm>
            <a:off x="1530711" y="2451330"/>
            <a:ext cx="5783889" cy="643766"/>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0;</a:t>
            </a:r>
            <a:br>
              <a:rPr lang="en-GB" dirty="0">
                <a:latin typeface="Lucida Console" pitchFamily="49" charset="0"/>
              </a:rPr>
            </a:br>
            <a:r>
              <a:rPr lang="en-GB" dirty="0">
                <a:solidFill>
                  <a:srgbClr val="0000C8"/>
                </a:solidFill>
                <a:latin typeface="Lucida Console" pitchFamily="49" charset="0"/>
              </a:rPr>
              <a:t>int</a:t>
            </a:r>
            <a:r>
              <a:rPr lang="en-GB" dirty="0">
                <a:solidFill>
                  <a:srgbClr val="000000"/>
                </a:solidFill>
                <a:latin typeface="Lucida Console" pitchFamily="49" charset="0"/>
              </a:rPr>
              <a:t> y</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++x; 	</a:t>
            </a:r>
            <a:r>
              <a:rPr lang="en-GB" b="1" dirty="0">
                <a:solidFill>
                  <a:schemeClr val="accent2">
                    <a:lumMod val="75000"/>
                  </a:schemeClr>
                </a:solidFill>
                <a:latin typeface="Lucida Console" pitchFamily="49" charset="0"/>
              </a:rPr>
              <a:t>// x=1, y=1</a:t>
            </a:r>
          </a:p>
        </p:txBody>
      </p:sp>
      <p:sp>
        <p:nvSpPr>
          <p:cNvPr id="11" name="Rectangle 4"/>
          <p:cNvSpPr>
            <a:spLocks noChangeArrowheads="1"/>
          </p:cNvSpPr>
          <p:nvPr/>
        </p:nvSpPr>
        <p:spPr bwMode="auto">
          <a:xfrm>
            <a:off x="1533051" y="4394558"/>
            <a:ext cx="8440560"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1;</a:t>
            </a:r>
            <a:br>
              <a:rPr lang="en-GB" dirty="0">
                <a:latin typeface="Lucida Console" pitchFamily="49" charset="0"/>
              </a:rPr>
            </a:b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(x++);	</a:t>
            </a:r>
            <a:r>
              <a:rPr lang="en-GB" dirty="0">
                <a:solidFill>
                  <a:schemeClr val="accent2">
                    <a:lumMod val="75000"/>
                  </a:schemeClr>
                </a:solidFill>
                <a:latin typeface="Lucida Console" pitchFamily="49" charset="0"/>
              </a:rPr>
              <a:t>// displays 1 and then x=2</a:t>
            </a:r>
          </a:p>
          <a:p>
            <a:pPr defTabSz="739775" eaLnBrk="0" hangingPunct="0">
              <a:defRPr/>
            </a:pP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(x); 		</a:t>
            </a:r>
            <a:r>
              <a:rPr lang="en-GB" dirty="0">
                <a:solidFill>
                  <a:schemeClr val="accent2">
                    <a:lumMod val="75000"/>
                  </a:schemeClr>
                </a:solidFill>
                <a:latin typeface="Lucida Console" pitchFamily="49" charset="0"/>
              </a:rPr>
              <a:t>// displays 2</a:t>
            </a:r>
          </a:p>
        </p:txBody>
      </p:sp>
      <p:sp>
        <p:nvSpPr>
          <p:cNvPr id="10" name="Rectangle 4"/>
          <p:cNvSpPr>
            <a:spLocks noChangeArrowheads="1"/>
          </p:cNvSpPr>
          <p:nvPr/>
        </p:nvSpPr>
        <p:spPr bwMode="auto">
          <a:xfrm>
            <a:off x="1511856" y="1343946"/>
            <a:ext cx="5783889"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0;</a:t>
            </a:r>
            <a:br>
              <a:rPr lang="en-GB" dirty="0">
                <a:latin typeface="Lucida Console" pitchFamily="49" charset="0"/>
              </a:rPr>
            </a:br>
            <a:r>
              <a:rPr lang="en-GB" dirty="0">
                <a:latin typeface="Lucida Console" pitchFamily="49" charset="0"/>
              </a:rPr>
              <a:t>x++;        	</a:t>
            </a:r>
            <a:r>
              <a:rPr lang="en-GB" b="1" dirty="0">
                <a:solidFill>
                  <a:schemeClr val="accent2">
                    <a:lumMod val="75000"/>
                  </a:schemeClr>
                </a:solidFill>
                <a:latin typeface="Lucida Console" pitchFamily="49" charset="0"/>
              </a:rPr>
              <a:t>// x = 1</a:t>
            </a:r>
            <a:r>
              <a:rPr lang="en-GB" dirty="0">
                <a:solidFill>
                  <a:schemeClr val="accent6">
                    <a:lumMod val="50000"/>
                  </a:schemeClr>
                </a:solidFill>
                <a:latin typeface="Lucida Console" pitchFamily="49" charset="0"/>
              </a:rPr>
              <a:t> </a:t>
            </a:r>
          </a:p>
          <a:p>
            <a:pPr defTabSz="739775" eaLnBrk="0" hangingPunct="0">
              <a:defRPr/>
            </a:pPr>
            <a:r>
              <a:rPr lang="en-GB" dirty="0">
                <a:latin typeface="Lucida Console" pitchFamily="49" charset="0"/>
              </a:rPr>
              <a:t>++x;        	</a:t>
            </a:r>
            <a:r>
              <a:rPr lang="en-GB" b="1" dirty="0">
                <a:solidFill>
                  <a:schemeClr val="accent2">
                    <a:lumMod val="75000"/>
                  </a:schemeClr>
                </a:solidFill>
                <a:latin typeface="Lucida Console" pitchFamily="49" charset="0"/>
              </a:rPr>
              <a:t>// x = 2</a:t>
            </a:r>
          </a:p>
        </p:txBody>
      </p:sp>
      <p:sp>
        <p:nvSpPr>
          <p:cNvPr id="14" name="Rectangle 4"/>
          <p:cNvSpPr>
            <a:spLocks noChangeArrowheads="1"/>
          </p:cNvSpPr>
          <p:nvPr/>
        </p:nvSpPr>
        <p:spPr bwMode="auto">
          <a:xfrm>
            <a:off x="1533051" y="3294125"/>
            <a:ext cx="5783889"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0;</a:t>
            </a:r>
            <a:endParaRPr lang="en-GB" dirty="0">
              <a:solidFill>
                <a:srgbClr val="0000C8"/>
              </a:solidFill>
              <a:latin typeface="Lucida Console" pitchFamily="49" charset="0"/>
            </a:endParaRPr>
          </a:p>
          <a:p>
            <a:pPr defTabSz="739775" eaLnBrk="0" hangingPunct="0">
              <a:defRPr/>
            </a:pPr>
            <a:r>
              <a:rPr lang="en-GB" dirty="0">
                <a:solidFill>
                  <a:srgbClr val="0000C8"/>
                </a:solidFill>
                <a:latin typeface="Lucida Console" pitchFamily="49" charset="0"/>
              </a:rPr>
              <a:t>int </a:t>
            </a:r>
            <a:r>
              <a:rPr lang="en-GB" dirty="0">
                <a:solidFill>
                  <a:srgbClr val="000000"/>
                </a:solidFill>
                <a:latin typeface="Lucida Console" pitchFamily="49" charset="0"/>
              </a:rPr>
              <a:t>y</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x++; 	</a:t>
            </a:r>
            <a:r>
              <a:rPr lang="en-GB" b="1" dirty="0">
                <a:solidFill>
                  <a:schemeClr val="accent2">
                    <a:lumMod val="75000"/>
                  </a:schemeClr>
                </a:solidFill>
                <a:latin typeface="Lucida Console" pitchFamily="49" charset="0"/>
              </a:rPr>
              <a:t>// x=1, y=0</a:t>
            </a:r>
          </a:p>
        </p:txBody>
      </p:sp>
    </p:spTree>
    <p:extLst>
      <p:ext uri="{BB962C8B-B14F-4D97-AF65-F5344CB8AC3E}">
        <p14:creationId xmlns:p14="http://schemas.microsoft.com/office/powerpoint/2010/main" val="36262507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24324"/>
                                        </p:tgtEl>
                                        <p:attrNameLst>
                                          <p:attrName>style.visibility</p:attrName>
                                        </p:attrNameLst>
                                      </p:cBhvr>
                                      <p:to>
                                        <p:strVal val="visible"/>
                                      </p:to>
                                    </p:set>
                                    <p:animEffect transition="in" filter="fade">
                                      <p:cBhvr>
                                        <p:cTn id="7" dur="500"/>
                                        <p:tgtEl>
                                          <p:spTgt spid="8243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4" grpId="0" animBg="1"/>
      <p:bldP spid="11"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97" name="Rectangle 29"/>
          <p:cNvSpPr>
            <a:spLocks noChangeArrowheads="1"/>
          </p:cNvSpPr>
          <p:nvPr/>
        </p:nvSpPr>
        <p:spPr bwMode="auto">
          <a:xfrm>
            <a:off x="1577989" y="1964994"/>
            <a:ext cx="3256060" cy="147476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latin typeface="Lucida Console" pitchFamily="49" charset="0"/>
              </a:rPr>
              <a:t> </a:t>
            </a:r>
            <a:r>
              <a:rPr lang="en-GB" dirty="0" err="1">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4;</a:t>
            </a:r>
            <a:endParaRPr lang="en-GB" dirty="0">
              <a:latin typeface="Lucida Console" pitchFamily="49" charset="0"/>
            </a:endParaRPr>
          </a:p>
          <a:p>
            <a:pPr defTabSz="733425" eaLnBrk="0" hangingPunct="0">
              <a:tabLst>
                <a:tab pos="2571750" algn="l"/>
              </a:tabLst>
              <a:defRPr/>
            </a:pPr>
            <a:endParaRPr lang="en-GB" dirty="0">
              <a:latin typeface="Lucida Console" pitchFamily="49" charset="0"/>
            </a:endParaRPr>
          </a:p>
          <a:p>
            <a:pPr defTabSz="733425" eaLnBrk="0" hangingPunct="0">
              <a:tabLst>
                <a:tab pos="2571750" algn="l"/>
              </a:tabLst>
              <a:defRPr/>
            </a:pPr>
            <a:r>
              <a:rPr lang="en-GB" dirty="0">
                <a:latin typeface="Lucida Console" pitchFamily="49" charset="0"/>
              </a:rPr>
              <a:t> </a:t>
            </a:r>
            <a:r>
              <a:rPr lang="en-GB" dirty="0">
                <a:solidFill>
                  <a:srgbClr val="0000C8"/>
                </a:solidFill>
                <a:latin typeface="Lucida Console" pitchFamily="49" charset="0"/>
              </a:rPr>
              <a:t>long</a:t>
            </a:r>
            <a:r>
              <a:rPr lang="en-GB" dirty="0">
                <a:latin typeface="Lucida Console" pitchFamily="49" charset="0"/>
              </a:rPr>
              <a:t> </a:t>
            </a:r>
            <a:r>
              <a:rPr lang="en-GB" dirty="0">
                <a:solidFill>
                  <a:srgbClr val="000000"/>
                </a:solidFill>
                <a:latin typeface="Lucida Console" pitchFamily="49" charset="0"/>
              </a:rPr>
              <a:t>no = x;</a:t>
            </a:r>
            <a:r>
              <a:rPr lang="en-GB" dirty="0">
                <a:latin typeface="Lucida Console" pitchFamily="49" charset="0"/>
              </a:rPr>
              <a:t>	</a:t>
            </a:r>
            <a:endParaRPr lang="en-GB" dirty="0">
              <a:solidFill>
                <a:srgbClr val="008000"/>
              </a:solidFill>
              <a:latin typeface="Lucida Console" pitchFamily="49" charset="0"/>
            </a:endParaRPr>
          </a:p>
          <a:p>
            <a:pPr defTabSz="733425" eaLnBrk="0" hangingPunct="0">
              <a:tabLst>
                <a:tab pos="2571750" algn="l"/>
              </a:tabLst>
              <a:defRPr/>
            </a:pPr>
            <a:endParaRPr lang="en-GB" dirty="0">
              <a:latin typeface="Lucida Console" pitchFamily="49" charset="0"/>
            </a:endParaRPr>
          </a:p>
          <a:p>
            <a:pPr defTabSz="733425" eaLnBrk="0" hangingPunct="0">
              <a:tabLst>
                <a:tab pos="2571750" algn="l"/>
              </a:tabLst>
              <a:defRPr/>
            </a:pPr>
            <a:r>
              <a:rPr lang="en-GB" dirty="0">
                <a:latin typeface="Lucida Console" pitchFamily="49" charset="0"/>
              </a:rPr>
              <a:t> </a:t>
            </a:r>
            <a:r>
              <a:rPr lang="en-GB" dirty="0">
                <a:solidFill>
                  <a:srgbClr val="0000C8"/>
                </a:solidFill>
                <a:latin typeface="Lucida Console" pitchFamily="49" charset="0"/>
              </a:rPr>
              <a:t>double</a:t>
            </a:r>
            <a:r>
              <a:rPr lang="en-GB" dirty="0">
                <a:latin typeface="Lucida Console" pitchFamily="49" charset="0"/>
              </a:rPr>
              <a:t> </a:t>
            </a:r>
            <a:r>
              <a:rPr lang="en-GB" dirty="0">
                <a:solidFill>
                  <a:srgbClr val="000000"/>
                </a:solidFill>
                <a:latin typeface="Lucida Console" pitchFamily="49" charset="0"/>
              </a:rPr>
              <a:t>d = x;</a:t>
            </a:r>
            <a:endParaRPr lang="en-GB" dirty="0">
              <a:solidFill>
                <a:srgbClr val="008000"/>
              </a:solidFill>
              <a:latin typeface="Lucida Console" pitchFamily="49" charset="0"/>
            </a:endParaRPr>
          </a:p>
        </p:txBody>
      </p:sp>
      <p:sp>
        <p:nvSpPr>
          <p:cNvPr id="15363" name="Rectangle 2"/>
          <p:cNvSpPr>
            <a:spLocks noGrp="1" noChangeArrowheads="1"/>
          </p:cNvSpPr>
          <p:nvPr>
            <p:ph type="title"/>
          </p:nvPr>
        </p:nvSpPr>
        <p:spPr/>
        <p:txBody>
          <a:bodyPr/>
          <a:lstStyle/>
          <a:p>
            <a:r>
              <a:rPr lang="en-GB" dirty="0"/>
              <a:t>Casting – Implicit casting</a:t>
            </a:r>
          </a:p>
        </p:txBody>
      </p:sp>
      <p:sp>
        <p:nvSpPr>
          <p:cNvPr id="14" name="Rectangle 13">
            <a:extLst>
              <a:ext uri="{FF2B5EF4-FFF2-40B4-BE49-F238E27FC236}">
                <a16:creationId xmlns:a16="http://schemas.microsoft.com/office/drawing/2014/main" id="{544C1F6D-96C3-A96B-6C0A-D8AE29C8855E}"/>
              </a:ext>
            </a:extLst>
          </p:cNvPr>
          <p:cNvSpPr/>
          <p:nvPr/>
        </p:nvSpPr>
        <p:spPr>
          <a:xfrm>
            <a:off x="4414806" y="2445592"/>
            <a:ext cx="466794" cy="523220"/>
          </a:xfrm>
          <a:prstGeom prst="rect">
            <a:avLst/>
          </a:prstGeom>
        </p:spPr>
        <p:txBody>
          <a:bodyPr wrap="none">
            <a:spAutoFit/>
          </a:bodyPr>
          <a:lstStyle/>
          <a:p>
            <a:r>
              <a:rPr lang="en-GB" sz="2800" b="1" dirty="0">
                <a:solidFill>
                  <a:srgbClr val="00B050"/>
                </a:solidFill>
                <a:latin typeface="Consolas" panose="020B0609020204030204" pitchFamily="49" charset="0"/>
                <a:sym typeface="Wingdings" panose="05000000000000000000" pitchFamily="2" charset="2"/>
              </a:rPr>
              <a:t></a:t>
            </a:r>
            <a:endParaRPr lang="en-GB" sz="2800" dirty="0">
              <a:solidFill>
                <a:srgbClr val="00B050"/>
              </a:solidFill>
            </a:endParaRPr>
          </a:p>
        </p:txBody>
      </p:sp>
      <p:sp>
        <p:nvSpPr>
          <p:cNvPr id="19" name="TextBox 18">
            <a:extLst>
              <a:ext uri="{FF2B5EF4-FFF2-40B4-BE49-F238E27FC236}">
                <a16:creationId xmlns:a16="http://schemas.microsoft.com/office/drawing/2014/main" id="{4C05B96D-B212-2A5F-1F7C-31837D0231DB}"/>
              </a:ext>
            </a:extLst>
          </p:cNvPr>
          <p:cNvSpPr txBox="1"/>
          <p:nvPr/>
        </p:nvSpPr>
        <p:spPr>
          <a:xfrm>
            <a:off x="1577989" y="3874511"/>
            <a:ext cx="4782181" cy="1323439"/>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gn="l"/>
            <a:r>
              <a:rPr lang="en-GB" dirty="0">
                <a:solidFill>
                  <a:srgbClr val="0000C8"/>
                </a:solidFill>
                <a:latin typeface="Lucida Console" pitchFamily="49" charset="0"/>
              </a:rPr>
              <a:t>char</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c</a:t>
            </a:r>
            <a:r>
              <a:rPr lang="en-GB" sz="2000" b="1" dirty="0">
                <a:solidFill>
                  <a:srgbClr val="000000"/>
                </a:solidFill>
                <a:latin typeface="Consolas" panose="020B0609020204030204" pitchFamily="49" charset="0"/>
              </a:rPr>
              <a:t> = 'A';</a:t>
            </a:r>
          </a:p>
          <a:p>
            <a:pPr algn="l"/>
            <a:endParaRPr lang="en-GB" sz="2000" dirty="0">
              <a:solidFill>
                <a:srgbClr val="000000"/>
              </a:solidFill>
              <a:latin typeface="Consolas" panose="020B0609020204030204" pitchFamily="49" charset="0"/>
            </a:endParaRPr>
          </a:p>
          <a:p>
            <a:pPr algn="l"/>
            <a:r>
              <a:rPr lang="en-GB" sz="2000" dirty="0">
                <a:solidFill>
                  <a:srgbClr val="0000C8"/>
                </a:solidFill>
                <a:latin typeface="Lucida Console" pitchFamily="49" charset="0"/>
              </a:rPr>
              <a:t>int</a:t>
            </a:r>
            <a:r>
              <a:rPr lang="en-GB" sz="2000" dirty="0">
                <a:latin typeface="Lucida Console" pitchFamily="49" charset="0"/>
              </a:rPr>
              <a:t>  x</a:t>
            </a:r>
            <a:r>
              <a:rPr lang="en-GB" sz="2000" dirty="0">
                <a:solidFill>
                  <a:srgbClr val="000000"/>
                </a:solidFill>
                <a:latin typeface="Lucida Console" pitchFamily="49" charset="0"/>
              </a:rPr>
              <a:t> = c</a:t>
            </a:r>
            <a:r>
              <a:rPr lang="en-GB" sz="2000" b="1" dirty="0">
                <a:solidFill>
                  <a:srgbClr val="000000"/>
                </a:solidFill>
                <a:latin typeface="Consolas" panose="020B0609020204030204" pitchFamily="49" charset="0"/>
              </a:rPr>
              <a:t>;</a:t>
            </a:r>
          </a:p>
          <a:p>
            <a:endParaRPr lang="en-GB" sz="2000" dirty="0"/>
          </a:p>
        </p:txBody>
      </p:sp>
      <p:sp>
        <p:nvSpPr>
          <p:cNvPr id="20" name="Rectangle 19">
            <a:extLst>
              <a:ext uri="{FF2B5EF4-FFF2-40B4-BE49-F238E27FC236}">
                <a16:creationId xmlns:a16="http://schemas.microsoft.com/office/drawing/2014/main" id="{1973DB18-92CB-170B-BC75-7C21B0982336}"/>
              </a:ext>
            </a:extLst>
          </p:cNvPr>
          <p:cNvSpPr/>
          <p:nvPr/>
        </p:nvSpPr>
        <p:spPr>
          <a:xfrm>
            <a:off x="5499362" y="3856681"/>
            <a:ext cx="466794" cy="523220"/>
          </a:xfrm>
          <a:prstGeom prst="rect">
            <a:avLst/>
          </a:prstGeom>
        </p:spPr>
        <p:txBody>
          <a:bodyPr wrap="none">
            <a:spAutoFit/>
          </a:bodyPr>
          <a:lstStyle/>
          <a:p>
            <a:r>
              <a:rPr lang="en-GB" sz="2800" b="1" dirty="0">
                <a:solidFill>
                  <a:srgbClr val="00B050"/>
                </a:solidFill>
                <a:latin typeface="Consolas" panose="020B0609020204030204" pitchFamily="49" charset="0"/>
                <a:sym typeface="Wingdings" panose="05000000000000000000" pitchFamily="2" charset="2"/>
              </a:rPr>
              <a:t></a:t>
            </a:r>
            <a:endParaRPr lang="en-GB" sz="2800" dirty="0">
              <a:solidFill>
                <a:srgbClr val="00B050"/>
              </a:solidFill>
            </a:endParaRPr>
          </a:p>
        </p:txBody>
      </p:sp>
      <p:sp>
        <p:nvSpPr>
          <p:cNvPr id="23" name="Speech Bubble: Rectangle with Corners Rounded 22">
            <a:extLst>
              <a:ext uri="{FF2B5EF4-FFF2-40B4-BE49-F238E27FC236}">
                <a16:creationId xmlns:a16="http://schemas.microsoft.com/office/drawing/2014/main" id="{5A2FB8EA-4706-4733-8847-73A286F19845}"/>
              </a:ext>
            </a:extLst>
          </p:cNvPr>
          <p:cNvSpPr/>
          <p:nvPr/>
        </p:nvSpPr>
        <p:spPr>
          <a:xfrm>
            <a:off x="3547316" y="4536230"/>
            <a:ext cx="543739" cy="448843"/>
          </a:xfrm>
          <a:prstGeom prst="wedgeRoundRectCallout">
            <a:avLst>
              <a:gd name="adj1" fmla="val -79664"/>
              <a:gd name="adj2" fmla="val -656"/>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sym typeface="Wingdings" panose="05000000000000000000" pitchFamily="2" charset="2"/>
              </a:rPr>
              <a:t>65</a:t>
            </a:r>
          </a:p>
        </p:txBody>
      </p:sp>
      <p:grpSp>
        <p:nvGrpSpPr>
          <p:cNvPr id="15" name="Group 14">
            <a:extLst>
              <a:ext uri="{FF2B5EF4-FFF2-40B4-BE49-F238E27FC236}">
                <a16:creationId xmlns:a16="http://schemas.microsoft.com/office/drawing/2014/main" id="{D5DB1825-C68F-412C-F410-E417051CB35E}"/>
              </a:ext>
            </a:extLst>
          </p:cNvPr>
          <p:cNvGrpSpPr/>
          <p:nvPr/>
        </p:nvGrpSpPr>
        <p:grpSpPr>
          <a:xfrm>
            <a:off x="6927872" y="930117"/>
            <a:ext cx="4851178" cy="5574272"/>
            <a:chOff x="7006611" y="1097636"/>
            <a:chExt cx="4851178" cy="5574272"/>
          </a:xfrm>
        </p:grpSpPr>
        <p:sp>
          <p:nvSpPr>
            <p:cNvPr id="8" name="TextBox 7">
              <a:extLst>
                <a:ext uri="{FF2B5EF4-FFF2-40B4-BE49-F238E27FC236}">
                  <a16:creationId xmlns:a16="http://schemas.microsoft.com/office/drawing/2014/main" id="{9322C171-A375-30D7-D52D-9B700E8C4681}"/>
                </a:ext>
              </a:extLst>
            </p:cNvPr>
            <p:cNvSpPr txBox="1"/>
            <p:nvPr/>
          </p:nvSpPr>
          <p:spPr>
            <a:xfrm>
              <a:off x="10142272" y="1593595"/>
              <a:ext cx="1666654" cy="4339650"/>
            </a:xfrm>
            <a:prstGeom prst="rect">
              <a:avLst/>
            </a:prstGeom>
            <a:solidFill>
              <a:schemeClr val="bg1">
                <a:lumMod val="95000"/>
              </a:schemeClr>
            </a:solidFill>
            <a:effectLst>
              <a:outerShdw blurRad="50800" dist="38100" algn="l" rotWithShape="0">
                <a:prstClr val="black">
                  <a:alpha val="40000"/>
                </a:prstClr>
              </a:outerShdw>
            </a:effectLst>
          </p:spPr>
          <p:txBody>
            <a:bodyPr wrap="square">
              <a:spAutoFit/>
            </a:bodyPr>
            <a:lstStyle/>
            <a:p>
              <a:r>
                <a:rPr lang="en-GB" sz="1200" b="1" dirty="0"/>
                <a:t>Dec	Char</a:t>
              </a:r>
            </a:p>
            <a:p>
              <a:r>
                <a:rPr lang="en-GB" sz="1200" dirty="0"/>
                <a:t>97	a</a:t>
              </a:r>
            </a:p>
            <a:p>
              <a:r>
                <a:rPr lang="en-GB" sz="1200" dirty="0"/>
                <a:t>98	b</a:t>
              </a:r>
            </a:p>
            <a:p>
              <a:r>
                <a:rPr lang="en-GB" sz="1200" dirty="0"/>
                <a:t>99	c</a:t>
              </a:r>
            </a:p>
            <a:p>
              <a:r>
                <a:rPr lang="en-GB" sz="1200" dirty="0"/>
                <a:t>100	d</a:t>
              </a:r>
            </a:p>
            <a:p>
              <a:r>
                <a:rPr lang="en-GB" sz="1200" dirty="0"/>
                <a:t>101	e</a:t>
              </a:r>
            </a:p>
            <a:p>
              <a:r>
                <a:rPr lang="en-GB" sz="1200" dirty="0"/>
                <a:t>102	f</a:t>
              </a:r>
            </a:p>
            <a:p>
              <a:r>
                <a:rPr lang="en-GB" sz="1200" dirty="0"/>
                <a:t>103	g</a:t>
              </a:r>
            </a:p>
            <a:p>
              <a:r>
                <a:rPr lang="en-GB" sz="1200" dirty="0"/>
                <a:t>104	h</a:t>
              </a:r>
            </a:p>
            <a:p>
              <a:r>
                <a:rPr lang="en-GB" sz="1200" dirty="0"/>
                <a:t>105	</a:t>
              </a:r>
              <a:r>
                <a:rPr lang="en-GB" sz="1200" dirty="0" err="1"/>
                <a:t>i</a:t>
              </a:r>
              <a:endParaRPr lang="en-GB" sz="1200" dirty="0"/>
            </a:p>
            <a:p>
              <a:pPr marL="228600" indent="-228600">
                <a:buAutoNum type="arabicPlain" startAt="106"/>
              </a:pPr>
              <a:r>
                <a:rPr lang="en-GB" sz="1200" dirty="0"/>
                <a:t> 	J</a:t>
              </a:r>
            </a:p>
            <a:p>
              <a:r>
                <a:rPr lang="en-GB" sz="1200" dirty="0"/>
                <a:t>114	r</a:t>
              </a:r>
            </a:p>
            <a:p>
              <a:r>
                <a:rPr lang="en-GB" sz="1200" dirty="0"/>
                <a:t>113	q</a:t>
              </a:r>
            </a:p>
            <a:p>
              <a:r>
                <a:rPr lang="en-GB" sz="1200" dirty="0"/>
                <a:t>112	p</a:t>
              </a:r>
            </a:p>
            <a:p>
              <a:r>
                <a:rPr lang="en-GB" sz="1200" dirty="0"/>
                <a:t>111	o</a:t>
              </a:r>
            </a:p>
            <a:p>
              <a:r>
                <a:rPr lang="en-GB" sz="1200" dirty="0"/>
                <a:t>115	s</a:t>
              </a:r>
            </a:p>
            <a:p>
              <a:r>
                <a:rPr lang="en-GB" sz="1200" dirty="0"/>
                <a:t>116	t</a:t>
              </a:r>
            </a:p>
            <a:p>
              <a:r>
                <a:rPr lang="en-GB" sz="1200" dirty="0"/>
                <a:t>117	u</a:t>
              </a:r>
            </a:p>
            <a:p>
              <a:r>
                <a:rPr lang="en-GB" sz="1200" dirty="0"/>
                <a:t>118	v</a:t>
              </a:r>
            </a:p>
            <a:p>
              <a:r>
                <a:rPr lang="en-GB" sz="1200" dirty="0"/>
                <a:t>119	w</a:t>
              </a:r>
            </a:p>
            <a:p>
              <a:r>
                <a:rPr lang="en-GB" sz="1200" dirty="0"/>
                <a:t>120	x</a:t>
              </a:r>
            </a:p>
            <a:p>
              <a:r>
                <a:rPr lang="en-GB" sz="1200" dirty="0"/>
                <a:t>121	y</a:t>
              </a:r>
            </a:p>
            <a:p>
              <a:r>
                <a:rPr lang="en-GB" sz="1200" dirty="0"/>
                <a:t>122	z</a:t>
              </a:r>
            </a:p>
          </p:txBody>
        </p:sp>
        <p:sp>
          <p:nvSpPr>
            <p:cNvPr id="9" name="TextBox 8">
              <a:extLst>
                <a:ext uri="{FF2B5EF4-FFF2-40B4-BE49-F238E27FC236}">
                  <a16:creationId xmlns:a16="http://schemas.microsoft.com/office/drawing/2014/main" id="{E9139C67-9C7D-60C6-927D-B9FED984072D}"/>
                </a:ext>
              </a:extLst>
            </p:cNvPr>
            <p:cNvSpPr txBox="1"/>
            <p:nvPr/>
          </p:nvSpPr>
          <p:spPr>
            <a:xfrm>
              <a:off x="7006611" y="1593595"/>
              <a:ext cx="1501989" cy="2123658"/>
            </a:xfrm>
            <a:prstGeom prst="rect">
              <a:avLst/>
            </a:prstGeom>
            <a:solidFill>
              <a:schemeClr val="bg1">
                <a:lumMod val="95000"/>
              </a:schemeClr>
            </a:solidFill>
            <a:effectLst>
              <a:outerShdw blurRad="50800" dist="38100" algn="l" rotWithShape="0">
                <a:prstClr val="black">
                  <a:alpha val="40000"/>
                </a:prstClr>
              </a:outerShdw>
            </a:effectLst>
          </p:spPr>
          <p:txBody>
            <a:bodyPr wrap="square">
              <a:spAutoFit/>
            </a:bodyPr>
            <a:lstStyle/>
            <a:p>
              <a:r>
                <a:rPr lang="en-GB" sz="1200" b="1" dirty="0"/>
                <a:t>Dec	Char</a:t>
              </a:r>
            </a:p>
            <a:p>
              <a:r>
                <a:rPr lang="en-GB" sz="1200" dirty="0"/>
                <a:t>48	0</a:t>
              </a:r>
            </a:p>
            <a:p>
              <a:r>
                <a:rPr lang="en-GB" sz="1200" dirty="0"/>
                <a:t>49	1</a:t>
              </a:r>
            </a:p>
            <a:p>
              <a:r>
                <a:rPr lang="en-GB" sz="1200" dirty="0"/>
                <a:t>50	2</a:t>
              </a:r>
            </a:p>
            <a:p>
              <a:r>
                <a:rPr lang="en-GB" sz="1200" dirty="0"/>
                <a:t>51	3</a:t>
              </a:r>
            </a:p>
            <a:p>
              <a:r>
                <a:rPr lang="en-GB" sz="1200" dirty="0"/>
                <a:t>52	4</a:t>
              </a:r>
            </a:p>
            <a:p>
              <a:r>
                <a:rPr lang="en-GB" sz="1200" dirty="0"/>
                <a:t>53	5</a:t>
              </a:r>
            </a:p>
            <a:p>
              <a:r>
                <a:rPr lang="en-GB" sz="1200" dirty="0"/>
                <a:t>54	6</a:t>
              </a:r>
            </a:p>
            <a:p>
              <a:r>
                <a:rPr lang="en-GB" sz="1200" dirty="0"/>
                <a:t>55	7</a:t>
              </a:r>
            </a:p>
            <a:p>
              <a:r>
                <a:rPr lang="en-GB" sz="1200" dirty="0"/>
                <a:t>56	8</a:t>
              </a:r>
            </a:p>
            <a:p>
              <a:r>
                <a:rPr lang="en-GB" sz="1200" dirty="0"/>
                <a:t>57	9</a:t>
              </a:r>
            </a:p>
          </p:txBody>
        </p:sp>
        <p:sp>
          <p:nvSpPr>
            <p:cNvPr id="12" name="TextBox 11">
              <a:extLst>
                <a:ext uri="{FF2B5EF4-FFF2-40B4-BE49-F238E27FC236}">
                  <a16:creationId xmlns:a16="http://schemas.microsoft.com/office/drawing/2014/main" id="{4E73F9DC-946B-AC64-83A6-1707B32977AC}"/>
                </a:ext>
              </a:extLst>
            </p:cNvPr>
            <p:cNvSpPr txBox="1"/>
            <p:nvPr/>
          </p:nvSpPr>
          <p:spPr>
            <a:xfrm>
              <a:off x="8552230" y="1593595"/>
              <a:ext cx="1501990" cy="5078313"/>
            </a:xfrm>
            <a:prstGeom prst="rect">
              <a:avLst/>
            </a:prstGeom>
            <a:solidFill>
              <a:schemeClr val="bg1">
                <a:lumMod val="95000"/>
              </a:schemeClr>
            </a:solidFill>
            <a:effectLst>
              <a:outerShdw blurRad="50800" dist="38100" algn="l" rotWithShape="0">
                <a:prstClr val="black">
                  <a:alpha val="40000"/>
                </a:prstClr>
              </a:outerShdw>
            </a:effectLst>
          </p:spPr>
          <p:txBody>
            <a:bodyPr wrap="square">
              <a:spAutoFit/>
            </a:bodyPr>
            <a:lstStyle>
              <a:defPPr>
                <a:defRPr lang="en-US"/>
              </a:defPPr>
              <a:lvl1pPr>
                <a:defRPr sz="1200" b="1"/>
              </a:lvl1pPr>
            </a:lstStyle>
            <a:p>
              <a:r>
                <a:rPr lang="en-GB" dirty="0"/>
                <a:t>Dec 	Char</a:t>
              </a:r>
            </a:p>
            <a:p>
              <a:r>
                <a:rPr lang="en-GB" b="0" dirty="0"/>
                <a:t>65	A</a:t>
              </a:r>
            </a:p>
            <a:p>
              <a:r>
                <a:rPr lang="en-GB" b="0" dirty="0"/>
                <a:t>66	B</a:t>
              </a:r>
            </a:p>
            <a:p>
              <a:r>
                <a:rPr lang="en-GB" b="0" dirty="0"/>
                <a:t>67	C</a:t>
              </a:r>
            </a:p>
            <a:p>
              <a:r>
                <a:rPr lang="en-GB" b="0" dirty="0"/>
                <a:t>68	D</a:t>
              </a:r>
            </a:p>
            <a:p>
              <a:r>
                <a:rPr lang="en-GB" b="0" dirty="0"/>
                <a:t>69	E</a:t>
              </a:r>
            </a:p>
            <a:p>
              <a:r>
                <a:rPr lang="en-GB" b="0" dirty="0"/>
                <a:t>70	F</a:t>
              </a:r>
            </a:p>
            <a:p>
              <a:r>
                <a:rPr lang="en-GB" b="0" dirty="0"/>
                <a:t>71	G</a:t>
              </a:r>
            </a:p>
            <a:p>
              <a:r>
                <a:rPr lang="en-GB" b="0" dirty="0"/>
                <a:t>72	H</a:t>
              </a:r>
            </a:p>
            <a:p>
              <a:r>
                <a:rPr lang="en-GB" b="0" dirty="0"/>
                <a:t>73	I</a:t>
              </a:r>
            </a:p>
            <a:p>
              <a:r>
                <a:rPr lang="en-GB" b="0" dirty="0"/>
                <a:t>74	J</a:t>
              </a:r>
            </a:p>
            <a:p>
              <a:r>
                <a:rPr lang="en-GB" b="0" dirty="0"/>
                <a:t>75	K</a:t>
              </a:r>
            </a:p>
            <a:p>
              <a:r>
                <a:rPr lang="en-GB" b="0" dirty="0"/>
                <a:t>76	L</a:t>
              </a:r>
            </a:p>
            <a:p>
              <a:r>
                <a:rPr lang="en-GB" b="0" dirty="0"/>
                <a:t>77	M</a:t>
              </a:r>
            </a:p>
            <a:p>
              <a:r>
                <a:rPr lang="en-GB" b="0" dirty="0"/>
                <a:t>78	N</a:t>
              </a:r>
            </a:p>
            <a:p>
              <a:r>
                <a:rPr lang="en-GB" b="0" dirty="0"/>
                <a:t>79	O</a:t>
              </a:r>
            </a:p>
            <a:p>
              <a:r>
                <a:rPr lang="en-GB" b="0" dirty="0"/>
                <a:t>80	P</a:t>
              </a:r>
            </a:p>
            <a:p>
              <a:r>
                <a:rPr lang="en-GB" b="0" dirty="0"/>
                <a:t>81	Q</a:t>
              </a:r>
            </a:p>
            <a:p>
              <a:r>
                <a:rPr lang="en-GB" b="0" dirty="0"/>
                <a:t>82	R</a:t>
              </a:r>
            </a:p>
            <a:p>
              <a:r>
                <a:rPr lang="en-GB" b="0" dirty="0"/>
                <a:t>83	S</a:t>
              </a:r>
            </a:p>
            <a:p>
              <a:r>
                <a:rPr lang="en-GB" b="0" dirty="0"/>
                <a:t>84	T</a:t>
              </a:r>
            </a:p>
            <a:p>
              <a:r>
                <a:rPr lang="en-GB" b="0" dirty="0"/>
                <a:t>85	U</a:t>
              </a:r>
            </a:p>
            <a:p>
              <a:r>
                <a:rPr lang="en-GB" b="0" dirty="0"/>
                <a:t>86	V</a:t>
              </a:r>
            </a:p>
            <a:p>
              <a:r>
                <a:rPr lang="en-GB" b="0" dirty="0"/>
                <a:t>87	W</a:t>
              </a:r>
            </a:p>
            <a:p>
              <a:r>
                <a:rPr lang="en-GB" b="0" dirty="0"/>
                <a:t>88	X</a:t>
              </a:r>
            </a:p>
            <a:p>
              <a:r>
                <a:rPr lang="en-GB" b="0" dirty="0"/>
                <a:t>89	Y</a:t>
              </a:r>
            </a:p>
            <a:p>
              <a:r>
                <a:rPr lang="en-GB" b="0" dirty="0"/>
                <a:t>90	Z</a:t>
              </a:r>
            </a:p>
          </p:txBody>
        </p:sp>
        <p:sp>
          <p:nvSpPr>
            <p:cNvPr id="13" name="Rectangle: Rounded Corners 12">
              <a:extLst>
                <a:ext uri="{FF2B5EF4-FFF2-40B4-BE49-F238E27FC236}">
                  <a16:creationId xmlns:a16="http://schemas.microsoft.com/office/drawing/2014/main" id="{FFA29F11-9AE1-C309-B649-67105980F523}"/>
                </a:ext>
              </a:extLst>
            </p:cNvPr>
            <p:cNvSpPr/>
            <p:nvPr/>
          </p:nvSpPr>
          <p:spPr>
            <a:xfrm>
              <a:off x="7006611" y="1097636"/>
              <a:ext cx="4851178" cy="352342"/>
            </a:xfrm>
            <a:prstGeom prst="roundRect">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ASCII codes</a:t>
              </a:r>
            </a:p>
          </p:txBody>
        </p:sp>
      </p:grpSp>
    </p:spTree>
    <p:extLst>
      <p:ext uri="{BB962C8B-B14F-4D97-AF65-F5344CB8AC3E}">
        <p14:creationId xmlns:p14="http://schemas.microsoft.com/office/powerpoint/2010/main" val="14130003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GB" dirty="0"/>
              <a:t>Casting - </a:t>
            </a:r>
            <a:r>
              <a:rPr lang="en-GB" sz="3200" dirty="0"/>
              <a:t>You can explicitly cast any numeric type to another type </a:t>
            </a:r>
            <a:endParaRPr lang="en-GB" dirty="0"/>
          </a:p>
        </p:txBody>
      </p:sp>
      <p:sp>
        <p:nvSpPr>
          <p:cNvPr id="21" name="Rectangle 29"/>
          <p:cNvSpPr>
            <a:spLocks noChangeArrowheads="1"/>
          </p:cNvSpPr>
          <p:nvPr/>
        </p:nvSpPr>
        <p:spPr bwMode="auto">
          <a:xfrm>
            <a:off x="1246454" y="1922119"/>
            <a:ext cx="3237398"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double</a:t>
            </a:r>
            <a:r>
              <a:rPr lang="en-GB" dirty="0">
                <a:latin typeface="Lucida Console" pitchFamily="49" charset="0"/>
              </a:rPr>
              <a:t> </a:t>
            </a:r>
            <a:r>
              <a:rPr lang="en-GB" dirty="0">
                <a:solidFill>
                  <a:srgbClr val="000000"/>
                </a:solidFill>
                <a:latin typeface="Lucida Console" pitchFamily="49" charset="0"/>
              </a:rPr>
              <a:t>d = 4.5;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d;</a:t>
            </a:r>
            <a:endParaRPr lang="en-GB" dirty="0">
              <a:latin typeface="Lucida Console" pitchFamily="49" charset="0"/>
            </a:endParaRPr>
          </a:p>
        </p:txBody>
      </p:sp>
      <p:sp>
        <p:nvSpPr>
          <p:cNvPr id="24" name="Rectangle 29"/>
          <p:cNvSpPr>
            <a:spLocks noChangeArrowheads="1"/>
          </p:cNvSpPr>
          <p:nvPr/>
        </p:nvSpPr>
        <p:spPr bwMode="auto">
          <a:xfrm>
            <a:off x="1246454" y="2934591"/>
            <a:ext cx="3212391"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long</a:t>
            </a:r>
            <a:r>
              <a:rPr lang="en-GB" dirty="0">
                <a:latin typeface="Lucida Console" pitchFamily="49" charset="0"/>
              </a:rPr>
              <a:t> </a:t>
            </a:r>
            <a:r>
              <a:rPr lang="en-GB" dirty="0" err="1">
                <a:solidFill>
                  <a:srgbClr val="000000"/>
                </a:solidFill>
                <a:latin typeface="Lucida Console" pitchFamily="49" charset="0"/>
              </a:rPr>
              <a:t>lng</a:t>
            </a:r>
            <a:r>
              <a:rPr lang="en-GB" dirty="0">
                <a:solidFill>
                  <a:srgbClr val="000000"/>
                </a:solidFill>
                <a:latin typeface="Lucida Console" pitchFamily="49" charset="0"/>
              </a:rPr>
              <a:t> = 5;</a:t>
            </a:r>
          </a:p>
          <a:p>
            <a:pPr defTabSz="733425" eaLnBrk="0" hangingPunct="0">
              <a:tabLst>
                <a:tab pos="2571750" algn="l"/>
              </a:tabLst>
              <a:defRPr/>
            </a:pPr>
            <a:r>
              <a:rPr lang="en-GB" dirty="0">
                <a:solidFill>
                  <a:srgbClr val="000000"/>
                </a:solidFill>
                <a:latin typeface="Lucida Console" pitchFamily="49" charset="0"/>
              </a:rPr>
              <a:t> </a:t>
            </a:r>
            <a:r>
              <a:rPr lang="en-GB" dirty="0" err="1">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err="1">
                <a:solidFill>
                  <a:srgbClr val="000000"/>
                </a:solidFill>
                <a:latin typeface="Lucida Console" pitchFamily="49" charset="0"/>
              </a:rPr>
              <a:t>lng</a:t>
            </a:r>
            <a:r>
              <a:rPr lang="en-GB" dirty="0">
                <a:solidFill>
                  <a:srgbClr val="000000"/>
                </a:solidFill>
                <a:latin typeface="Lucida Console" pitchFamily="49" charset="0"/>
              </a:rPr>
              <a:t>;</a:t>
            </a:r>
            <a:endParaRPr lang="en-GB" dirty="0">
              <a:latin typeface="Lucida Console" pitchFamily="49" charset="0"/>
            </a:endParaRPr>
          </a:p>
        </p:txBody>
      </p:sp>
      <p:sp>
        <p:nvSpPr>
          <p:cNvPr id="8" name="Rectangle 7">
            <a:extLst>
              <a:ext uri="{FF2B5EF4-FFF2-40B4-BE49-F238E27FC236}">
                <a16:creationId xmlns:a16="http://schemas.microsoft.com/office/drawing/2014/main" id="{EB8BFC0F-A83B-93AE-F6C5-36542A01A25A}"/>
              </a:ext>
            </a:extLst>
          </p:cNvPr>
          <p:cNvSpPr/>
          <p:nvPr/>
        </p:nvSpPr>
        <p:spPr>
          <a:xfrm>
            <a:off x="3915106" y="2703233"/>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10" name="Rectangle 9">
            <a:extLst>
              <a:ext uri="{FF2B5EF4-FFF2-40B4-BE49-F238E27FC236}">
                <a16:creationId xmlns:a16="http://schemas.microsoft.com/office/drawing/2014/main" id="{065A6857-F456-E939-C9D5-D7957A77BD3D}"/>
              </a:ext>
            </a:extLst>
          </p:cNvPr>
          <p:cNvSpPr/>
          <p:nvPr/>
        </p:nvSpPr>
        <p:spPr>
          <a:xfrm>
            <a:off x="3941772" y="1824199"/>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4" name="Rectangle 29">
            <a:extLst>
              <a:ext uri="{FF2B5EF4-FFF2-40B4-BE49-F238E27FC236}">
                <a16:creationId xmlns:a16="http://schemas.microsoft.com/office/drawing/2014/main" id="{1939CF5D-B670-3FBF-B98C-97DB7F932CD5}"/>
              </a:ext>
            </a:extLst>
          </p:cNvPr>
          <p:cNvSpPr>
            <a:spLocks noChangeArrowheads="1"/>
          </p:cNvSpPr>
          <p:nvPr/>
        </p:nvSpPr>
        <p:spPr bwMode="auto">
          <a:xfrm>
            <a:off x="1246454" y="3999223"/>
            <a:ext cx="3212391" cy="366767"/>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float</a:t>
            </a:r>
            <a:r>
              <a:rPr lang="en-GB" dirty="0">
                <a:latin typeface="Lucida Console" pitchFamily="49" charset="0"/>
              </a:rPr>
              <a:t> </a:t>
            </a:r>
            <a:r>
              <a:rPr lang="en-GB" dirty="0">
                <a:solidFill>
                  <a:srgbClr val="000000"/>
                </a:solidFill>
                <a:latin typeface="Lucida Console" pitchFamily="49" charset="0"/>
              </a:rPr>
              <a:t>f = 4.5;</a:t>
            </a:r>
          </a:p>
        </p:txBody>
      </p:sp>
      <p:sp>
        <p:nvSpPr>
          <p:cNvPr id="5" name="Rectangle 4">
            <a:extLst>
              <a:ext uri="{FF2B5EF4-FFF2-40B4-BE49-F238E27FC236}">
                <a16:creationId xmlns:a16="http://schemas.microsoft.com/office/drawing/2014/main" id="{7B5F2DB8-AB5A-C568-5180-7A4D57ED21BA}"/>
              </a:ext>
            </a:extLst>
          </p:cNvPr>
          <p:cNvSpPr/>
          <p:nvPr/>
        </p:nvSpPr>
        <p:spPr>
          <a:xfrm>
            <a:off x="3945019" y="3797538"/>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9" name="TextBox 8">
            <a:extLst>
              <a:ext uri="{FF2B5EF4-FFF2-40B4-BE49-F238E27FC236}">
                <a16:creationId xmlns:a16="http://schemas.microsoft.com/office/drawing/2014/main" id="{F4DA6BA7-D4E1-9D4A-6ED0-326594801BA2}"/>
              </a:ext>
            </a:extLst>
          </p:cNvPr>
          <p:cNvSpPr txBox="1"/>
          <p:nvPr/>
        </p:nvSpPr>
        <p:spPr>
          <a:xfrm>
            <a:off x="1246453" y="5153787"/>
            <a:ext cx="3212391" cy="400110"/>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2000" dirty="0">
                <a:solidFill>
                  <a:srgbClr val="0000C8"/>
                </a:solidFill>
                <a:latin typeface="Lucida Console" pitchFamily="49" charset="0"/>
              </a:rPr>
              <a:t>bool</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b</a:t>
            </a:r>
            <a:r>
              <a:rPr lang="en-GB" sz="2000" b="1" dirty="0">
                <a:solidFill>
                  <a:srgbClr val="000000"/>
                </a:solidFill>
                <a:latin typeface="Consolas" panose="020B0609020204030204" pitchFamily="49" charset="0"/>
              </a:rPr>
              <a:t> = 1;</a:t>
            </a:r>
            <a:endParaRPr lang="en-GB" sz="2000" dirty="0"/>
          </a:p>
        </p:txBody>
      </p:sp>
      <p:sp>
        <p:nvSpPr>
          <p:cNvPr id="11" name="Rectangle 10">
            <a:extLst>
              <a:ext uri="{FF2B5EF4-FFF2-40B4-BE49-F238E27FC236}">
                <a16:creationId xmlns:a16="http://schemas.microsoft.com/office/drawing/2014/main" id="{B655BF0F-6A03-3232-1A03-81F684ACD6CD}"/>
              </a:ext>
            </a:extLst>
          </p:cNvPr>
          <p:cNvSpPr/>
          <p:nvPr/>
        </p:nvSpPr>
        <p:spPr>
          <a:xfrm>
            <a:off x="3948254" y="4984768"/>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30" name="Rectangle 29">
            <a:extLst>
              <a:ext uri="{FF2B5EF4-FFF2-40B4-BE49-F238E27FC236}">
                <a16:creationId xmlns:a16="http://schemas.microsoft.com/office/drawing/2014/main" id="{FF8FA123-17BB-A5A3-26A2-CFF51A298107}"/>
              </a:ext>
            </a:extLst>
          </p:cNvPr>
          <p:cNvSpPr>
            <a:spLocks noChangeArrowheads="1"/>
          </p:cNvSpPr>
          <p:nvPr/>
        </p:nvSpPr>
        <p:spPr bwMode="auto">
          <a:xfrm>
            <a:off x="4959187" y="1918875"/>
            <a:ext cx="3640063" cy="643766"/>
          </a:xfrm>
          <a:prstGeom prst="rect">
            <a:avLst/>
          </a:prstGeom>
          <a:solidFill>
            <a:schemeClr val="accent5">
              <a:lumMod val="20000"/>
              <a:lumOff val="80000"/>
            </a:schemeClr>
          </a:solidFill>
          <a:ln w="19050">
            <a:noFill/>
            <a:miter lim="800000"/>
            <a:headEnd/>
            <a:tailEnd/>
          </a:ln>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double</a:t>
            </a:r>
            <a:r>
              <a:rPr lang="en-GB" dirty="0">
                <a:latin typeface="Lucida Console" pitchFamily="49" charset="0"/>
              </a:rPr>
              <a:t> </a:t>
            </a:r>
            <a:r>
              <a:rPr lang="en-GB" dirty="0">
                <a:solidFill>
                  <a:srgbClr val="000000"/>
                </a:solidFill>
                <a:latin typeface="Lucida Console" pitchFamily="49" charset="0"/>
              </a:rPr>
              <a:t>d = 4.5;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a:solidFill>
                  <a:srgbClr val="0000C8"/>
                </a:solidFill>
                <a:latin typeface="Lucida Console" pitchFamily="49" charset="0"/>
              </a:rPr>
              <a:t>(int) </a:t>
            </a:r>
            <a:r>
              <a:rPr lang="en-GB" dirty="0">
                <a:solidFill>
                  <a:srgbClr val="000000"/>
                </a:solidFill>
                <a:latin typeface="Lucida Console" pitchFamily="49" charset="0"/>
              </a:rPr>
              <a:t>d;</a:t>
            </a:r>
            <a:endParaRPr lang="en-GB" dirty="0">
              <a:latin typeface="Lucida Console" pitchFamily="49" charset="0"/>
            </a:endParaRPr>
          </a:p>
        </p:txBody>
      </p:sp>
      <p:sp>
        <p:nvSpPr>
          <p:cNvPr id="31" name="Rectangle 29">
            <a:extLst>
              <a:ext uri="{FF2B5EF4-FFF2-40B4-BE49-F238E27FC236}">
                <a16:creationId xmlns:a16="http://schemas.microsoft.com/office/drawing/2014/main" id="{6A3C9CC9-9C95-4745-7422-492981A75E82}"/>
              </a:ext>
            </a:extLst>
          </p:cNvPr>
          <p:cNvSpPr>
            <a:spLocks noChangeArrowheads="1"/>
          </p:cNvSpPr>
          <p:nvPr/>
        </p:nvSpPr>
        <p:spPr bwMode="auto">
          <a:xfrm>
            <a:off x="4959188" y="2931347"/>
            <a:ext cx="3640063" cy="643766"/>
          </a:xfrm>
          <a:prstGeom prst="rect">
            <a:avLst/>
          </a:prstGeom>
          <a:solidFill>
            <a:schemeClr val="accent5">
              <a:lumMod val="20000"/>
              <a:lumOff val="80000"/>
            </a:schemeClr>
          </a:solidFill>
          <a:ln w="19050">
            <a:noFill/>
            <a:miter lim="800000"/>
            <a:headEnd/>
            <a:tailEnd/>
          </a:ln>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long</a:t>
            </a:r>
            <a:r>
              <a:rPr lang="en-GB" dirty="0">
                <a:latin typeface="Lucida Console" pitchFamily="49" charset="0"/>
              </a:rPr>
              <a:t> </a:t>
            </a:r>
            <a:r>
              <a:rPr lang="en-GB" dirty="0" err="1">
                <a:solidFill>
                  <a:srgbClr val="000000"/>
                </a:solidFill>
                <a:latin typeface="Lucida Console" pitchFamily="49" charset="0"/>
              </a:rPr>
              <a:t>lng</a:t>
            </a:r>
            <a:r>
              <a:rPr lang="en-GB" dirty="0">
                <a:solidFill>
                  <a:srgbClr val="000000"/>
                </a:solidFill>
                <a:latin typeface="Lucida Console" pitchFamily="49" charset="0"/>
              </a:rPr>
              <a:t> = 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a:solidFill>
                  <a:srgbClr val="0000C8"/>
                </a:solidFill>
                <a:latin typeface="Lucida Console" pitchFamily="49" charset="0"/>
              </a:rPr>
              <a:t>(int)</a:t>
            </a:r>
            <a:r>
              <a:rPr lang="en-GB" dirty="0" err="1">
                <a:solidFill>
                  <a:srgbClr val="000000"/>
                </a:solidFill>
                <a:latin typeface="Lucida Console" pitchFamily="49" charset="0"/>
              </a:rPr>
              <a:t>lng</a:t>
            </a:r>
            <a:r>
              <a:rPr lang="en-GB" dirty="0">
                <a:solidFill>
                  <a:srgbClr val="000000"/>
                </a:solidFill>
                <a:latin typeface="Lucida Console" pitchFamily="49" charset="0"/>
              </a:rPr>
              <a:t>;</a:t>
            </a:r>
            <a:endParaRPr lang="en-GB" dirty="0">
              <a:latin typeface="Lucida Console" pitchFamily="49" charset="0"/>
            </a:endParaRPr>
          </a:p>
        </p:txBody>
      </p:sp>
      <p:sp>
        <p:nvSpPr>
          <p:cNvPr id="34" name="Rectangle 29">
            <a:extLst>
              <a:ext uri="{FF2B5EF4-FFF2-40B4-BE49-F238E27FC236}">
                <a16:creationId xmlns:a16="http://schemas.microsoft.com/office/drawing/2014/main" id="{4E074153-344C-2A96-99E1-6CE449FD9933}"/>
              </a:ext>
            </a:extLst>
          </p:cNvPr>
          <p:cNvSpPr>
            <a:spLocks noChangeArrowheads="1"/>
          </p:cNvSpPr>
          <p:nvPr/>
        </p:nvSpPr>
        <p:spPr bwMode="auto">
          <a:xfrm>
            <a:off x="4959188" y="3995979"/>
            <a:ext cx="3640063" cy="674544"/>
          </a:xfrm>
          <a:prstGeom prst="rect">
            <a:avLst/>
          </a:prstGeom>
          <a:solidFill>
            <a:schemeClr val="accent5">
              <a:lumMod val="20000"/>
              <a:lumOff val="80000"/>
            </a:schemeClr>
          </a:solidFill>
          <a:ln w="19050">
            <a:noFill/>
            <a:miter lim="800000"/>
            <a:headEnd/>
            <a:tailEnd/>
          </a:ln>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float</a:t>
            </a:r>
            <a:r>
              <a:rPr lang="en-GB" dirty="0">
                <a:latin typeface="Lucida Console" pitchFamily="49" charset="0"/>
              </a:rPr>
              <a:t> </a:t>
            </a:r>
            <a:r>
              <a:rPr lang="en-GB" dirty="0">
                <a:solidFill>
                  <a:srgbClr val="000000"/>
                </a:solidFill>
                <a:latin typeface="Lucida Console" pitchFamily="49" charset="0"/>
              </a:rPr>
              <a:t>f = </a:t>
            </a:r>
            <a:r>
              <a:rPr lang="en-GB" dirty="0">
                <a:solidFill>
                  <a:srgbClr val="0000C8"/>
                </a:solidFill>
                <a:latin typeface="Lucida Console" pitchFamily="49" charset="0"/>
              </a:rPr>
              <a:t>(float) </a:t>
            </a:r>
            <a:r>
              <a:rPr lang="en-GB" dirty="0">
                <a:solidFill>
                  <a:srgbClr val="000000"/>
                </a:solidFill>
                <a:latin typeface="Lucida Console" pitchFamily="49" charset="0"/>
              </a:rPr>
              <a:t>4.5;</a:t>
            </a:r>
          </a:p>
          <a:p>
            <a:pPr defTabSz="733425" eaLnBrk="0" hangingPunct="0">
              <a:tabLst>
                <a:tab pos="2571750" algn="l"/>
              </a:tabLst>
              <a:defRPr/>
            </a:pPr>
            <a:r>
              <a:rPr lang="en-GB" dirty="0">
                <a:solidFill>
                  <a:srgbClr val="000000"/>
                </a:solidFill>
                <a:latin typeface="Lucida Console" pitchFamily="49" charset="0"/>
              </a:rPr>
              <a:t>       f = 6.75</a:t>
            </a:r>
            <a:r>
              <a:rPr lang="en-GB" sz="2000" dirty="0">
                <a:solidFill>
                  <a:srgbClr val="C00000"/>
                </a:solidFill>
                <a:latin typeface="Lucida Console" pitchFamily="49" charset="0"/>
              </a:rPr>
              <a:t>F</a:t>
            </a:r>
            <a:r>
              <a:rPr lang="en-GB" dirty="0">
                <a:solidFill>
                  <a:srgbClr val="000000"/>
                </a:solidFill>
                <a:latin typeface="Lucida Console" pitchFamily="49" charset="0"/>
              </a:rPr>
              <a:t>;</a:t>
            </a:r>
          </a:p>
        </p:txBody>
      </p:sp>
      <p:sp>
        <p:nvSpPr>
          <p:cNvPr id="36" name="TextBox 35">
            <a:extLst>
              <a:ext uri="{FF2B5EF4-FFF2-40B4-BE49-F238E27FC236}">
                <a16:creationId xmlns:a16="http://schemas.microsoft.com/office/drawing/2014/main" id="{12CED1CF-8658-5B75-661C-12967117E11F}"/>
              </a:ext>
            </a:extLst>
          </p:cNvPr>
          <p:cNvSpPr txBox="1"/>
          <p:nvPr/>
        </p:nvSpPr>
        <p:spPr>
          <a:xfrm>
            <a:off x="4959186" y="5144609"/>
            <a:ext cx="3640063" cy="400110"/>
          </a:xfrm>
          <a:prstGeom prst="rect">
            <a:avLst/>
          </a:prstGeom>
          <a:solidFill>
            <a:schemeClr val="accent5">
              <a:lumMod val="20000"/>
              <a:lumOff val="80000"/>
            </a:schemeClr>
          </a:solidFill>
          <a:ln>
            <a:noFill/>
          </a:ln>
          <a:effectLst/>
        </p:spPr>
        <p:style>
          <a:lnRef idx="2">
            <a:schemeClr val="dk1"/>
          </a:lnRef>
          <a:fillRef idx="1">
            <a:schemeClr val="lt1"/>
          </a:fillRef>
          <a:effectRef idx="0">
            <a:schemeClr val="dk1"/>
          </a:effectRef>
          <a:fontRef idx="minor">
            <a:schemeClr val="dk1"/>
          </a:fontRef>
        </p:style>
        <p:txBody>
          <a:bodyPr wrap="square">
            <a:spAutoFit/>
          </a:bodyPr>
          <a:lstStyle/>
          <a:p>
            <a:r>
              <a:rPr lang="en-GB" sz="2000" dirty="0">
                <a:solidFill>
                  <a:srgbClr val="0000C8"/>
                </a:solidFill>
                <a:latin typeface="Lucida Console" pitchFamily="49" charset="0"/>
              </a:rPr>
              <a:t> bool</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b</a:t>
            </a:r>
            <a:r>
              <a:rPr lang="en-GB" sz="2000" b="1" dirty="0">
                <a:solidFill>
                  <a:srgbClr val="000000"/>
                </a:solidFill>
                <a:latin typeface="Consolas" panose="020B0609020204030204" pitchFamily="49" charset="0"/>
              </a:rPr>
              <a:t> = </a:t>
            </a:r>
            <a:r>
              <a:rPr lang="en-GB" sz="2000" dirty="0">
                <a:solidFill>
                  <a:srgbClr val="000000"/>
                </a:solidFill>
                <a:latin typeface="Consolas" panose="020B0609020204030204" pitchFamily="49" charset="0"/>
              </a:rPr>
              <a:t>true</a:t>
            </a:r>
            <a:r>
              <a:rPr lang="en-GB" sz="2000" b="1" dirty="0">
                <a:solidFill>
                  <a:srgbClr val="000000"/>
                </a:solidFill>
                <a:latin typeface="Consolas" panose="020B0609020204030204" pitchFamily="49" charset="0"/>
              </a:rPr>
              <a:t>;</a:t>
            </a:r>
            <a:endParaRPr lang="en-GB" sz="2000" dirty="0"/>
          </a:p>
        </p:txBody>
      </p:sp>
    </p:spTree>
    <p:extLst>
      <p:ext uri="{BB962C8B-B14F-4D97-AF65-F5344CB8AC3E}">
        <p14:creationId xmlns:p14="http://schemas.microsoft.com/office/powerpoint/2010/main" val="3377026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Casting strings using the Parse and </a:t>
            </a:r>
            <a:r>
              <a:rPr lang="en-GB" dirty="0" err="1"/>
              <a:t>TryParse</a:t>
            </a:r>
            <a:r>
              <a:rPr lang="en-GB" dirty="0"/>
              <a:t> methods</a:t>
            </a:r>
          </a:p>
        </p:txBody>
      </p:sp>
      <p:sp>
        <p:nvSpPr>
          <p:cNvPr id="5" name="Rectangle 4"/>
          <p:cNvSpPr/>
          <p:nvPr/>
        </p:nvSpPr>
        <p:spPr>
          <a:xfrm>
            <a:off x="2121157" y="1603055"/>
            <a:ext cx="3016377" cy="582211"/>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pPr>
            <a:r>
              <a:rPr lang="en-GB" sz="1600" dirty="0">
                <a:solidFill>
                  <a:srgbClr val="0000FF"/>
                </a:solidFill>
                <a:latin typeface="Lucida Console" pitchFamily="49" charset="0"/>
              </a:rPr>
              <a:t>string</a:t>
            </a:r>
            <a:r>
              <a:rPr lang="en-GB" sz="1600" dirty="0">
                <a:latin typeface="Lucida Console" pitchFamily="49" charset="0"/>
              </a:rPr>
              <a:t> no = "123"; </a:t>
            </a:r>
          </a:p>
          <a:p>
            <a:pPr defTabSz="733425" eaLnBrk="0" hangingPunct="0">
              <a:tabLst>
                <a:tab pos="2571750" algn="l"/>
              </a:tabLst>
            </a:pPr>
            <a:r>
              <a:rPr lang="en-GB" sz="1600" dirty="0" err="1">
                <a:solidFill>
                  <a:srgbClr val="0000FF"/>
                </a:solidFill>
                <a:latin typeface="Lucida Console" pitchFamily="49" charset="0"/>
              </a:rPr>
              <a:t>int</a:t>
            </a:r>
            <a:r>
              <a:rPr lang="en-GB" sz="1600" dirty="0">
                <a:solidFill>
                  <a:srgbClr val="C00000"/>
                </a:solidFill>
                <a:latin typeface="Lucida Console" pitchFamily="49" charset="0"/>
              </a:rPr>
              <a:t> </a:t>
            </a:r>
            <a:r>
              <a:rPr lang="en-GB" sz="1600" dirty="0">
                <a:latin typeface="Lucida Console" pitchFamily="49" charset="0"/>
              </a:rPr>
              <a:t>x = (</a:t>
            </a:r>
            <a:r>
              <a:rPr lang="en-GB" sz="1600" dirty="0" err="1">
                <a:solidFill>
                  <a:srgbClr val="0000FF"/>
                </a:solidFill>
                <a:latin typeface="Lucida Console" pitchFamily="49" charset="0"/>
              </a:rPr>
              <a:t>int</a:t>
            </a:r>
            <a:r>
              <a:rPr lang="en-GB" sz="1600" dirty="0">
                <a:latin typeface="Lucida Console" pitchFamily="49" charset="0"/>
              </a:rPr>
              <a:t>)no;</a:t>
            </a:r>
          </a:p>
        </p:txBody>
      </p:sp>
      <p:sp>
        <p:nvSpPr>
          <p:cNvPr id="15" name="Rectangle 14"/>
          <p:cNvSpPr/>
          <p:nvPr/>
        </p:nvSpPr>
        <p:spPr>
          <a:xfrm>
            <a:off x="2161591" y="2545004"/>
            <a:ext cx="7054396" cy="132087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pPr>
            <a:r>
              <a:rPr lang="en-GB" sz="1600" b="1" dirty="0">
                <a:solidFill>
                  <a:srgbClr val="0000FF"/>
                </a:solidFill>
                <a:latin typeface="Lucida Console" pitchFamily="49" charset="0"/>
              </a:rPr>
              <a:t>int</a:t>
            </a:r>
            <a:r>
              <a:rPr lang="en-GB" sz="1600" b="1" dirty="0">
                <a:solidFill>
                  <a:srgbClr val="C00000"/>
                </a:solidFill>
                <a:latin typeface="Lucida Console" pitchFamily="49" charset="0"/>
              </a:rPr>
              <a:t> </a:t>
            </a:r>
            <a:r>
              <a:rPr lang="en-GB" sz="1600" b="1" dirty="0">
                <a:latin typeface="Lucida Console" pitchFamily="49" charset="0"/>
              </a:rPr>
              <a:t>x    = </a:t>
            </a:r>
            <a:r>
              <a:rPr lang="en-GB" sz="1600" b="1" dirty="0" err="1">
                <a:solidFill>
                  <a:srgbClr val="0000FF"/>
                </a:solidFill>
                <a:latin typeface="Lucida Console" pitchFamily="49" charset="0"/>
              </a:rPr>
              <a:t>int</a:t>
            </a:r>
            <a:r>
              <a:rPr lang="en-GB" sz="1600" b="1" dirty="0" err="1">
                <a:latin typeface="Lucida Console" pitchFamily="49" charset="0"/>
              </a:rPr>
              <a:t>.Parse</a:t>
            </a:r>
            <a:r>
              <a:rPr lang="en-GB" sz="1600" b="1" dirty="0">
                <a:latin typeface="Lucida Console" pitchFamily="49" charset="0"/>
              </a:rPr>
              <a:t>(no);</a:t>
            </a:r>
          </a:p>
          <a:p>
            <a:pPr defTabSz="733425" eaLnBrk="0" hangingPunct="0">
              <a:tabLst>
                <a:tab pos="2571750" algn="l"/>
              </a:tabLst>
            </a:pPr>
            <a:endParaRPr lang="en-GB" sz="1600" b="1" dirty="0">
              <a:latin typeface="Lucida Console" pitchFamily="49" charset="0"/>
            </a:endParaRPr>
          </a:p>
          <a:p>
            <a:pPr defTabSz="733425" eaLnBrk="0" hangingPunct="0">
              <a:tabLst>
                <a:tab pos="2571750" algn="l"/>
              </a:tabLst>
            </a:pPr>
            <a:r>
              <a:rPr lang="en-GB" sz="1600" b="1" dirty="0">
                <a:solidFill>
                  <a:srgbClr val="0000FF"/>
                </a:solidFill>
                <a:latin typeface="Lucida Console" pitchFamily="49" charset="0"/>
              </a:rPr>
              <a:t>double</a:t>
            </a:r>
            <a:r>
              <a:rPr lang="en-GB" sz="1600" b="1" dirty="0">
                <a:latin typeface="Lucida Console" pitchFamily="49" charset="0"/>
              </a:rPr>
              <a:t> d = </a:t>
            </a:r>
            <a:r>
              <a:rPr lang="en-GB" sz="1600" b="1" dirty="0" err="1">
                <a:solidFill>
                  <a:srgbClr val="0000FF"/>
                </a:solidFill>
                <a:latin typeface="Lucida Console" pitchFamily="49" charset="0"/>
              </a:rPr>
              <a:t>double</a:t>
            </a:r>
            <a:r>
              <a:rPr lang="en-GB" sz="1600" b="1" dirty="0" err="1">
                <a:latin typeface="Lucida Console" pitchFamily="49" charset="0"/>
              </a:rPr>
              <a:t>.Parse</a:t>
            </a:r>
            <a:r>
              <a:rPr lang="en-GB" sz="1600" b="1" dirty="0">
                <a:latin typeface="Lucida Console" pitchFamily="49" charset="0"/>
              </a:rPr>
              <a:t>(no);</a:t>
            </a:r>
            <a:br>
              <a:rPr lang="en-GB" sz="1600" b="1" dirty="0">
                <a:latin typeface="Lucida Console" pitchFamily="49" charset="0"/>
              </a:rPr>
            </a:br>
            <a:endParaRPr lang="en-GB" sz="1600" b="1" dirty="0">
              <a:latin typeface="Lucida Console" pitchFamily="49" charset="0"/>
            </a:endParaRPr>
          </a:p>
          <a:p>
            <a:pPr defTabSz="733425" eaLnBrk="0" hangingPunct="0">
              <a:tabLst>
                <a:tab pos="2571750" algn="l"/>
              </a:tabLst>
            </a:pPr>
            <a:r>
              <a:rPr lang="en-GB" sz="1600" b="1" dirty="0">
                <a:solidFill>
                  <a:srgbClr val="0000FF"/>
                </a:solidFill>
                <a:latin typeface="Lucida Console" pitchFamily="49" charset="0"/>
              </a:rPr>
              <a:t>float</a:t>
            </a:r>
            <a:r>
              <a:rPr lang="en-GB" sz="1600" b="1" dirty="0">
                <a:solidFill>
                  <a:srgbClr val="C00000"/>
                </a:solidFill>
                <a:latin typeface="Lucida Console" pitchFamily="49" charset="0"/>
              </a:rPr>
              <a:t> </a:t>
            </a:r>
            <a:r>
              <a:rPr lang="en-GB" sz="1600" b="1" dirty="0">
                <a:latin typeface="Lucida Console" pitchFamily="49" charset="0"/>
              </a:rPr>
              <a:t>f  = </a:t>
            </a:r>
            <a:r>
              <a:rPr lang="en-GB" sz="1600" b="1" dirty="0" err="1">
                <a:solidFill>
                  <a:srgbClr val="0000FF"/>
                </a:solidFill>
                <a:latin typeface="Lucida Console" pitchFamily="49" charset="0"/>
              </a:rPr>
              <a:t>float</a:t>
            </a:r>
            <a:r>
              <a:rPr lang="en-GB" sz="1600" b="1" dirty="0" err="1">
                <a:latin typeface="Lucida Console" pitchFamily="49" charset="0"/>
              </a:rPr>
              <a:t>.Parse</a:t>
            </a:r>
            <a:r>
              <a:rPr lang="en-GB" sz="1600" b="1" dirty="0">
                <a:latin typeface="Lucida Console" pitchFamily="49" charset="0"/>
              </a:rPr>
              <a:t>(no);</a:t>
            </a:r>
          </a:p>
        </p:txBody>
      </p:sp>
      <p:sp>
        <p:nvSpPr>
          <p:cNvPr id="16" name="Rectangle 15"/>
          <p:cNvSpPr/>
          <p:nvPr/>
        </p:nvSpPr>
        <p:spPr>
          <a:xfrm>
            <a:off x="8439065" y="2791405"/>
            <a:ext cx="506870" cy="584775"/>
          </a:xfrm>
          <a:prstGeom prst="rect">
            <a:avLst/>
          </a:prstGeom>
          <a:ln>
            <a:noFill/>
          </a:ln>
          <a:effectLst>
            <a:outerShdw blurRad="50800" dist="38100" algn="l" rotWithShape="0">
              <a:prstClr val="black">
                <a:alpha val="40000"/>
              </a:prstClr>
            </a:outerShdw>
          </a:effectLst>
        </p:spPr>
        <p:txBody>
          <a:bodyPr wrap="none">
            <a:spAutoFit/>
          </a:bodyPr>
          <a:lstStyle/>
          <a:p>
            <a:r>
              <a:rPr lang="en-GB" sz="3200" b="1" dirty="0">
                <a:solidFill>
                  <a:srgbClr val="00B050"/>
                </a:solidFill>
                <a:latin typeface="Consolas" panose="020B0609020204030204" pitchFamily="49" charset="0"/>
                <a:sym typeface="Wingdings" panose="05000000000000000000" pitchFamily="2" charset="2"/>
              </a:rPr>
              <a:t></a:t>
            </a:r>
            <a:endParaRPr lang="en-GB" sz="3200" dirty="0">
              <a:solidFill>
                <a:srgbClr val="00B050"/>
              </a:solidFill>
            </a:endParaRPr>
          </a:p>
        </p:txBody>
      </p:sp>
      <p:sp>
        <p:nvSpPr>
          <p:cNvPr id="19" name="Rectangle 18"/>
          <p:cNvSpPr/>
          <p:nvPr/>
        </p:nvSpPr>
        <p:spPr>
          <a:xfrm>
            <a:off x="9310551" y="1518934"/>
            <a:ext cx="510076" cy="707886"/>
          </a:xfrm>
          <a:prstGeom prst="rect">
            <a:avLst/>
          </a:prstGeom>
        </p:spPr>
        <p:txBody>
          <a:bodyPr wrap="none">
            <a:spAutoFit/>
          </a:bodyPr>
          <a:lstStyle/>
          <a:p>
            <a:r>
              <a:rPr lang="en-GB" sz="4000" dirty="0">
                <a:solidFill>
                  <a:srgbClr val="FF0000"/>
                </a:solidFill>
                <a:latin typeface="Consolas" panose="020B0609020204030204" pitchFamily="49" charset="0"/>
                <a:sym typeface="Wingdings" panose="05000000000000000000" pitchFamily="2" charset="2"/>
              </a:rPr>
              <a:t></a:t>
            </a:r>
            <a:endParaRPr lang="en-GB" sz="4000" dirty="0"/>
          </a:p>
        </p:txBody>
      </p:sp>
      <p:sp>
        <p:nvSpPr>
          <p:cNvPr id="20" name="Rectangle 19"/>
          <p:cNvSpPr/>
          <p:nvPr/>
        </p:nvSpPr>
        <p:spPr>
          <a:xfrm>
            <a:off x="5591846" y="1603055"/>
            <a:ext cx="3624141" cy="582211"/>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pPr>
            <a:r>
              <a:rPr lang="en-GB" sz="1600" dirty="0">
                <a:solidFill>
                  <a:srgbClr val="0000FF"/>
                </a:solidFill>
                <a:latin typeface="Lucida Console" pitchFamily="49" charset="0"/>
              </a:rPr>
              <a:t>string</a:t>
            </a:r>
            <a:r>
              <a:rPr lang="en-GB" sz="1600" dirty="0">
                <a:latin typeface="Lucida Console" pitchFamily="49" charset="0"/>
              </a:rPr>
              <a:t> no = "123.45"; </a:t>
            </a:r>
          </a:p>
          <a:p>
            <a:pPr defTabSz="733425" eaLnBrk="0" hangingPunct="0">
              <a:tabLst>
                <a:tab pos="2571750" algn="l"/>
              </a:tabLst>
            </a:pPr>
            <a:r>
              <a:rPr lang="en-GB" sz="1600" dirty="0">
                <a:solidFill>
                  <a:srgbClr val="0000FF"/>
                </a:solidFill>
                <a:latin typeface="Lucida Console" pitchFamily="49" charset="0"/>
              </a:rPr>
              <a:t>double</a:t>
            </a:r>
            <a:r>
              <a:rPr lang="en-GB" sz="1600" dirty="0">
                <a:solidFill>
                  <a:srgbClr val="C00000"/>
                </a:solidFill>
                <a:latin typeface="Lucida Console" pitchFamily="49" charset="0"/>
              </a:rPr>
              <a:t> </a:t>
            </a:r>
            <a:r>
              <a:rPr lang="en-GB" sz="1600" dirty="0">
                <a:latin typeface="Lucida Console" pitchFamily="49" charset="0"/>
              </a:rPr>
              <a:t>d = (</a:t>
            </a:r>
            <a:r>
              <a:rPr lang="en-GB" sz="1600" dirty="0">
                <a:solidFill>
                  <a:srgbClr val="0000FF"/>
                </a:solidFill>
                <a:latin typeface="Lucida Console" pitchFamily="49" charset="0"/>
              </a:rPr>
              <a:t>double</a:t>
            </a:r>
            <a:r>
              <a:rPr lang="en-GB" sz="1600" dirty="0">
                <a:latin typeface="Lucida Console" pitchFamily="49" charset="0"/>
              </a:rPr>
              <a:t>)no;</a:t>
            </a:r>
          </a:p>
        </p:txBody>
      </p:sp>
      <p:sp>
        <p:nvSpPr>
          <p:cNvPr id="6" name="TextBox 5">
            <a:extLst>
              <a:ext uri="{FF2B5EF4-FFF2-40B4-BE49-F238E27FC236}">
                <a16:creationId xmlns:a16="http://schemas.microsoft.com/office/drawing/2014/main" id="{C471312E-943E-2AEC-CB38-E2F9A2B9BEAA}"/>
              </a:ext>
            </a:extLst>
          </p:cNvPr>
          <p:cNvSpPr txBox="1"/>
          <p:nvPr/>
        </p:nvSpPr>
        <p:spPr>
          <a:xfrm>
            <a:off x="2120899" y="4529435"/>
            <a:ext cx="7095087" cy="1569660"/>
          </a:xfrm>
          <a:prstGeom prst="rect">
            <a:avLst/>
          </a:prstGeom>
          <a:solidFill>
            <a:schemeClr val="bg2">
              <a:lumMod val="95000"/>
            </a:schemeClr>
          </a:solidFill>
          <a:ln>
            <a:noFill/>
          </a:ln>
          <a:effectLst>
            <a:outerShdw blurRad="50800" dist="38100" algn="l" rotWithShape="0">
              <a:prstClr val="black">
                <a:alpha val="40000"/>
              </a:prstClr>
            </a:outerShdw>
          </a:effectLst>
        </p:spPr>
        <p:txBody>
          <a:bodyPr wrap="square">
            <a:spAutoFit/>
          </a:bodyPr>
          <a:lstStyle/>
          <a:p>
            <a:r>
              <a:rPr lang="en-GB" sz="1600" dirty="0">
                <a:solidFill>
                  <a:srgbClr val="0000FF"/>
                </a:solidFill>
                <a:latin typeface="Cascadia Mono" panose="020B0609020000020004" pitchFamily="49" charset="0"/>
              </a:rPr>
              <a:t>string</a:t>
            </a:r>
            <a:r>
              <a:rPr lang="en-GB" sz="1600" dirty="0">
                <a:solidFill>
                  <a:srgbClr val="000000"/>
                </a:solidFill>
                <a:latin typeface="Cascadia Mono" panose="020B0609020000020004" pitchFamily="49" charset="0"/>
              </a:rPr>
              <a:t> no = </a:t>
            </a:r>
            <a:r>
              <a:rPr lang="en-GB" sz="1600" dirty="0" err="1">
                <a:solidFill>
                  <a:srgbClr val="000000"/>
                </a:solidFill>
                <a:latin typeface="Cascadia Mono" panose="020B0609020000020004" pitchFamily="49" charset="0"/>
              </a:rPr>
              <a:t>Console.ReadLine</a:t>
            </a:r>
            <a:r>
              <a:rPr lang="en-GB" sz="1600" dirty="0">
                <a:solidFill>
                  <a:srgbClr val="000000"/>
                </a:solidFill>
                <a:latin typeface="Cascadia Mono" panose="020B0609020000020004" pitchFamily="49" charset="0"/>
              </a:rPr>
              <a:t>(); </a:t>
            </a:r>
          </a:p>
          <a:p>
            <a:r>
              <a:rPr lang="en-GB" sz="1600" dirty="0">
                <a:solidFill>
                  <a:srgbClr val="0000FF"/>
                </a:solidFill>
                <a:latin typeface="Cascadia Mono" panose="020B0609020000020004" pitchFamily="49" charset="0"/>
              </a:rPr>
              <a:t>int</a:t>
            </a:r>
            <a:r>
              <a:rPr lang="en-GB" sz="1600" dirty="0">
                <a:solidFill>
                  <a:srgbClr val="000000"/>
                </a:solidFill>
                <a:latin typeface="Cascadia Mono" panose="020B0609020000020004" pitchFamily="49" charset="0"/>
              </a:rPr>
              <a:t> n;</a:t>
            </a:r>
          </a:p>
          <a:p>
            <a:endParaRPr lang="en-GB" sz="1600" dirty="0">
              <a:solidFill>
                <a:srgbClr val="0000FF"/>
              </a:solidFill>
              <a:latin typeface="Cascadia Mono" panose="020B0609020000020004" pitchFamily="49" charset="0"/>
            </a:endParaRPr>
          </a:p>
          <a:p>
            <a:r>
              <a:rPr lang="en-GB" sz="1600" dirty="0">
                <a:solidFill>
                  <a:srgbClr val="0000FF"/>
                </a:solidFill>
                <a:latin typeface="Cascadia Mono" panose="020B0609020000020004" pitchFamily="49" charset="0"/>
              </a:rPr>
              <a:t>if </a:t>
            </a:r>
            <a:r>
              <a:rPr lang="en-GB" sz="1600" dirty="0">
                <a:solidFill>
                  <a:srgbClr val="000000"/>
                </a:solidFill>
                <a:latin typeface="Cascadia Mono" panose="020B0609020000020004" pitchFamily="49" charset="0"/>
              </a:rPr>
              <a:t>(  </a:t>
            </a:r>
            <a:r>
              <a:rPr lang="en-GB" sz="1600" dirty="0" err="1">
                <a:solidFill>
                  <a:srgbClr val="0000FF"/>
                </a:solidFill>
                <a:latin typeface="Cascadia Mono" panose="020B0609020000020004" pitchFamily="49" charset="0"/>
              </a:rPr>
              <a:t>int</a:t>
            </a:r>
            <a:r>
              <a:rPr lang="en-GB" sz="1600" dirty="0" err="1">
                <a:solidFill>
                  <a:srgbClr val="000000"/>
                </a:solidFill>
                <a:latin typeface="Cascadia Mono" panose="020B0609020000020004" pitchFamily="49" charset="0"/>
              </a:rPr>
              <a:t>.TryParse</a:t>
            </a:r>
            <a:r>
              <a:rPr lang="en-GB" sz="1600" dirty="0">
                <a:solidFill>
                  <a:srgbClr val="000000"/>
                </a:solidFill>
                <a:latin typeface="Cascadia Mono" panose="020B0609020000020004" pitchFamily="49" charset="0"/>
              </a:rPr>
              <a:t>(no, </a:t>
            </a:r>
            <a:r>
              <a:rPr lang="en-GB" sz="1600" dirty="0">
                <a:solidFill>
                  <a:srgbClr val="0000FF"/>
                </a:solidFill>
                <a:latin typeface="Cascadia Mono" panose="020B0609020000020004" pitchFamily="49" charset="0"/>
              </a:rPr>
              <a:t>out</a:t>
            </a:r>
            <a:r>
              <a:rPr lang="en-GB" sz="1600" dirty="0">
                <a:solidFill>
                  <a:srgbClr val="000000"/>
                </a:solidFill>
                <a:latin typeface="Cascadia Mono" panose="020B0609020000020004" pitchFamily="49" charset="0"/>
              </a:rPr>
              <a:t> n)  )</a:t>
            </a:r>
          </a:p>
          <a:p>
            <a:r>
              <a:rPr lang="en-GB" sz="1600" dirty="0">
                <a:solidFill>
                  <a:srgbClr val="000000"/>
                </a:solidFill>
                <a:latin typeface="Cascadia Mono" panose="020B0609020000020004" pitchFamily="49" charset="0"/>
              </a:rPr>
              <a:t>       </a:t>
            </a:r>
            <a:r>
              <a:rPr lang="en-GB" sz="1600" dirty="0" err="1">
                <a:solidFill>
                  <a:srgbClr val="000000"/>
                </a:solidFill>
                <a:latin typeface="Cascadia Mono" panose="020B0609020000020004" pitchFamily="49" charset="0"/>
              </a:rPr>
              <a:t>Console.WriteLine</a:t>
            </a:r>
            <a:r>
              <a:rPr lang="en-GB" sz="1600" dirty="0">
                <a:solidFill>
                  <a:srgbClr val="000000"/>
                </a:solidFill>
                <a:latin typeface="Cascadia Mono" panose="020B0609020000020004" pitchFamily="49" charset="0"/>
              </a:rPr>
              <a:t>(n+1);  </a:t>
            </a:r>
          </a:p>
          <a:p>
            <a:endParaRPr lang="en-GB" sz="1600" dirty="0"/>
          </a:p>
        </p:txBody>
      </p:sp>
      <p:sp>
        <p:nvSpPr>
          <p:cNvPr id="9" name="Speech Bubble: Rectangle with Corners Rounded 8">
            <a:extLst>
              <a:ext uri="{FF2B5EF4-FFF2-40B4-BE49-F238E27FC236}">
                <a16:creationId xmlns:a16="http://schemas.microsoft.com/office/drawing/2014/main" id="{C45EDCFA-DCA6-BB6D-8195-ACEBDB94749C}"/>
              </a:ext>
            </a:extLst>
          </p:cNvPr>
          <p:cNvSpPr/>
          <p:nvPr/>
        </p:nvSpPr>
        <p:spPr>
          <a:xfrm>
            <a:off x="6159316" y="5592177"/>
            <a:ext cx="1955984" cy="300742"/>
          </a:xfrm>
          <a:prstGeom prst="wedgeRoundRectCallout">
            <a:avLst>
              <a:gd name="adj1" fmla="val -60440"/>
              <a:gd name="adj2" fmla="val -20840"/>
              <a:gd name="adj3" fmla="val 16667"/>
            </a:avLst>
          </a:prstGeom>
          <a:ln>
            <a:noFill/>
          </a:ln>
          <a:effectLst>
            <a:outerShdw blurRad="50800" dist="38100" algn="l" rotWithShape="0">
              <a:prstClr val="black">
                <a:alpha val="40000"/>
              </a:prstClr>
            </a:outerShdw>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400" b="1" dirty="0"/>
              <a:t>If the cast is valid</a:t>
            </a:r>
          </a:p>
        </p:txBody>
      </p:sp>
    </p:spTree>
    <p:extLst>
      <p:ext uri="{BB962C8B-B14F-4D97-AF65-F5344CB8AC3E}">
        <p14:creationId xmlns:p14="http://schemas.microsoft.com/office/powerpoint/2010/main" val="3502001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12D0D30-0F9B-26F4-0CEF-0E430C994B76}"/>
              </a:ext>
            </a:extLst>
          </p:cNvPr>
          <p:cNvSpPr>
            <a:spLocks noGrp="1"/>
          </p:cNvSpPr>
          <p:nvPr>
            <p:ph type="body" sz="quarter" idx="15"/>
          </p:nvPr>
        </p:nvSpPr>
        <p:spPr>
          <a:xfrm>
            <a:off x="5037138" y="3207812"/>
            <a:ext cx="5803900" cy="754587"/>
          </a:xfrm>
        </p:spPr>
        <p:txBody>
          <a:bodyPr/>
          <a:lstStyle/>
          <a:p>
            <a:r>
              <a:rPr lang="en-US" sz="3600" b="1" dirty="0"/>
              <a:t>Conditionals</a:t>
            </a:r>
            <a:endParaRPr lang="en-GB" b="1" dirty="0"/>
          </a:p>
        </p:txBody>
      </p:sp>
    </p:spTree>
    <p:extLst>
      <p:ext uri="{BB962C8B-B14F-4D97-AF65-F5344CB8AC3E}">
        <p14:creationId xmlns:p14="http://schemas.microsoft.com/office/powerpoint/2010/main" val="592937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70" name="Rectangle 6"/>
          <p:cNvSpPr>
            <a:spLocks noChangeArrowheads="1"/>
          </p:cNvSpPr>
          <p:nvPr/>
        </p:nvSpPr>
        <p:spPr bwMode="auto">
          <a:xfrm>
            <a:off x="866828" y="1535435"/>
            <a:ext cx="5505013"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dirty="0">
                <a:solidFill>
                  <a:srgbClr val="0000C8"/>
                </a:solidFill>
                <a:latin typeface="Lucida Console" pitchFamily="49" charset="0"/>
              </a:rPr>
              <a:t>int </a:t>
            </a:r>
            <a:r>
              <a:rPr lang="en-GB" dirty="0">
                <a:latin typeface="Lucida Console" pitchFamily="49" charset="0"/>
              </a:rPr>
              <a:t>age = </a:t>
            </a:r>
            <a:r>
              <a:rPr lang="en-GB" dirty="0" err="1">
                <a:latin typeface="Lucida Console" pitchFamily="49" charset="0"/>
              </a:rPr>
              <a:t>getAge</a:t>
            </a:r>
            <a:r>
              <a:rPr lang="en-GB" dirty="0">
                <a:latin typeface="Lucida Console" pitchFamily="49" charset="0"/>
              </a:rPr>
              <a:t>();</a:t>
            </a:r>
          </a:p>
          <a:p>
            <a:pPr eaLnBrk="0" hangingPunct="0">
              <a:defRPr/>
            </a:pPr>
            <a:endParaRPr lang="en-GB" dirty="0">
              <a:solidFill>
                <a:srgbClr val="0000C8"/>
              </a:solidFill>
              <a:latin typeface="Lucida Console" pitchFamily="49" charset="0"/>
            </a:endParaRPr>
          </a:p>
          <a:p>
            <a:pPr eaLnBrk="0" hangingPunct="0">
              <a:defRPr/>
            </a:pPr>
            <a:r>
              <a:rPr lang="en-GB" dirty="0">
                <a:solidFill>
                  <a:srgbClr val="0000C8"/>
                </a:solidFill>
                <a:latin typeface="Lucida Console" pitchFamily="49" charset="0"/>
              </a:rPr>
              <a:t>if</a:t>
            </a:r>
            <a:r>
              <a:rPr lang="en-GB" dirty="0">
                <a:latin typeface="Lucida Console" pitchFamily="49" charset="0"/>
              </a:rPr>
              <a:t> </a:t>
            </a:r>
            <a:r>
              <a:rPr lang="en-GB" dirty="0">
                <a:solidFill>
                  <a:srgbClr val="000000"/>
                </a:solidFill>
                <a:latin typeface="Lucida Console" pitchFamily="49" charset="0"/>
              </a:rPr>
              <a:t>( age &gt; 18 )</a:t>
            </a:r>
            <a:br>
              <a:rPr lang="en-GB" dirty="0">
                <a:solidFill>
                  <a:srgbClr val="000000"/>
                </a:solidFill>
                <a:latin typeface="Lucida Console" pitchFamily="49" charset="0"/>
              </a:rPr>
            </a:br>
            <a:r>
              <a:rPr lang="en-GB" dirty="0">
                <a:solidFill>
                  <a:srgbClr val="000000"/>
                </a:solidFill>
                <a:latin typeface="Lucida Console" pitchFamily="49" charset="0"/>
              </a:rPr>
              <a:t>{ </a:t>
            </a:r>
          </a:p>
          <a:p>
            <a:pPr eaLnBrk="0" hangingPunct="0">
              <a:defRPr/>
            </a:pPr>
            <a:r>
              <a:rPr lang="en-GB" dirty="0">
                <a:solidFill>
                  <a:srgbClr val="000000"/>
                </a:solidFill>
                <a:latin typeface="Lucida Console" pitchFamily="49" charset="0"/>
              </a:rPr>
              <a:t> </a:t>
            </a:r>
            <a:r>
              <a:rPr lang="en-GB" dirty="0">
                <a:solidFill>
                  <a:schemeClr val="accent2">
                    <a:lumMod val="25000"/>
                  </a:schemeClr>
                </a:solidFill>
                <a:latin typeface="Lucida Console" pitchFamily="49" charset="0"/>
              </a:rPr>
              <a:t>// code for when over 18 years old</a:t>
            </a:r>
            <a:br>
              <a:rPr lang="en-GB" dirty="0">
                <a:solidFill>
                  <a:srgbClr val="000000"/>
                </a:solidFill>
                <a:latin typeface="Lucida Console" pitchFamily="49" charset="0"/>
              </a:rPr>
            </a:br>
            <a:r>
              <a:rPr lang="en-GB" dirty="0">
                <a:solidFill>
                  <a:srgbClr val="000000"/>
                </a:solidFill>
                <a:latin typeface="Lucida Console" pitchFamily="49" charset="0"/>
              </a:rPr>
              <a:t>}</a:t>
            </a:r>
          </a:p>
        </p:txBody>
      </p:sp>
      <p:sp>
        <p:nvSpPr>
          <p:cNvPr id="16387" name="Rectangle 2"/>
          <p:cNvSpPr>
            <a:spLocks noGrp="1" noChangeArrowheads="1"/>
          </p:cNvSpPr>
          <p:nvPr>
            <p:ph type="title"/>
          </p:nvPr>
        </p:nvSpPr>
        <p:spPr/>
        <p:txBody>
          <a:bodyPr/>
          <a:lstStyle/>
          <a:p>
            <a:pPr eaLnBrk="1" hangingPunct="1"/>
            <a:r>
              <a:rPr lang="en-GB" dirty="0"/>
              <a:t>Introducing ‘if’</a:t>
            </a:r>
          </a:p>
        </p:txBody>
      </p:sp>
      <p:sp>
        <p:nvSpPr>
          <p:cNvPr id="3" name="Rectangle 2">
            <a:extLst>
              <a:ext uri="{FF2B5EF4-FFF2-40B4-BE49-F238E27FC236}">
                <a16:creationId xmlns:a16="http://schemas.microsoft.com/office/drawing/2014/main" id="{4B99FD42-3C44-6164-D3D5-8A8B2BB14C73}"/>
              </a:ext>
            </a:extLst>
          </p:cNvPr>
          <p:cNvSpPr/>
          <p:nvPr/>
        </p:nvSpPr>
        <p:spPr>
          <a:xfrm>
            <a:off x="866828" y="3570804"/>
            <a:ext cx="6478168" cy="2862322"/>
          </a:xfrm>
          <a:prstGeom prst="rect">
            <a:avLst/>
          </a:prstGeom>
          <a:solidFill>
            <a:srgbClr val="FFFFCC"/>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eaLnBrk="0" hangingPunct="0">
              <a:defRPr/>
            </a:pPr>
            <a:r>
              <a:rPr lang="en-GB" b="1" dirty="0" err="1">
                <a:solidFill>
                  <a:srgbClr val="0000C8"/>
                </a:solidFill>
                <a:latin typeface="Lucida Console" pitchFamily="49" charset="0"/>
              </a:rPr>
              <a:t>int</a:t>
            </a:r>
            <a:r>
              <a:rPr lang="en-GB" b="1" dirty="0">
                <a:solidFill>
                  <a:srgbClr val="0000C8"/>
                </a:solidFill>
                <a:latin typeface="Lucida Console" pitchFamily="49" charset="0"/>
              </a:rPr>
              <a:t> </a:t>
            </a:r>
            <a:r>
              <a:rPr lang="en-GB" b="1" dirty="0">
                <a:latin typeface="Lucida Console" pitchFamily="49" charset="0"/>
              </a:rPr>
              <a:t>age = </a:t>
            </a:r>
            <a:r>
              <a:rPr lang="en-GB" b="1" dirty="0" err="1">
                <a:latin typeface="Lucida Console" pitchFamily="49" charset="0"/>
              </a:rPr>
              <a:t>getAge</a:t>
            </a:r>
            <a:r>
              <a:rPr lang="en-GB" b="1" dirty="0">
                <a:latin typeface="Lucida Console" pitchFamily="49" charset="0"/>
              </a:rPr>
              <a:t>();</a:t>
            </a:r>
          </a:p>
          <a:p>
            <a:pPr eaLnBrk="0" hangingPunct="0">
              <a:defRPr/>
            </a:pPr>
            <a:br>
              <a:rPr lang="en-GB" b="1" dirty="0">
                <a:solidFill>
                  <a:srgbClr val="0000C8"/>
                </a:solidFill>
                <a:latin typeface="Lucida Console" pitchFamily="49" charset="0"/>
              </a:rPr>
            </a:br>
            <a:r>
              <a:rPr lang="en-GB" b="1" dirty="0">
                <a:solidFill>
                  <a:srgbClr val="0000C8"/>
                </a:solidFill>
                <a:latin typeface="Lucida Console" pitchFamily="49" charset="0"/>
              </a:rPr>
              <a:t>if</a:t>
            </a:r>
            <a:r>
              <a:rPr lang="en-GB" b="1" dirty="0">
                <a:latin typeface="Lucida Console" pitchFamily="49" charset="0"/>
              </a:rPr>
              <a:t> </a:t>
            </a:r>
            <a:r>
              <a:rPr lang="en-GB" b="1" dirty="0">
                <a:solidFill>
                  <a:srgbClr val="000000"/>
                </a:solidFill>
                <a:latin typeface="Lucida Console" pitchFamily="49" charset="0"/>
              </a:rPr>
              <a:t>( age &lt; 18) { </a:t>
            </a:r>
          </a:p>
          <a:p>
            <a:pPr eaLnBrk="0" hangingPunct="0">
              <a:defRPr/>
            </a:pPr>
            <a:r>
              <a:rPr lang="en-GB" b="1" dirty="0">
                <a:solidFill>
                  <a:srgbClr val="000000"/>
                </a:solidFill>
                <a:latin typeface="Lucida Console" pitchFamily="49" charset="0"/>
              </a:rPr>
              <a:t>  </a:t>
            </a:r>
            <a:r>
              <a:rPr lang="en-GB" b="1" dirty="0">
                <a:solidFill>
                  <a:schemeClr val="accent2">
                    <a:lumMod val="50000"/>
                  </a:schemeClr>
                </a:solidFill>
                <a:latin typeface="Lucida Console" pitchFamily="49" charset="0"/>
              </a:rPr>
              <a:t>// code for when under 18 years old</a:t>
            </a:r>
            <a:br>
              <a:rPr lang="en-GB" b="1" dirty="0">
                <a:solidFill>
                  <a:schemeClr val="accent2">
                    <a:lumMod val="25000"/>
                  </a:schemeClr>
                </a:solidFill>
                <a:latin typeface="Lucida Console" pitchFamily="49" charset="0"/>
              </a:rPr>
            </a:br>
            <a:br>
              <a:rPr lang="en-GB" b="1" dirty="0">
                <a:solidFill>
                  <a:srgbClr val="000000"/>
                </a:solidFill>
                <a:latin typeface="Lucida Console" pitchFamily="49" charset="0"/>
              </a:rPr>
            </a:br>
            <a:r>
              <a:rPr lang="en-GB" b="1" dirty="0">
                <a:solidFill>
                  <a:srgbClr val="000000"/>
                </a:solidFill>
                <a:latin typeface="Lucida Console" pitchFamily="49" charset="0"/>
              </a:rPr>
              <a:t>}</a:t>
            </a:r>
          </a:p>
          <a:p>
            <a:pPr eaLnBrk="0" hangingPunct="0">
              <a:defRPr/>
            </a:pPr>
            <a:r>
              <a:rPr lang="en-GB" b="1" dirty="0">
                <a:solidFill>
                  <a:srgbClr val="000000"/>
                </a:solidFill>
                <a:latin typeface="Lucida Console" pitchFamily="49" charset="0"/>
              </a:rPr>
              <a:t>else {</a:t>
            </a:r>
          </a:p>
          <a:p>
            <a:pPr eaLnBrk="0" hangingPunct="0">
              <a:defRPr/>
            </a:pPr>
            <a:r>
              <a:rPr lang="en-GB" b="1" dirty="0">
                <a:solidFill>
                  <a:srgbClr val="000000"/>
                </a:solidFill>
                <a:latin typeface="Lucida Console" pitchFamily="49" charset="0"/>
              </a:rPr>
              <a:t> </a:t>
            </a:r>
            <a:r>
              <a:rPr lang="en-GB" b="1" dirty="0">
                <a:solidFill>
                  <a:schemeClr val="accent2">
                    <a:lumMod val="50000"/>
                  </a:schemeClr>
                </a:solidFill>
                <a:latin typeface="Lucida Console" pitchFamily="49" charset="0"/>
              </a:rPr>
              <a:t>// code for when 18 or over</a:t>
            </a:r>
            <a:br>
              <a:rPr lang="en-GB" b="1" dirty="0">
                <a:solidFill>
                  <a:srgbClr val="000000"/>
                </a:solidFill>
                <a:latin typeface="Lucida Console" pitchFamily="49" charset="0"/>
              </a:rPr>
            </a:br>
            <a:endParaRPr lang="en-GB" b="1" dirty="0">
              <a:solidFill>
                <a:srgbClr val="000000"/>
              </a:solidFill>
              <a:latin typeface="Lucida Console" pitchFamily="49" charset="0"/>
            </a:endParaRPr>
          </a:p>
          <a:p>
            <a:pPr eaLnBrk="0" hangingPunct="0">
              <a:defRPr/>
            </a:pPr>
            <a:r>
              <a:rPr lang="en-GB" b="1" dirty="0">
                <a:solidFill>
                  <a:srgbClr val="000000"/>
                </a:solidFill>
                <a:latin typeface="Lucida Console" pitchFamily="49" charset="0"/>
              </a:rPr>
              <a:t>}</a:t>
            </a:r>
            <a:endParaRPr lang="en-GB" b="1" dirty="0"/>
          </a:p>
        </p:txBody>
      </p:sp>
      <p:grpSp>
        <p:nvGrpSpPr>
          <p:cNvPr id="4" name="Group 5">
            <a:extLst>
              <a:ext uri="{FF2B5EF4-FFF2-40B4-BE49-F238E27FC236}">
                <a16:creationId xmlns:a16="http://schemas.microsoft.com/office/drawing/2014/main" id="{F62DD9B3-DA4A-DCD9-E272-A8BDAE13EEB3}"/>
              </a:ext>
            </a:extLst>
          </p:cNvPr>
          <p:cNvGrpSpPr>
            <a:grpSpLocks/>
          </p:cNvGrpSpPr>
          <p:nvPr/>
        </p:nvGrpSpPr>
        <p:grpSpPr bwMode="auto">
          <a:xfrm>
            <a:off x="7715975" y="1499618"/>
            <a:ext cx="4063236" cy="1754796"/>
            <a:chOff x="724" y="964"/>
            <a:chExt cx="2824" cy="1240"/>
          </a:xfrm>
          <a:solidFill>
            <a:schemeClr val="bg1">
              <a:lumMod val="95000"/>
            </a:schemeClr>
          </a:solidFill>
          <a:effectLst>
            <a:outerShdw blurRad="50800" dist="38100" algn="l" rotWithShape="0">
              <a:prstClr val="black">
                <a:alpha val="40000"/>
              </a:prstClr>
            </a:outerShdw>
          </a:effectLst>
        </p:grpSpPr>
        <p:sp>
          <p:nvSpPr>
            <p:cNvPr id="5" name="Rectangle 6">
              <a:extLst>
                <a:ext uri="{FF2B5EF4-FFF2-40B4-BE49-F238E27FC236}">
                  <a16:creationId xmlns:a16="http://schemas.microsoft.com/office/drawing/2014/main" id="{84C304F1-15C5-4393-C8D1-C11B574CB62A}"/>
                </a:ext>
              </a:extLst>
            </p:cNvPr>
            <p:cNvSpPr>
              <a:spLocks noChangeArrowheads="1"/>
            </p:cNvSpPr>
            <p:nvPr/>
          </p:nvSpPr>
          <p:spPr bwMode="auto">
            <a:xfrm>
              <a:off x="724" y="964"/>
              <a:ext cx="2824" cy="1240"/>
            </a:xfrm>
            <a:prstGeom prst="rect">
              <a:avLst/>
            </a:prstGeom>
            <a:grpFill/>
            <a:ln w="19050">
              <a:noFill/>
              <a:miter lim="800000"/>
              <a:headEnd/>
              <a:tailEnd/>
            </a:ln>
            <a:effectLst>
              <a:outerShdw dist="107763" dir="2700000" algn="ctr" rotWithShape="0">
                <a:schemeClr val="bg2"/>
              </a:outerShdw>
            </a:effectLst>
          </p:spPr>
          <p:txBody>
            <a:bodyPr wrap="none" anchor="ctr"/>
            <a:lstStyle/>
            <a:p>
              <a:pPr eaLnBrk="0" hangingPunct="0">
                <a:spcBef>
                  <a:spcPct val="50000"/>
                </a:spcBef>
                <a:defRPr/>
              </a:pPr>
              <a:endParaRPr lang="en-GB" sz="1600"/>
            </a:p>
          </p:txBody>
        </p:sp>
        <p:sp>
          <p:nvSpPr>
            <p:cNvPr id="6" name="Rectangle 7">
              <a:extLst>
                <a:ext uri="{FF2B5EF4-FFF2-40B4-BE49-F238E27FC236}">
                  <a16:creationId xmlns:a16="http://schemas.microsoft.com/office/drawing/2014/main" id="{A7317D9D-DAD7-8AE3-8389-7563CF999EAB}"/>
                </a:ext>
              </a:extLst>
            </p:cNvPr>
            <p:cNvSpPr>
              <a:spLocks noChangeArrowheads="1"/>
            </p:cNvSpPr>
            <p:nvPr/>
          </p:nvSpPr>
          <p:spPr bwMode="auto">
            <a:xfrm>
              <a:off x="1168" y="964"/>
              <a:ext cx="2380" cy="1240"/>
            </a:xfrm>
            <a:prstGeom prst="rect">
              <a:avLst/>
            </a:prstGeom>
            <a:grpFill/>
            <a:ln w="19050">
              <a:noFill/>
              <a:miter lim="800000"/>
              <a:headEnd/>
              <a:tailEnd/>
            </a:ln>
          </p:spPr>
          <p:txBody>
            <a:bodyPr wrap="none" lIns="90488" tIns="44450" rIns="90488" bIns="44450"/>
            <a:lstStyle/>
            <a:p>
              <a:pPr defTabSz="739775" eaLnBrk="0" hangingPunct="0"/>
              <a:r>
                <a:rPr lang="en-GB" b="1" dirty="0"/>
                <a:t>greater than</a:t>
              </a:r>
            </a:p>
            <a:p>
              <a:pPr defTabSz="739775" eaLnBrk="0" hangingPunct="0"/>
              <a:r>
                <a:rPr lang="en-GB" b="1" dirty="0"/>
                <a:t>greater than or equal to</a:t>
              </a:r>
            </a:p>
            <a:p>
              <a:pPr defTabSz="739775" eaLnBrk="0" hangingPunct="0"/>
              <a:r>
                <a:rPr lang="en-GB" b="1" dirty="0"/>
                <a:t>less than</a:t>
              </a:r>
            </a:p>
            <a:p>
              <a:pPr defTabSz="739775" eaLnBrk="0" hangingPunct="0"/>
              <a:r>
                <a:rPr lang="en-GB" b="1" dirty="0"/>
                <a:t>less than or equal to</a:t>
              </a:r>
            </a:p>
            <a:p>
              <a:pPr defTabSz="739775" eaLnBrk="0" hangingPunct="0"/>
              <a:r>
                <a:rPr lang="en-GB" b="1" dirty="0"/>
                <a:t>equal to</a:t>
              </a:r>
            </a:p>
            <a:p>
              <a:pPr defTabSz="739775" eaLnBrk="0" hangingPunct="0"/>
              <a:r>
                <a:rPr lang="en-GB" b="1" dirty="0"/>
                <a:t>not equal to</a:t>
              </a:r>
            </a:p>
          </p:txBody>
        </p:sp>
        <p:sp>
          <p:nvSpPr>
            <p:cNvPr id="7" name="Rectangle 8">
              <a:extLst>
                <a:ext uri="{FF2B5EF4-FFF2-40B4-BE49-F238E27FC236}">
                  <a16:creationId xmlns:a16="http://schemas.microsoft.com/office/drawing/2014/main" id="{77B58119-0DEC-CFEE-6C45-55DE01F43ECD}"/>
                </a:ext>
              </a:extLst>
            </p:cNvPr>
            <p:cNvSpPr>
              <a:spLocks noChangeArrowheads="1"/>
            </p:cNvSpPr>
            <p:nvPr/>
          </p:nvSpPr>
          <p:spPr bwMode="auto">
            <a:xfrm>
              <a:off x="724" y="964"/>
              <a:ext cx="444" cy="1240"/>
            </a:xfrm>
            <a:prstGeom prst="rect">
              <a:avLst/>
            </a:prstGeom>
            <a:grpFill/>
            <a:ln w="19050">
              <a:noFill/>
              <a:miter lim="800000"/>
              <a:headEnd/>
              <a:tailEnd/>
            </a:ln>
          </p:spPr>
          <p:txBody>
            <a:bodyPr wrap="none" lIns="90488" tIns="44450" rIns="90488" bIns="44450"/>
            <a:lstStyle/>
            <a:p>
              <a:pPr defTabSz="739775" eaLnBrk="0" hangingPunct="0"/>
              <a:r>
                <a:rPr lang="en-GB" b="1" dirty="0">
                  <a:latin typeface="Courier New" pitchFamily="49" charset="0"/>
                </a:rPr>
                <a:t>&gt;</a:t>
              </a:r>
            </a:p>
            <a:p>
              <a:pPr defTabSz="739775" eaLnBrk="0" hangingPunct="0"/>
              <a:r>
                <a:rPr lang="en-GB" b="1" dirty="0">
                  <a:latin typeface="Courier New" pitchFamily="49" charset="0"/>
                </a:rPr>
                <a:t>&gt;=</a:t>
              </a:r>
            </a:p>
            <a:p>
              <a:pPr defTabSz="739775" eaLnBrk="0" hangingPunct="0"/>
              <a:r>
                <a:rPr lang="en-GB" b="1" dirty="0">
                  <a:latin typeface="Courier New" pitchFamily="49" charset="0"/>
                </a:rPr>
                <a:t>&lt;</a:t>
              </a:r>
            </a:p>
            <a:p>
              <a:pPr defTabSz="739775" eaLnBrk="0" hangingPunct="0"/>
              <a:r>
                <a:rPr lang="en-GB" b="1" dirty="0">
                  <a:latin typeface="Courier New" pitchFamily="49" charset="0"/>
                </a:rPr>
                <a:t>&lt;=</a:t>
              </a:r>
            </a:p>
            <a:p>
              <a:pPr defTabSz="739775" eaLnBrk="0" hangingPunct="0"/>
              <a:r>
                <a:rPr lang="en-GB" b="1" dirty="0">
                  <a:latin typeface="Courier New" pitchFamily="49" charset="0"/>
                </a:rPr>
                <a:t>=</a:t>
              </a:r>
              <a:r>
                <a:rPr lang="en-GB" sz="500" b="1" dirty="0">
                  <a:latin typeface="Courier New" pitchFamily="49" charset="0"/>
                </a:rPr>
                <a:t> </a:t>
              </a:r>
              <a:r>
                <a:rPr lang="en-GB" b="1" dirty="0">
                  <a:latin typeface="Courier New" pitchFamily="49" charset="0"/>
                </a:rPr>
                <a:t>=</a:t>
              </a:r>
            </a:p>
            <a:p>
              <a:pPr defTabSz="739775" eaLnBrk="0" hangingPunct="0"/>
              <a:r>
                <a:rPr lang="en-GB" b="1" dirty="0">
                  <a:latin typeface="Courier New" pitchFamily="49" charset="0"/>
                </a:rPr>
                <a:t>!=</a:t>
              </a:r>
            </a:p>
          </p:txBody>
        </p:sp>
      </p:grpSp>
    </p:spTree>
    <p:extLst>
      <p:ext uri="{BB962C8B-B14F-4D97-AF65-F5344CB8AC3E}">
        <p14:creationId xmlns:p14="http://schemas.microsoft.com/office/powerpoint/2010/main" val="6776311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GB" dirty="0"/>
              <a:t>Introducing ‘else if’(s)</a:t>
            </a:r>
          </a:p>
        </p:txBody>
      </p:sp>
      <p:sp>
        <p:nvSpPr>
          <p:cNvPr id="11" name="Rectangle 6"/>
          <p:cNvSpPr>
            <a:spLocks noChangeArrowheads="1"/>
          </p:cNvSpPr>
          <p:nvPr/>
        </p:nvSpPr>
        <p:spPr bwMode="auto">
          <a:xfrm>
            <a:off x="972766" y="1400287"/>
            <a:ext cx="5315239" cy="396775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b="1" dirty="0">
                <a:solidFill>
                  <a:srgbClr val="0000FF"/>
                </a:solidFill>
                <a:latin typeface="Consolas" panose="020B0609020204030204" pitchFamily="49" charset="0"/>
              </a:rPr>
              <a:t>int</a:t>
            </a:r>
            <a:r>
              <a:rPr lang="en-GB" dirty="0">
                <a:solidFill>
                  <a:srgbClr val="0000C8"/>
                </a:solidFill>
                <a:latin typeface="Lucida Console" pitchFamily="49" charset="0"/>
              </a:rPr>
              <a:t> </a:t>
            </a:r>
            <a:r>
              <a:rPr lang="en-GB" dirty="0">
                <a:solidFill>
                  <a:srgbClr val="004050"/>
                </a:solidFill>
                <a:latin typeface="Lucida Console" pitchFamily="49" charset="0"/>
              </a:rPr>
              <a:t>mark; . . .</a:t>
            </a:r>
            <a:br>
              <a:rPr lang="en-GB" dirty="0">
                <a:solidFill>
                  <a:srgbClr val="004050"/>
                </a:solidFill>
                <a:latin typeface="Lucida Console" pitchFamily="49" charset="0"/>
              </a:rPr>
            </a:br>
            <a:endParaRPr lang="en-GB" dirty="0">
              <a:solidFill>
                <a:srgbClr val="004050"/>
              </a:solidFill>
              <a:latin typeface="Lucida Console" pitchFamily="49" charset="0"/>
            </a:endParaRPr>
          </a:p>
          <a:p>
            <a:pPr eaLnBrk="0" hangingPunct="0">
              <a:defRPr/>
            </a:pPr>
            <a:r>
              <a:rPr lang="en-GB" dirty="0">
                <a:solidFill>
                  <a:srgbClr val="0000C8"/>
                </a:solidFill>
                <a:latin typeface="Lucida Console" pitchFamily="49" charset="0"/>
              </a:rPr>
              <a:t>if</a:t>
            </a:r>
            <a:r>
              <a:rPr lang="en-GB" dirty="0">
                <a:latin typeface="Lucida Console" pitchFamily="49" charset="0"/>
              </a:rPr>
              <a:t> </a:t>
            </a:r>
            <a:r>
              <a:rPr lang="en-GB" dirty="0">
                <a:solidFill>
                  <a:srgbClr val="000000"/>
                </a:solidFill>
                <a:latin typeface="Lucida Console" pitchFamily="49" charset="0"/>
              </a:rPr>
              <a:t>( mark &gt; 80</a:t>
            </a:r>
            <a:r>
              <a:rPr lang="en-GB" i="1" dirty="0">
                <a:solidFill>
                  <a:srgbClr val="000000"/>
                </a:solidFill>
                <a:latin typeface="Lucida Console" pitchFamily="49" charset="0"/>
              </a:rPr>
              <a:t> </a:t>
            </a:r>
            <a:r>
              <a:rPr lang="en-GB" dirty="0">
                <a:solidFill>
                  <a:srgbClr val="000000"/>
                </a:solidFill>
                <a:latin typeface="Lucida Console" pitchFamily="49" charset="0"/>
              </a:rPr>
              <a:t>){ </a:t>
            </a:r>
          </a:p>
          <a:p>
            <a:pPr eaLnBrk="0" hangingPunct="0">
              <a:defRPr/>
            </a:pP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"Distinction"</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C8"/>
                </a:solidFill>
                <a:latin typeface="Lucida Console" pitchFamily="49" charset="0"/>
              </a:rPr>
              <a:t>else if</a:t>
            </a:r>
            <a:r>
              <a:rPr lang="en-GB" dirty="0">
                <a:solidFill>
                  <a:srgbClr val="000000"/>
                </a:solidFill>
                <a:latin typeface="Lucida Console" pitchFamily="49" charset="0"/>
              </a:rPr>
              <a:t>( mark &gt; 70 )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"Merit"</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C8"/>
                </a:solidFill>
                <a:latin typeface="Lucida Console" pitchFamily="49" charset="0"/>
              </a:rPr>
              <a:t>else if</a:t>
            </a:r>
            <a:r>
              <a:rPr lang="en-GB" dirty="0">
                <a:solidFill>
                  <a:srgbClr val="000000"/>
                </a:solidFill>
                <a:latin typeface="Lucida Console" pitchFamily="49" charset="0"/>
              </a:rPr>
              <a:t>( mark &gt; 60 )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"Pass"</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p>
          <a:p>
            <a:pPr eaLnBrk="0" hangingPunct="0">
              <a:defRPr/>
            </a:pPr>
            <a:r>
              <a:rPr lang="en-GB" dirty="0">
                <a:solidFill>
                  <a:srgbClr val="0000C8"/>
                </a:solidFill>
                <a:latin typeface="Lucida Console" pitchFamily="49" charset="0"/>
              </a:rPr>
              <a:t>else </a:t>
            </a:r>
            <a:r>
              <a:rPr lang="en-GB" dirty="0">
                <a:latin typeface="Lucida Console" pitchFamily="49" charset="0"/>
              </a:rPr>
              <a:t>{</a:t>
            </a:r>
          </a:p>
          <a:p>
            <a:pPr eaLnBrk="0" hangingPunct="0">
              <a:defRPr/>
            </a:pP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"Try again!"</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p>
        </p:txBody>
      </p:sp>
      <p:sp>
        <p:nvSpPr>
          <p:cNvPr id="2" name="Speech Bubble: Rectangle with Corners Rounded 1">
            <a:extLst>
              <a:ext uri="{FF2B5EF4-FFF2-40B4-BE49-F238E27FC236}">
                <a16:creationId xmlns:a16="http://schemas.microsoft.com/office/drawing/2014/main" id="{8889EDB8-500C-48C9-A090-60AD5A13BE82}"/>
              </a:ext>
            </a:extLst>
          </p:cNvPr>
          <p:cNvSpPr/>
          <p:nvPr/>
        </p:nvSpPr>
        <p:spPr>
          <a:xfrm>
            <a:off x="6741042" y="2072161"/>
            <a:ext cx="2892056" cy="506801"/>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dirty="0">
                <a:solidFill>
                  <a:schemeClr val="bg1"/>
                </a:solidFill>
                <a:latin typeface="Lucida Console" pitchFamily="49" charset="0"/>
              </a:rPr>
              <a:t>'if'</a:t>
            </a:r>
            <a:r>
              <a:rPr lang="en-GB" dirty="0"/>
              <a:t> must come first</a:t>
            </a:r>
          </a:p>
        </p:txBody>
      </p:sp>
      <p:sp>
        <p:nvSpPr>
          <p:cNvPr id="10" name="Speech Bubble: Rectangle with Corners Rounded 9">
            <a:extLst>
              <a:ext uri="{FF2B5EF4-FFF2-40B4-BE49-F238E27FC236}">
                <a16:creationId xmlns:a16="http://schemas.microsoft.com/office/drawing/2014/main" id="{6B4A3769-A132-4FA7-9A2A-7970C3E2AD94}"/>
              </a:ext>
            </a:extLst>
          </p:cNvPr>
          <p:cNvSpPr/>
          <p:nvPr/>
        </p:nvSpPr>
        <p:spPr>
          <a:xfrm>
            <a:off x="6776482" y="3147783"/>
            <a:ext cx="3641841" cy="616822"/>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eaLnBrk="0" hangingPunct="0">
              <a:spcBef>
                <a:spcPct val="50000"/>
              </a:spcBef>
            </a:pPr>
            <a:r>
              <a:rPr lang="en-GB" sz="1600" dirty="0"/>
              <a:t>as many </a:t>
            </a:r>
            <a:r>
              <a:rPr lang="en-GB" sz="1600" dirty="0">
                <a:solidFill>
                  <a:schemeClr val="bg1"/>
                </a:solidFill>
                <a:latin typeface="Lucida Console" pitchFamily="49" charset="0"/>
              </a:rPr>
              <a:t>‘else if'</a:t>
            </a:r>
            <a:r>
              <a:rPr lang="en-GB" sz="1600" dirty="0"/>
              <a:t>(s) as needed</a:t>
            </a:r>
          </a:p>
        </p:txBody>
      </p:sp>
      <p:sp>
        <p:nvSpPr>
          <p:cNvPr id="12" name="Speech Bubble: Rectangle with Corners Rounded 11">
            <a:extLst>
              <a:ext uri="{FF2B5EF4-FFF2-40B4-BE49-F238E27FC236}">
                <a16:creationId xmlns:a16="http://schemas.microsoft.com/office/drawing/2014/main" id="{7D67B51E-9EC0-4B8E-9680-9FB2A42DCF79}"/>
              </a:ext>
            </a:extLst>
          </p:cNvPr>
          <p:cNvSpPr/>
          <p:nvPr/>
        </p:nvSpPr>
        <p:spPr>
          <a:xfrm>
            <a:off x="6776483" y="4716881"/>
            <a:ext cx="2892056" cy="779399"/>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dirty="0">
                <a:solidFill>
                  <a:schemeClr val="bg1"/>
                </a:solidFill>
                <a:latin typeface="Lucida Console" pitchFamily="49" charset="0"/>
              </a:rPr>
              <a:t>'else’</a:t>
            </a:r>
            <a:r>
              <a:rPr lang="en-GB" sz="1600" dirty="0"/>
              <a:t> </a:t>
            </a:r>
            <a:br>
              <a:rPr lang="en-GB" sz="1600" dirty="0"/>
            </a:br>
            <a:r>
              <a:rPr lang="en-GB" sz="1600" dirty="0"/>
              <a:t>(if needed) comes last</a:t>
            </a:r>
          </a:p>
        </p:txBody>
      </p:sp>
    </p:spTree>
    <p:extLst>
      <p:ext uri="{BB962C8B-B14F-4D97-AF65-F5344CB8AC3E}">
        <p14:creationId xmlns:p14="http://schemas.microsoft.com/office/powerpoint/2010/main" val="2496921297"/>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500" dirty="0"/>
              <a:t>The ternary Conditional Operator ( ? : )</a:t>
            </a:r>
          </a:p>
        </p:txBody>
      </p:sp>
      <p:sp>
        <p:nvSpPr>
          <p:cNvPr id="3" name="Content Placeholder 2"/>
          <p:cNvSpPr>
            <a:spLocks noGrp="1"/>
          </p:cNvSpPr>
          <p:nvPr>
            <p:ph idx="1"/>
          </p:nvPr>
        </p:nvSpPr>
        <p:spPr>
          <a:xfrm>
            <a:off x="341272" y="1368256"/>
            <a:ext cx="11516239" cy="747623"/>
          </a:xfrm>
        </p:spPr>
        <p:txBody>
          <a:bodyPr vert="horz" lIns="0" tIns="0" rIns="0" bIns="0" rtlCol="0" anchor="t" anchorCtr="0">
            <a:noAutofit/>
          </a:bodyPr>
          <a:lstStyle/>
          <a:p>
            <a:pPr marL="342900" indent="-342900">
              <a:buFont typeface="Arial" panose="020B0604020202020204" pitchFamily="34" charset="0"/>
              <a:buChar char="•"/>
            </a:pPr>
            <a:r>
              <a:rPr lang="en-GB" b="1" dirty="0"/>
              <a:t>Produces less code for simple if statements resulting in a value</a:t>
            </a:r>
          </a:p>
          <a:p>
            <a:pPr marL="342900" indent="-342900">
              <a:buFont typeface="Arial" panose="020B0604020202020204" pitchFamily="34" charset="0"/>
              <a:buChar char="•"/>
            </a:pPr>
            <a:r>
              <a:rPr lang="en-GB" b="1" dirty="0"/>
              <a:t>These two examples produce the same result.</a:t>
            </a:r>
          </a:p>
          <a:p>
            <a:pPr marL="342900" indent="-342900">
              <a:buFont typeface="Arial" panose="020B0604020202020204" pitchFamily="34" charset="0"/>
              <a:buChar char="•"/>
            </a:pPr>
            <a:endParaRPr lang="en-GB" b="1" dirty="0"/>
          </a:p>
        </p:txBody>
      </p:sp>
      <p:sp>
        <p:nvSpPr>
          <p:cNvPr id="13" name="Rectangle 12"/>
          <p:cNvSpPr/>
          <p:nvPr/>
        </p:nvSpPr>
        <p:spPr>
          <a:xfrm>
            <a:off x="7158808" y="2855291"/>
            <a:ext cx="4005378" cy="2308324"/>
          </a:xfrm>
          <a:prstGeom prst="rect">
            <a:avLst/>
          </a:prstGeom>
          <a:solidFill>
            <a:schemeClr val="bg1"/>
          </a:solidFill>
          <a:ln w="19050">
            <a:no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b="1" dirty="0">
                <a:solidFill>
                  <a:srgbClr val="0000FF"/>
                </a:solidFill>
                <a:latin typeface="Consolas" panose="020B0609020204030204" pitchFamily="49" charset="0"/>
              </a:rPr>
              <a:t>double</a:t>
            </a:r>
            <a:r>
              <a:rPr lang="en-GB" b="1" dirty="0">
                <a:solidFill>
                  <a:srgbClr val="000000"/>
                </a:solidFill>
                <a:latin typeface="Consolas" panose="020B0609020204030204" pitchFamily="49" charset="0"/>
              </a:rPr>
              <a:t> salary = </a:t>
            </a:r>
            <a:r>
              <a:rPr lang="en-GB" b="1" dirty="0" err="1">
                <a:solidFill>
                  <a:srgbClr val="000000"/>
                </a:solidFill>
                <a:latin typeface="Consolas" panose="020B0609020204030204" pitchFamily="49" charset="0"/>
              </a:rPr>
              <a:t>getSalary</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FF"/>
                </a:solidFill>
                <a:latin typeface="Consolas" panose="020B0609020204030204" pitchFamily="49" charset="0"/>
              </a:rPr>
              <a:t>if</a:t>
            </a:r>
            <a:r>
              <a:rPr lang="en-GB" b="1" dirty="0">
                <a:solidFill>
                  <a:srgbClr val="000000"/>
                </a:solidFill>
                <a:latin typeface="Consolas" panose="020B0609020204030204" pitchFamily="49" charset="0"/>
              </a:rPr>
              <a:t>(salary &lt; 21000) {</a:t>
            </a:r>
          </a:p>
          <a:p>
            <a:r>
              <a:rPr lang="en-GB" b="1" dirty="0">
                <a:solidFill>
                  <a:srgbClr val="000000"/>
                </a:solidFill>
                <a:latin typeface="Consolas" panose="020B0609020204030204" pitchFamily="49" charset="0"/>
              </a:rPr>
              <a:t>    rate = 0.2;</a:t>
            </a:r>
          </a:p>
          <a:p>
            <a:r>
              <a:rPr lang="en-GB" b="1" dirty="0">
                <a:solidFill>
                  <a:srgbClr val="000000"/>
                </a:solidFill>
                <a:latin typeface="Consolas" panose="020B0609020204030204" pitchFamily="49" charset="0"/>
              </a:rPr>
              <a:t>}</a:t>
            </a:r>
          </a:p>
          <a:p>
            <a:r>
              <a:rPr lang="en-GB" b="1" dirty="0">
                <a:solidFill>
                  <a:srgbClr val="0000FF"/>
                </a:solidFill>
                <a:latin typeface="Consolas" panose="020B0609020204030204" pitchFamily="49" charset="0"/>
              </a:rPr>
              <a:t>else</a:t>
            </a:r>
            <a:r>
              <a:rPr lang="en-GB" b="1" dirty="0">
                <a:solidFill>
                  <a:srgbClr val="000000"/>
                </a:solidFill>
                <a:latin typeface="Consolas" panose="020B0609020204030204" pitchFamily="49" charset="0"/>
              </a:rPr>
              <a:t> {</a:t>
            </a:r>
          </a:p>
          <a:p>
            <a:r>
              <a:rPr lang="en-GB" b="1" dirty="0">
                <a:solidFill>
                  <a:srgbClr val="000000"/>
                </a:solidFill>
                <a:latin typeface="Consolas" panose="020B0609020204030204" pitchFamily="49" charset="0"/>
              </a:rPr>
              <a:t>    rate = 0.4;</a:t>
            </a:r>
          </a:p>
          <a:p>
            <a:r>
              <a:rPr lang="en-GB" b="1" dirty="0">
                <a:solidFill>
                  <a:srgbClr val="000000"/>
                </a:solidFill>
                <a:latin typeface="Consolas" panose="020B0609020204030204" pitchFamily="49" charset="0"/>
              </a:rPr>
              <a:t>}</a:t>
            </a:r>
          </a:p>
        </p:txBody>
      </p:sp>
      <p:sp>
        <p:nvSpPr>
          <p:cNvPr id="14" name="Rectangle 13"/>
          <p:cNvSpPr/>
          <p:nvPr/>
        </p:nvSpPr>
        <p:spPr>
          <a:xfrm>
            <a:off x="686120" y="2855291"/>
            <a:ext cx="5819954" cy="923330"/>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0000FF"/>
                </a:solidFill>
                <a:latin typeface="Consolas" panose="020B0609020204030204" pitchFamily="49" charset="0"/>
              </a:rPr>
              <a:t>double</a:t>
            </a:r>
            <a:r>
              <a:rPr lang="en-GB" b="1" dirty="0">
                <a:solidFill>
                  <a:srgbClr val="000000"/>
                </a:solidFill>
                <a:latin typeface="Consolas" panose="020B0609020204030204" pitchFamily="49" charset="0"/>
              </a:rPr>
              <a:t> salary = </a:t>
            </a:r>
            <a:r>
              <a:rPr lang="en-GB" b="1" dirty="0" err="1">
                <a:solidFill>
                  <a:srgbClr val="000000"/>
                </a:solidFill>
                <a:latin typeface="Consolas" panose="020B0609020204030204" pitchFamily="49" charset="0"/>
              </a:rPr>
              <a:t>getSalary</a:t>
            </a:r>
            <a:r>
              <a:rPr lang="en-GB" b="1" dirty="0">
                <a:solidFill>
                  <a:srgbClr val="000000"/>
                </a:solidFill>
                <a:latin typeface="Consolas" panose="020B0609020204030204" pitchFamily="49" charset="0"/>
              </a:rPr>
              <a:t>();</a:t>
            </a:r>
          </a:p>
          <a:p>
            <a:endParaRPr lang="en-GB" b="1" dirty="0">
              <a:solidFill>
                <a:srgbClr val="000000"/>
              </a:solidFill>
              <a:latin typeface="Consolas" panose="020B0609020204030204" pitchFamily="49" charset="0"/>
            </a:endParaRPr>
          </a:p>
          <a:p>
            <a:r>
              <a:rPr lang="en-GB" b="1" dirty="0">
                <a:solidFill>
                  <a:srgbClr val="0000FF"/>
                </a:solidFill>
                <a:latin typeface="Consolas" panose="020B0609020204030204" pitchFamily="49" charset="0"/>
              </a:rPr>
              <a:t>double</a:t>
            </a:r>
            <a:r>
              <a:rPr lang="en-GB" b="1" dirty="0">
                <a:solidFill>
                  <a:srgbClr val="000000"/>
                </a:solidFill>
                <a:latin typeface="Consolas" panose="020B0609020204030204" pitchFamily="49" charset="0"/>
              </a:rPr>
              <a:t> rate = (salary &lt; 21000) ? 0.2 : 0.4;</a:t>
            </a:r>
          </a:p>
        </p:txBody>
      </p:sp>
    </p:spTree>
    <p:extLst>
      <p:ext uri="{BB962C8B-B14F-4D97-AF65-F5344CB8AC3E}">
        <p14:creationId xmlns:p14="http://schemas.microsoft.com/office/powerpoint/2010/main" val="2106363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Logical operators AND </a:t>
            </a:r>
            <a:r>
              <a:rPr lang="en-GB" dirty="0" err="1"/>
              <a:t>and</a:t>
            </a:r>
            <a:r>
              <a:rPr lang="en-GB" dirty="0"/>
              <a:t> OR</a:t>
            </a:r>
          </a:p>
        </p:txBody>
      </p:sp>
      <p:sp>
        <p:nvSpPr>
          <p:cNvPr id="6" name="Rectangle 12"/>
          <p:cNvSpPr>
            <a:spLocks noChangeArrowheads="1"/>
          </p:cNvSpPr>
          <p:nvPr/>
        </p:nvSpPr>
        <p:spPr bwMode="auto">
          <a:xfrm>
            <a:off x="9783866" y="1514362"/>
            <a:ext cx="797004" cy="990600"/>
          </a:xfrm>
          <a:prstGeom prst="rect">
            <a:avLst/>
          </a:prstGeom>
          <a:solidFill>
            <a:schemeClr val="accent4">
              <a:lumMod val="20000"/>
              <a:lumOff val="80000"/>
            </a:schemeClr>
          </a:solidFill>
          <a:ln w="19050">
            <a:noFill/>
            <a:miter lim="800000"/>
            <a:headEnd/>
            <a:tailEnd/>
          </a:ln>
          <a:effectLst>
            <a:outerShdw blurRad="50800" dist="38100" algn="l" rotWithShape="0">
              <a:prstClr val="black">
                <a:alpha val="40000"/>
              </a:prstClr>
            </a:outerShdw>
          </a:effectLst>
        </p:spPr>
        <p:txBody>
          <a:bodyPr wrap="none" lIns="90488" tIns="44450" rIns="90488" bIns="44450"/>
          <a:lstStyle/>
          <a:p>
            <a:pPr defTabSz="739775" eaLnBrk="0" hangingPunct="0"/>
            <a:r>
              <a:rPr lang="en-GB" sz="2000" dirty="0"/>
              <a:t>AND</a:t>
            </a:r>
          </a:p>
          <a:p>
            <a:pPr defTabSz="739775" eaLnBrk="0" hangingPunct="0"/>
            <a:r>
              <a:rPr lang="en-GB" sz="2000" dirty="0"/>
              <a:t>OR</a:t>
            </a:r>
          </a:p>
          <a:p>
            <a:pPr defTabSz="739775" eaLnBrk="0" hangingPunct="0"/>
            <a:r>
              <a:rPr lang="en-GB" sz="2000" dirty="0"/>
              <a:t>NOT</a:t>
            </a:r>
          </a:p>
        </p:txBody>
      </p:sp>
      <p:sp>
        <p:nvSpPr>
          <p:cNvPr id="7" name="Rectangle 13"/>
          <p:cNvSpPr>
            <a:spLocks noChangeArrowheads="1"/>
          </p:cNvSpPr>
          <p:nvPr/>
        </p:nvSpPr>
        <p:spPr bwMode="auto">
          <a:xfrm>
            <a:off x="8959101" y="1514362"/>
            <a:ext cx="827623" cy="990600"/>
          </a:xfrm>
          <a:prstGeom prst="rect">
            <a:avLst/>
          </a:prstGeom>
          <a:solidFill>
            <a:schemeClr val="accent4">
              <a:lumMod val="20000"/>
              <a:lumOff val="80000"/>
            </a:schemeClr>
          </a:solidFill>
          <a:ln w="19050">
            <a:solidFill>
              <a:srgbClr val="004050"/>
            </a:solidFill>
            <a:miter lim="800000"/>
            <a:headEnd/>
            <a:tailEnd/>
          </a:ln>
        </p:spPr>
        <p:txBody>
          <a:bodyPr wrap="none" lIns="90488" tIns="44450" rIns="90488" bIns="44450"/>
          <a:lstStyle/>
          <a:p>
            <a:pPr defTabSz="739775" eaLnBrk="0" hangingPunct="0"/>
            <a:r>
              <a:rPr lang="en-GB" sz="2000" b="1" dirty="0">
                <a:latin typeface="Courier New" pitchFamily="49" charset="0"/>
              </a:rPr>
              <a:t>&amp;&amp;</a:t>
            </a:r>
          </a:p>
          <a:p>
            <a:pPr defTabSz="739775" eaLnBrk="0" hangingPunct="0"/>
            <a:r>
              <a:rPr lang="en-GB" sz="2000" b="1" dirty="0">
                <a:latin typeface="Courier New" pitchFamily="49" charset="0"/>
              </a:rPr>
              <a:t>||</a:t>
            </a:r>
          </a:p>
          <a:p>
            <a:pPr defTabSz="739775" eaLnBrk="0" hangingPunct="0"/>
            <a:r>
              <a:rPr lang="en-GB" sz="2000" b="1" dirty="0">
                <a:latin typeface="Courier New" pitchFamily="49" charset="0"/>
              </a:rPr>
              <a:t>!</a:t>
            </a:r>
          </a:p>
          <a:p>
            <a:pPr defTabSz="739775" eaLnBrk="0" latinLnBrk="1" hangingPunct="0"/>
            <a:endParaRPr lang="en-GB" sz="2000" b="1" dirty="0">
              <a:latin typeface="Courier New" pitchFamily="49" charset="0"/>
            </a:endParaRPr>
          </a:p>
        </p:txBody>
      </p:sp>
      <p:sp>
        <p:nvSpPr>
          <p:cNvPr id="9" name="Rectangle 15"/>
          <p:cNvSpPr>
            <a:spLocks noChangeArrowheads="1"/>
          </p:cNvSpPr>
          <p:nvPr/>
        </p:nvSpPr>
        <p:spPr bwMode="auto">
          <a:xfrm>
            <a:off x="1820150" y="1506030"/>
            <a:ext cx="7015215" cy="147476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err="1">
                <a:solidFill>
                  <a:srgbClr val="0000C8"/>
                </a:solidFill>
                <a:latin typeface="Lucida Console" pitchFamily="49" charset="0"/>
              </a:rPr>
              <a:t>int</a:t>
            </a:r>
            <a:r>
              <a:rPr lang="en-GB" dirty="0">
                <a:latin typeface="Lucida Console" pitchFamily="49" charset="0"/>
              </a:rPr>
              <a:t> var1 = 4, var2 = 2, var3 = 0;</a:t>
            </a:r>
          </a:p>
          <a:p>
            <a:pPr defTabSz="739775" eaLnBrk="0" hangingPunct="0">
              <a:defRPr/>
            </a:pPr>
            <a:r>
              <a:rPr lang="en-GB" dirty="0">
                <a:solidFill>
                  <a:srgbClr val="0000FF"/>
                </a:solidFill>
                <a:latin typeface="Lucida Console" pitchFamily="49" charset="0"/>
              </a:rPr>
              <a:t>if </a:t>
            </a:r>
            <a:r>
              <a:rPr lang="en-GB" dirty="0">
                <a:latin typeface="Lucida Console" pitchFamily="49" charset="0"/>
              </a:rPr>
              <a:t>((var1 &gt; var2) </a:t>
            </a:r>
            <a:r>
              <a:rPr lang="en-GB" b="1" dirty="0">
                <a:solidFill>
                  <a:schemeClr val="accent4">
                    <a:lumMod val="75000"/>
                  </a:schemeClr>
                </a:solidFill>
                <a:latin typeface="Lucida Console" pitchFamily="49" charset="0"/>
              </a:rPr>
              <a:t>&amp;&amp;</a:t>
            </a:r>
            <a:r>
              <a:rPr lang="en-GB" dirty="0">
                <a:latin typeface="Lucida Console" pitchFamily="49" charset="0"/>
              </a:rPr>
              <a:t> (var3 == 0))</a:t>
            </a:r>
          </a:p>
          <a:p>
            <a:pPr defTabSz="739775" eaLnBrk="0" hangingPunct="0">
              <a:defRPr/>
            </a:pPr>
            <a:r>
              <a:rPr lang="en-GB" dirty="0">
                <a:latin typeface="Lucida Console" pitchFamily="49" charset="0"/>
              </a:rPr>
              <a:t>{</a:t>
            </a:r>
          </a:p>
          <a:p>
            <a:pPr defTabSz="739775" eaLnBrk="0" hangingPunct="0">
              <a:defRPr/>
            </a:pPr>
            <a:r>
              <a:rPr lang="en-GB" dirty="0">
                <a:latin typeface="Lucida Console" pitchFamily="49" charset="0"/>
              </a:rPr>
              <a:t>  	</a:t>
            </a:r>
            <a:r>
              <a:rPr lang="en-GB" sz="1800" dirty="0">
                <a:solidFill>
                  <a:srgbClr val="000000"/>
                </a:solidFill>
                <a:latin typeface="Consolas" panose="020B0609020204030204" pitchFamily="49" charset="0"/>
              </a:rPr>
              <a:t> </a:t>
            </a:r>
            <a:r>
              <a:rPr lang="en-GB" dirty="0" err="1">
                <a:solidFill>
                  <a:srgbClr val="000000"/>
                </a:solidFill>
                <a:latin typeface="Cascadia Mono" panose="020B0609020000020004" pitchFamily="49" charset="0"/>
              </a:rPr>
              <a:t>Console.WriteLine</a:t>
            </a:r>
            <a:r>
              <a:rPr lang="en-GB" dirty="0">
                <a:latin typeface="Lucida Console" pitchFamily="49" charset="0"/>
              </a:rPr>
              <a:t>( "Will we see this?" );</a:t>
            </a:r>
          </a:p>
          <a:p>
            <a:pPr defTabSz="739775" eaLnBrk="0" hangingPunct="0">
              <a:defRPr/>
            </a:pPr>
            <a:r>
              <a:rPr lang="en-GB" dirty="0">
                <a:latin typeface="Lucida Console" pitchFamily="49" charset="0"/>
              </a:rPr>
              <a:t>}</a:t>
            </a:r>
          </a:p>
        </p:txBody>
      </p:sp>
      <p:sp>
        <p:nvSpPr>
          <p:cNvPr id="12" name="Rectangle 15"/>
          <p:cNvSpPr>
            <a:spLocks noChangeArrowheads="1"/>
          </p:cNvSpPr>
          <p:nvPr/>
        </p:nvSpPr>
        <p:spPr bwMode="auto">
          <a:xfrm>
            <a:off x="1815186" y="3098081"/>
            <a:ext cx="7020470" cy="1474763"/>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err="1">
                <a:solidFill>
                  <a:srgbClr val="0000C8"/>
                </a:solidFill>
                <a:latin typeface="Lucida Console" pitchFamily="49" charset="0"/>
              </a:rPr>
              <a:t>int</a:t>
            </a:r>
            <a:r>
              <a:rPr lang="en-GB" dirty="0">
                <a:latin typeface="Lucida Console" pitchFamily="49" charset="0"/>
              </a:rPr>
              <a:t> var1 = 4, var2 = 6, var3 = 0;</a:t>
            </a:r>
          </a:p>
          <a:p>
            <a:pPr defTabSz="739775" eaLnBrk="0" hangingPunct="0">
              <a:defRPr/>
            </a:pPr>
            <a:r>
              <a:rPr lang="en-GB" dirty="0">
                <a:solidFill>
                  <a:srgbClr val="0000FF"/>
                </a:solidFill>
                <a:latin typeface="Lucida Console" pitchFamily="49" charset="0"/>
              </a:rPr>
              <a:t>if </a:t>
            </a:r>
            <a:r>
              <a:rPr lang="en-GB" dirty="0">
                <a:latin typeface="Lucida Console" pitchFamily="49" charset="0"/>
              </a:rPr>
              <a:t>((var1 &gt; var2) </a:t>
            </a:r>
            <a:r>
              <a:rPr lang="en-GB" b="1" dirty="0">
                <a:solidFill>
                  <a:schemeClr val="accent4">
                    <a:lumMod val="75000"/>
                  </a:schemeClr>
                </a:solidFill>
                <a:latin typeface="Lucida Console" pitchFamily="49" charset="0"/>
              </a:rPr>
              <a:t>||</a:t>
            </a:r>
            <a:r>
              <a:rPr lang="en-GB" dirty="0">
                <a:latin typeface="Lucida Console" pitchFamily="49" charset="0"/>
              </a:rPr>
              <a:t> (var3 == 0))</a:t>
            </a:r>
          </a:p>
          <a:p>
            <a:pPr defTabSz="739775" eaLnBrk="0" hangingPunct="0">
              <a:defRPr/>
            </a:pPr>
            <a:r>
              <a:rPr lang="en-GB" dirty="0">
                <a:latin typeface="Lucida Console" pitchFamily="49" charset="0"/>
              </a:rPr>
              <a:t>{</a:t>
            </a:r>
          </a:p>
          <a:p>
            <a:pPr defTabSz="739775" eaLnBrk="0" hangingPunct="0">
              <a:defRPr/>
            </a:pPr>
            <a:r>
              <a:rPr lang="en-GB" dirty="0">
                <a:latin typeface="Lucida Console" pitchFamily="49" charset="0"/>
              </a:rPr>
              <a:t> 	</a:t>
            </a:r>
            <a:r>
              <a:rPr lang="en-GB" dirty="0">
                <a:solidFill>
                  <a:srgbClr val="000000"/>
                </a:solidFill>
                <a:latin typeface="Cascadia Mono" panose="020B0609020000020004" pitchFamily="49" charset="0"/>
              </a:rPr>
              <a:t> </a:t>
            </a:r>
            <a:r>
              <a:rPr lang="en-GB" dirty="0" err="1">
                <a:solidFill>
                  <a:srgbClr val="000000"/>
                </a:solidFill>
                <a:latin typeface="Cascadia Mono" panose="020B0609020000020004" pitchFamily="49" charset="0"/>
              </a:rPr>
              <a:t>Console.WriteLine</a:t>
            </a:r>
            <a:r>
              <a:rPr lang="en-GB" dirty="0">
                <a:latin typeface="Lucida Console" pitchFamily="49" charset="0"/>
              </a:rPr>
              <a:t>( "Will we see this?" );</a:t>
            </a:r>
          </a:p>
          <a:p>
            <a:pPr defTabSz="739775" eaLnBrk="0" hangingPunct="0">
              <a:defRPr/>
            </a:pPr>
            <a:r>
              <a:rPr lang="en-GB" dirty="0">
                <a:latin typeface="Lucida Console" pitchFamily="49" charset="0"/>
              </a:rPr>
              <a:t>}</a:t>
            </a:r>
          </a:p>
        </p:txBody>
      </p:sp>
      <p:sp>
        <p:nvSpPr>
          <p:cNvPr id="13" name="Rectangle 15"/>
          <p:cNvSpPr>
            <a:spLocks noChangeArrowheads="1"/>
          </p:cNvSpPr>
          <p:nvPr/>
        </p:nvSpPr>
        <p:spPr bwMode="auto">
          <a:xfrm>
            <a:off x="1808308" y="4700319"/>
            <a:ext cx="7027751" cy="147476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err="1">
                <a:solidFill>
                  <a:srgbClr val="0000C8"/>
                </a:solidFill>
                <a:latin typeface="Lucida Console" pitchFamily="49" charset="0"/>
              </a:rPr>
              <a:t>int</a:t>
            </a:r>
            <a:r>
              <a:rPr lang="en-GB" dirty="0">
                <a:latin typeface="Lucida Console" pitchFamily="49" charset="0"/>
              </a:rPr>
              <a:t> var1 = 1, var2 = 2, var3 = 3;</a:t>
            </a:r>
          </a:p>
          <a:p>
            <a:pPr defTabSz="739775" eaLnBrk="0" hangingPunct="0">
              <a:defRPr/>
            </a:pPr>
            <a:r>
              <a:rPr lang="en-GB" dirty="0">
                <a:solidFill>
                  <a:srgbClr val="0000FF"/>
                </a:solidFill>
                <a:latin typeface="Lucida Console" pitchFamily="49" charset="0"/>
              </a:rPr>
              <a:t>if </a:t>
            </a:r>
            <a:r>
              <a:rPr lang="en-GB" dirty="0">
                <a:solidFill>
                  <a:srgbClr val="000000"/>
                </a:solidFill>
                <a:latin typeface="Lucida Console" pitchFamily="49" charset="0"/>
              </a:rPr>
              <a:t>( (var1</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1</a:t>
            </a:r>
            <a:r>
              <a:rPr lang="en-GB" dirty="0">
                <a:solidFill>
                  <a:srgbClr val="FF00FF"/>
                </a:solidFill>
                <a:latin typeface="Lucida Console" pitchFamily="49" charset="0"/>
              </a:rPr>
              <a:t> </a:t>
            </a:r>
            <a:r>
              <a:rPr lang="en-GB" b="1" dirty="0">
                <a:solidFill>
                  <a:schemeClr val="accent4">
                    <a:lumMod val="75000"/>
                  </a:schemeClr>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var2</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2) </a:t>
            </a:r>
            <a:r>
              <a:rPr lang="en-GB" b="1" dirty="0">
                <a:solidFill>
                  <a:schemeClr val="accent4">
                    <a:lumMod val="75000"/>
                  </a:schemeClr>
                </a:solidFill>
                <a:latin typeface="Lucida Console" pitchFamily="49" charset="0"/>
              </a:rPr>
              <a:t>&amp;&amp;</a:t>
            </a:r>
            <a:r>
              <a:rPr lang="en-GB" dirty="0">
                <a:solidFill>
                  <a:srgbClr val="000000"/>
                </a:solidFill>
                <a:latin typeface="Lucida Console" pitchFamily="49" charset="0"/>
              </a:rPr>
              <a:t> var3 == 1)</a:t>
            </a:r>
          </a:p>
          <a:p>
            <a:pPr defTabSz="739775" eaLnBrk="0" hangingPunct="0">
              <a:defRPr/>
            </a:pPr>
            <a:r>
              <a:rPr lang="en-GB" dirty="0">
                <a:latin typeface="Lucida Console" pitchFamily="49" charset="0"/>
              </a:rPr>
              <a:t>{</a:t>
            </a:r>
          </a:p>
          <a:p>
            <a:pPr defTabSz="739775" eaLnBrk="0" hangingPunct="0">
              <a:defRPr/>
            </a:pPr>
            <a:r>
              <a:rPr lang="en-GB" dirty="0">
                <a:latin typeface="Lucida Console" pitchFamily="49" charset="0"/>
              </a:rPr>
              <a:t> 	</a:t>
            </a:r>
            <a:r>
              <a:rPr lang="en-GB" dirty="0">
                <a:solidFill>
                  <a:srgbClr val="000000"/>
                </a:solidFill>
                <a:latin typeface="Cascadia Mono" panose="020B0609020000020004" pitchFamily="49" charset="0"/>
              </a:rPr>
              <a:t> </a:t>
            </a:r>
            <a:r>
              <a:rPr lang="en-GB" dirty="0" err="1">
                <a:solidFill>
                  <a:srgbClr val="000000"/>
                </a:solidFill>
                <a:latin typeface="Cascadia Mono" panose="020B0609020000020004" pitchFamily="49" charset="0"/>
              </a:rPr>
              <a:t>Console.WriteLine</a:t>
            </a:r>
            <a:r>
              <a:rPr lang="en-GB" dirty="0">
                <a:latin typeface="Lucida Console" pitchFamily="49" charset="0"/>
              </a:rPr>
              <a:t>( "Will we see this?" );</a:t>
            </a:r>
          </a:p>
          <a:p>
            <a:pPr defTabSz="739775" eaLnBrk="0" hangingPunct="0">
              <a:defRPr/>
            </a:pPr>
            <a:r>
              <a:rPr lang="en-GB" dirty="0">
                <a:latin typeface="Lucida Console" pitchFamily="49" charset="0"/>
              </a:rPr>
              <a:t>}</a:t>
            </a:r>
          </a:p>
        </p:txBody>
      </p:sp>
      <p:sp>
        <p:nvSpPr>
          <p:cNvPr id="11" name="Rectangle 15"/>
          <p:cNvSpPr>
            <a:spLocks noChangeArrowheads="1"/>
          </p:cNvSpPr>
          <p:nvPr/>
        </p:nvSpPr>
        <p:spPr bwMode="auto">
          <a:xfrm>
            <a:off x="8503591" y="1505882"/>
            <a:ext cx="332468" cy="369332"/>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nchor="ctr">
            <a:spAutoFit/>
          </a:bodyPr>
          <a:lstStyle/>
          <a:p>
            <a:pPr algn="ctr" eaLnBrk="0" hangingPunct="0">
              <a:spcBef>
                <a:spcPct val="50000"/>
              </a:spcBef>
            </a:pPr>
            <a:r>
              <a:rPr lang="en-GB" dirty="0"/>
              <a:t>A</a:t>
            </a:r>
          </a:p>
        </p:txBody>
      </p:sp>
      <p:sp>
        <p:nvSpPr>
          <p:cNvPr id="14" name="Rectangle 15"/>
          <p:cNvSpPr>
            <a:spLocks noChangeArrowheads="1"/>
          </p:cNvSpPr>
          <p:nvPr/>
        </p:nvSpPr>
        <p:spPr bwMode="auto">
          <a:xfrm>
            <a:off x="8503591" y="3094090"/>
            <a:ext cx="332468" cy="369332"/>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nchor="ctr">
            <a:spAutoFit/>
          </a:bodyPr>
          <a:lstStyle/>
          <a:p>
            <a:pPr algn="ctr" eaLnBrk="0" hangingPunct="0">
              <a:spcBef>
                <a:spcPct val="50000"/>
              </a:spcBef>
            </a:pPr>
            <a:r>
              <a:rPr lang="en-GB" dirty="0"/>
              <a:t>B</a:t>
            </a:r>
          </a:p>
        </p:txBody>
      </p:sp>
      <p:sp>
        <p:nvSpPr>
          <p:cNvPr id="15" name="Rectangle 15"/>
          <p:cNvSpPr>
            <a:spLocks noChangeArrowheads="1"/>
          </p:cNvSpPr>
          <p:nvPr/>
        </p:nvSpPr>
        <p:spPr bwMode="auto">
          <a:xfrm>
            <a:off x="8503591" y="4694404"/>
            <a:ext cx="332468" cy="369332"/>
          </a:xfrm>
          <a:prstGeom prst="rect">
            <a:avLst/>
          </a:prstGeom>
          <a:ln>
            <a:headEnd/>
            <a:tailEnd/>
          </a:ln>
        </p:spPr>
        <p:style>
          <a:lnRef idx="0">
            <a:schemeClr val="accent3"/>
          </a:lnRef>
          <a:fillRef idx="3">
            <a:schemeClr val="accent3"/>
          </a:fillRef>
          <a:effectRef idx="3">
            <a:schemeClr val="accent3"/>
          </a:effectRef>
          <a:fontRef idx="minor">
            <a:schemeClr val="lt1"/>
          </a:fontRef>
        </p:style>
        <p:txBody>
          <a:bodyPr wrap="square" anchor="ctr">
            <a:spAutoFit/>
          </a:bodyPr>
          <a:lstStyle/>
          <a:p>
            <a:pPr algn="ctr" eaLnBrk="0" hangingPunct="0">
              <a:spcBef>
                <a:spcPct val="50000"/>
              </a:spcBef>
            </a:pPr>
            <a:r>
              <a:rPr lang="en-GB" dirty="0"/>
              <a:t>C</a:t>
            </a:r>
          </a:p>
        </p:txBody>
      </p:sp>
    </p:spTree>
    <p:extLst>
      <p:ext uri="{BB962C8B-B14F-4D97-AF65-F5344CB8AC3E}">
        <p14:creationId xmlns:p14="http://schemas.microsoft.com/office/powerpoint/2010/main" val="23658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GB" dirty="0"/>
              <a:t>The switch Statement</a:t>
            </a:r>
          </a:p>
        </p:txBody>
      </p:sp>
      <p:sp>
        <p:nvSpPr>
          <p:cNvPr id="21507" name="Rectangle 3"/>
          <p:cNvSpPr>
            <a:spLocks noGrp="1" noChangeArrowheads="1"/>
          </p:cNvSpPr>
          <p:nvPr>
            <p:ph idx="1"/>
          </p:nvPr>
        </p:nvSpPr>
        <p:spPr>
          <a:xfrm>
            <a:off x="341272" y="1387712"/>
            <a:ext cx="11583635" cy="5192800"/>
          </a:xfrm>
        </p:spPr>
        <p:txBody>
          <a:bodyPr vert="horz" lIns="0" tIns="0" rIns="0" bIns="0" rtlCol="0" anchor="t" anchorCtr="0">
            <a:noAutofit/>
          </a:bodyPr>
          <a:lstStyle/>
          <a:p>
            <a:pPr marL="342900" indent="-342900">
              <a:buFont typeface="Arial" panose="020B0604020202020204" pitchFamily="34" charset="0"/>
              <a:buChar char="•"/>
            </a:pPr>
            <a:r>
              <a:rPr lang="en-GB" b="1" dirty="0"/>
              <a:t>Tests an integer, </a:t>
            </a:r>
            <a:r>
              <a:rPr lang="en-GB" b="1" dirty="0" err="1"/>
              <a:t>enum</a:t>
            </a:r>
            <a:r>
              <a:rPr lang="en-GB" b="1" dirty="0"/>
              <a:t>, char or String</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Statements may be in any order</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Often elegant alternative to</a:t>
            </a:r>
            <a:r>
              <a:rPr lang="en-GB" b="1" dirty="0">
                <a:solidFill>
                  <a:srgbClr val="0070C0"/>
                </a:solidFill>
              </a:rPr>
              <a:t> if…else if… else</a:t>
            </a:r>
            <a:br>
              <a:rPr lang="en-GB" b="1" dirty="0"/>
            </a:br>
            <a:endParaRPr lang="en-GB" b="1" dirty="0"/>
          </a:p>
          <a:p>
            <a:pPr marL="342900" indent="-342900">
              <a:buFont typeface="Arial" panose="020B0604020202020204" pitchFamily="34" charset="0"/>
              <a:buChar char="•"/>
            </a:pPr>
            <a:r>
              <a:rPr lang="en-GB" b="1" dirty="0"/>
              <a:t>Each case part must have a break</a:t>
            </a:r>
            <a:endParaRPr lang="en-GB" dirty="0"/>
          </a:p>
        </p:txBody>
      </p:sp>
      <p:sp>
        <p:nvSpPr>
          <p:cNvPr id="840708" name="Rectangle 4"/>
          <p:cNvSpPr>
            <a:spLocks noChangeArrowheads="1"/>
          </p:cNvSpPr>
          <p:nvPr/>
        </p:nvSpPr>
        <p:spPr bwMode="auto">
          <a:xfrm>
            <a:off x="8822465" y="735043"/>
            <a:ext cx="3171742" cy="562974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dirty="0">
                <a:solidFill>
                  <a:srgbClr val="0000C8"/>
                </a:solidFill>
                <a:latin typeface="Lucida Console" pitchFamily="49" charset="0"/>
              </a:rPr>
              <a:t>int</a:t>
            </a:r>
            <a:r>
              <a:rPr lang="en-GB" dirty="0">
                <a:latin typeface="Lucida Console" pitchFamily="49" charset="0"/>
              </a:rPr>
              <a:t> no = 1, res;</a:t>
            </a:r>
            <a:endParaRPr lang="en-GB" dirty="0">
              <a:solidFill>
                <a:srgbClr val="0000C8"/>
              </a:solidFill>
              <a:latin typeface="Lucida Console" pitchFamily="49" charset="0"/>
            </a:endParaRPr>
          </a:p>
          <a:p>
            <a:pPr eaLnBrk="0" hangingPunct="0">
              <a:defRPr/>
            </a:pPr>
            <a:endParaRPr lang="en-GB" dirty="0">
              <a:solidFill>
                <a:srgbClr val="0000C8"/>
              </a:solidFill>
              <a:latin typeface="Lucida Console" pitchFamily="49" charset="0"/>
            </a:endParaRPr>
          </a:p>
          <a:p>
            <a:pPr eaLnBrk="0" hangingPunct="0">
              <a:defRPr/>
            </a:pPr>
            <a:r>
              <a:rPr lang="en-GB" b="1" dirty="0">
                <a:solidFill>
                  <a:srgbClr val="0000C8"/>
                </a:solidFill>
                <a:latin typeface="Lucida Console" pitchFamily="49" charset="0"/>
              </a:rPr>
              <a:t>switch </a:t>
            </a:r>
            <a:r>
              <a:rPr lang="en-GB" b="1" dirty="0">
                <a:solidFill>
                  <a:srgbClr val="000000"/>
                </a:solidFill>
                <a:latin typeface="Lucida Console" pitchFamily="49" charset="0"/>
              </a:rPr>
              <a:t>( no ) {</a:t>
            </a:r>
          </a:p>
          <a:p>
            <a:pPr eaLnBrk="0" hangingPunct="0">
              <a:defRPr/>
            </a:pPr>
            <a:endParaRPr lang="en-GB" b="1" dirty="0">
              <a:solidFill>
                <a:srgbClr val="000000"/>
              </a:solidFill>
              <a:latin typeface="Lucida Console" pitchFamily="49" charset="0"/>
            </a:endParaRPr>
          </a:p>
          <a:p>
            <a:pPr lvl="1" eaLnBrk="0" hangingPunct="0">
              <a:defRPr/>
            </a:pPr>
            <a:r>
              <a:rPr lang="en-GB" b="1" dirty="0">
                <a:solidFill>
                  <a:srgbClr val="000000"/>
                </a:solidFill>
                <a:latin typeface="Lucida Console" pitchFamily="49" charset="0"/>
              </a:rPr>
              <a:t> </a:t>
            </a:r>
            <a:r>
              <a:rPr lang="en-GB" b="1" dirty="0">
                <a:solidFill>
                  <a:srgbClr val="0000C8"/>
                </a:solidFill>
                <a:latin typeface="Lucida Console" pitchFamily="49" charset="0"/>
              </a:rPr>
              <a:t>case</a:t>
            </a:r>
            <a:r>
              <a:rPr lang="en-GB" b="1" dirty="0">
                <a:solidFill>
                  <a:srgbClr val="0000FF"/>
                </a:solidFill>
                <a:latin typeface="Lucida Console" pitchFamily="49" charset="0"/>
              </a:rPr>
              <a:t> </a:t>
            </a:r>
            <a:r>
              <a:rPr lang="en-GB" b="1" dirty="0">
                <a:solidFill>
                  <a:srgbClr val="000000"/>
                </a:solidFill>
                <a:latin typeface="Lucida Console" pitchFamily="49" charset="0"/>
              </a:rPr>
              <a:t>0:</a:t>
            </a:r>
          </a:p>
          <a:p>
            <a:pPr lvl="1" eaLnBrk="0" hangingPunct="0">
              <a:defRPr/>
            </a:pPr>
            <a:r>
              <a:rPr lang="en-GB" b="1" dirty="0">
                <a:solidFill>
                  <a:schemeClr val="bg2"/>
                </a:solidFill>
                <a:latin typeface="Lucida Console" pitchFamily="49" charset="0"/>
              </a:rPr>
              <a:t>  </a:t>
            </a:r>
            <a:r>
              <a:rPr lang="en-GB" b="1" dirty="0">
                <a:latin typeface="Lucida Console" pitchFamily="49" charset="0"/>
              </a:rPr>
              <a:t>res = 23;</a:t>
            </a:r>
          </a:p>
          <a:p>
            <a:pPr lvl="1" eaLnBrk="0" hangingPunct="0">
              <a:defRPr/>
            </a:pPr>
            <a:r>
              <a:rPr lang="en-GB" b="1" dirty="0">
                <a:solidFill>
                  <a:srgbClr val="000000"/>
                </a:solidFill>
                <a:latin typeface="Lucida Console" pitchFamily="49" charset="0"/>
              </a:rPr>
              <a:t>  </a:t>
            </a:r>
            <a:r>
              <a:rPr lang="en-GB" b="1" dirty="0">
                <a:solidFill>
                  <a:srgbClr val="0000C8"/>
                </a:solidFill>
                <a:latin typeface="Lucida Console" pitchFamily="49" charset="0"/>
              </a:rPr>
              <a:t>break</a:t>
            </a:r>
            <a:r>
              <a:rPr lang="en-GB" b="1" dirty="0">
                <a:solidFill>
                  <a:srgbClr val="000000"/>
                </a:solidFill>
                <a:latin typeface="Lucida Console" pitchFamily="49" charset="0"/>
              </a:rPr>
              <a:t>;</a:t>
            </a:r>
          </a:p>
          <a:p>
            <a:pPr lvl="1" eaLnBrk="0" hangingPunct="0">
              <a:defRPr/>
            </a:pPr>
            <a:endParaRPr lang="en-GB" b="1" dirty="0">
              <a:solidFill>
                <a:srgbClr val="000000"/>
              </a:solidFill>
              <a:latin typeface="Lucida Console" pitchFamily="49" charset="0"/>
            </a:endParaRPr>
          </a:p>
          <a:p>
            <a:pPr lvl="1" eaLnBrk="0" hangingPunct="0">
              <a:defRPr/>
            </a:pPr>
            <a:r>
              <a:rPr lang="en-GB" b="1" dirty="0">
                <a:solidFill>
                  <a:srgbClr val="0000C8"/>
                </a:solidFill>
                <a:latin typeface="Lucida Console" pitchFamily="49" charset="0"/>
              </a:rPr>
              <a:t> case</a:t>
            </a:r>
            <a:r>
              <a:rPr lang="en-GB" b="1" dirty="0">
                <a:solidFill>
                  <a:srgbClr val="0000FF"/>
                </a:solidFill>
                <a:latin typeface="Lucida Console" pitchFamily="49" charset="0"/>
              </a:rPr>
              <a:t> </a:t>
            </a:r>
            <a:r>
              <a:rPr lang="en-GB" b="1" dirty="0">
                <a:solidFill>
                  <a:srgbClr val="000000"/>
                </a:solidFill>
                <a:latin typeface="Lucida Console" pitchFamily="49" charset="0"/>
              </a:rPr>
              <a:t>2:</a:t>
            </a:r>
          </a:p>
          <a:p>
            <a:pPr lvl="1" eaLnBrk="0" hangingPunct="0">
              <a:defRPr/>
            </a:pPr>
            <a:r>
              <a:rPr lang="en-GB" b="1" dirty="0">
                <a:solidFill>
                  <a:schemeClr val="bg2"/>
                </a:solidFill>
                <a:latin typeface="Lucida Console" pitchFamily="49" charset="0"/>
              </a:rPr>
              <a:t>  </a:t>
            </a:r>
            <a:r>
              <a:rPr lang="en-GB" b="1" dirty="0">
                <a:latin typeface="Lucida Console" pitchFamily="49" charset="0"/>
              </a:rPr>
              <a:t>res = 8;</a:t>
            </a:r>
            <a:br>
              <a:rPr lang="en-GB" b="1" dirty="0">
                <a:solidFill>
                  <a:schemeClr val="bg2"/>
                </a:solidFill>
                <a:latin typeface="Lucida Console" pitchFamily="49" charset="0"/>
              </a:rPr>
            </a:br>
            <a:r>
              <a:rPr lang="en-GB" b="1" dirty="0">
                <a:solidFill>
                  <a:schemeClr val="bg2"/>
                </a:solidFill>
                <a:latin typeface="Lucida Console" pitchFamily="49" charset="0"/>
              </a:rPr>
              <a:t>  </a:t>
            </a:r>
            <a:r>
              <a:rPr lang="en-GB" b="1" dirty="0">
                <a:solidFill>
                  <a:srgbClr val="0000C8"/>
                </a:solidFill>
                <a:latin typeface="Lucida Console" pitchFamily="49" charset="0"/>
              </a:rPr>
              <a:t>break;</a:t>
            </a:r>
          </a:p>
          <a:p>
            <a:pPr lvl="1" eaLnBrk="0" hangingPunct="0">
              <a:defRPr/>
            </a:pPr>
            <a:endParaRPr lang="en-GB" b="1" dirty="0">
              <a:solidFill>
                <a:srgbClr val="0000C8"/>
              </a:solidFill>
              <a:latin typeface="Lucida Console" pitchFamily="49" charset="0"/>
            </a:endParaRPr>
          </a:p>
          <a:p>
            <a:pPr lvl="1" eaLnBrk="0" hangingPunct="0">
              <a:defRPr/>
            </a:pPr>
            <a:r>
              <a:rPr lang="en-GB" b="1" dirty="0">
                <a:solidFill>
                  <a:srgbClr val="0000C8"/>
                </a:solidFill>
                <a:latin typeface="Lucida Console" pitchFamily="49" charset="0"/>
              </a:rPr>
              <a:t> case</a:t>
            </a:r>
            <a:r>
              <a:rPr lang="en-GB" b="1" dirty="0">
                <a:solidFill>
                  <a:srgbClr val="0000FF"/>
                </a:solidFill>
                <a:latin typeface="Lucida Console" pitchFamily="49" charset="0"/>
              </a:rPr>
              <a:t> </a:t>
            </a:r>
            <a:r>
              <a:rPr lang="en-GB" b="1" dirty="0">
                <a:solidFill>
                  <a:srgbClr val="000000"/>
                </a:solidFill>
                <a:latin typeface="Lucida Console" pitchFamily="49" charset="0"/>
              </a:rPr>
              <a:t>1: </a:t>
            </a:r>
            <a:r>
              <a:rPr lang="en-GB" b="1" dirty="0">
                <a:solidFill>
                  <a:srgbClr val="0000C8"/>
                </a:solidFill>
                <a:latin typeface="Lucida Console" pitchFamily="49" charset="0"/>
              </a:rPr>
              <a:t>case</a:t>
            </a:r>
            <a:r>
              <a:rPr lang="en-GB" b="1" dirty="0">
                <a:solidFill>
                  <a:srgbClr val="000000"/>
                </a:solidFill>
                <a:latin typeface="Lucida Console" pitchFamily="49" charset="0"/>
              </a:rPr>
              <a:t> 2:</a:t>
            </a:r>
          </a:p>
          <a:p>
            <a:pPr lvl="1" eaLnBrk="0" hangingPunct="0">
              <a:defRPr/>
            </a:pPr>
            <a:r>
              <a:rPr lang="en-GB" b="1" dirty="0">
                <a:solidFill>
                  <a:schemeClr val="bg2"/>
                </a:solidFill>
                <a:latin typeface="Lucida Console" pitchFamily="49" charset="0"/>
              </a:rPr>
              <a:t>  </a:t>
            </a:r>
            <a:r>
              <a:rPr lang="en-GB" b="1" dirty="0">
                <a:latin typeface="Lucida Console" pitchFamily="49" charset="0"/>
              </a:rPr>
              <a:t>res = 51;</a:t>
            </a:r>
            <a:br>
              <a:rPr lang="en-GB" b="1" dirty="0">
                <a:solidFill>
                  <a:schemeClr val="bg2"/>
                </a:solidFill>
                <a:latin typeface="Lucida Console" pitchFamily="49" charset="0"/>
              </a:rPr>
            </a:br>
            <a:r>
              <a:rPr lang="en-GB" b="1" dirty="0">
                <a:solidFill>
                  <a:schemeClr val="bg2"/>
                </a:solidFill>
                <a:latin typeface="Lucida Console" pitchFamily="49" charset="0"/>
              </a:rPr>
              <a:t>  </a:t>
            </a:r>
            <a:r>
              <a:rPr lang="en-GB" b="1" dirty="0">
                <a:solidFill>
                  <a:srgbClr val="0000C8"/>
                </a:solidFill>
                <a:latin typeface="Lucida Console" pitchFamily="49" charset="0"/>
              </a:rPr>
              <a:t>break;</a:t>
            </a:r>
          </a:p>
          <a:p>
            <a:pPr lvl="1" eaLnBrk="0" hangingPunct="0">
              <a:defRPr/>
            </a:pPr>
            <a:endParaRPr lang="en-GB" b="1" dirty="0">
              <a:solidFill>
                <a:srgbClr val="000000"/>
              </a:solidFill>
              <a:latin typeface="Lucida Console" pitchFamily="49" charset="0"/>
            </a:endParaRPr>
          </a:p>
          <a:p>
            <a:pPr lvl="1" eaLnBrk="0" hangingPunct="0">
              <a:defRPr/>
            </a:pPr>
            <a:r>
              <a:rPr lang="en-GB" b="1" dirty="0">
                <a:solidFill>
                  <a:srgbClr val="000000"/>
                </a:solidFill>
                <a:latin typeface="Lucida Console" pitchFamily="49" charset="0"/>
              </a:rPr>
              <a:t> </a:t>
            </a:r>
            <a:r>
              <a:rPr lang="en-GB" b="1" dirty="0">
                <a:solidFill>
                  <a:srgbClr val="0000C8"/>
                </a:solidFill>
                <a:latin typeface="Lucida Console" pitchFamily="49" charset="0"/>
              </a:rPr>
              <a:t>default</a:t>
            </a:r>
            <a:r>
              <a:rPr lang="en-GB" b="1" dirty="0">
                <a:solidFill>
                  <a:srgbClr val="000000"/>
                </a:solidFill>
                <a:latin typeface="Lucida Console" pitchFamily="49" charset="0"/>
              </a:rPr>
              <a:t>:</a:t>
            </a:r>
          </a:p>
          <a:p>
            <a:pPr lvl="1" eaLnBrk="0" hangingPunct="0">
              <a:defRPr/>
            </a:pPr>
            <a:r>
              <a:rPr lang="en-GB" b="1" dirty="0">
                <a:solidFill>
                  <a:schemeClr val="bg2"/>
                </a:solidFill>
                <a:latin typeface="Lucida Console" pitchFamily="49" charset="0"/>
              </a:rPr>
              <a:t>  </a:t>
            </a:r>
            <a:r>
              <a:rPr lang="en-GB" b="1" dirty="0">
                <a:latin typeface="Lucida Console" pitchFamily="49" charset="0"/>
              </a:rPr>
              <a:t>res = -1;</a:t>
            </a:r>
          </a:p>
          <a:p>
            <a:pPr lvl="1" eaLnBrk="0" hangingPunct="0">
              <a:defRPr/>
            </a:pPr>
            <a:r>
              <a:rPr lang="en-GB" b="1" dirty="0">
                <a:latin typeface="Lucida Console" pitchFamily="49" charset="0"/>
              </a:rPr>
              <a:t>  </a:t>
            </a:r>
            <a:r>
              <a:rPr lang="en-GB" b="1" dirty="0">
                <a:solidFill>
                  <a:srgbClr val="0000C8"/>
                </a:solidFill>
                <a:latin typeface="Lucida Console" pitchFamily="49" charset="0"/>
              </a:rPr>
              <a:t>break</a:t>
            </a:r>
            <a:r>
              <a:rPr lang="en-GB" b="1" dirty="0">
                <a:solidFill>
                  <a:srgbClr val="000000"/>
                </a:solidFill>
                <a:latin typeface="Lucida Console" pitchFamily="49" charset="0"/>
              </a:rPr>
              <a:t>;</a:t>
            </a:r>
          </a:p>
          <a:p>
            <a:pPr eaLnBrk="0" hangingPunct="0">
              <a:defRPr/>
            </a:pPr>
            <a:r>
              <a:rPr lang="en-GB" b="1" dirty="0">
                <a:solidFill>
                  <a:srgbClr val="000000"/>
                </a:solidFill>
                <a:latin typeface="Lucida Console" pitchFamily="49" charset="0"/>
              </a:rPr>
              <a:t>}</a:t>
            </a:r>
          </a:p>
        </p:txBody>
      </p:sp>
    </p:spTree>
    <p:extLst>
      <p:ext uri="{BB962C8B-B14F-4D97-AF65-F5344CB8AC3E}">
        <p14:creationId xmlns:p14="http://schemas.microsoft.com/office/powerpoint/2010/main" val="3925619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p:txBody>
          <a:bodyPr/>
          <a:lstStyle/>
          <a:p>
            <a:endParaRPr lang="en-IN"/>
          </a:p>
        </p:txBody>
      </p:sp>
      <p:sp>
        <p:nvSpPr>
          <p:cNvPr id="4" name="Title 3"/>
          <p:cNvSpPr>
            <a:spLocks noGrp="1"/>
          </p:cNvSpPr>
          <p:nvPr>
            <p:ph type="ctrTitle"/>
          </p:nvPr>
        </p:nvSpPr>
        <p:spPr>
          <a:xfrm>
            <a:off x="385301" y="1935395"/>
            <a:ext cx="3592020" cy="2277604"/>
          </a:xfrm>
        </p:spPr>
        <p:txBody>
          <a:bodyPr/>
          <a:lstStyle/>
          <a:p>
            <a:r>
              <a:rPr lang="en-US" dirty="0"/>
              <a:t>Methods</a:t>
            </a:r>
            <a:endParaRPr lang="en-IN" dirty="0"/>
          </a:p>
        </p:txBody>
      </p:sp>
    </p:spTree>
    <p:extLst>
      <p:ext uri="{BB962C8B-B14F-4D97-AF65-F5344CB8AC3E}">
        <p14:creationId xmlns:p14="http://schemas.microsoft.com/office/powerpoint/2010/main" val="2534931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algn="ctr"/>
            <a:r>
              <a:rPr lang="en-GB" sz="3200" dirty="0"/>
              <a:t>Example of a method with </a:t>
            </a:r>
            <a:r>
              <a:rPr lang="en-GB" sz="3200" b="1" dirty="0"/>
              <a:t>n</a:t>
            </a:r>
            <a:r>
              <a:rPr lang="en-GB" sz="2800" b="1" dirty="0">
                <a:cs typeface="Arial" pitchFamily="34" charset="0"/>
              </a:rPr>
              <a:t>o parameter and no returned value</a:t>
            </a:r>
            <a:endParaRPr lang="en-GB" sz="3200" dirty="0"/>
          </a:p>
        </p:txBody>
      </p:sp>
      <p:sp>
        <p:nvSpPr>
          <p:cNvPr id="21" name="Rectangle 20"/>
          <p:cNvSpPr/>
          <p:nvPr/>
        </p:nvSpPr>
        <p:spPr>
          <a:xfrm>
            <a:off x="1425889" y="2183057"/>
            <a:ext cx="7751204" cy="286232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b="1" dirty="0">
                <a:solidFill>
                  <a:srgbClr val="7F0055"/>
                </a:solidFill>
                <a:latin typeface="Consolas" panose="020B0609020204030204" pitchFamily="49" charset="0"/>
              </a:rPr>
              <a:t>public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class</a:t>
            </a:r>
            <a:r>
              <a:rPr lang="en-GB" b="1" dirty="0">
                <a:solidFill>
                  <a:srgbClr val="000000"/>
                </a:solidFill>
                <a:latin typeface="Consolas" panose="020B0609020204030204" pitchFamily="49" charset="0"/>
              </a:rPr>
              <a:t> Program {</a:t>
            </a:r>
            <a:endParaRPr lang="en-GB" dirty="0">
              <a:latin typeface="Consolas" panose="020B0609020204030204" pitchFamily="49" charset="0"/>
            </a:endParaRPr>
          </a:p>
          <a:p>
            <a:pPr lvl="1"/>
            <a:r>
              <a:rPr lang="en-GB" b="1" dirty="0">
                <a:solidFill>
                  <a:srgbClr val="7F0055"/>
                </a:solidFill>
                <a:latin typeface="Consolas" panose="020B0609020204030204" pitchFamily="49" charset="0"/>
              </a:rPr>
              <a:t>public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static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void</a:t>
            </a:r>
            <a:r>
              <a:rPr lang="en-GB" b="1" dirty="0">
                <a:solidFill>
                  <a:srgbClr val="000000"/>
                </a:solidFill>
                <a:latin typeface="Consolas" panose="020B0609020204030204" pitchFamily="49" charset="0"/>
              </a:rPr>
              <a:t> Main(string[] </a:t>
            </a:r>
            <a:r>
              <a:rPr lang="en-GB" b="1" dirty="0" err="1">
                <a:solidFill>
                  <a:srgbClr val="6A3E3E"/>
                </a:solidFill>
                <a:latin typeface="Consolas" panose="020B0609020204030204" pitchFamily="49" charset="0"/>
              </a:rPr>
              <a:t>args</a:t>
            </a:r>
            <a:r>
              <a:rPr lang="en-GB" b="1" dirty="0">
                <a:solidFill>
                  <a:srgbClr val="000000"/>
                </a:solidFill>
                <a:latin typeface="Consolas" panose="020B0609020204030204" pitchFamily="49" charset="0"/>
              </a:rPr>
              <a:t>) {</a:t>
            </a:r>
            <a:endParaRPr lang="en-GB" dirty="0">
              <a:latin typeface="Consolas" panose="020B0609020204030204" pitchFamily="49" charset="0"/>
            </a:endParaRPr>
          </a:p>
          <a:p>
            <a:pPr lvl="2"/>
            <a:r>
              <a:rPr lang="en-GB" b="1" dirty="0" err="1">
                <a:solidFill>
                  <a:srgbClr val="000000"/>
                </a:solidFill>
                <a:latin typeface="Consolas" panose="020B0609020204030204" pitchFamily="49" charset="0"/>
              </a:rPr>
              <a:t>updateAllSalaries</a:t>
            </a:r>
            <a:r>
              <a:rPr lang="en-GB" i="1" dirty="0">
                <a:solidFill>
                  <a:srgbClr val="000000"/>
                </a:solidFill>
                <a:latin typeface="Consolas" panose="020B0609020204030204" pitchFamily="49" charset="0"/>
              </a:rPr>
              <a:t>();</a:t>
            </a:r>
          </a:p>
          <a:p>
            <a:pPr lvl="1"/>
            <a:r>
              <a:rPr lang="en-GB" dirty="0">
                <a:solidFill>
                  <a:srgbClr val="000000"/>
                </a:solidFill>
                <a:latin typeface="Consolas" panose="020B0609020204030204" pitchFamily="49" charset="0"/>
              </a:rPr>
              <a:t>}</a:t>
            </a:r>
          </a:p>
          <a:p>
            <a:pPr lvl="1"/>
            <a:endParaRPr lang="en-GB" dirty="0">
              <a:latin typeface="Consolas" panose="020B0609020204030204" pitchFamily="49" charset="0"/>
            </a:endParaRPr>
          </a:p>
          <a:p>
            <a:pPr lvl="1"/>
            <a:r>
              <a:rPr lang="en-GB" b="1" dirty="0">
                <a:solidFill>
                  <a:srgbClr val="7F0055"/>
                </a:solidFill>
                <a:latin typeface="Consolas" panose="020B0609020204030204" pitchFamily="49" charset="0"/>
              </a:rPr>
              <a:t>private</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static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void</a:t>
            </a:r>
            <a:r>
              <a:rPr lang="en-GB" b="1" dirty="0">
                <a:solidFill>
                  <a:srgbClr val="000000"/>
                </a:solidFill>
                <a:latin typeface="Consolas" panose="020B0609020204030204" pitchFamily="49" charset="0"/>
              </a:rPr>
              <a:t> </a:t>
            </a:r>
            <a:r>
              <a:rPr lang="en-GB" b="1" dirty="0" err="1">
                <a:solidFill>
                  <a:srgbClr val="000000"/>
                </a:solidFill>
                <a:latin typeface="Consolas" panose="020B0609020204030204" pitchFamily="49" charset="0"/>
              </a:rPr>
              <a:t>updateAllSalaries</a:t>
            </a:r>
            <a:r>
              <a:rPr lang="en-GB" b="1" dirty="0">
                <a:solidFill>
                  <a:srgbClr val="000000"/>
                </a:solidFill>
                <a:latin typeface="Consolas" panose="020B0609020204030204" pitchFamily="49" charset="0"/>
              </a:rPr>
              <a:t>() {</a:t>
            </a:r>
          </a:p>
          <a:p>
            <a:pPr lvl="1"/>
            <a:r>
              <a:rPr lang="en-GB" dirty="0">
                <a:solidFill>
                  <a:srgbClr val="3F7F5F"/>
                </a:solidFill>
                <a:latin typeface="Consolas" panose="020B0609020204030204" pitchFamily="49" charset="0"/>
              </a:rPr>
              <a:t>	// Code to update all salaries</a:t>
            </a:r>
          </a:p>
          <a:p>
            <a:pPr lvl="1"/>
            <a:r>
              <a:rPr lang="en-GB"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a:t>
            </a:r>
          </a:p>
          <a:p>
            <a:endParaRPr lang="en-GB" dirty="0">
              <a:solidFill>
                <a:srgbClr val="000000"/>
              </a:solidFill>
              <a:latin typeface="Consolas" panose="020B0609020204030204" pitchFamily="49" charset="0"/>
            </a:endParaRPr>
          </a:p>
        </p:txBody>
      </p:sp>
      <p:sp>
        <p:nvSpPr>
          <p:cNvPr id="2" name="Rounded Rectangular Callout 1"/>
          <p:cNvSpPr/>
          <p:nvPr/>
        </p:nvSpPr>
        <p:spPr>
          <a:xfrm>
            <a:off x="7907469" y="2587340"/>
            <a:ext cx="3843543" cy="690881"/>
          </a:xfrm>
          <a:prstGeom prst="wedgeRoundRectCallout">
            <a:avLst>
              <a:gd name="adj1" fmla="val -58960"/>
              <a:gd name="adj2" fmla="val -27080"/>
              <a:gd name="adj3" fmla="val 16667"/>
            </a:avLst>
          </a:prstGeom>
          <a:solidFill>
            <a:schemeClr val="bg1">
              <a:lumMod val="9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The caller just calls the method and let it do its work!</a:t>
            </a:r>
          </a:p>
        </p:txBody>
      </p:sp>
    </p:spTree>
    <p:extLst>
      <p:ext uri="{BB962C8B-B14F-4D97-AF65-F5344CB8AC3E}">
        <p14:creationId xmlns:p14="http://schemas.microsoft.com/office/powerpoint/2010/main" val="124900432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39970" y="562058"/>
            <a:ext cx="11695011" cy="805001"/>
          </a:xfrm>
        </p:spPr>
        <p:txBody>
          <a:bodyPr>
            <a:noAutofit/>
          </a:bodyPr>
          <a:lstStyle/>
          <a:p>
            <a:r>
              <a:rPr lang="en-GB" sz="3400" dirty="0">
                <a:solidFill>
                  <a:schemeClr val="tx1"/>
                </a:solidFill>
              </a:rPr>
              <a:t>Example of a </a:t>
            </a:r>
            <a:r>
              <a:rPr lang="en-GB" sz="3400" dirty="0">
                <a:solidFill>
                  <a:srgbClr val="C00000"/>
                </a:solidFill>
              </a:rPr>
              <a:t>void </a:t>
            </a:r>
            <a:r>
              <a:rPr lang="en-GB" sz="3400" dirty="0">
                <a:solidFill>
                  <a:schemeClr val="tx1"/>
                </a:solidFill>
              </a:rPr>
              <a:t>method with two parameters</a:t>
            </a:r>
            <a:endParaRPr lang="en-GB" sz="3400" dirty="0"/>
          </a:p>
        </p:txBody>
      </p:sp>
      <p:sp>
        <p:nvSpPr>
          <p:cNvPr id="17" name="Rectangle 16"/>
          <p:cNvSpPr/>
          <p:nvPr/>
        </p:nvSpPr>
        <p:spPr>
          <a:xfrm>
            <a:off x="1846145" y="1378176"/>
            <a:ext cx="8457770" cy="3293209"/>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Program {</a:t>
            </a:r>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endParaRPr lang="en-GB" sz="1600" dirty="0">
              <a:latin typeface="Consolas" panose="020B0609020204030204" pitchFamily="49" charset="0"/>
            </a:endParaRPr>
          </a:p>
          <a:p>
            <a:pPr lvl="2"/>
            <a:r>
              <a:rPr lang="es-ES" sz="1600" b="1" dirty="0" err="1">
                <a:solidFill>
                  <a:srgbClr val="7F0055"/>
                </a:solidFill>
                <a:latin typeface="Consolas" panose="020B0609020204030204" pitchFamily="49" charset="0"/>
              </a:rPr>
              <a:t>int</a:t>
            </a:r>
            <a:r>
              <a:rPr lang="es-ES" sz="1600" b="1" dirty="0">
                <a:solidFill>
                  <a:srgbClr val="000000"/>
                </a:solidFill>
                <a:latin typeface="Consolas" panose="020B0609020204030204" pitchFamily="49" charset="0"/>
              </a:rPr>
              <a:t> </a:t>
            </a:r>
            <a:r>
              <a:rPr lang="es-ES" sz="1600" b="1" dirty="0">
                <a:solidFill>
                  <a:srgbClr val="6A3E3E"/>
                </a:solidFill>
                <a:latin typeface="Consolas" panose="020B0609020204030204" pitchFamily="49" charset="0"/>
              </a:rPr>
              <a:t>x</a:t>
            </a:r>
            <a:r>
              <a:rPr lang="es-ES" sz="1600" b="1" dirty="0">
                <a:solidFill>
                  <a:srgbClr val="000000"/>
                </a:solidFill>
                <a:latin typeface="Consolas" panose="020B0609020204030204" pitchFamily="49" charset="0"/>
              </a:rPr>
              <a:t> = 1, </a:t>
            </a:r>
            <a:r>
              <a:rPr lang="es-ES" sz="1600" b="1" dirty="0">
                <a:solidFill>
                  <a:srgbClr val="6A3E3E"/>
                </a:solidFill>
                <a:latin typeface="Consolas" panose="020B0609020204030204" pitchFamily="49" charset="0"/>
              </a:rPr>
              <a:t>y</a:t>
            </a:r>
            <a:r>
              <a:rPr lang="es-ES" sz="1600" b="1" dirty="0">
                <a:solidFill>
                  <a:srgbClr val="000000"/>
                </a:solidFill>
                <a:latin typeface="Consolas" panose="020B0609020204030204" pitchFamily="49" charset="0"/>
              </a:rPr>
              <a:t> = 2;</a:t>
            </a:r>
          </a:p>
          <a:p>
            <a:pPr lvl="2"/>
            <a:r>
              <a:rPr lang="en-GB" sz="1600" i="1" dirty="0">
                <a:solidFill>
                  <a:srgbClr val="000000"/>
                </a:solidFill>
                <a:latin typeface="Consolas" panose="020B0609020204030204" pitchFamily="49" charset="0"/>
              </a:rPr>
              <a:t>add(</a:t>
            </a:r>
            <a:r>
              <a:rPr lang="en-GB" sz="1600" i="1" dirty="0">
                <a:solidFill>
                  <a:srgbClr val="6A3E3E"/>
                </a:solidFill>
                <a:latin typeface="Consolas" panose="020B0609020204030204" pitchFamily="49" charset="0"/>
              </a:rPr>
              <a:t>x</a:t>
            </a:r>
            <a:r>
              <a:rPr lang="en-GB" sz="1600" i="1" dirty="0">
                <a:solidFill>
                  <a:srgbClr val="000000"/>
                </a:solidFill>
                <a:latin typeface="Consolas" panose="020B0609020204030204" pitchFamily="49" charset="0"/>
              </a:rPr>
              <a:t>, </a:t>
            </a:r>
            <a:r>
              <a:rPr lang="en-GB" sz="1600" i="1" dirty="0">
                <a:solidFill>
                  <a:srgbClr val="6A3E3E"/>
                </a:solidFill>
                <a:latin typeface="Consolas" panose="020B0609020204030204" pitchFamily="49" charset="0"/>
              </a:rPr>
              <a:t>y</a:t>
            </a:r>
            <a:r>
              <a:rPr lang="en-GB" sz="1600" i="1" dirty="0">
                <a:solidFill>
                  <a:srgbClr val="000000"/>
                </a:solidFill>
                <a:latin typeface="Consolas" panose="020B0609020204030204" pitchFamily="49" charset="0"/>
              </a:rPr>
              <a:t>);</a:t>
            </a:r>
          </a:p>
          <a:p>
            <a:pPr lvl="2"/>
            <a:endParaRPr lang="en-GB" sz="1600" i="1" dirty="0">
              <a:solidFill>
                <a:srgbClr val="000000"/>
              </a:solidFill>
              <a:latin typeface="Consolas" panose="020B0609020204030204" pitchFamily="49" charset="0"/>
            </a:endParaRPr>
          </a:p>
          <a:p>
            <a:pPr lvl="2"/>
            <a:r>
              <a:rPr lang="en-GB" sz="1600" i="1" dirty="0">
                <a:solidFill>
                  <a:srgbClr val="000000"/>
                </a:solidFill>
                <a:latin typeface="Consolas" panose="020B0609020204030204" pitchFamily="49" charset="0"/>
              </a:rPr>
              <a:t>add(</a:t>
            </a:r>
            <a:r>
              <a:rPr lang="en-GB" sz="1600" i="1" dirty="0">
                <a:solidFill>
                  <a:srgbClr val="6A3E3E"/>
                </a:solidFill>
                <a:latin typeface="Consolas" panose="020B0609020204030204" pitchFamily="49" charset="0"/>
              </a:rPr>
              <a:t>3</a:t>
            </a:r>
            <a:r>
              <a:rPr lang="en-GB" sz="1600" i="1" dirty="0">
                <a:solidFill>
                  <a:srgbClr val="000000"/>
                </a:solidFill>
                <a:latin typeface="Consolas" panose="020B0609020204030204" pitchFamily="49" charset="0"/>
              </a:rPr>
              <a:t>, </a:t>
            </a:r>
            <a:r>
              <a:rPr lang="en-GB" sz="1600" i="1" dirty="0">
                <a:solidFill>
                  <a:srgbClr val="6A3E3E"/>
                </a:solidFill>
                <a:latin typeface="Consolas" panose="020B0609020204030204" pitchFamily="49" charset="0"/>
              </a:rPr>
              <a:t>7</a:t>
            </a:r>
            <a:r>
              <a:rPr lang="en-GB" sz="1600" i="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add(</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b</a:t>
            </a:r>
            <a:r>
              <a:rPr lang="en-GB" sz="1600" b="1" dirty="0">
                <a:solidFill>
                  <a:srgbClr val="000000"/>
                </a:solidFill>
                <a:latin typeface="Consolas" panose="020B0609020204030204" pitchFamily="49" charset="0"/>
              </a:rPr>
              <a:t>) {</a:t>
            </a:r>
          </a:p>
          <a:p>
            <a:pPr lvl="1"/>
            <a:r>
              <a:rPr lang="en-GB" sz="1600" dirty="0">
                <a:solidFill>
                  <a:srgbClr val="000000"/>
                </a:solidFill>
                <a:latin typeface="Consolas" panose="020B0609020204030204" pitchFamily="49" charset="0"/>
              </a:rPr>
              <a:t>	</a:t>
            </a:r>
            <a:r>
              <a:rPr lang="en-GB" sz="1800" dirty="0">
                <a:solidFill>
                  <a:srgbClr val="000000"/>
                </a:solidFill>
                <a:latin typeface="Consolas" panose="020B0609020204030204" pitchFamily="49" charset="0"/>
              </a:rPr>
              <a:t> </a:t>
            </a:r>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a</a:t>
            </a:r>
            <a:r>
              <a:rPr lang="en-GB" sz="1600" b="1" i="1" dirty="0">
                <a:solidFill>
                  <a:srgbClr val="000000"/>
                </a:solidFill>
                <a:latin typeface="Consolas" panose="020B0609020204030204" pitchFamily="49" charset="0"/>
              </a:rPr>
              <a:t> + </a:t>
            </a:r>
            <a:r>
              <a:rPr lang="en-GB" sz="1600" b="1" i="1" dirty="0">
                <a:solidFill>
                  <a:srgbClr val="6A3E3E"/>
                </a:solidFill>
                <a:latin typeface="Consolas" panose="020B0609020204030204" pitchFamily="49" charset="0"/>
              </a:rPr>
              <a:t>b</a:t>
            </a:r>
            <a:r>
              <a:rPr lang="en-GB" sz="1600" b="1" i="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p>
          <a:p>
            <a:endParaRPr lang="en-GB" sz="1600" dirty="0">
              <a:solidFill>
                <a:srgbClr val="000000"/>
              </a:solidFill>
              <a:latin typeface="Consolas" panose="020B0609020204030204" pitchFamily="49" charset="0"/>
            </a:endParaRPr>
          </a:p>
        </p:txBody>
      </p:sp>
      <p:sp>
        <p:nvSpPr>
          <p:cNvPr id="2" name="Oval 1"/>
          <p:cNvSpPr/>
          <p:nvPr/>
        </p:nvSpPr>
        <p:spPr>
          <a:xfrm>
            <a:off x="4925575" y="2276460"/>
            <a:ext cx="395748" cy="331154"/>
          </a:xfrm>
          <a:prstGeom prst="ellipse">
            <a:avLst/>
          </a:prstGeom>
          <a:solidFill>
            <a:schemeClr val="accent1">
              <a:lumMod val="20000"/>
              <a:lumOff val="8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x</a:t>
            </a:r>
          </a:p>
        </p:txBody>
      </p:sp>
      <p:sp>
        <p:nvSpPr>
          <p:cNvPr id="10" name="Oval 9"/>
          <p:cNvSpPr/>
          <p:nvPr/>
        </p:nvSpPr>
        <p:spPr>
          <a:xfrm>
            <a:off x="5842440" y="2302632"/>
            <a:ext cx="349046" cy="319731"/>
          </a:xfrm>
          <a:prstGeom prst="ellipse">
            <a:avLst/>
          </a:prstGeom>
          <a:solidFill>
            <a:schemeClr val="accent1">
              <a:lumMod val="20000"/>
              <a:lumOff val="8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y</a:t>
            </a:r>
          </a:p>
        </p:txBody>
      </p:sp>
      <p:cxnSp>
        <p:nvCxnSpPr>
          <p:cNvPr id="6" name="Straight Arrow Connector 5"/>
          <p:cNvCxnSpPr>
            <a:stCxn id="2" idx="4"/>
          </p:cNvCxnSpPr>
          <p:nvPr/>
        </p:nvCxnSpPr>
        <p:spPr>
          <a:xfrm>
            <a:off x="5123449" y="2607614"/>
            <a:ext cx="365036" cy="733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0" idx="4"/>
          </p:cNvCxnSpPr>
          <p:nvPr/>
        </p:nvCxnSpPr>
        <p:spPr>
          <a:xfrm>
            <a:off x="6016963" y="2622362"/>
            <a:ext cx="292510" cy="718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89996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en-GB" dirty="0">
                <a:solidFill>
                  <a:schemeClr val="tx1"/>
                </a:solidFill>
              </a:rPr>
              <a:t>Example of method returning a value</a:t>
            </a:r>
            <a:endParaRPr lang="en-GB" dirty="0"/>
          </a:p>
        </p:txBody>
      </p:sp>
      <p:grpSp>
        <p:nvGrpSpPr>
          <p:cNvPr id="4" name="Group 3"/>
          <p:cNvGrpSpPr/>
          <p:nvPr/>
        </p:nvGrpSpPr>
        <p:grpSpPr>
          <a:xfrm>
            <a:off x="1853389" y="1531186"/>
            <a:ext cx="8457770" cy="4409745"/>
            <a:chOff x="329389" y="982755"/>
            <a:chExt cx="8457770" cy="4409745"/>
          </a:xfrm>
          <a:solidFill>
            <a:schemeClr val="accent5">
              <a:lumMod val="20000"/>
              <a:lumOff val="80000"/>
            </a:schemeClr>
          </a:solidFill>
          <a:effectLst>
            <a:outerShdw blurRad="50800" dist="38100" algn="l" rotWithShape="0">
              <a:prstClr val="black">
                <a:alpha val="40000"/>
              </a:prstClr>
            </a:outerShdw>
          </a:effectLst>
        </p:grpSpPr>
        <p:sp>
          <p:nvSpPr>
            <p:cNvPr id="16" name="Rectangle 15"/>
            <p:cNvSpPr/>
            <p:nvPr/>
          </p:nvSpPr>
          <p:spPr>
            <a:xfrm>
              <a:off x="329389" y="982755"/>
              <a:ext cx="8457770" cy="3539430"/>
            </a:xfrm>
            <a:prstGeom prst="rect">
              <a:avLst/>
            </a:prstGeom>
            <a:grpFill/>
            <a:ln w="19050">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Program {</a:t>
              </a:r>
              <a:endParaRPr lang="en-GB" sz="1600" b="1" dirty="0">
                <a:latin typeface="Consolas" panose="020B0609020204030204" pitchFamily="49" charset="0"/>
              </a:endParaRP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endParaRPr lang="en-GB" sz="1600" b="1" dirty="0">
                <a:latin typeface="Consolas" panose="020B0609020204030204" pitchFamily="49" charset="0"/>
              </a:endParaRPr>
            </a:p>
            <a:p>
              <a:pPr lvl="2"/>
              <a:r>
                <a:rPr lang="es-ES" sz="1600" b="1" dirty="0" err="1">
                  <a:solidFill>
                    <a:srgbClr val="7F0055"/>
                  </a:solidFill>
                  <a:latin typeface="Consolas" panose="020B0609020204030204" pitchFamily="49" charset="0"/>
                </a:rPr>
                <a:t>int</a:t>
              </a:r>
              <a:r>
                <a:rPr lang="es-ES" sz="1600" b="1" dirty="0">
                  <a:solidFill>
                    <a:srgbClr val="000000"/>
                  </a:solidFill>
                  <a:latin typeface="Consolas" panose="020B0609020204030204" pitchFamily="49" charset="0"/>
                </a:rPr>
                <a:t> </a:t>
              </a:r>
              <a:r>
                <a:rPr lang="es-ES" sz="1600" b="1" dirty="0">
                  <a:solidFill>
                    <a:srgbClr val="6A3E3E"/>
                  </a:solidFill>
                  <a:latin typeface="Consolas" panose="020B0609020204030204" pitchFamily="49" charset="0"/>
                </a:rPr>
                <a:t>x</a:t>
              </a:r>
              <a:r>
                <a:rPr lang="es-ES" sz="1600" b="1" dirty="0">
                  <a:solidFill>
                    <a:srgbClr val="000000"/>
                  </a:solidFill>
                  <a:latin typeface="Consolas" panose="020B0609020204030204" pitchFamily="49" charset="0"/>
                </a:rPr>
                <a:t> = 1, </a:t>
              </a:r>
              <a:r>
                <a:rPr lang="es-ES" sz="1600" b="1" dirty="0">
                  <a:solidFill>
                    <a:srgbClr val="6A3E3E"/>
                  </a:solidFill>
                  <a:latin typeface="Consolas" panose="020B0609020204030204" pitchFamily="49" charset="0"/>
                </a:rPr>
                <a:t>y</a:t>
              </a:r>
              <a:r>
                <a:rPr lang="es-ES" sz="1600" b="1" dirty="0">
                  <a:solidFill>
                    <a:srgbClr val="000000"/>
                  </a:solidFill>
                  <a:latin typeface="Consolas" panose="020B0609020204030204" pitchFamily="49" charset="0"/>
                </a:rPr>
                <a:t> = 2;</a:t>
              </a:r>
            </a:p>
            <a:p>
              <a:pPr lvl="2"/>
              <a:endParaRPr lang="en-GB" sz="1600" b="1" dirty="0">
                <a:solidFill>
                  <a:srgbClr val="7F0055"/>
                </a:solidFill>
                <a:latin typeface="Consolas" panose="020B0609020204030204" pitchFamily="49" charset="0"/>
              </a:endParaRPr>
            </a:p>
            <a:p>
              <a:pPr lvl="2"/>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getSum</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x</a:t>
              </a:r>
              <a:r>
                <a:rPr lang="en-GB" sz="1600" b="1" i="1" dirty="0">
                  <a:solidFill>
                    <a:srgbClr val="000000"/>
                  </a:solidFill>
                  <a:latin typeface="Consolas" panose="020B0609020204030204" pitchFamily="49" charset="0"/>
                </a:rPr>
                <a:t>, </a:t>
              </a:r>
              <a:r>
                <a:rPr lang="en-GB" sz="1600" b="1" i="1" dirty="0">
                  <a:solidFill>
                    <a:srgbClr val="6A3E3E"/>
                  </a:solidFill>
                  <a:latin typeface="Consolas" panose="020B0609020204030204" pitchFamily="49" charset="0"/>
                </a:rPr>
                <a:t>y</a:t>
              </a:r>
              <a:r>
                <a:rPr lang="en-GB" sz="1600" b="1" i="1" dirty="0">
                  <a:solidFill>
                    <a:srgbClr val="000000"/>
                  </a:solidFill>
                  <a:latin typeface="Consolas" panose="020B0609020204030204" pitchFamily="49" charset="0"/>
                </a:rPr>
                <a:t>);</a:t>
              </a:r>
            </a:p>
            <a:p>
              <a:pPr lvl="2"/>
              <a:endParaRPr lang="en-GB" sz="1600" b="1" i="1" dirty="0">
                <a:solidFill>
                  <a:srgbClr val="000000"/>
                </a:solidFill>
                <a:latin typeface="Consolas" panose="020B0609020204030204" pitchFamily="49" charset="0"/>
              </a:endParaRP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2A00FF"/>
                  </a:solidFill>
                  <a:latin typeface="Consolas" panose="020B0609020204030204" pitchFamily="49" charset="0"/>
                </a:rPr>
                <a:t>"Sum is = "</a:t>
              </a:r>
              <a:r>
                <a:rPr lang="en-GB" sz="1600" b="1" i="1" dirty="0">
                  <a:solidFill>
                    <a:srgbClr val="000000"/>
                  </a:solidFill>
                  <a:latin typeface="Consolas" panose="020B0609020204030204" pitchFamily="49" charset="0"/>
                </a:rPr>
                <a:t>, </a:t>
              </a:r>
              <a:r>
                <a:rPr lang="en-GB" sz="1600" b="1" i="1" dirty="0">
                  <a:solidFill>
                    <a:srgbClr val="6A3E3E"/>
                  </a:solidFill>
                  <a:latin typeface="Consolas" panose="020B0609020204030204" pitchFamily="49" charset="0"/>
                </a:rPr>
                <a:t>result</a:t>
              </a:r>
              <a:r>
                <a:rPr lang="en-GB" sz="1600" b="1" i="1" dirty="0">
                  <a:solidFill>
                    <a:srgbClr val="000000"/>
                  </a:solidFill>
                  <a:latin typeface="Consolas" panose="020B0609020204030204" pitchFamily="49" charset="0"/>
                </a:rPr>
                <a:t>);</a:t>
              </a:r>
            </a:p>
            <a:p>
              <a:pPr lvl="1"/>
              <a:r>
                <a:rPr lang="en-GB" sz="1600" b="1" dirty="0">
                  <a:solidFill>
                    <a:srgbClr val="000000"/>
                  </a:solidFill>
                  <a:latin typeface="Consolas" panose="020B0609020204030204" pitchFamily="49" charset="0"/>
                </a:rPr>
                <a:t>}</a:t>
              </a:r>
            </a:p>
            <a:p>
              <a:pPr lvl="1"/>
              <a:endParaRPr lang="en-GB" sz="1600" b="1"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getSum</a:t>
              </a:r>
              <a:r>
                <a:rPr lang="en-GB" sz="1600" b="1" dirty="0">
                  <a:solidFill>
                    <a:srgbClr val="000000"/>
                  </a:solidFill>
                  <a:latin typeface="Consolas" panose="020B0609020204030204" pitchFamily="49" charset="0"/>
                </a:rPr>
                <a:t>(</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b</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b</a:t>
              </a:r>
              <a:r>
                <a:rPr lang="en-GB" sz="1600" b="1" dirty="0">
                  <a:solidFill>
                    <a:srgbClr val="000000"/>
                  </a:solidFill>
                  <a:latin typeface="Consolas" panose="020B0609020204030204" pitchFamily="49" charset="0"/>
                </a:rPr>
                <a:t>;</a:t>
              </a:r>
            </a:p>
            <a:p>
              <a:pPr lvl="1"/>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endParaRPr lang="en-GB" sz="1600" b="1" dirty="0">
                <a:solidFill>
                  <a:srgbClr val="000000"/>
                </a:solidFill>
                <a:latin typeface="Consolas" panose="020B0609020204030204" pitchFamily="49" charset="0"/>
              </a:endParaRPr>
            </a:p>
          </p:txBody>
        </p:sp>
        <p:sp>
          <p:nvSpPr>
            <p:cNvPr id="3" name="Rounded Rectangle 2"/>
            <p:cNvSpPr/>
            <p:nvPr/>
          </p:nvSpPr>
          <p:spPr>
            <a:xfrm>
              <a:off x="329389" y="4658367"/>
              <a:ext cx="8457770" cy="734133"/>
            </a:xfrm>
            <a:prstGeom prst="roundRect">
              <a:avLst>
                <a:gd name="adj" fmla="val 0"/>
              </a:avLst>
            </a:prstGeom>
            <a:solidFill>
              <a:schemeClr val="accent1">
                <a:lumMod val="10000"/>
                <a:lumOff val="90000"/>
              </a:schemeClr>
            </a:solidFill>
            <a:ln w="19050">
              <a:noFill/>
            </a:ln>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solidFill>
                    <a:schemeClr val="tx1"/>
                  </a:solidFill>
                  <a:cs typeface="Arial" pitchFamily="34" charset="0"/>
                </a:rPr>
                <a:t>A method can only return one thing</a:t>
              </a:r>
            </a:p>
            <a:p>
              <a:pPr algn="ctr"/>
              <a:r>
                <a:rPr lang="en-GB" sz="1600" b="1" dirty="0">
                  <a:solidFill>
                    <a:schemeClr val="tx1"/>
                  </a:solidFill>
                  <a:cs typeface="Arial" pitchFamily="34" charset="0"/>
                </a:rPr>
                <a:t>The caller decides what to do with the returned value</a:t>
              </a:r>
            </a:p>
          </p:txBody>
        </p:sp>
      </p:grpSp>
      <p:sp>
        <p:nvSpPr>
          <p:cNvPr id="2" name="Freeform 1"/>
          <p:cNvSpPr/>
          <p:nvPr/>
        </p:nvSpPr>
        <p:spPr>
          <a:xfrm>
            <a:off x="5815237" y="2696225"/>
            <a:ext cx="716639" cy="1082040"/>
          </a:xfrm>
          <a:custGeom>
            <a:avLst/>
            <a:gdLst>
              <a:gd name="connsiteX0" fmla="*/ 76200 w 716639"/>
              <a:gd name="connsiteY0" fmla="*/ 0 h 1082040"/>
              <a:gd name="connsiteX1" fmla="*/ 716280 w 716639"/>
              <a:gd name="connsiteY1" fmla="*/ 259080 h 1082040"/>
              <a:gd name="connsiteX2" fmla="*/ 0 w 716639"/>
              <a:gd name="connsiteY2" fmla="*/ 1082040 h 1082040"/>
              <a:gd name="connsiteX3" fmla="*/ 0 w 716639"/>
              <a:gd name="connsiteY3" fmla="*/ 1082040 h 1082040"/>
            </a:gdLst>
            <a:ahLst/>
            <a:cxnLst>
              <a:cxn ang="0">
                <a:pos x="connsiteX0" y="connsiteY0"/>
              </a:cxn>
              <a:cxn ang="0">
                <a:pos x="connsiteX1" y="connsiteY1"/>
              </a:cxn>
              <a:cxn ang="0">
                <a:pos x="connsiteX2" y="connsiteY2"/>
              </a:cxn>
              <a:cxn ang="0">
                <a:pos x="connsiteX3" y="connsiteY3"/>
              </a:cxn>
            </a:cxnLst>
            <a:rect l="l" t="t" r="r" b="b"/>
            <a:pathLst>
              <a:path w="716639" h="1082040">
                <a:moveTo>
                  <a:pt x="76200" y="0"/>
                </a:moveTo>
                <a:cubicBezTo>
                  <a:pt x="402590" y="39370"/>
                  <a:pt x="728980" y="78740"/>
                  <a:pt x="716280" y="259080"/>
                </a:cubicBezTo>
                <a:cubicBezTo>
                  <a:pt x="703580" y="439420"/>
                  <a:pt x="0" y="1082040"/>
                  <a:pt x="0" y="1082040"/>
                </a:cubicBezTo>
                <a:lnTo>
                  <a:pt x="0" y="1082040"/>
                </a:lnTo>
              </a:path>
            </a:pathLst>
          </a:cu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7" name="Freeform 6"/>
          <p:cNvSpPr/>
          <p:nvPr/>
        </p:nvSpPr>
        <p:spPr>
          <a:xfrm rot="10446973">
            <a:off x="1852916" y="2887221"/>
            <a:ext cx="848157" cy="1276206"/>
          </a:xfrm>
          <a:custGeom>
            <a:avLst/>
            <a:gdLst>
              <a:gd name="connsiteX0" fmla="*/ 76200 w 716639"/>
              <a:gd name="connsiteY0" fmla="*/ 0 h 1082040"/>
              <a:gd name="connsiteX1" fmla="*/ 716280 w 716639"/>
              <a:gd name="connsiteY1" fmla="*/ 259080 h 1082040"/>
              <a:gd name="connsiteX2" fmla="*/ 0 w 716639"/>
              <a:gd name="connsiteY2" fmla="*/ 1082040 h 1082040"/>
              <a:gd name="connsiteX3" fmla="*/ 0 w 716639"/>
              <a:gd name="connsiteY3" fmla="*/ 1082040 h 1082040"/>
            </a:gdLst>
            <a:ahLst/>
            <a:cxnLst>
              <a:cxn ang="0">
                <a:pos x="connsiteX0" y="connsiteY0"/>
              </a:cxn>
              <a:cxn ang="0">
                <a:pos x="connsiteX1" y="connsiteY1"/>
              </a:cxn>
              <a:cxn ang="0">
                <a:pos x="connsiteX2" y="connsiteY2"/>
              </a:cxn>
              <a:cxn ang="0">
                <a:pos x="connsiteX3" y="connsiteY3"/>
              </a:cxn>
            </a:cxnLst>
            <a:rect l="l" t="t" r="r" b="b"/>
            <a:pathLst>
              <a:path w="716639" h="1082040">
                <a:moveTo>
                  <a:pt x="76200" y="0"/>
                </a:moveTo>
                <a:cubicBezTo>
                  <a:pt x="402590" y="39370"/>
                  <a:pt x="728980" y="78740"/>
                  <a:pt x="716280" y="259080"/>
                </a:cubicBezTo>
                <a:cubicBezTo>
                  <a:pt x="703580" y="439420"/>
                  <a:pt x="0" y="1082040"/>
                  <a:pt x="0" y="1082040"/>
                </a:cubicBezTo>
                <a:lnTo>
                  <a:pt x="0" y="1082040"/>
                </a:lnTo>
              </a:path>
            </a:pathLst>
          </a:cu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14048704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dirty="0"/>
              <a:t>Method overloading</a:t>
            </a:r>
          </a:p>
        </p:txBody>
      </p:sp>
      <p:sp>
        <p:nvSpPr>
          <p:cNvPr id="5" name="Rectangle 4"/>
          <p:cNvSpPr/>
          <p:nvPr/>
        </p:nvSpPr>
        <p:spPr>
          <a:xfrm>
            <a:off x="3627586" y="1362627"/>
            <a:ext cx="7687339" cy="4585871"/>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Program {</a:t>
            </a: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p>
          <a:p>
            <a:pPr lvl="1"/>
            <a:endParaRPr lang="en-GB" sz="1600" dirty="0">
              <a:latin typeface="Consolas" panose="020B0609020204030204" pitchFamily="49" charset="0"/>
            </a:endParaRPr>
          </a:p>
          <a:p>
            <a:pPr lvl="2"/>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result1</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getTax</a:t>
            </a:r>
            <a:r>
              <a:rPr lang="en-GB" sz="1600" b="1" i="1" dirty="0">
                <a:solidFill>
                  <a:srgbClr val="000000"/>
                </a:solidFill>
                <a:latin typeface="Consolas" panose="020B0609020204030204" pitchFamily="49" charset="0"/>
              </a:rPr>
              <a:t>(2000);</a:t>
            </a: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result1</a:t>
            </a:r>
            <a:r>
              <a:rPr lang="en-GB" sz="1600" b="1" i="1" dirty="0">
                <a:solidFill>
                  <a:srgbClr val="000000"/>
                </a:solidFill>
                <a:latin typeface="Consolas" panose="020B0609020204030204" pitchFamily="49" charset="0"/>
              </a:rPr>
              <a:t>);</a:t>
            </a:r>
          </a:p>
          <a:p>
            <a:pPr lvl="2"/>
            <a:endParaRPr lang="en-GB" sz="1600" dirty="0">
              <a:latin typeface="Consolas" panose="020B0609020204030204" pitchFamily="49" charset="0"/>
            </a:endParaRPr>
          </a:p>
          <a:p>
            <a:pPr lvl="2"/>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result2</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getTax</a:t>
            </a:r>
            <a:r>
              <a:rPr lang="en-GB" sz="1600" b="1" i="1" dirty="0">
                <a:solidFill>
                  <a:srgbClr val="000000"/>
                </a:solidFill>
                <a:latin typeface="Consolas" panose="020B0609020204030204" pitchFamily="49" charset="0"/>
              </a:rPr>
              <a:t>(2000, 0.4);</a:t>
            </a: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result2</a:t>
            </a:r>
            <a:r>
              <a:rPr lang="en-GB" sz="1600" b="1" i="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getTax</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a:t>
            </a:r>
            <a:r>
              <a:rPr lang="en-GB" sz="1600" b="1" dirty="0">
                <a:solidFill>
                  <a:srgbClr val="7F0055"/>
                </a:solidFill>
                <a:highlight>
                  <a:srgbClr val="D4D4D4"/>
                </a:highlight>
                <a:latin typeface="Consolas" panose="020B0609020204030204" pitchFamily="49" charset="0"/>
              </a:rPr>
              <a:t>	</a:t>
            </a:r>
            <a:br>
              <a:rPr lang="en-GB" sz="1600" b="1" dirty="0">
                <a:solidFill>
                  <a:srgbClr val="7F0055"/>
                </a:solidFill>
                <a:highlight>
                  <a:srgbClr val="D4D4D4"/>
                </a:highlight>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0.25;</a:t>
            </a:r>
            <a:endParaRPr lang="en-GB" sz="1600" b="1" dirty="0">
              <a:solidFill>
                <a:srgbClr val="000000"/>
              </a:solidFill>
              <a:highlight>
                <a:srgbClr val="D4D4D4"/>
              </a:highlight>
              <a:latin typeface="Consolas" panose="020B0609020204030204" pitchFamily="49" charset="0"/>
            </a:endParaRP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getTax</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rate</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rate</a:t>
            </a:r>
            <a:r>
              <a:rPr lang="en-GB" sz="1600" b="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endParaRPr lang="en-GB" sz="1600" dirty="0"/>
          </a:p>
        </p:txBody>
      </p:sp>
      <p:sp>
        <p:nvSpPr>
          <p:cNvPr id="4" name="Rounded Rectangular Callout 3"/>
          <p:cNvSpPr/>
          <p:nvPr/>
        </p:nvSpPr>
        <p:spPr>
          <a:xfrm>
            <a:off x="8905033" y="2067032"/>
            <a:ext cx="1051767" cy="489098"/>
          </a:xfrm>
          <a:prstGeom prst="wedgeRoundRectCallout">
            <a:avLst>
              <a:gd name="adj1" fmla="val -65277"/>
              <a:gd name="adj2" fmla="val 14674"/>
              <a:gd name="adj3" fmla="val 16667"/>
            </a:avLst>
          </a:prstGeom>
          <a:solidFill>
            <a:schemeClr val="accent1">
              <a:lumMod val="20000"/>
              <a:lumOff val="80000"/>
            </a:schemeClr>
          </a:solidFill>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500</a:t>
            </a:r>
          </a:p>
        </p:txBody>
      </p:sp>
      <p:sp>
        <p:nvSpPr>
          <p:cNvPr id="8" name="Rounded Rectangular Callout 7"/>
          <p:cNvSpPr/>
          <p:nvPr/>
        </p:nvSpPr>
        <p:spPr>
          <a:xfrm>
            <a:off x="8905033" y="2870697"/>
            <a:ext cx="1051767" cy="489098"/>
          </a:xfrm>
          <a:prstGeom prst="wedgeRoundRectCallout">
            <a:avLst>
              <a:gd name="adj1" fmla="val -65277"/>
              <a:gd name="adj2" fmla="val 14674"/>
              <a:gd name="adj3" fmla="val 16667"/>
            </a:avLst>
          </a:prstGeom>
          <a:solidFill>
            <a:schemeClr val="accent1">
              <a:lumMod val="20000"/>
              <a:lumOff val="80000"/>
            </a:schemeClr>
          </a:solidFill>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800</a:t>
            </a:r>
          </a:p>
        </p:txBody>
      </p:sp>
      <p:sp>
        <p:nvSpPr>
          <p:cNvPr id="2" name="Rounded Rectangular Callout 1"/>
          <p:cNvSpPr/>
          <p:nvPr/>
        </p:nvSpPr>
        <p:spPr>
          <a:xfrm>
            <a:off x="548409" y="4649822"/>
            <a:ext cx="2870740" cy="1001949"/>
          </a:xfrm>
          <a:prstGeom prst="wedgeRoundRectCallout">
            <a:avLst>
              <a:gd name="adj1" fmla="val 60226"/>
              <a:gd name="adj2" fmla="val -17298"/>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b="1" dirty="0"/>
              <a:t>Same name </a:t>
            </a:r>
            <a:br>
              <a:rPr lang="en-GB" b="1" dirty="0"/>
            </a:br>
            <a:r>
              <a:rPr lang="en-GB" b="1" dirty="0"/>
              <a:t>different parameters</a:t>
            </a:r>
          </a:p>
        </p:txBody>
      </p:sp>
    </p:spTree>
    <p:extLst>
      <p:ext uri="{BB962C8B-B14F-4D97-AF65-F5344CB8AC3E}">
        <p14:creationId xmlns:p14="http://schemas.microsoft.com/office/powerpoint/2010/main" val="315282857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2"/>
          </p:nvPr>
        </p:nvSpPr>
        <p:spPr/>
        <p:txBody>
          <a:bodyPr/>
          <a:lstStyle/>
          <a:p>
            <a:endParaRPr lang="en-IN" dirty="0"/>
          </a:p>
        </p:txBody>
      </p:sp>
      <p:sp>
        <p:nvSpPr>
          <p:cNvPr id="4" name="Title 3"/>
          <p:cNvSpPr>
            <a:spLocks noGrp="1"/>
          </p:cNvSpPr>
          <p:nvPr>
            <p:ph type="ctrTitle"/>
          </p:nvPr>
        </p:nvSpPr>
        <p:spPr/>
        <p:txBody>
          <a:bodyPr/>
          <a:lstStyle/>
          <a:p>
            <a:r>
              <a:rPr lang="en-US" dirty="0"/>
              <a:t>Arrays and Loops</a:t>
            </a:r>
            <a:endParaRPr lang="en-IN" dirty="0"/>
          </a:p>
        </p:txBody>
      </p:sp>
    </p:spTree>
    <p:extLst>
      <p:ext uri="{BB962C8B-B14F-4D97-AF65-F5344CB8AC3E}">
        <p14:creationId xmlns:p14="http://schemas.microsoft.com/office/powerpoint/2010/main" val="26510400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C2F9BC-5DE8-4387-9540-FABE9C048996}"/>
              </a:ext>
            </a:extLst>
          </p:cNvPr>
          <p:cNvSpPr>
            <a:spLocks noGrp="1"/>
          </p:cNvSpPr>
          <p:nvPr>
            <p:ph type="body" sz="quarter" idx="10"/>
          </p:nvPr>
        </p:nvSpPr>
        <p:spPr/>
        <p:txBody>
          <a:bodyPr/>
          <a:lstStyle/>
          <a:p>
            <a:r>
              <a:rPr lang="en-GB" dirty="0"/>
              <a:t>What is an Array?</a:t>
            </a:r>
          </a:p>
        </p:txBody>
      </p:sp>
      <p:sp>
        <p:nvSpPr>
          <p:cNvPr id="4" name="Rectangle 4">
            <a:extLst>
              <a:ext uri="{FF2B5EF4-FFF2-40B4-BE49-F238E27FC236}">
                <a16:creationId xmlns:a16="http://schemas.microsoft.com/office/drawing/2014/main" id="{7243D6E7-F376-44A9-9239-E13E3BA817D1}"/>
              </a:ext>
            </a:extLst>
          </p:cNvPr>
          <p:cNvSpPr>
            <a:spLocks noChangeArrowheads="1"/>
          </p:cNvSpPr>
          <p:nvPr/>
        </p:nvSpPr>
        <p:spPr bwMode="auto">
          <a:xfrm>
            <a:off x="5368746" y="5302190"/>
            <a:ext cx="1250950" cy="685800"/>
          </a:xfrm>
          <a:prstGeom prst="rect">
            <a:avLst/>
          </a:prstGeom>
          <a:solidFill>
            <a:schemeClr val="bg1"/>
          </a:solidFill>
          <a:ln w="12700">
            <a:noFill/>
            <a:miter lim="800000"/>
            <a:headEnd/>
            <a:tailEnd/>
          </a:ln>
        </p:spPr>
        <p:txBody>
          <a:bodyPr lIns="90488" tIns="44450" rIns="90488" bIns="44450" anchor="ctr"/>
          <a:lstStyle/>
          <a:p>
            <a:pPr algn="ctr" defTabSz="739775" eaLnBrk="0" hangingPunct="0"/>
            <a:r>
              <a:rPr lang="en-GB" sz="1400" b="1" i="1" dirty="0"/>
              <a:t>An array of six values</a:t>
            </a:r>
          </a:p>
        </p:txBody>
      </p:sp>
      <p:sp>
        <p:nvSpPr>
          <p:cNvPr id="5" name="AutoShape 5">
            <a:extLst>
              <a:ext uri="{FF2B5EF4-FFF2-40B4-BE49-F238E27FC236}">
                <a16:creationId xmlns:a16="http://schemas.microsoft.com/office/drawing/2014/main" id="{1F511E23-1D37-4F99-9F9C-3CCACF016E99}"/>
              </a:ext>
            </a:extLst>
          </p:cNvPr>
          <p:cNvSpPr>
            <a:spLocks noChangeArrowheads="1"/>
          </p:cNvSpPr>
          <p:nvPr/>
        </p:nvSpPr>
        <p:spPr bwMode="auto">
          <a:xfrm>
            <a:off x="7047288" y="5321240"/>
            <a:ext cx="1631950" cy="666750"/>
          </a:xfrm>
          <a:prstGeom prst="cube">
            <a:avLst>
              <a:gd name="adj" fmla="val 25000"/>
            </a:avLst>
          </a:prstGeom>
          <a:solidFill>
            <a:schemeClr val="accent1"/>
          </a:solidFill>
          <a:ln w="12700">
            <a:solidFill>
              <a:schemeClr val="tx1"/>
            </a:solidFill>
            <a:miter lim="800000"/>
            <a:headEnd/>
            <a:tailEnd/>
          </a:ln>
        </p:spPr>
        <p:txBody>
          <a:bodyPr wrap="none" anchor="ctr"/>
          <a:lstStyle/>
          <a:p>
            <a:pPr algn="ctr" eaLnBrk="0" hangingPunct="0"/>
            <a:r>
              <a:rPr lang="en-GB" sz="1600" dirty="0">
                <a:solidFill>
                  <a:schemeClr val="bg1"/>
                </a:solidFill>
                <a:latin typeface="Lucida Console" pitchFamily="49" charset="0"/>
              </a:rPr>
              <a:t>array</a:t>
            </a:r>
          </a:p>
        </p:txBody>
      </p:sp>
      <p:sp>
        <p:nvSpPr>
          <p:cNvPr id="6" name="Rectangle 7">
            <a:extLst>
              <a:ext uri="{FF2B5EF4-FFF2-40B4-BE49-F238E27FC236}">
                <a16:creationId xmlns:a16="http://schemas.microsoft.com/office/drawing/2014/main" id="{D3C73859-9C29-476B-B0ED-E5A87940DFA9}"/>
              </a:ext>
            </a:extLst>
          </p:cNvPr>
          <p:cNvSpPr>
            <a:spLocks noChangeArrowheads="1"/>
          </p:cNvSpPr>
          <p:nvPr/>
        </p:nvSpPr>
        <p:spPr bwMode="auto">
          <a:xfrm>
            <a:off x="9977813" y="6235642"/>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[5]</a:t>
            </a:r>
          </a:p>
        </p:txBody>
      </p:sp>
      <p:sp>
        <p:nvSpPr>
          <p:cNvPr id="7" name="AutoShape 8">
            <a:extLst>
              <a:ext uri="{FF2B5EF4-FFF2-40B4-BE49-F238E27FC236}">
                <a16:creationId xmlns:a16="http://schemas.microsoft.com/office/drawing/2014/main" id="{B9B979E1-291C-4737-BDF2-E140330A32DC}"/>
              </a:ext>
            </a:extLst>
          </p:cNvPr>
          <p:cNvSpPr>
            <a:spLocks noChangeArrowheads="1"/>
          </p:cNvSpPr>
          <p:nvPr/>
        </p:nvSpPr>
        <p:spPr bwMode="auto">
          <a:xfrm>
            <a:off x="10525502" y="6167378"/>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a:latin typeface="Lucida Console" pitchFamily="49" charset="0"/>
              </a:rPr>
              <a:t> </a:t>
            </a:r>
          </a:p>
        </p:txBody>
      </p:sp>
      <p:sp>
        <p:nvSpPr>
          <p:cNvPr id="8" name="Line 9">
            <a:extLst>
              <a:ext uri="{FF2B5EF4-FFF2-40B4-BE49-F238E27FC236}">
                <a16:creationId xmlns:a16="http://schemas.microsoft.com/office/drawing/2014/main" id="{5D3941E9-C514-42F4-8879-2948A0C8A988}"/>
              </a:ext>
            </a:extLst>
          </p:cNvPr>
          <p:cNvSpPr>
            <a:spLocks noChangeShapeType="1"/>
          </p:cNvSpPr>
          <p:nvPr/>
        </p:nvSpPr>
        <p:spPr bwMode="auto">
          <a:xfrm>
            <a:off x="8623676" y="5668903"/>
            <a:ext cx="1384300" cy="0"/>
          </a:xfrm>
          <a:prstGeom prst="line">
            <a:avLst/>
          </a:prstGeom>
          <a:noFill/>
          <a:ln w="28575">
            <a:solidFill>
              <a:schemeClr val="tx1"/>
            </a:solidFill>
            <a:round/>
            <a:headEnd type="oval" w="lg" len="lg"/>
            <a:tailEnd type="triangle" w="lg" len="lg"/>
          </a:ln>
        </p:spPr>
        <p:txBody>
          <a:bodyPr/>
          <a:lstStyle/>
          <a:p>
            <a:endParaRPr lang="en-GB"/>
          </a:p>
        </p:txBody>
      </p:sp>
      <p:sp>
        <p:nvSpPr>
          <p:cNvPr id="9" name="Rectangle 11">
            <a:extLst>
              <a:ext uri="{FF2B5EF4-FFF2-40B4-BE49-F238E27FC236}">
                <a16:creationId xmlns:a16="http://schemas.microsoft.com/office/drawing/2014/main" id="{D2A2B589-5310-4F7A-B086-8FBA56D75C33}"/>
              </a:ext>
            </a:extLst>
          </p:cNvPr>
          <p:cNvSpPr>
            <a:spLocks noChangeArrowheads="1"/>
          </p:cNvSpPr>
          <p:nvPr/>
        </p:nvSpPr>
        <p:spPr bwMode="auto">
          <a:xfrm>
            <a:off x="9977813" y="5834004"/>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[4]</a:t>
            </a:r>
          </a:p>
        </p:txBody>
      </p:sp>
      <p:sp>
        <p:nvSpPr>
          <p:cNvPr id="10" name="AutoShape 12">
            <a:extLst>
              <a:ext uri="{FF2B5EF4-FFF2-40B4-BE49-F238E27FC236}">
                <a16:creationId xmlns:a16="http://schemas.microsoft.com/office/drawing/2014/main" id="{11A48CA7-520B-4EA1-AA72-DBB72D66AB8D}"/>
              </a:ext>
            </a:extLst>
          </p:cNvPr>
          <p:cNvSpPr>
            <a:spLocks noChangeArrowheads="1"/>
          </p:cNvSpPr>
          <p:nvPr/>
        </p:nvSpPr>
        <p:spPr bwMode="auto">
          <a:xfrm>
            <a:off x="10525502" y="5765740"/>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a:latin typeface="Lucida Console" pitchFamily="49" charset="0"/>
              </a:rPr>
              <a:t> </a:t>
            </a:r>
          </a:p>
        </p:txBody>
      </p:sp>
      <p:sp>
        <p:nvSpPr>
          <p:cNvPr id="11" name="Rectangle 14">
            <a:extLst>
              <a:ext uri="{FF2B5EF4-FFF2-40B4-BE49-F238E27FC236}">
                <a16:creationId xmlns:a16="http://schemas.microsoft.com/office/drawing/2014/main" id="{40535262-9D3D-4D78-8A3F-7193025593B5}"/>
              </a:ext>
            </a:extLst>
          </p:cNvPr>
          <p:cNvSpPr>
            <a:spLocks noChangeArrowheads="1"/>
          </p:cNvSpPr>
          <p:nvPr/>
        </p:nvSpPr>
        <p:spPr bwMode="auto">
          <a:xfrm>
            <a:off x="9977813" y="5432367"/>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[3]</a:t>
            </a:r>
          </a:p>
        </p:txBody>
      </p:sp>
      <p:sp>
        <p:nvSpPr>
          <p:cNvPr id="12" name="AutoShape 15">
            <a:extLst>
              <a:ext uri="{FF2B5EF4-FFF2-40B4-BE49-F238E27FC236}">
                <a16:creationId xmlns:a16="http://schemas.microsoft.com/office/drawing/2014/main" id="{07E63C93-5D10-465A-A19F-2C053188490F}"/>
              </a:ext>
            </a:extLst>
          </p:cNvPr>
          <p:cNvSpPr>
            <a:spLocks noChangeArrowheads="1"/>
          </p:cNvSpPr>
          <p:nvPr/>
        </p:nvSpPr>
        <p:spPr bwMode="auto">
          <a:xfrm>
            <a:off x="10525502" y="5364103"/>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a:latin typeface="Lucida Console" pitchFamily="49" charset="0"/>
              </a:rPr>
              <a:t> </a:t>
            </a:r>
          </a:p>
        </p:txBody>
      </p:sp>
      <p:sp>
        <p:nvSpPr>
          <p:cNvPr id="13" name="Rectangle 17">
            <a:extLst>
              <a:ext uri="{FF2B5EF4-FFF2-40B4-BE49-F238E27FC236}">
                <a16:creationId xmlns:a16="http://schemas.microsoft.com/office/drawing/2014/main" id="{6E1BCAFF-0E28-4133-A00C-B8F46DA18EC2}"/>
              </a:ext>
            </a:extLst>
          </p:cNvPr>
          <p:cNvSpPr>
            <a:spLocks noChangeArrowheads="1"/>
          </p:cNvSpPr>
          <p:nvPr/>
        </p:nvSpPr>
        <p:spPr bwMode="auto">
          <a:xfrm>
            <a:off x="9977813" y="5029142"/>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[2]</a:t>
            </a:r>
          </a:p>
        </p:txBody>
      </p:sp>
      <p:sp>
        <p:nvSpPr>
          <p:cNvPr id="14" name="AutoShape 18">
            <a:extLst>
              <a:ext uri="{FF2B5EF4-FFF2-40B4-BE49-F238E27FC236}">
                <a16:creationId xmlns:a16="http://schemas.microsoft.com/office/drawing/2014/main" id="{4FDEA4D0-F582-466A-8ABA-59FE5C91936E}"/>
              </a:ext>
            </a:extLst>
          </p:cNvPr>
          <p:cNvSpPr>
            <a:spLocks noChangeArrowheads="1"/>
          </p:cNvSpPr>
          <p:nvPr/>
        </p:nvSpPr>
        <p:spPr bwMode="auto">
          <a:xfrm>
            <a:off x="10525502" y="4960878"/>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a:latin typeface="Lucida Console" pitchFamily="49" charset="0"/>
              </a:rPr>
              <a:t> </a:t>
            </a:r>
          </a:p>
        </p:txBody>
      </p:sp>
      <p:sp>
        <p:nvSpPr>
          <p:cNvPr id="15" name="Rectangle 20">
            <a:extLst>
              <a:ext uri="{FF2B5EF4-FFF2-40B4-BE49-F238E27FC236}">
                <a16:creationId xmlns:a16="http://schemas.microsoft.com/office/drawing/2014/main" id="{E28CB972-900E-4D04-8971-F6DC83C28509}"/>
              </a:ext>
            </a:extLst>
          </p:cNvPr>
          <p:cNvSpPr>
            <a:spLocks noChangeArrowheads="1"/>
          </p:cNvSpPr>
          <p:nvPr/>
        </p:nvSpPr>
        <p:spPr bwMode="auto">
          <a:xfrm>
            <a:off x="9977813" y="4627504"/>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[1]</a:t>
            </a:r>
          </a:p>
        </p:txBody>
      </p:sp>
      <p:sp>
        <p:nvSpPr>
          <p:cNvPr id="16" name="AutoShape 21">
            <a:extLst>
              <a:ext uri="{FF2B5EF4-FFF2-40B4-BE49-F238E27FC236}">
                <a16:creationId xmlns:a16="http://schemas.microsoft.com/office/drawing/2014/main" id="{8889EBB9-20AE-45D2-B307-849066606F4E}"/>
              </a:ext>
            </a:extLst>
          </p:cNvPr>
          <p:cNvSpPr>
            <a:spLocks noChangeArrowheads="1"/>
          </p:cNvSpPr>
          <p:nvPr/>
        </p:nvSpPr>
        <p:spPr bwMode="auto">
          <a:xfrm>
            <a:off x="10525502" y="4559240"/>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a:latin typeface="Lucida Console" pitchFamily="49" charset="0"/>
              </a:rPr>
              <a:t> </a:t>
            </a:r>
          </a:p>
        </p:txBody>
      </p:sp>
      <p:sp>
        <p:nvSpPr>
          <p:cNvPr id="17" name="Rectangle 23">
            <a:extLst>
              <a:ext uri="{FF2B5EF4-FFF2-40B4-BE49-F238E27FC236}">
                <a16:creationId xmlns:a16="http://schemas.microsoft.com/office/drawing/2014/main" id="{0B58740A-9978-44F7-9FDC-36AB402616BF}"/>
              </a:ext>
            </a:extLst>
          </p:cNvPr>
          <p:cNvSpPr>
            <a:spLocks noChangeArrowheads="1"/>
          </p:cNvSpPr>
          <p:nvPr/>
        </p:nvSpPr>
        <p:spPr bwMode="auto">
          <a:xfrm>
            <a:off x="9977813" y="4224279"/>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[0]</a:t>
            </a:r>
          </a:p>
        </p:txBody>
      </p:sp>
      <p:sp>
        <p:nvSpPr>
          <p:cNvPr id="18" name="AutoShape 24">
            <a:extLst>
              <a:ext uri="{FF2B5EF4-FFF2-40B4-BE49-F238E27FC236}">
                <a16:creationId xmlns:a16="http://schemas.microsoft.com/office/drawing/2014/main" id="{1AA4250B-79E2-4142-9BB0-5A153AA9BD96}"/>
              </a:ext>
            </a:extLst>
          </p:cNvPr>
          <p:cNvSpPr>
            <a:spLocks noChangeArrowheads="1"/>
          </p:cNvSpPr>
          <p:nvPr/>
        </p:nvSpPr>
        <p:spPr bwMode="auto">
          <a:xfrm>
            <a:off x="10525502" y="4156015"/>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a:latin typeface="Lucida Console" pitchFamily="49" charset="0"/>
              </a:rPr>
              <a:t> </a:t>
            </a:r>
          </a:p>
        </p:txBody>
      </p:sp>
      <p:sp>
        <p:nvSpPr>
          <p:cNvPr id="19" name="Rectangle 3">
            <a:extLst>
              <a:ext uri="{FF2B5EF4-FFF2-40B4-BE49-F238E27FC236}">
                <a16:creationId xmlns:a16="http://schemas.microsoft.com/office/drawing/2014/main" id="{9057C580-7FA6-4DB3-873A-B11A8CD77E7F}"/>
              </a:ext>
            </a:extLst>
          </p:cNvPr>
          <p:cNvSpPr txBox="1">
            <a:spLocks noChangeArrowheads="1"/>
          </p:cNvSpPr>
          <p:nvPr/>
        </p:nvSpPr>
        <p:spPr>
          <a:xfrm>
            <a:off x="3963322" y="178456"/>
            <a:ext cx="8228678" cy="3082616"/>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2"/>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2"/>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2"/>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2"/>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GB" sz="1800" b="1" dirty="0"/>
              <a:t>An array can store a collection of variables all of the same type</a:t>
            </a:r>
          </a:p>
          <a:p>
            <a:pPr marL="684000" lvl="1" indent="-342900">
              <a:buSzPct val="115000"/>
            </a:pPr>
            <a:r>
              <a:rPr lang="en-GB" dirty="0"/>
              <a:t>Each array element can hold a single item (value/reference type)</a:t>
            </a:r>
          </a:p>
          <a:p>
            <a:pPr marL="684000" lvl="1" indent="-342900">
              <a:buSzPct val="115000"/>
            </a:pPr>
            <a:r>
              <a:rPr lang="en-GB" dirty="0"/>
              <a:t>Array elements are accessed by index number, e.g.  names[3]</a:t>
            </a:r>
          </a:p>
          <a:p>
            <a:pPr marL="342900" indent="-342900">
              <a:buFont typeface="Arial" panose="020B0604020202020204" pitchFamily="34" charset="0"/>
              <a:buChar char="•"/>
            </a:pPr>
            <a:endParaRPr lang="en-GB" b="1" dirty="0"/>
          </a:p>
          <a:p>
            <a:pPr marL="342900" indent="-342900">
              <a:buFont typeface="Arial" panose="020B0604020202020204" pitchFamily="34" charset="0"/>
              <a:buChar char="•"/>
            </a:pPr>
            <a:r>
              <a:rPr lang="en-GB" b="1" dirty="0"/>
              <a:t>Arrays are objects</a:t>
            </a:r>
          </a:p>
          <a:p>
            <a:pPr marL="684000" lvl="1" indent="-342900">
              <a:buSzPct val="115000"/>
            </a:pPr>
            <a:r>
              <a:rPr lang="en-GB" dirty="0"/>
              <a:t>Must be created before they can be used</a:t>
            </a:r>
          </a:p>
          <a:p>
            <a:pPr marL="684000" lvl="1" indent="-342900">
              <a:buSzPct val="115000"/>
            </a:pPr>
            <a:r>
              <a:rPr lang="en-GB" dirty="0"/>
              <a:t>An array variable (of any type) is a reference type</a:t>
            </a:r>
          </a:p>
        </p:txBody>
      </p:sp>
    </p:spTree>
    <p:extLst>
      <p:ext uri="{BB962C8B-B14F-4D97-AF65-F5344CB8AC3E}">
        <p14:creationId xmlns:p14="http://schemas.microsoft.com/office/powerpoint/2010/main" val="71488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 to Arrays</a:t>
            </a:r>
          </a:p>
        </p:txBody>
      </p:sp>
      <p:sp>
        <p:nvSpPr>
          <p:cNvPr id="3" name="Content Placeholder 2"/>
          <p:cNvSpPr>
            <a:spLocks noGrp="1"/>
          </p:cNvSpPr>
          <p:nvPr>
            <p:ph idx="1"/>
          </p:nvPr>
        </p:nvSpPr>
        <p:spPr>
          <a:xfrm>
            <a:off x="341272" y="1368256"/>
            <a:ext cx="10226175" cy="789231"/>
          </a:xfrm>
        </p:spPr>
        <p:txBody>
          <a:bodyPr/>
          <a:lstStyle/>
          <a:p>
            <a:pPr marL="342900" indent="-342900">
              <a:buFont typeface="Arial" panose="020B0604020202020204" pitchFamily="34" charset="0"/>
              <a:buChar char="•"/>
            </a:pPr>
            <a:r>
              <a:rPr lang="en-GB" b="1" dirty="0"/>
              <a:t>You can change array elements</a:t>
            </a:r>
          </a:p>
          <a:p>
            <a:pPr marL="342900" indent="-342900">
              <a:buFont typeface="Arial" panose="020B0604020202020204" pitchFamily="34" charset="0"/>
              <a:buChar char="•"/>
            </a:pPr>
            <a:r>
              <a:rPr lang="en-GB" b="1" dirty="0"/>
              <a:t>Appending, Inserting and removing an element is hard</a:t>
            </a:r>
          </a:p>
        </p:txBody>
      </p:sp>
      <p:sp>
        <p:nvSpPr>
          <p:cNvPr id="6" name="Arc 5"/>
          <p:cNvSpPr/>
          <p:nvPr/>
        </p:nvSpPr>
        <p:spPr>
          <a:xfrm>
            <a:off x="8206291" y="2636087"/>
            <a:ext cx="708844" cy="1616149"/>
          </a:xfrm>
          <a:prstGeom prst="arc">
            <a:avLst>
              <a:gd name="adj1" fmla="val 16411716"/>
              <a:gd name="adj2" fmla="val 0"/>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en-GB"/>
          </a:p>
        </p:txBody>
      </p:sp>
      <p:sp>
        <p:nvSpPr>
          <p:cNvPr id="7" name="Rectangle 6"/>
          <p:cNvSpPr/>
          <p:nvPr/>
        </p:nvSpPr>
        <p:spPr>
          <a:xfrm>
            <a:off x="1595337" y="3218591"/>
            <a:ext cx="5752994" cy="193899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2000" b="1" dirty="0">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numbers</a:t>
            </a:r>
            <a:r>
              <a:rPr lang="en-GB" sz="2000" b="1" dirty="0">
                <a:solidFill>
                  <a:srgbClr val="000000"/>
                </a:solidFill>
                <a:latin typeface="Consolas" panose="020B0609020204030204" pitchFamily="49" charset="0"/>
              </a:rPr>
              <a:t> = {1,2,3,4,5,6};</a:t>
            </a:r>
          </a:p>
          <a:p>
            <a:endParaRPr lang="en-GB" sz="2000" b="1" dirty="0">
              <a:solidFill>
                <a:srgbClr val="000000"/>
              </a:solidFill>
              <a:latin typeface="Consolas" panose="020B0609020204030204" pitchFamily="49" charset="0"/>
            </a:endParaRPr>
          </a:p>
          <a:p>
            <a:r>
              <a:rPr lang="en-GB" sz="2000" b="1" i="1" dirty="0">
                <a:solidFill>
                  <a:srgbClr val="6A3E3E"/>
                </a:solidFill>
                <a:latin typeface="Consolas" panose="020B0609020204030204" pitchFamily="49" charset="0"/>
              </a:rPr>
              <a:t>numbers</a:t>
            </a:r>
            <a:r>
              <a:rPr lang="en-GB" sz="2000" b="1" i="1" dirty="0">
                <a:solidFill>
                  <a:srgbClr val="000000"/>
                </a:solidFill>
                <a:latin typeface="Consolas" panose="020B0609020204030204" pitchFamily="49" charset="0"/>
              </a:rPr>
              <a:t>[1] = 22;</a:t>
            </a:r>
          </a:p>
          <a:p>
            <a:endParaRPr lang="en-GB" sz="2000" dirty="0">
              <a:solidFill>
                <a:srgbClr val="000000"/>
              </a:solidFill>
              <a:latin typeface="Consolas" panose="020B0609020204030204" pitchFamily="49" charset="0"/>
            </a:endParaRPr>
          </a:p>
          <a:p>
            <a:r>
              <a:rPr lang="en-GB" sz="2000" dirty="0" err="1">
                <a:solidFill>
                  <a:srgbClr val="000000"/>
                </a:solidFill>
                <a:latin typeface="Consolas" panose="020B0609020204030204" pitchFamily="49" charset="0"/>
              </a:rPr>
              <a:t>System.</a:t>
            </a:r>
            <a:r>
              <a:rPr lang="en-GB" sz="2000" b="1" i="1" dirty="0" err="1">
                <a:solidFill>
                  <a:srgbClr val="0000C0"/>
                </a:solidFill>
                <a:latin typeface="Consolas" panose="020B0609020204030204" pitchFamily="49" charset="0"/>
              </a:rPr>
              <a:t>out</a:t>
            </a:r>
            <a:r>
              <a:rPr lang="en-GB" sz="2000" b="1" i="1" dirty="0" err="1">
                <a:solidFill>
                  <a:srgbClr val="000000"/>
                </a:solidFill>
                <a:latin typeface="Consolas" panose="020B0609020204030204" pitchFamily="49" charset="0"/>
              </a:rPr>
              <a:t>.println</a:t>
            </a:r>
            <a:r>
              <a:rPr lang="en-GB" sz="2000" b="1" i="1" dirty="0">
                <a:solidFill>
                  <a:srgbClr val="000000"/>
                </a:solidFill>
                <a:latin typeface="Consolas" panose="020B0609020204030204" pitchFamily="49" charset="0"/>
              </a:rPr>
              <a:t>(</a:t>
            </a:r>
            <a:r>
              <a:rPr lang="en-GB" sz="2000" b="1" i="1" dirty="0">
                <a:solidFill>
                  <a:srgbClr val="6A3E3E"/>
                </a:solidFill>
                <a:latin typeface="Consolas" panose="020B0609020204030204" pitchFamily="49" charset="0"/>
              </a:rPr>
              <a:t>numbers</a:t>
            </a:r>
            <a:r>
              <a:rPr lang="en-GB" sz="2000" b="1" i="1" dirty="0">
                <a:solidFill>
                  <a:srgbClr val="000000"/>
                </a:solidFill>
                <a:latin typeface="Consolas" panose="020B0609020204030204" pitchFamily="49" charset="0"/>
              </a:rPr>
              <a:t>[1]);</a:t>
            </a:r>
          </a:p>
          <a:p>
            <a:endParaRPr lang="en-GB" sz="2000" b="1" i="1" dirty="0">
              <a:solidFill>
                <a:srgbClr val="000000"/>
              </a:solidFill>
              <a:latin typeface="Consolas" panose="020B0609020204030204" pitchFamily="49" charset="0"/>
            </a:endParaRPr>
          </a:p>
        </p:txBody>
      </p:sp>
      <p:cxnSp>
        <p:nvCxnSpPr>
          <p:cNvPr id="9" name="Straight Arrow Connector 8"/>
          <p:cNvCxnSpPr>
            <a:cxnSpLocks/>
          </p:cNvCxnSpPr>
          <p:nvPr/>
        </p:nvCxnSpPr>
        <p:spPr>
          <a:xfrm>
            <a:off x="5626896" y="4068058"/>
            <a:ext cx="2269123" cy="0"/>
          </a:xfrm>
          <a:prstGeom prst="straightConnector1">
            <a:avLst/>
          </a:prstGeom>
          <a:ln w="381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p:cNvSpPr txBox="1"/>
          <p:nvPr/>
        </p:nvSpPr>
        <p:spPr>
          <a:xfrm>
            <a:off x="5626896" y="4891468"/>
            <a:ext cx="492443" cy="400110"/>
          </a:xfrm>
          <a:prstGeom prst="rect">
            <a:avLst/>
          </a:prstGeom>
          <a:solidFill>
            <a:srgbClr val="004050"/>
          </a:solidFill>
          <a:effectLst/>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GB" sz="2000" b="1" dirty="0">
                <a:latin typeface="Courier New" pitchFamily="49" charset="0"/>
                <a:cs typeface="Courier New" pitchFamily="49" charset="0"/>
              </a:rPr>
              <a:t>22</a:t>
            </a:r>
            <a:endParaRPr lang="en-GB" sz="1600" b="1" dirty="0">
              <a:latin typeface="Courier New" pitchFamily="49" charset="0"/>
              <a:cs typeface="Courier New" pitchFamily="49" charset="0"/>
            </a:endParaRPr>
          </a:p>
        </p:txBody>
      </p:sp>
      <p:sp>
        <p:nvSpPr>
          <p:cNvPr id="10" name="Rectangle 7">
            <a:extLst>
              <a:ext uri="{FF2B5EF4-FFF2-40B4-BE49-F238E27FC236}">
                <a16:creationId xmlns:a16="http://schemas.microsoft.com/office/drawing/2014/main" id="{42EEC2A3-A858-48C6-99DF-7CB5604EAB74}"/>
              </a:ext>
            </a:extLst>
          </p:cNvPr>
          <p:cNvSpPr>
            <a:spLocks noChangeArrowheads="1"/>
          </p:cNvSpPr>
          <p:nvPr/>
        </p:nvSpPr>
        <p:spPr bwMode="auto">
          <a:xfrm>
            <a:off x="8054010" y="5542580"/>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[5]</a:t>
            </a:r>
          </a:p>
        </p:txBody>
      </p:sp>
      <p:sp>
        <p:nvSpPr>
          <p:cNvPr id="11" name="AutoShape 8">
            <a:extLst>
              <a:ext uri="{FF2B5EF4-FFF2-40B4-BE49-F238E27FC236}">
                <a16:creationId xmlns:a16="http://schemas.microsoft.com/office/drawing/2014/main" id="{178123DB-0F69-4738-87A9-0A5B1CC414C1}"/>
              </a:ext>
            </a:extLst>
          </p:cNvPr>
          <p:cNvSpPr>
            <a:spLocks noChangeArrowheads="1"/>
          </p:cNvSpPr>
          <p:nvPr/>
        </p:nvSpPr>
        <p:spPr bwMode="auto">
          <a:xfrm>
            <a:off x="8601699" y="5474316"/>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6</a:t>
            </a:r>
          </a:p>
        </p:txBody>
      </p:sp>
      <p:sp>
        <p:nvSpPr>
          <p:cNvPr id="12" name="Rectangle 11">
            <a:extLst>
              <a:ext uri="{FF2B5EF4-FFF2-40B4-BE49-F238E27FC236}">
                <a16:creationId xmlns:a16="http://schemas.microsoft.com/office/drawing/2014/main" id="{7C6E93C5-0ACB-430C-BD0E-C09C20B65EE7}"/>
              </a:ext>
            </a:extLst>
          </p:cNvPr>
          <p:cNvSpPr>
            <a:spLocks noChangeArrowheads="1"/>
          </p:cNvSpPr>
          <p:nvPr/>
        </p:nvSpPr>
        <p:spPr bwMode="auto">
          <a:xfrm>
            <a:off x="8054010" y="5140942"/>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[4]</a:t>
            </a:r>
          </a:p>
        </p:txBody>
      </p:sp>
      <p:sp>
        <p:nvSpPr>
          <p:cNvPr id="13" name="AutoShape 12">
            <a:extLst>
              <a:ext uri="{FF2B5EF4-FFF2-40B4-BE49-F238E27FC236}">
                <a16:creationId xmlns:a16="http://schemas.microsoft.com/office/drawing/2014/main" id="{46EF380C-E619-4707-89A4-89F6EA9E4E68}"/>
              </a:ext>
            </a:extLst>
          </p:cNvPr>
          <p:cNvSpPr>
            <a:spLocks noChangeArrowheads="1"/>
          </p:cNvSpPr>
          <p:nvPr/>
        </p:nvSpPr>
        <p:spPr bwMode="auto">
          <a:xfrm>
            <a:off x="8601699" y="5072678"/>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5</a:t>
            </a:r>
          </a:p>
        </p:txBody>
      </p:sp>
      <p:sp>
        <p:nvSpPr>
          <p:cNvPr id="15" name="Rectangle 14">
            <a:extLst>
              <a:ext uri="{FF2B5EF4-FFF2-40B4-BE49-F238E27FC236}">
                <a16:creationId xmlns:a16="http://schemas.microsoft.com/office/drawing/2014/main" id="{1CAD800E-AA31-4BF3-9CDA-55AB96B20723}"/>
              </a:ext>
            </a:extLst>
          </p:cNvPr>
          <p:cNvSpPr>
            <a:spLocks noChangeArrowheads="1"/>
          </p:cNvSpPr>
          <p:nvPr/>
        </p:nvSpPr>
        <p:spPr bwMode="auto">
          <a:xfrm>
            <a:off x="8054010" y="4739305"/>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[3]</a:t>
            </a:r>
          </a:p>
        </p:txBody>
      </p:sp>
      <p:sp>
        <p:nvSpPr>
          <p:cNvPr id="16" name="AutoShape 15">
            <a:extLst>
              <a:ext uri="{FF2B5EF4-FFF2-40B4-BE49-F238E27FC236}">
                <a16:creationId xmlns:a16="http://schemas.microsoft.com/office/drawing/2014/main" id="{EEBF9E4F-2688-4C17-AECE-1DBCAA026BBC}"/>
              </a:ext>
            </a:extLst>
          </p:cNvPr>
          <p:cNvSpPr>
            <a:spLocks noChangeArrowheads="1"/>
          </p:cNvSpPr>
          <p:nvPr/>
        </p:nvSpPr>
        <p:spPr bwMode="auto">
          <a:xfrm>
            <a:off x="8601699" y="4671041"/>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4</a:t>
            </a:r>
          </a:p>
        </p:txBody>
      </p:sp>
      <p:sp>
        <p:nvSpPr>
          <p:cNvPr id="17" name="Rectangle 17">
            <a:extLst>
              <a:ext uri="{FF2B5EF4-FFF2-40B4-BE49-F238E27FC236}">
                <a16:creationId xmlns:a16="http://schemas.microsoft.com/office/drawing/2014/main" id="{2E696D68-81AF-4A88-BC77-49216E0D3094}"/>
              </a:ext>
            </a:extLst>
          </p:cNvPr>
          <p:cNvSpPr>
            <a:spLocks noChangeArrowheads="1"/>
          </p:cNvSpPr>
          <p:nvPr/>
        </p:nvSpPr>
        <p:spPr bwMode="auto">
          <a:xfrm>
            <a:off x="8054010" y="4336080"/>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[2]</a:t>
            </a:r>
          </a:p>
        </p:txBody>
      </p:sp>
      <p:sp>
        <p:nvSpPr>
          <p:cNvPr id="18" name="AutoShape 18">
            <a:extLst>
              <a:ext uri="{FF2B5EF4-FFF2-40B4-BE49-F238E27FC236}">
                <a16:creationId xmlns:a16="http://schemas.microsoft.com/office/drawing/2014/main" id="{FBCB80D4-2B3B-45C7-AB6E-E19E6C341411}"/>
              </a:ext>
            </a:extLst>
          </p:cNvPr>
          <p:cNvSpPr>
            <a:spLocks noChangeArrowheads="1"/>
          </p:cNvSpPr>
          <p:nvPr/>
        </p:nvSpPr>
        <p:spPr bwMode="auto">
          <a:xfrm>
            <a:off x="8601699" y="4267816"/>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3</a:t>
            </a:r>
          </a:p>
        </p:txBody>
      </p:sp>
      <p:sp>
        <p:nvSpPr>
          <p:cNvPr id="19" name="Rectangle 18">
            <a:extLst>
              <a:ext uri="{FF2B5EF4-FFF2-40B4-BE49-F238E27FC236}">
                <a16:creationId xmlns:a16="http://schemas.microsoft.com/office/drawing/2014/main" id="{E62F3F67-B3DA-477E-83F2-9BD40CA298AB}"/>
              </a:ext>
            </a:extLst>
          </p:cNvPr>
          <p:cNvSpPr>
            <a:spLocks noChangeArrowheads="1"/>
          </p:cNvSpPr>
          <p:nvPr/>
        </p:nvSpPr>
        <p:spPr bwMode="auto">
          <a:xfrm>
            <a:off x="8054010" y="3934442"/>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[1]</a:t>
            </a:r>
          </a:p>
        </p:txBody>
      </p:sp>
      <p:sp>
        <p:nvSpPr>
          <p:cNvPr id="20" name="AutoShape 21">
            <a:extLst>
              <a:ext uri="{FF2B5EF4-FFF2-40B4-BE49-F238E27FC236}">
                <a16:creationId xmlns:a16="http://schemas.microsoft.com/office/drawing/2014/main" id="{6DB79454-EFC0-4614-86BC-B9F6D9EF39C0}"/>
              </a:ext>
            </a:extLst>
          </p:cNvPr>
          <p:cNvSpPr>
            <a:spLocks noChangeArrowheads="1"/>
          </p:cNvSpPr>
          <p:nvPr/>
        </p:nvSpPr>
        <p:spPr bwMode="auto">
          <a:xfrm>
            <a:off x="8601699" y="3866178"/>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dirty="0">
                <a:latin typeface="Lucida Console" pitchFamily="49" charset="0"/>
              </a:rPr>
              <a:t> </a:t>
            </a:r>
            <a:r>
              <a:rPr lang="en-GB" sz="1600" b="1" dirty="0">
                <a:latin typeface="Lucida Console" pitchFamily="49" charset="0"/>
              </a:rPr>
              <a:t>22</a:t>
            </a:r>
          </a:p>
        </p:txBody>
      </p:sp>
      <p:sp>
        <p:nvSpPr>
          <p:cNvPr id="21" name="Rectangle 23">
            <a:extLst>
              <a:ext uri="{FF2B5EF4-FFF2-40B4-BE49-F238E27FC236}">
                <a16:creationId xmlns:a16="http://schemas.microsoft.com/office/drawing/2014/main" id="{E880CB45-99E5-4B45-913E-24BDE8869430}"/>
              </a:ext>
            </a:extLst>
          </p:cNvPr>
          <p:cNvSpPr>
            <a:spLocks noChangeArrowheads="1"/>
          </p:cNvSpPr>
          <p:nvPr/>
        </p:nvSpPr>
        <p:spPr bwMode="auto">
          <a:xfrm>
            <a:off x="8054010" y="3531217"/>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[0]</a:t>
            </a:r>
          </a:p>
        </p:txBody>
      </p:sp>
      <p:sp>
        <p:nvSpPr>
          <p:cNvPr id="22" name="AutoShape 24">
            <a:extLst>
              <a:ext uri="{FF2B5EF4-FFF2-40B4-BE49-F238E27FC236}">
                <a16:creationId xmlns:a16="http://schemas.microsoft.com/office/drawing/2014/main" id="{5395FB86-9BB0-4D99-9A34-BB4C16CB3D7C}"/>
              </a:ext>
            </a:extLst>
          </p:cNvPr>
          <p:cNvSpPr>
            <a:spLocks noChangeArrowheads="1"/>
          </p:cNvSpPr>
          <p:nvPr/>
        </p:nvSpPr>
        <p:spPr bwMode="auto">
          <a:xfrm>
            <a:off x="8601699" y="3462953"/>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dirty="0">
                <a:latin typeface="Lucida Console" pitchFamily="49" charset="0"/>
              </a:rPr>
              <a:t>  1 </a:t>
            </a:r>
          </a:p>
        </p:txBody>
      </p:sp>
      <p:sp>
        <p:nvSpPr>
          <p:cNvPr id="28" name="Oval 27">
            <a:extLst>
              <a:ext uri="{FF2B5EF4-FFF2-40B4-BE49-F238E27FC236}">
                <a16:creationId xmlns:a16="http://schemas.microsoft.com/office/drawing/2014/main" id="{62BC5092-BE55-465E-AE61-12F631A4C452}"/>
              </a:ext>
            </a:extLst>
          </p:cNvPr>
          <p:cNvSpPr/>
          <p:nvPr/>
        </p:nvSpPr>
        <p:spPr>
          <a:xfrm>
            <a:off x="7928956" y="2101037"/>
            <a:ext cx="1921099" cy="68048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cs typeface="Arial" pitchFamily="34" charset="0"/>
              </a:rPr>
              <a:t>numbers</a:t>
            </a:r>
          </a:p>
        </p:txBody>
      </p:sp>
    </p:spTree>
    <p:extLst>
      <p:ext uri="{BB962C8B-B14F-4D97-AF65-F5344CB8AC3E}">
        <p14:creationId xmlns:p14="http://schemas.microsoft.com/office/powerpoint/2010/main" val="4287254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Create an empty array</a:t>
            </a:r>
            <a:endParaRPr lang="en-GB" dirty="0"/>
          </a:p>
        </p:txBody>
      </p:sp>
      <p:sp>
        <p:nvSpPr>
          <p:cNvPr id="4" name="Rectangle 3"/>
          <p:cNvSpPr/>
          <p:nvPr/>
        </p:nvSpPr>
        <p:spPr>
          <a:xfrm>
            <a:off x="2060714" y="1600533"/>
            <a:ext cx="4110421" cy="411261"/>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2000" b="1" dirty="0" err="1">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numbers</a:t>
            </a:r>
            <a:r>
              <a:rPr lang="en-GB" sz="2000" b="1" dirty="0">
                <a:solidFill>
                  <a:srgbClr val="000000"/>
                </a:solidFill>
                <a:latin typeface="Consolas" panose="020B0609020204030204" pitchFamily="49" charset="0"/>
              </a:rPr>
              <a:t> = </a:t>
            </a:r>
            <a:r>
              <a:rPr lang="en-GB" sz="2000" b="1" dirty="0">
                <a:solidFill>
                  <a:srgbClr val="7F0055"/>
                </a:solidFill>
                <a:latin typeface="Consolas" panose="020B0609020204030204" pitchFamily="49" charset="0"/>
              </a:rPr>
              <a:t>new</a:t>
            </a:r>
            <a:r>
              <a:rPr lang="en-GB" sz="2000" b="1" dirty="0">
                <a:solidFill>
                  <a:srgbClr val="000000"/>
                </a:solidFill>
                <a:latin typeface="Consolas" panose="020B0609020204030204" pitchFamily="49" charset="0"/>
              </a:rPr>
              <a:t> </a:t>
            </a:r>
            <a:r>
              <a:rPr lang="en-GB" sz="2000" b="1" dirty="0" err="1">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[5];</a:t>
            </a:r>
          </a:p>
        </p:txBody>
      </p:sp>
      <p:sp>
        <p:nvSpPr>
          <p:cNvPr id="5" name="Rectangle 4"/>
          <p:cNvSpPr/>
          <p:nvPr/>
        </p:nvSpPr>
        <p:spPr>
          <a:xfrm>
            <a:off x="2060714" y="3864085"/>
            <a:ext cx="4110421" cy="36933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none">
            <a:spAutoFit/>
          </a:bodyPr>
          <a:lstStyle/>
          <a:p>
            <a:r>
              <a:rPr lang="en-GB" dirty="0">
                <a:solidFill>
                  <a:srgbClr val="000000"/>
                </a:solidFill>
                <a:latin typeface="Consolas" panose="020B0609020204030204" pitchFamily="49" charset="0"/>
              </a:rPr>
              <a:t>String[] </a:t>
            </a:r>
            <a:r>
              <a:rPr lang="en-GB" dirty="0">
                <a:solidFill>
                  <a:srgbClr val="6A3E3E"/>
                </a:solidFill>
                <a:latin typeface="Consolas" panose="020B0609020204030204" pitchFamily="49" charset="0"/>
              </a:rPr>
              <a:t>names</a:t>
            </a:r>
            <a:r>
              <a:rPr lang="en-GB" dirty="0">
                <a:solidFill>
                  <a:srgbClr val="000000"/>
                </a:solidFill>
                <a:latin typeface="Consolas" panose="020B0609020204030204" pitchFamily="49" charset="0"/>
              </a:rPr>
              <a:t> = </a:t>
            </a:r>
            <a:r>
              <a:rPr lang="en-GB" b="1" dirty="0">
                <a:solidFill>
                  <a:srgbClr val="7F0055"/>
                </a:solidFill>
                <a:latin typeface="Consolas" panose="020B0609020204030204" pitchFamily="49" charset="0"/>
              </a:rPr>
              <a:t>new</a:t>
            </a:r>
            <a:r>
              <a:rPr lang="en-GB" b="1" dirty="0">
                <a:solidFill>
                  <a:srgbClr val="000000"/>
                </a:solidFill>
                <a:latin typeface="Consolas" panose="020B0609020204030204" pitchFamily="49" charset="0"/>
              </a:rPr>
              <a:t> String[5];</a:t>
            </a:r>
          </a:p>
        </p:txBody>
      </p:sp>
      <p:graphicFrame>
        <p:nvGraphicFramePr>
          <p:cNvPr id="6" name="Table 5"/>
          <p:cNvGraphicFramePr>
            <a:graphicFrameLocks noGrp="1"/>
          </p:cNvGraphicFramePr>
          <p:nvPr/>
        </p:nvGraphicFramePr>
        <p:xfrm>
          <a:off x="6510046" y="1343387"/>
          <a:ext cx="878961" cy="1854200"/>
        </p:xfrm>
        <a:graphic>
          <a:graphicData uri="http://schemas.openxmlformats.org/drawingml/2006/table">
            <a:tbl>
              <a:tblPr firstRow="1" bandRow="1">
                <a:tableStyleId>{5940675A-B579-460E-94D1-54222C63F5DA}</a:tableStyleId>
              </a:tblPr>
              <a:tblGrid>
                <a:gridCol w="878961">
                  <a:extLst>
                    <a:ext uri="{9D8B030D-6E8A-4147-A177-3AD203B41FA5}">
                      <a16:colId xmlns:a16="http://schemas.microsoft.com/office/drawing/2014/main" val="20000"/>
                    </a:ext>
                  </a:extLst>
                </a:gridCol>
              </a:tblGrid>
              <a:tr h="370840">
                <a:tc>
                  <a:txBody>
                    <a:bodyPr/>
                    <a:lstStyle/>
                    <a:p>
                      <a:pPr algn="ctr"/>
                      <a:r>
                        <a:rPr lang="en-GB" b="1" dirty="0"/>
                        <a:t>0</a:t>
                      </a:r>
                    </a:p>
                  </a:txBody>
                  <a:tcPr/>
                </a:tc>
                <a:extLst>
                  <a:ext uri="{0D108BD9-81ED-4DB2-BD59-A6C34878D82A}">
                    <a16:rowId xmlns:a16="http://schemas.microsoft.com/office/drawing/2014/main" val="10000"/>
                  </a:ext>
                </a:extLst>
              </a:tr>
              <a:tr h="370840">
                <a:tc>
                  <a:txBody>
                    <a:bodyPr/>
                    <a:lstStyle/>
                    <a:p>
                      <a:pPr algn="ctr"/>
                      <a:r>
                        <a:rPr lang="en-GB" b="1" dirty="0"/>
                        <a:t>0</a:t>
                      </a:r>
                    </a:p>
                  </a:txBody>
                  <a:tcPr/>
                </a:tc>
                <a:extLst>
                  <a:ext uri="{0D108BD9-81ED-4DB2-BD59-A6C34878D82A}">
                    <a16:rowId xmlns:a16="http://schemas.microsoft.com/office/drawing/2014/main" val="10001"/>
                  </a:ext>
                </a:extLst>
              </a:tr>
              <a:tr h="370840">
                <a:tc>
                  <a:txBody>
                    <a:bodyPr/>
                    <a:lstStyle/>
                    <a:p>
                      <a:pPr algn="ctr"/>
                      <a:r>
                        <a:rPr lang="en-GB" b="1" dirty="0"/>
                        <a:t>0</a:t>
                      </a:r>
                    </a:p>
                  </a:txBody>
                  <a:tcPr/>
                </a:tc>
                <a:extLst>
                  <a:ext uri="{0D108BD9-81ED-4DB2-BD59-A6C34878D82A}">
                    <a16:rowId xmlns:a16="http://schemas.microsoft.com/office/drawing/2014/main" val="10002"/>
                  </a:ext>
                </a:extLst>
              </a:tr>
              <a:tr h="370840">
                <a:tc>
                  <a:txBody>
                    <a:bodyPr/>
                    <a:lstStyle/>
                    <a:p>
                      <a:pPr algn="ctr"/>
                      <a:r>
                        <a:rPr lang="en-GB" b="1" dirty="0"/>
                        <a:t>0</a:t>
                      </a:r>
                    </a:p>
                  </a:txBody>
                  <a:tcPr/>
                </a:tc>
                <a:extLst>
                  <a:ext uri="{0D108BD9-81ED-4DB2-BD59-A6C34878D82A}">
                    <a16:rowId xmlns:a16="http://schemas.microsoft.com/office/drawing/2014/main" val="10003"/>
                  </a:ext>
                </a:extLst>
              </a:tr>
              <a:tr h="370840">
                <a:tc>
                  <a:txBody>
                    <a:bodyPr/>
                    <a:lstStyle/>
                    <a:p>
                      <a:pPr algn="ctr"/>
                      <a:r>
                        <a:rPr lang="en-GB" b="1" dirty="0"/>
                        <a:t>0</a:t>
                      </a:r>
                    </a:p>
                  </a:txBody>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549805" y="3922216"/>
          <a:ext cx="878961" cy="1854200"/>
        </p:xfrm>
        <a:graphic>
          <a:graphicData uri="http://schemas.openxmlformats.org/drawingml/2006/table">
            <a:tbl>
              <a:tblPr firstRow="1" bandRow="1">
                <a:tableStyleId>{5940675A-B579-460E-94D1-54222C63F5DA}</a:tableStyleId>
              </a:tblPr>
              <a:tblGrid>
                <a:gridCol w="878961">
                  <a:extLst>
                    <a:ext uri="{9D8B030D-6E8A-4147-A177-3AD203B41FA5}">
                      <a16:colId xmlns:a16="http://schemas.microsoft.com/office/drawing/2014/main" val="20000"/>
                    </a:ext>
                  </a:extLst>
                </a:gridCol>
              </a:tblGrid>
              <a:tr h="370840">
                <a:tc>
                  <a:txBody>
                    <a:bodyPr/>
                    <a:lstStyle/>
                    <a:p>
                      <a:pPr algn="ctr"/>
                      <a:r>
                        <a:rPr lang="en-GB" b="1" dirty="0"/>
                        <a:t>null</a:t>
                      </a:r>
                    </a:p>
                  </a:txBody>
                  <a:tcPr/>
                </a:tc>
                <a:extLst>
                  <a:ext uri="{0D108BD9-81ED-4DB2-BD59-A6C34878D82A}">
                    <a16:rowId xmlns:a16="http://schemas.microsoft.com/office/drawing/2014/main" val="10000"/>
                  </a:ext>
                </a:extLst>
              </a:tr>
              <a:tr h="370840">
                <a:tc>
                  <a:txBody>
                    <a:bodyPr/>
                    <a:lstStyle/>
                    <a:p>
                      <a:pPr algn="ctr"/>
                      <a:r>
                        <a:rPr lang="en-GB" b="1" dirty="0"/>
                        <a:t>null</a:t>
                      </a:r>
                    </a:p>
                  </a:txBody>
                  <a:tcPr/>
                </a:tc>
                <a:extLst>
                  <a:ext uri="{0D108BD9-81ED-4DB2-BD59-A6C34878D82A}">
                    <a16:rowId xmlns:a16="http://schemas.microsoft.com/office/drawing/2014/main" val="10001"/>
                  </a:ext>
                </a:extLst>
              </a:tr>
              <a:tr h="370840">
                <a:tc>
                  <a:txBody>
                    <a:bodyPr/>
                    <a:lstStyle/>
                    <a:p>
                      <a:pPr algn="ctr"/>
                      <a:r>
                        <a:rPr lang="en-GB" b="1" dirty="0"/>
                        <a:t>null</a:t>
                      </a:r>
                    </a:p>
                  </a:txBody>
                  <a:tcPr/>
                </a:tc>
                <a:extLst>
                  <a:ext uri="{0D108BD9-81ED-4DB2-BD59-A6C34878D82A}">
                    <a16:rowId xmlns:a16="http://schemas.microsoft.com/office/drawing/2014/main" val="10002"/>
                  </a:ext>
                </a:extLst>
              </a:tr>
              <a:tr h="370840">
                <a:tc>
                  <a:txBody>
                    <a:bodyPr/>
                    <a:lstStyle/>
                    <a:p>
                      <a:pPr algn="ctr"/>
                      <a:r>
                        <a:rPr lang="en-GB" b="1" dirty="0"/>
                        <a:t>null</a:t>
                      </a:r>
                    </a:p>
                  </a:txBody>
                  <a:tcPr/>
                </a:tc>
                <a:extLst>
                  <a:ext uri="{0D108BD9-81ED-4DB2-BD59-A6C34878D82A}">
                    <a16:rowId xmlns:a16="http://schemas.microsoft.com/office/drawing/2014/main" val="10003"/>
                  </a:ext>
                </a:extLst>
              </a:tr>
              <a:tr h="370840">
                <a:tc>
                  <a:txBody>
                    <a:bodyPr/>
                    <a:lstStyle/>
                    <a:p>
                      <a:pPr algn="ctr"/>
                      <a:r>
                        <a:rPr lang="en-GB" b="1" dirty="0"/>
                        <a:t>null</a:t>
                      </a:r>
                    </a:p>
                  </a:txBody>
                  <a:tcPr/>
                </a:tc>
                <a:extLst>
                  <a:ext uri="{0D108BD9-81ED-4DB2-BD59-A6C34878D82A}">
                    <a16:rowId xmlns:a16="http://schemas.microsoft.com/office/drawing/2014/main" val="10004"/>
                  </a:ext>
                </a:extLst>
              </a:tr>
            </a:tbl>
          </a:graphicData>
        </a:graphic>
      </p:graphicFrame>
      <p:sp>
        <p:nvSpPr>
          <p:cNvPr id="8" name="Rounded Rectangular Callout 7"/>
          <p:cNvSpPr/>
          <p:nvPr/>
        </p:nvSpPr>
        <p:spPr>
          <a:xfrm>
            <a:off x="7964559" y="1770771"/>
            <a:ext cx="2381224" cy="934277"/>
          </a:xfrm>
          <a:prstGeom prst="wedgeRoundRectCallout">
            <a:avLst>
              <a:gd name="adj1" fmla="val -58671"/>
              <a:gd name="adj2" fmla="val -29450"/>
              <a:gd name="adj3" fmla="val 16667"/>
            </a:avLst>
          </a:prstGeom>
          <a:solidFill>
            <a:schemeClr val="accent1">
              <a:lumMod val="20000"/>
              <a:lumOff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Initialised to default values for </a:t>
            </a:r>
            <a:r>
              <a:rPr lang="en-GB" sz="1600" dirty="0" err="1">
                <a:solidFill>
                  <a:schemeClr val="tx1"/>
                </a:solidFill>
                <a:cs typeface="Arial" pitchFamily="34" charset="0"/>
              </a:rPr>
              <a:t>int</a:t>
            </a:r>
            <a:endParaRPr lang="en-GB" sz="1600" dirty="0">
              <a:solidFill>
                <a:schemeClr val="tx1"/>
              </a:solidFill>
              <a:cs typeface="Arial" pitchFamily="34" charset="0"/>
            </a:endParaRPr>
          </a:p>
        </p:txBody>
      </p:sp>
      <p:sp>
        <p:nvSpPr>
          <p:cNvPr id="9" name="Rounded Rectangular Callout 8"/>
          <p:cNvSpPr/>
          <p:nvPr/>
        </p:nvSpPr>
        <p:spPr>
          <a:xfrm>
            <a:off x="7964558" y="4291999"/>
            <a:ext cx="2524916" cy="934277"/>
          </a:xfrm>
          <a:prstGeom prst="wedgeRoundRectCallout">
            <a:avLst>
              <a:gd name="adj1" fmla="val -58671"/>
              <a:gd name="adj2" fmla="val -29450"/>
              <a:gd name="adj3" fmla="val 16667"/>
            </a:avLst>
          </a:prstGeom>
          <a:solidFill>
            <a:schemeClr val="accent1">
              <a:lumMod val="20000"/>
              <a:lumOff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Initialised to default values for String</a:t>
            </a:r>
          </a:p>
        </p:txBody>
      </p:sp>
    </p:spTree>
    <p:extLst>
      <p:ext uri="{BB962C8B-B14F-4D97-AF65-F5344CB8AC3E}">
        <p14:creationId xmlns:p14="http://schemas.microsoft.com/office/powerpoint/2010/main" val="42153816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dirty="0"/>
              <a:t>Loops</a:t>
            </a:r>
            <a:endParaRPr lang="en-IN" dirty="0"/>
          </a:p>
        </p:txBody>
      </p:sp>
      <p:sp>
        <p:nvSpPr>
          <p:cNvPr id="3" name="Text Placeholder 2"/>
          <p:cNvSpPr>
            <a:spLocks noGrp="1"/>
          </p:cNvSpPr>
          <p:nvPr>
            <p:ph type="body" sz="quarter" idx="15"/>
          </p:nvPr>
        </p:nvSpPr>
        <p:spPr/>
        <p:txBody>
          <a:bodyPr vert="horz" lIns="0" tIns="0" rIns="0" bIns="0" rtlCol="0" anchor="t" anchorCtr="0">
            <a:noAutofit/>
          </a:bodyPr>
          <a:lstStyle/>
          <a:p>
            <a:pPr marL="342900" indent="-342900">
              <a:buChar char="•"/>
            </a:pPr>
            <a:r>
              <a:rPr lang="en-GB" b="1" dirty="0"/>
              <a:t>Objectives</a:t>
            </a:r>
          </a:p>
          <a:p>
            <a:pPr marL="684000" lvl="1" indent="-342900">
              <a:buSzPct val="115000"/>
            </a:pPr>
            <a:r>
              <a:rPr lang="en-GB" dirty="0"/>
              <a:t>To cover C#’s looping constructs</a:t>
            </a:r>
          </a:p>
        </p:txBody>
      </p:sp>
    </p:spTree>
    <p:extLst>
      <p:ext uri="{BB962C8B-B14F-4D97-AF65-F5344CB8AC3E}">
        <p14:creationId xmlns:p14="http://schemas.microsoft.com/office/powerpoint/2010/main" val="364272748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ChangeArrowheads="1"/>
          </p:cNvSpPr>
          <p:nvPr>
            <p:ph type="title"/>
          </p:nvPr>
        </p:nvSpPr>
        <p:spPr/>
        <p:txBody>
          <a:bodyPr/>
          <a:lstStyle/>
          <a:p>
            <a:r>
              <a:rPr lang="en-GB" dirty="0"/>
              <a:t>Iteration using while and for Statements</a:t>
            </a:r>
          </a:p>
        </p:txBody>
      </p:sp>
      <p:sp>
        <p:nvSpPr>
          <p:cNvPr id="830467" name="Rectangle 3"/>
          <p:cNvSpPr>
            <a:spLocks noChangeArrowheads="1"/>
          </p:cNvSpPr>
          <p:nvPr/>
        </p:nvSpPr>
        <p:spPr bwMode="auto">
          <a:xfrm>
            <a:off x="2057544" y="1316553"/>
            <a:ext cx="6737422"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a:spcBef>
                <a:spcPct val="0"/>
              </a:spcBef>
            </a:pPr>
            <a:r>
              <a:rPr lang="en-GB" dirty="0">
                <a:solidFill>
                  <a:srgbClr val="0000FF"/>
                </a:solidFill>
                <a:latin typeface="Lucida Console" pitchFamily="49" charset="0"/>
              </a:rPr>
              <a:t>while</a:t>
            </a:r>
            <a:r>
              <a:rPr lang="en-GB" dirty="0">
                <a:latin typeface="Lucida Console" pitchFamily="49" charset="0"/>
              </a:rPr>
              <a:t> </a:t>
            </a:r>
            <a:r>
              <a:rPr lang="en-GB" dirty="0">
                <a:solidFill>
                  <a:srgbClr val="000000"/>
                </a:solidFill>
                <a:latin typeface="Lucida Console" pitchFamily="49" charset="0"/>
              </a:rPr>
              <a:t>( </a:t>
            </a:r>
            <a:r>
              <a:rPr lang="en-GB" i="1" dirty="0" err="1">
                <a:solidFill>
                  <a:srgbClr val="000000"/>
                </a:solidFill>
                <a:latin typeface="Lucida Console" pitchFamily="49" charset="0"/>
              </a:rPr>
              <a:t>boolean_expression</a:t>
            </a:r>
            <a:r>
              <a:rPr lang="en-GB" i="1" dirty="0">
                <a:solidFill>
                  <a:srgbClr val="000000"/>
                </a:solidFill>
                <a:latin typeface="Lucida Console" pitchFamily="49" charset="0"/>
              </a:rPr>
              <a:t> </a:t>
            </a:r>
            <a:r>
              <a:rPr lang="en-GB" dirty="0">
                <a:solidFill>
                  <a:srgbClr val="000000"/>
                </a:solidFill>
                <a:latin typeface="Lucida Console" pitchFamily="49" charset="0"/>
              </a:rPr>
              <a:t>) { </a:t>
            </a:r>
          </a:p>
          <a:p>
            <a:pPr>
              <a:spcBef>
                <a:spcPct val="0"/>
              </a:spcBef>
            </a:pPr>
            <a:r>
              <a:rPr lang="en-GB" dirty="0">
                <a:solidFill>
                  <a:srgbClr val="000000"/>
                </a:solidFill>
                <a:latin typeface="Lucida Console" pitchFamily="49" charset="0"/>
              </a:rPr>
              <a:t>  </a:t>
            </a:r>
            <a:r>
              <a:rPr lang="en-GB" i="1" dirty="0">
                <a:solidFill>
                  <a:srgbClr val="000000"/>
                </a:solidFill>
                <a:latin typeface="Lucida Console" pitchFamily="49" charset="0"/>
              </a:rPr>
              <a:t>statement(s)</a:t>
            </a:r>
            <a:r>
              <a:rPr lang="en-GB" dirty="0">
                <a:solidFill>
                  <a:srgbClr val="000000"/>
                </a:solidFill>
                <a:latin typeface="Lucida Console" pitchFamily="49" charset="0"/>
              </a:rPr>
              <a:t>;</a:t>
            </a:r>
          </a:p>
          <a:p>
            <a:pPr>
              <a:spcBef>
                <a:spcPct val="0"/>
              </a:spcBef>
            </a:pPr>
            <a:r>
              <a:rPr lang="en-GB" dirty="0">
                <a:solidFill>
                  <a:srgbClr val="000000"/>
                </a:solidFill>
                <a:latin typeface="Lucida Console" pitchFamily="49" charset="0"/>
              </a:rPr>
              <a:t>}</a:t>
            </a:r>
          </a:p>
        </p:txBody>
      </p:sp>
      <p:sp>
        <p:nvSpPr>
          <p:cNvPr id="830468" name="Rectangle 4"/>
          <p:cNvSpPr>
            <a:spLocks noChangeArrowheads="1"/>
          </p:cNvSpPr>
          <p:nvPr/>
        </p:nvSpPr>
        <p:spPr bwMode="auto">
          <a:xfrm>
            <a:off x="2057543" y="2662105"/>
            <a:ext cx="6737423"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a:spcBef>
                <a:spcPct val="0"/>
              </a:spcBef>
            </a:pPr>
            <a:r>
              <a:rPr lang="en-GB" dirty="0">
                <a:solidFill>
                  <a:srgbClr val="0000FF"/>
                </a:solidFill>
                <a:latin typeface="Lucida Console" pitchFamily="49" charset="0"/>
              </a:rPr>
              <a:t>do </a:t>
            </a:r>
            <a:r>
              <a:rPr lang="en-GB" dirty="0">
                <a:latin typeface="Lucida Console" pitchFamily="49" charset="0"/>
              </a:rPr>
              <a:t>{</a:t>
            </a:r>
          </a:p>
          <a:p>
            <a:pPr>
              <a:spcBef>
                <a:spcPct val="0"/>
              </a:spcBef>
            </a:pPr>
            <a:r>
              <a:rPr lang="en-GB" dirty="0">
                <a:latin typeface="Lucida Console" pitchFamily="49" charset="0"/>
              </a:rPr>
              <a:t>  </a:t>
            </a:r>
            <a:r>
              <a:rPr lang="en-GB" i="1" dirty="0">
                <a:solidFill>
                  <a:srgbClr val="000000"/>
                </a:solidFill>
                <a:latin typeface="Lucida Console" pitchFamily="49" charset="0"/>
              </a:rPr>
              <a:t>statement(s)</a:t>
            </a:r>
            <a:r>
              <a:rPr lang="en-GB" dirty="0">
                <a:solidFill>
                  <a:srgbClr val="000000"/>
                </a:solidFill>
                <a:latin typeface="Lucida Console" pitchFamily="49" charset="0"/>
              </a:rPr>
              <a:t>;</a:t>
            </a:r>
          </a:p>
          <a:p>
            <a:pPr>
              <a:spcBef>
                <a:spcPct val="0"/>
              </a:spcBef>
            </a:pPr>
            <a:r>
              <a:rPr lang="en-GB" dirty="0">
                <a:latin typeface="Lucida Console" pitchFamily="49" charset="0"/>
              </a:rPr>
              <a:t>}</a:t>
            </a:r>
            <a:r>
              <a:rPr lang="en-GB" dirty="0">
                <a:solidFill>
                  <a:srgbClr val="0000FF"/>
                </a:solidFill>
                <a:latin typeface="Lucida Console" pitchFamily="49" charset="0"/>
              </a:rPr>
              <a:t> while</a:t>
            </a:r>
            <a:r>
              <a:rPr lang="en-GB" dirty="0">
                <a:latin typeface="Lucida Console" pitchFamily="49" charset="0"/>
              </a:rPr>
              <a:t> </a:t>
            </a:r>
            <a:r>
              <a:rPr lang="en-GB" dirty="0">
                <a:solidFill>
                  <a:srgbClr val="000000"/>
                </a:solidFill>
                <a:latin typeface="Lucida Console" pitchFamily="49" charset="0"/>
              </a:rPr>
              <a:t>( </a:t>
            </a:r>
            <a:r>
              <a:rPr lang="en-GB" i="1" dirty="0" err="1">
                <a:solidFill>
                  <a:srgbClr val="000000"/>
                </a:solidFill>
                <a:latin typeface="Lucida Console" pitchFamily="49" charset="0"/>
              </a:rPr>
              <a:t>boolean_expression</a:t>
            </a:r>
            <a:r>
              <a:rPr lang="en-GB" i="1" dirty="0">
                <a:solidFill>
                  <a:srgbClr val="000000"/>
                </a:solidFill>
                <a:latin typeface="Lucida Console" pitchFamily="49" charset="0"/>
              </a:rPr>
              <a:t> </a:t>
            </a:r>
            <a:r>
              <a:rPr lang="en-GB" dirty="0">
                <a:solidFill>
                  <a:srgbClr val="000000"/>
                </a:solidFill>
                <a:latin typeface="Lucida Console" pitchFamily="49" charset="0"/>
              </a:rPr>
              <a:t>); </a:t>
            </a:r>
          </a:p>
        </p:txBody>
      </p:sp>
      <p:sp>
        <p:nvSpPr>
          <p:cNvPr id="830478" name="Rectangle 14"/>
          <p:cNvSpPr>
            <a:spLocks noChangeArrowheads="1"/>
          </p:cNvSpPr>
          <p:nvPr/>
        </p:nvSpPr>
        <p:spPr bwMode="auto">
          <a:xfrm>
            <a:off x="2057544" y="4104800"/>
            <a:ext cx="6737423" cy="92076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none" lIns="90488" tIns="44450" rIns="90488" bIns="44450">
            <a:spAutoFit/>
          </a:bodyPr>
          <a:lstStyle/>
          <a:p>
            <a:pPr>
              <a:spcBef>
                <a:spcPct val="0"/>
              </a:spcBef>
            </a:pPr>
            <a:r>
              <a:rPr lang="en-GB" dirty="0">
                <a:solidFill>
                  <a:srgbClr val="0000FF"/>
                </a:solidFill>
                <a:latin typeface="Lucida Console" pitchFamily="49" charset="0"/>
              </a:rPr>
              <a:t>for</a:t>
            </a:r>
            <a:r>
              <a:rPr lang="en-GB" dirty="0">
                <a:latin typeface="Lucida Console" pitchFamily="49" charset="0"/>
              </a:rPr>
              <a:t> </a:t>
            </a:r>
            <a:r>
              <a:rPr lang="en-GB" dirty="0">
                <a:solidFill>
                  <a:srgbClr val="000000"/>
                </a:solidFill>
                <a:latin typeface="Lucida Console" pitchFamily="49" charset="0"/>
              </a:rPr>
              <a:t>( </a:t>
            </a:r>
            <a:r>
              <a:rPr lang="en-GB" i="1" dirty="0" err="1">
                <a:solidFill>
                  <a:srgbClr val="000000"/>
                </a:solidFill>
                <a:latin typeface="Lucida Console" pitchFamily="49" charset="0"/>
              </a:rPr>
              <a:t>init_expr</a:t>
            </a:r>
            <a:r>
              <a:rPr lang="en-GB" i="1" dirty="0">
                <a:solidFill>
                  <a:srgbClr val="000000"/>
                </a:solidFill>
                <a:latin typeface="Lucida Console" pitchFamily="49" charset="0"/>
              </a:rPr>
              <a:t>; </a:t>
            </a:r>
            <a:r>
              <a:rPr lang="en-GB" i="1" dirty="0" err="1">
                <a:solidFill>
                  <a:srgbClr val="000000"/>
                </a:solidFill>
                <a:latin typeface="Lucida Console" pitchFamily="49" charset="0"/>
              </a:rPr>
              <a:t>boolean_expr</a:t>
            </a:r>
            <a:r>
              <a:rPr lang="en-GB" i="1" dirty="0">
                <a:solidFill>
                  <a:srgbClr val="000000"/>
                </a:solidFill>
                <a:latin typeface="Lucida Console" pitchFamily="49" charset="0"/>
              </a:rPr>
              <a:t>; </a:t>
            </a:r>
            <a:r>
              <a:rPr lang="en-GB" i="1" dirty="0" err="1">
                <a:solidFill>
                  <a:srgbClr val="000000"/>
                </a:solidFill>
                <a:latin typeface="Lucida Console" pitchFamily="49" charset="0"/>
              </a:rPr>
              <a:t>update_expr</a:t>
            </a:r>
            <a:r>
              <a:rPr lang="en-GB" i="1" dirty="0">
                <a:solidFill>
                  <a:srgbClr val="000000"/>
                </a:solidFill>
                <a:latin typeface="Lucida Console" pitchFamily="49" charset="0"/>
              </a:rPr>
              <a:t> </a:t>
            </a:r>
            <a:r>
              <a:rPr lang="en-GB" dirty="0">
                <a:solidFill>
                  <a:srgbClr val="000000"/>
                </a:solidFill>
                <a:latin typeface="Lucida Console" pitchFamily="49" charset="0"/>
              </a:rPr>
              <a:t>) { </a:t>
            </a:r>
          </a:p>
          <a:p>
            <a:pPr>
              <a:spcBef>
                <a:spcPct val="0"/>
              </a:spcBef>
            </a:pPr>
            <a:r>
              <a:rPr lang="en-GB" dirty="0">
                <a:solidFill>
                  <a:srgbClr val="000000"/>
                </a:solidFill>
                <a:latin typeface="Lucida Console" pitchFamily="49" charset="0"/>
              </a:rPr>
              <a:t>  </a:t>
            </a:r>
            <a:r>
              <a:rPr lang="en-GB" i="1" dirty="0">
                <a:solidFill>
                  <a:srgbClr val="000000"/>
                </a:solidFill>
                <a:latin typeface="Lucida Console" pitchFamily="49" charset="0"/>
              </a:rPr>
              <a:t>statement(s)</a:t>
            </a:r>
            <a:r>
              <a:rPr lang="en-GB" dirty="0">
                <a:solidFill>
                  <a:srgbClr val="000000"/>
                </a:solidFill>
                <a:latin typeface="Lucida Console" pitchFamily="49" charset="0"/>
              </a:rPr>
              <a:t>;</a:t>
            </a:r>
          </a:p>
          <a:p>
            <a:pPr>
              <a:spcBef>
                <a:spcPct val="0"/>
              </a:spcBef>
            </a:pPr>
            <a:r>
              <a:rPr lang="en-GB" dirty="0">
                <a:solidFill>
                  <a:srgbClr val="000000"/>
                </a:solidFill>
                <a:latin typeface="Lucida Console" pitchFamily="49" charset="0"/>
              </a:rPr>
              <a:t>}</a:t>
            </a:r>
          </a:p>
        </p:txBody>
      </p:sp>
      <p:sp>
        <p:nvSpPr>
          <p:cNvPr id="2" name="Rounded Rectangle 1"/>
          <p:cNvSpPr/>
          <p:nvPr/>
        </p:nvSpPr>
        <p:spPr>
          <a:xfrm>
            <a:off x="2077699" y="5466080"/>
            <a:ext cx="6737422" cy="483458"/>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b="1" dirty="0">
                <a:solidFill>
                  <a:schemeClr val="bg1"/>
                </a:solidFill>
              </a:rPr>
              <a:t>We'll see iteration using enhanced for loops later</a:t>
            </a:r>
          </a:p>
        </p:txBody>
      </p:sp>
    </p:spTree>
    <p:extLst>
      <p:ext uri="{BB962C8B-B14F-4D97-AF65-F5344CB8AC3E}">
        <p14:creationId xmlns:p14="http://schemas.microsoft.com/office/powerpoint/2010/main" val="397710544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7" name="Rectangle 7"/>
          <p:cNvSpPr>
            <a:spLocks noGrp="1" noChangeArrowheads="1"/>
          </p:cNvSpPr>
          <p:nvPr>
            <p:ph type="title"/>
          </p:nvPr>
        </p:nvSpPr>
        <p:spPr/>
        <p:txBody>
          <a:bodyPr/>
          <a:lstStyle/>
          <a:p>
            <a:r>
              <a:rPr lang="en-GB" dirty="0"/>
              <a:t>Iteration Using while Loops</a:t>
            </a:r>
          </a:p>
        </p:txBody>
      </p:sp>
      <p:sp>
        <p:nvSpPr>
          <p:cNvPr id="424968" name="Rectangle 8"/>
          <p:cNvSpPr>
            <a:spLocks noGrp="1" noChangeArrowheads="1"/>
          </p:cNvSpPr>
          <p:nvPr>
            <p:ph idx="1"/>
          </p:nvPr>
        </p:nvSpPr>
        <p:spPr>
          <a:xfrm>
            <a:off x="341272" y="3863364"/>
            <a:ext cx="11516239" cy="389975"/>
          </a:xfrm>
        </p:spPr>
        <p:txBody>
          <a:bodyPr vert="horz" lIns="0" tIns="0" rIns="0" bIns="0" rtlCol="0" anchor="t" anchorCtr="0">
            <a:noAutofit/>
          </a:bodyPr>
          <a:lstStyle/>
          <a:p>
            <a:pPr marL="342000" lvl="1" indent="-342900">
              <a:buSzPct val="115000"/>
            </a:pPr>
            <a:r>
              <a:rPr lang="en-US" dirty="0"/>
              <a:t>or put the test condition at the end of the loop</a:t>
            </a:r>
          </a:p>
        </p:txBody>
      </p:sp>
      <p:sp>
        <p:nvSpPr>
          <p:cNvPr id="424963" name="Rectangle 3"/>
          <p:cNvSpPr>
            <a:spLocks noChangeArrowheads="1"/>
          </p:cNvSpPr>
          <p:nvPr/>
        </p:nvSpPr>
        <p:spPr bwMode="auto">
          <a:xfrm>
            <a:off x="2438401" y="1883738"/>
            <a:ext cx="7254875" cy="4629150"/>
          </a:xfrm>
          <a:prstGeom prst="rect">
            <a:avLst/>
          </a:prstGeom>
          <a:noFill/>
          <a:ln w="9525">
            <a:noFill/>
            <a:miter lim="800000"/>
            <a:headEnd/>
            <a:tailEnd/>
          </a:ln>
          <a:effectLst/>
        </p:spPr>
        <p:txBody>
          <a:bodyPr wrap="none" anchor="ctr"/>
          <a:lstStyle/>
          <a:p>
            <a:pPr algn="ctr" defTabSz="739775">
              <a:spcBef>
                <a:spcPct val="0"/>
              </a:spcBef>
            </a:pPr>
            <a:endParaRPr lang="en-US"/>
          </a:p>
        </p:txBody>
      </p:sp>
      <p:sp>
        <p:nvSpPr>
          <p:cNvPr id="424964" name="Rectangle 4"/>
          <p:cNvSpPr>
            <a:spLocks noChangeArrowheads="1"/>
          </p:cNvSpPr>
          <p:nvPr/>
        </p:nvSpPr>
        <p:spPr bwMode="auto">
          <a:xfrm>
            <a:off x="2503488" y="1867864"/>
            <a:ext cx="7288212" cy="163288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179959" tIns="90043">
            <a:spAutoFit/>
          </a:bodyPr>
          <a:lstStyle/>
          <a:p>
            <a:pPr defTabSz="739775">
              <a:lnSpc>
                <a:spcPct val="90000"/>
              </a:lnSpc>
              <a:spcBef>
                <a:spcPct val="0"/>
              </a:spcBef>
            </a:pP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a:t>
            </a:r>
          </a:p>
          <a:p>
            <a:pPr defTabSz="739775">
              <a:lnSpc>
                <a:spcPct val="90000"/>
              </a:lnSpc>
              <a:spcBef>
                <a:spcPct val="0"/>
              </a:spcBef>
            </a:pPr>
            <a:r>
              <a:rPr lang="en-GB" dirty="0">
                <a:solidFill>
                  <a:srgbClr val="0000FF"/>
                </a:solidFill>
                <a:latin typeface="Lucida Console" pitchFamily="49" charset="0"/>
              </a:rPr>
              <a:t>while</a:t>
            </a:r>
            <a:r>
              <a:rPr lang="en-GB" dirty="0">
                <a:latin typeface="Lucida Console" pitchFamily="49" charset="0"/>
              </a:rPr>
              <a:t> (</a:t>
            </a:r>
            <a:r>
              <a:rPr lang="en-GB" dirty="0" err="1">
                <a:latin typeface="Lucida Console" pitchFamily="49" charset="0"/>
              </a:rPr>
              <a:t>i</a:t>
            </a:r>
            <a:r>
              <a:rPr lang="en-GB" dirty="0">
                <a:latin typeface="Lucida Console" pitchFamily="49" charset="0"/>
              </a:rPr>
              <a:t> &lt; 10) </a:t>
            </a:r>
            <a:br>
              <a:rPr lang="en-GB" dirty="0">
                <a:latin typeface="Lucida Console" pitchFamily="49" charset="0"/>
              </a:rPr>
            </a:br>
            <a:r>
              <a:rPr lang="en-GB" dirty="0">
                <a:latin typeface="Lucida Console" pitchFamily="49" charset="0"/>
              </a:rPr>
              <a:t>{</a:t>
            </a:r>
            <a:br>
              <a:rPr lang="en-GB" dirty="0">
                <a:latin typeface="Lucida Console" pitchFamily="49" charset="0"/>
              </a:rPr>
            </a:br>
            <a:r>
              <a:rPr lang="en-GB" dirty="0">
                <a:latin typeface="Lucida Console" pitchFamily="49" charset="0"/>
              </a:rPr>
              <a:t>  </a:t>
            </a:r>
            <a:r>
              <a:rPr lang="en-GB" dirty="0" err="1">
                <a:latin typeface="Lucida Console" pitchFamily="49" charset="0"/>
              </a:rPr>
              <a:t>Console.WriteLine</a:t>
            </a:r>
            <a:r>
              <a:rPr lang="en-GB" dirty="0">
                <a:latin typeface="Lucida Console" pitchFamily="49" charset="0"/>
              </a:rPr>
              <a:t>( $"{</a:t>
            </a:r>
            <a:r>
              <a:rPr lang="en-GB" dirty="0" err="1">
                <a:latin typeface="Lucida Console" pitchFamily="49" charset="0"/>
              </a:rPr>
              <a:t>i</a:t>
            </a:r>
            <a:r>
              <a:rPr lang="en-GB" dirty="0">
                <a:latin typeface="Lucida Console" pitchFamily="49" charset="0"/>
              </a:rPr>
              <a:t>} squared = {</a:t>
            </a:r>
            <a:r>
              <a:rPr lang="en-GB" dirty="0" err="1">
                <a:latin typeface="Lucida Console" pitchFamily="49" charset="0"/>
              </a:rPr>
              <a:t>i</a:t>
            </a:r>
            <a:r>
              <a:rPr lang="en-GB" dirty="0">
                <a:latin typeface="Lucida Console" pitchFamily="49" charset="0"/>
              </a:rPr>
              <a:t>*</a:t>
            </a:r>
            <a:r>
              <a:rPr lang="en-GB" dirty="0" err="1">
                <a:latin typeface="Lucida Console" pitchFamily="49" charset="0"/>
              </a:rPr>
              <a:t>i</a:t>
            </a:r>
            <a:r>
              <a:rPr lang="en-GB" dirty="0">
                <a:latin typeface="Lucida Console" pitchFamily="49" charset="0"/>
              </a:rPr>
              <a:t>}" );</a:t>
            </a:r>
          </a:p>
          <a:p>
            <a:pPr defTabSz="739775">
              <a:lnSpc>
                <a:spcPct val="90000"/>
              </a:lnSpc>
              <a:spcBef>
                <a:spcPct val="0"/>
              </a:spcBef>
            </a:pPr>
            <a:r>
              <a:rPr lang="en-GB" dirty="0">
                <a:latin typeface="Lucida Console" pitchFamily="49" charset="0"/>
              </a:rPr>
              <a:t>  </a:t>
            </a:r>
            <a:r>
              <a:rPr lang="en-GB" dirty="0" err="1">
                <a:latin typeface="Lucida Console" pitchFamily="49" charset="0"/>
              </a:rPr>
              <a:t>i</a:t>
            </a:r>
            <a:r>
              <a:rPr lang="en-GB" dirty="0">
                <a:latin typeface="Lucida Console" pitchFamily="49" charset="0"/>
              </a:rPr>
              <a:t>++;</a:t>
            </a:r>
          </a:p>
          <a:p>
            <a:pPr defTabSz="739775">
              <a:lnSpc>
                <a:spcPct val="90000"/>
              </a:lnSpc>
              <a:spcBef>
                <a:spcPct val="0"/>
              </a:spcBef>
            </a:pPr>
            <a:r>
              <a:rPr lang="en-GB" dirty="0">
                <a:latin typeface="Lucida Console" pitchFamily="49" charset="0"/>
              </a:rPr>
              <a:t>}                 </a:t>
            </a:r>
          </a:p>
        </p:txBody>
      </p:sp>
      <p:sp>
        <p:nvSpPr>
          <p:cNvPr id="424965" name="Rectangle 5"/>
          <p:cNvSpPr>
            <a:spLocks noChangeArrowheads="1"/>
          </p:cNvSpPr>
          <p:nvPr/>
        </p:nvSpPr>
        <p:spPr bwMode="auto">
          <a:xfrm>
            <a:off x="2484438" y="4450614"/>
            <a:ext cx="7345362" cy="2076081"/>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179959" tIns="90043">
            <a:spAutoFit/>
          </a:bodyPr>
          <a:lstStyle/>
          <a:p>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a:t>
            </a:r>
          </a:p>
          <a:p>
            <a:r>
              <a:rPr lang="en-GB" dirty="0">
                <a:solidFill>
                  <a:srgbClr val="0000FF"/>
                </a:solidFill>
                <a:latin typeface="Lucida Console" pitchFamily="49" charset="0"/>
              </a:rPr>
              <a:t>do</a:t>
            </a:r>
          </a:p>
          <a:p>
            <a:r>
              <a:rPr lang="en-GB" dirty="0">
                <a:latin typeface="Lucida Console" pitchFamily="49" charset="0"/>
              </a:rPr>
              <a:t>{</a:t>
            </a:r>
            <a:br>
              <a:rPr lang="en-GB" dirty="0">
                <a:latin typeface="Lucida Console" pitchFamily="49" charset="0"/>
              </a:rPr>
            </a:br>
            <a:r>
              <a:rPr lang="en-GB" dirty="0">
                <a:latin typeface="Lucida Console" pitchFamily="49" charset="0"/>
              </a:rPr>
              <a:t>  </a:t>
            </a:r>
            <a:r>
              <a:rPr lang="en-GB" dirty="0" err="1">
                <a:latin typeface="Lucida Console" pitchFamily="49" charset="0"/>
              </a:rPr>
              <a:t>Console.WriteLine</a:t>
            </a:r>
            <a:r>
              <a:rPr lang="en-GB" dirty="0">
                <a:latin typeface="Lucida Console" pitchFamily="49" charset="0"/>
              </a:rPr>
              <a:t>( $"{</a:t>
            </a:r>
            <a:r>
              <a:rPr lang="en-GB" dirty="0" err="1">
                <a:latin typeface="Lucida Console" pitchFamily="49" charset="0"/>
              </a:rPr>
              <a:t>i</a:t>
            </a:r>
            <a:r>
              <a:rPr lang="en-GB" dirty="0">
                <a:latin typeface="Lucida Console" pitchFamily="49" charset="0"/>
              </a:rPr>
              <a:t>} squared = {</a:t>
            </a:r>
            <a:r>
              <a:rPr lang="en-GB" dirty="0" err="1">
                <a:latin typeface="Lucida Console" pitchFamily="49" charset="0"/>
              </a:rPr>
              <a:t>i</a:t>
            </a:r>
            <a:r>
              <a:rPr lang="en-GB" dirty="0">
                <a:latin typeface="Lucida Console" pitchFamily="49" charset="0"/>
              </a:rPr>
              <a:t>*</a:t>
            </a:r>
            <a:r>
              <a:rPr lang="en-GB" dirty="0" err="1">
                <a:latin typeface="Lucida Console" pitchFamily="49" charset="0"/>
              </a:rPr>
              <a:t>i</a:t>
            </a:r>
            <a:r>
              <a:rPr lang="en-GB" dirty="0">
                <a:latin typeface="Lucida Console" pitchFamily="49" charset="0"/>
              </a:rPr>
              <a:t>}" );</a:t>
            </a:r>
          </a:p>
          <a:p>
            <a:r>
              <a:rPr lang="en-GB" dirty="0">
                <a:latin typeface="Lucida Console" pitchFamily="49" charset="0"/>
              </a:rPr>
              <a:t>  </a:t>
            </a:r>
            <a:r>
              <a:rPr lang="en-GB" dirty="0" err="1">
                <a:latin typeface="Lucida Console" pitchFamily="49" charset="0"/>
              </a:rPr>
              <a:t>i</a:t>
            </a:r>
            <a:r>
              <a:rPr lang="en-GB" dirty="0">
                <a:latin typeface="Lucida Console" pitchFamily="49" charset="0"/>
              </a:rPr>
              <a:t>++;</a:t>
            </a:r>
          </a:p>
          <a:p>
            <a:r>
              <a:rPr lang="en-GB" dirty="0">
                <a:latin typeface="Lucida Console" pitchFamily="49" charset="0"/>
              </a:rPr>
              <a:t>} </a:t>
            </a:r>
            <a:r>
              <a:rPr lang="en-GB" dirty="0">
                <a:solidFill>
                  <a:srgbClr val="0000FF"/>
                </a:solidFill>
                <a:latin typeface="Lucida Console" pitchFamily="49" charset="0"/>
              </a:rPr>
              <a:t>while</a:t>
            </a:r>
            <a:r>
              <a:rPr lang="en-GB" dirty="0">
                <a:latin typeface="Lucida Console" pitchFamily="49" charset="0"/>
              </a:rPr>
              <a:t> (</a:t>
            </a:r>
            <a:r>
              <a:rPr lang="en-GB" dirty="0" err="1">
                <a:latin typeface="Lucida Console" pitchFamily="49" charset="0"/>
              </a:rPr>
              <a:t>i</a:t>
            </a:r>
            <a:r>
              <a:rPr lang="en-GB" dirty="0">
                <a:latin typeface="Lucida Console" pitchFamily="49" charset="0"/>
              </a:rPr>
              <a:t> &lt; 10);</a:t>
            </a:r>
            <a:br>
              <a:rPr lang="en-GB" dirty="0">
                <a:latin typeface="Lucida Console" pitchFamily="49" charset="0"/>
              </a:rPr>
            </a:br>
            <a:endParaRPr lang="en-GB" dirty="0">
              <a:solidFill>
                <a:schemeClr val="accent2">
                  <a:lumMod val="25000"/>
                </a:schemeClr>
              </a:solidFill>
              <a:latin typeface="Lucida Console" pitchFamily="49" charset="0"/>
            </a:endParaRPr>
          </a:p>
        </p:txBody>
      </p:sp>
      <p:sp>
        <p:nvSpPr>
          <p:cNvPr id="8" name="Rectangle 8"/>
          <p:cNvSpPr>
            <a:spLocks noChangeArrowheads="1"/>
          </p:cNvSpPr>
          <p:nvPr/>
        </p:nvSpPr>
        <p:spPr bwMode="auto">
          <a:xfrm>
            <a:off x="2881423" y="1507304"/>
            <a:ext cx="1661989" cy="369332"/>
          </a:xfrm>
          <a:prstGeom prst="rect">
            <a:avLst/>
          </a:prstGeom>
          <a:solidFill>
            <a:srgbClr val="FFCCFF"/>
          </a:solidFill>
          <a:ln w="19050">
            <a:noFill/>
            <a:miter lim="800000"/>
            <a:headEnd/>
            <a:tailEnd/>
          </a:ln>
          <a:effectLst>
            <a:innerShdw blurRad="63500" dist="50800" dir="10800000">
              <a:prstClr val="black">
                <a:alpha val="50000"/>
              </a:prstClr>
            </a:innerShdw>
          </a:effectLst>
        </p:spPr>
        <p:txBody>
          <a:bodyPr wrap="square" anchor="ctr">
            <a:spAutoFit/>
          </a:bodyPr>
          <a:lstStyle/>
          <a:p>
            <a:pPr algn="ctr" eaLnBrk="0" hangingPunct="0">
              <a:spcBef>
                <a:spcPct val="50000"/>
              </a:spcBef>
            </a:pPr>
            <a:r>
              <a:rPr lang="en-GB" dirty="0"/>
              <a:t>Declare/Init</a:t>
            </a:r>
          </a:p>
        </p:txBody>
      </p:sp>
      <p:sp>
        <p:nvSpPr>
          <p:cNvPr id="9" name="Line 9"/>
          <p:cNvSpPr>
            <a:spLocks noChangeShapeType="1"/>
          </p:cNvSpPr>
          <p:nvPr/>
        </p:nvSpPr>
        <p:spPr bwMode="auto">
          <a:xfrm flipH="1">
            <a:off x="3657600" y="1874214"/>
            <a:ext cx="0" cy="143782"/>
          </a:xfrm>
          <a:prstGeom prst="line">
            <a:avLst/>
          </a:prstGeom>
          <a:noFill/>
          <a:ln w="9525">
            <a:solidFill>
              <a:schemeClr val="tx1"/>
            </a:solidFill>
            <a:round/>
            <a:headEnd/>
            <a:tailEnd type="triangle" w="med" len="med"/>
          </a:ln>
        </p:spPr>
        <p:txBody>
          <a:bodyPr wrap="square">
            <a:spAutoFit/>
          </a:bodyPr>
          <a:lstStyle/>
          <a:p>
            <a:endParaRPr lang="en-GB"/>
          </a:p>
        </p:txBody>
      </p:sp>
      <p:sp>
        <p:nvSpPr>
          <p:cNvPr id="10" name="Rectangle 8"/>
          <p:cNvSpPr>
            <a:spLocks noChangeArrowheads="1"/>
          </p:cNvSpPr>
          <p:nvPr/>
        </p:nvSpPr>
        <p:spPr bwMode="auto">
          <a:xfrm>
            <a:off x="5038726" y="1497599"/>
            <a:ext cx="2044246" cy="369332"/>
          </a:xfrm>
          <a:prstGeom prst="rect">
            <a:avLst/>
          </a:prstGeom>
          <a:solidFill>
            <a:srgbClr val="FFCCFF"/>
          </a:solidFill>
          <a:ln w="19050">
            <a:noFill/>
            <a:miter lim="800000"/>
            <a:headEnd/>
            <a:tailEnd/>
          </a:ln>
          <a:effectLst>
            <a:innerShdw blurRad="63500" dist="50800" dir="10800000">
              <a:prstClr val="black">
                <a:alpha val="50000"/>
              </a:prstClr>
            </a:innerShdw>
          </a:effectLst>
        </p:spPr>
        <p:txBody>
          <a:bodyPr wrap="square" anchor="ctr">
            <a:spAutoFit/>
          </a:bodyPr>
          <a:lstStyle/>
          <a:p>
            <a:pPr algn="ctr" eaLnBrk="0" hangingPunct="0">
              <a:spcBef>
                <a:spcPct val="50000"/>
              </a:spcBef>
            </a:pPr>
            <a:r>
              <a:rPr lang="en-GB" dirty="0"/>
              <a:t>Exit condition</a:t>
            </a:r>
          </a:p>
        </p:txBody>
      </p:sp>
      <p:sp>
        <p:nvSpPr>
          <p:cNvPr id="11" name="Line 9"/>
          <p:cNvSpPr>
            <a:spLocks noChangeShapeType="1"/>
          </p:cNvSpPr>
          <p:nvPr/>
        </p:nvSpPr>
        <p:spPr bwMode="auto">
          <a:xfrm flipH="1">
            <a:off x="4694237" y="1874213"/>
            <a:ext cx="344488" cy="271462"/>
          </a:xfrm>
          <a:prstGeom prst="line">
            <a:avLst/>
          </a:prstGeom>
          <a:noFill/>
          <a:ln w="9525">
            <a:solidFill>
              <a:schemeClr val="tx1"/>
            </a:solidFill>
            <a:round/>
            <a:headEnd/>
            <a:tailEnd type="triangle" w="med" len="med"/>
          </a:ln>
        </p:spPr>
        <p:txBody>
          <a:bodyPr wrap="square">
            <a:spAutoFit/>
          </a:bodyPr>
          <a:lstStyle/>
          <a:p>
            <a:endParaRPr lang="en-GB"/>
          </a:p>
        </p:txBody>
      </p:sp>
      <p:sp>
        <p:nvSpPr>
          <p:cNvPr id="15" name="Line 9"/>
          <p:cNvSpPr>
            <a:spLocks noChangeShapeType="1"/>
          </p:cNvSpPr>
          <p:nvPr/>
        </p:nvSpPr>
        <p:spPr bwMode="auto">
          <a:xfrm flipH="1" flipV="1">
            <a:off x="3540125" y="3050256"/>
            <a:ext cx="508000" cy="438150"/>
          </a:xfrm>
          <a:prstGeom prst="line">
            <a:avLst/>
          </a:prstGeom>
          <a:noFill/>
          <a:ln w="9525">
            <a:solidFill>
              <a:schemeClr val="tx1"/>
            </a:solidFill>
            <a:round/>
            <a:headEnd/>
            <a:tailEnd type="triangle" w="med" len="med"/>
          </a:ln>
        </p:spPr>
        <p:txBody>
          <a:bodyPr wrap="square">
            <a:spAutoFit/>
          </a:bodyPr>
          <a:lstStyle/>
          <a:p>
            <a:endParaRPr lang="en-GB"/>
          </a:p>
        </p:txBody>
      </p:sp>
      <p:sp>
        <p:nvSpPr>
          <p:cNvPr id="14" name="Rectangle 8"/>
          <p:cNvSpPr>
            <a:spLocks noChangeArrowheads="1"/>
          </p:cNvSpPr>
          <p:nvPr/>
        </p:nvSpPr>
        <p:spPr bwMode="auto">
          <a:xfrm>
            <a:off x="3867837" y="3279364"/>
            <a:ext cx="2373474" cy="369332"/>
          </a:xfrm>
          <a:prstGeom prst="rect">
            <a:avLst/>
          </a:prstGeom>
          <a:solidFill>
            <a:srgbClr val="FFCCFF"/>
          </a:solidFill>
          <a:ln w="19050">
            <a:noFill/>
            <a:miter lim="800000"/>
            <a:headEnd/>
            <a:tailEnd/>
          </a:ln>
          <a:effectLst>
            <a:innerShdw blurRad="63500" dist="50800" dir="10800000">
              <a:prstClr val="black">
                <a:alpha val="50000"/>
              </a:prstClr>
            </a:innerShdw>
          </a:effectLst>
        </p:spPr>
        <p:txBody>
          <a:bodyPr wrap="square" anchor="ctr">
            <a:spAutoFit/>
          </a:bodyPr>
          <a:lstStyle/>
          <a:p>
            <a:pPr algn="ctr" eaLnBrk="0" hangingPunct="0">
              <a:spcBef>
                <a:spcPct val="50000"/>
              </a:spcBef>
            </a:pPr>
            <a:r>
              <a:rPr lang="en-GB" dirty="0"/>
              <a:t>Changing value</a:t>
            </a:r>
          </a:p>
        </p:txBody>
      </p:sp>
    </p:spTree>
    <p:extLst>
      <p:ext uri="{BB962C8B-B14F-4D97-AF65-F5344CB8AC3E}">
        <p14:creationId xmlns:p14="http://schemas.microsoft.com/office/powerpoint/2010/main" val="14952677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4965"/>
                                        </p:tgtEl>
                                        <p:attrNameLst>
                                          <p:attrName>style.visibility</p:attrName>
                                        </p:attrNameLst>
                                      </p:cBhvr>
                                      <p:to>
                                        <p:strVal val="visible"/>
                                      </p:to>
                                    </p:set>
                                    <p:animEffect transition="in" filter="fade">
                                      <p:cBhvr>
                                        <p:cTn id="7" dur="500"/>
                                        <p:tgtEl>
                                          <p:spTgt spid="4249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24968">
                                            <p:txEl>
                                              <p:pRg st="0" end="0"/>
                                            </p:txEl>
                                          </p:spTgt>
                                        </p:tgtEl>
                                        <p:attrNameLst>
                                          <p:attrName>style.visibility</p:attrName>
                                        </p:attrNameLst>
                                      </p:cBhvr>
                                      <p:to>
                                        <p:strVal val="visible"/>
                                      </p:to>
                                    </p:set>
                                    <p:animEffect transition="in" filter="fade">
                                      <p:cBhvr>
                                        <p:cTn id="10" dur="500"/>
                                        <p:tgtEl>
                                          <p:spTgt spid="42496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968" grpId="0" build="p"/>
      <p:bldP spid="42496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GB"/>
              <a:t>The for loop</a:t>
            </a:r>
          </a:p>
        </p:txBody>
      </p:sp>
      <p:sp>
        <p:nvSpPr>
          <p:cNvPr id="17411" name="Rectangle 3"/>
          <p:cNvSpPr>
            <a:spLocks noGrp="1" noChangeArrowheads="1"/>
          </p:cNvSpPr>
          <p:nvPr>
            <p:ph idx="1"/>
          </p:nvPr>
        </p:nvSpPr>
        <p:spPr>
          <a:xfrm>
            <a:off x="341272" y="1368256"/>
            <a:ext cx="11516239" cy="3416395"/>
          </a:xfrm>
        </p:spPr>
        <p:txBody>
          <a:bodyPr vert="horz" lIns="0" tIns="0" rIns="0" bIns="0" rtlCol="0" anchor="t" anchorCtr="0">
            <a:noAutofit/>
          </a:bodyPr>
          <a:lstStyle/>
          <a:p>
            <a:r>
              <a:rPr lang="en-GB" b="1" dirty="0"/>
              <a:t>Initialisation can include a declaration</a:t>
            </a:r>
          </a:p>
          <a:p>
            <a:pPr marL="342900" lvl="1" indent="-342900">
              <a:buSzPct val="115000"/>
            </a:pPr>
            <a:r>
              <a:rPr lang="en-GB" dirty="0"/>
              <a:t>Declared variable is in scope only inside the loop</a:t>
            </a:r>
            <a:br>
              <a:rPr lang="en-GB" dirty="0"/>
            </a:br>
            <a:endParaRPr lang="en-GB" dirty="0"/>
          </a:p>
        </p:txBody>
      </p:sp>
      <p:sp>
        <p:nvSpPr>
          <p:cNvPr id="834564" name="Rectangle 4"/>
          <p:cNvSpPr>
            <a:spLocks noChangeArrowheads="1"/>
          </p:cNvSpPr>
          <p:nvPr/>
        </p:nvSpPr>
        <p:spPr bwMode="auto">
          <a:xfrm>
            <a:off x="2928259" y="3040010"/>
            <a:ext cx="5351105" cy="1197764"/>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nchor="ctr">
            <a:spAutoFit/>
          </a:bodyPr>
          <a:lstStyle/>
          <a:p>
            <a:pPr eaLnBrk="0" hangingPunct="0">
              <a:defRPr/>
            </a:pPr>
            <a:r>
              <a:rPr lang="en-GB" dirty="0">
                <a:solidFill>
                  <a:srgbClr val="0000FF"/>
                </a:solidFill>
                <a:latin typeface="Lucida Console" pitchFamily="49" charset="0"/>
              </a:rPr>
              <a:t>for</a:t>
            </a:r>
            <a:r>
              <a:rPr lang="en-GB" dirty="0">
                <a:latin typeface="Lucida Console" pitchFamily="49" charset="0"/>
              </a:rPr>
              <a:t> ( </a:t>
            </a: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 </a:t>
            </a:r>
            <a:r>
              <a:rPr lang="en-GB" dirty="0" err="1">
                <a:latin typeface="Lucida Console" pitchFamily="49" charset="0"/>
              </a:rPr>
              <a:t>i</a:t>
            </a:r>
            <a:r>
              <a:rPr lang="en-GB" dirty="0">
                <a:latin typeface="Lucida Console" pitchFamily="49" charset="0"/>
              </a:rPr>
              <a:t> &lt; 10; </a:t>
            </a:r>
            <a:r>
              <a:rPr lang="en-GB" dirty="0" err="1">
                <a:latin typeface="Lucida Console" pitchFamily="49" charset="0"/>
              </a:rPr>
              <a:t>i</a:t>
            </a:r>
            <a:r>
              <a:rPr lang="en-GB" dirty="0">
                <a:latin typeface="Lucida Console" pitchFamily="49" charset="0"/>
              </a:rPr>
              <a:t>++ ) {</a:t>
            </a:r>
          </a:p>
          <a:p>
            <a:pPr eaLnBrk="0" hangingPunct="0">
              <a:defRPr/>
            </a:pPr>
            <a:r>
              <a:rPr lang="en-GB" dirty="0">
                <a:latin typeface="Lucida Console" pitchFamily="49" charset="0"/>
              </a:rPr>
              <a:t>   </a:t>
            </a:r>
            <a:r>
              <a:rPr lang="en-GB" dirty="0" err="1">
                <a:latin typeface="Lucida Console" pitchFamily="49" charset="0"/>
              </a:rPr>
              <a:t>Console.WriteLine</a:t>
            </a:r>
            <a:r>
              <a:rPr lang="en-GB" dirty="0">
                <a:latin typeface="Lucida Console" pitchFamily="49" charset="0"/>
              </a:rPr>
              <a:t>(</a:t>
            </a:r>
            <a:r>
              <a:rPr lang="en-GB" dirty="0" err="1">
                <a:latin typeface="Lucida Console" pitchFamily="49" charset="0"/>
              </a:rPr>
              <a:t>i</a:t>
            </a:r>
            <a:r>
              <a:rPr lang="en-GB" dirty="0">
                <a:latin typeface="Lucida Console" pitchFamily="49" charset="0"/>
              </a:rPr>
              <a:t> + "\n" );</a:t>
            </a:r>
            <a:br>
              <a:rPr lang="en-GB" dirty="0">
                <a:latin typeface="Lucida Console" pitchFamily="49" charset="0"/>
              </a:rPr>
            </a:br>
            <a:r>
              <a:rPr lang="en-GB" dirty="0">
                <a:latin typeface="Lucida Console" pitchFamily="49" charset="0"/>
              </a:rPr>
              <a:t>}</a:t>
            </a:r>
          </a:p>
          <a:p>
            <a:pPr eaLnBrk="0" hangingPunct="0">
              <a:defRPr/>
            </a:pPr>
            <a:endParaRPr lang="en-GB" dirty="0">
              <a:solidFill>
                <a:schemeClr val="accent2">
                  <a:lumMod val="25000"/>
                </a:schemeClr>
              </a:solidFill>
              <a:latin typeface="Lucida Console" pitchFamily="49" charset="0"/>
            </a:endParaRPr>
          </a:p>
        </p:txBody>
      </p:sp>
      <p:sp>
        <p:nvSpPr>
          <p:cNvPr id="834565" name="Rectangle 5"/>
          <p:cNvSpPr>
            <a:spLocks noChangeArrowheads="1"/>
          </p:cNvSpPr>
          <p:nvPr/>
        </p:nvSpPr>
        <p:spPr bwMode="auto">
          <a:xfrm>
            <a:off x="2921856" y="5072349"/>
            <a:ext cx="6458500" cy="920765"/>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none" lIns="90488" tIns="44450" rIns="90488" bIns="44450">
            <a:spAutoFit/>
          </a:bodyPr>
          <a:lstStyle/>
          <a:p>
            <a:pPr eaLnBrk="0" hangingPunct="0">
              <a:defRPr/>
            </a:pPr>
            <a:r>
              <a:rPr lang="en-GB" dirty="0">
                <a:solidFill>
                  <a:srgbClr val="0000FF"/>
                </a:solidFill>
                <a:latin typeface="Lucida Console" pitchFamily="49" charset="0"/>
              </a:rPr>
              <a:t>for</a:t>
            </a:r>
            <a:r>
              <a:rPr lang="en-GB" dirty="0">
                <a:latin typeface="Lucida Console" pitchFamily="49" charset="0"/>
              </a:rPr>
              <a:t>( </a:t>
            </a: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 j = 10</a:t>
            </a:r>
            <a:r>
              <a:rPr lang="en-GB" dirty="0">
                <a:solidFill>
                  <a:srgbClr val="FF0000"/>
                </a:solidFill>
                <a:latin typeface="Lucida Console" pitchFamily="49" charset="0"/>
              </a:rPr>
              <a:t>;</a:t>
            </a:r>
            <a:r>
              <a:rPr lang="en-GB" dirty="0">
                <a:latin typeface="Lucida Console" pitchFamily="49" charset="0"/>
              </a:rPr>
              <a:t> </a:t>
            </a:r>
            <a:r>
              <a:rPr lang="en-GB" dirty="0" err="1">
                <a:latin typeface="Lucida Console" pitchFamily="49" charset="0"/>
              </a:rPr>
              <a:t>i</a:t>
            </a:r>
            <a:r>
              <a:rPr lang="en-GB" dirty="0">
                <a:latin typeface="Lucida Console" pitchFamily="49" charset="0"/>
              </a:rPr>
              <a:t> &lt; j</a:t>
            </a:r>
            <a:r>
              <a:rPr lang="en-GB" dirty="0">
                <a:solidFill>
                  <a:srgbClr val="FF0000"/>
                </a:solidFill>
                <a:latin typeface="Lucida Console" pitchFamily="49" charset="0"/>
              </a:rPr>
              <a:t>;</a:t>
            </a:r>
            <a:r>
              <a:rPr lang="en-GB" dirty="0">
                <a:latin typeface="Lucida Console" pitchFamily="49" charset="0"/>
              </a:rPr>
              <a:t> </a:t>
            </a:r>
            <a:r>
              <a:rPr lang="en-GB" dirty="0" err="1">
                <a:latin typeface="Lucida Console" pitchFamily="49" charset="0"/>
              </a:rPr>
              <a:t>i</a:t>
            </a:r>
            <a:r>
              <a:rPr lang="en-GB" dirty="0">
                <a:latin typeface="Lucida Console" pitchFamily="49" charset="0"/>
              </a:rPr>
              <a:t>++, j-- ) { </a:t>
            </a:r>
          </a:p>
          <a:p>
            <a:pPr eaLnBrk="0" hangingPunct="0">
              <a:defRPr/>
            </a:pPr>
            <a:r>
              <a:rPr lang="en-US" dirty="0">
                <a:latin typeface="Lucida Console" pitchFamily="49" charset="0"/>
                <a:cs typeface="Courier New" pitchFamily="49" charset="0"/>
              </a:rPr>
              <a:t>   </a:t>
            </a:r>
            <a:r>
              <a:rPr lang="en-GB" dirty="0" err="1">
                <a:latin typeface="Lucida Console" pitchFamily="49" charset="0"/>
              </a:rPr>
              <a:t>Console.WriteLine</a:t>
            </a:r>
            <a:r>
              <a:rPr lang="en-GB" dirty="0">
                <a:latin typeface="Lucida Console" pitchFamily="49" charset="0"/>
              </a:rPr>
              <a:t>( </a:t>
            </a:r>
            <a:r>
              <a:rPr lang="en-GB" dirty="0" err="1">
                <a:latin typeface="Lucida Console" pitchFamily="49" charset="0"/>
              </a:rPr>
              <a:t>i</a:t>
            </a:r>
            <a:r>
              <a:rPr lang="en-GB" dirty="0">
                <a:latin typeface="Lucida Console" pitchFamily="49" charset="0"/>
              </a:rPr>
              <a:t> * j + "\n");</a:t>
            </a:r>
          </a:p>
          <a:p>
            <a:pPr eaLnBrk="0" hangingPunct="0">
              <a:defRPr/>
            </a:pPr>
            <a:r>
              <a:rPr lang="en-GB" dirty="0">
                <a:latin typeface="Lucida Console" pitchFamily="49" charset="0"/>
              </a:rPr>
              <a:t>}</a:t>
            </a:r>
          </a:p>
        </p:txBody>
      </p:sp>
      <p:sp>
        <p:nvSpPr>
          <p:cNvPr id="6" name="Rectangle 8"/>
          <p:cNvSpPr>
            <a:spLocks noChangeArrowheads="1"/>
          </p:cNvSpPr>
          <p:nvPr/>
        </p:nvSpPr>
        <p:spPr bwMode="auto">
          <a:xfrm>
            <a:off x="2928259" y="2301878"/>
            <a:ext cx="1621979" cy="369332"/>
          </a:xfrm>
          <a:prstGeom prst="rect">
            <a:avLst/>
          </a:prstGeom>
          <a:solidFill>
            <a:srgbClr val="FFCCFF"/>
          </a:solidFill>
          <a:ln w="19050">
            <a:noFill/>
            <a:miter lim="800000"/>
            <a:headEnd/>
            <a:tailEnd/>
          </a:ln>
          <a:effectLst>
            <a:innerShdw blurRad="63500" dist="50800" dir="16200000">
              <a:prstClr val="black">
                <a:alpha val="50000"/>
              </a:prstClr>
            </a:innerShdw>
          </a:effectLst>
        </p:spPr>
        <p:txBody>
          <a:bodyPr wrap="square" anchor="ctr">
            <a:spAutoFit/>
          </a:bodyPr>
          <a:lstStyle/>
          <a:p>
            <a:pPr algn="ctr" eaLnBrk="0" hangingPunct="0">
              <a:spcBef>
                <a:spcPct val="50000"/>
              </a:spcBef>
            </a:pPr>
            <a:r>
              <a:rPr lang="en-GB" dirty="0"/>
              <a:t>Initialisation</a:t>
            </a:r>
          </a:p>
        </p:txBody>
      </p:sp>
      <p:sp>
        <p:nvSpPr>
          <p:cNvPr id="7" name="Line 9"/>
          <p:cNvSpPr>
            <a:spLocks noChangeShapeType="1"/>
          </p:cNvSpPr>
          <p:nvPr/>
        </p:nvSpPr>
        <p:spPr bwMode="auto">
          <a:xfrm>
            <a:off x="4291013" y="2678971"/>
            <a:ext cx="2947" cy="351293"/>
          </a:xfrm>
          <a:prstGeom prst="line">
            <a:avLst/>
          </a:prstGeom>
          <a:noFill/>
          <a:ln w="19050">
            <a:solidFill>
              <a:srgbClr val="004050"/>
            </a:solidFill>
            <a:round/>
            <a:headEnd/>
            <a:tailEnd type="triangle" w="med" len="med"/>
          </a:ln>
        </p:spPr>
        <p:txBody>
          <a:bodyPr wrap="square">
            <a:spAutoFit/>
          </a:bodyPr>
          <a:lstStyle/>
          <a:p>
            <a:endParaRPr lang="en-GB"/>
          </a:p>
        </p:txBody>
      </p:sp>
      <p:sp>
        <p:nvSpPr>
          <p:cNvPr id="8" name="Rectangle 8"/>
          <p:cNvSpPr>
            <a:spLocks noChangeArrowheads="1"/>
          </p:cNvSpPr>
          <p:nvPr/>
        </p:nvSpPr>
        <p:spPr bwMode="auto">
          <a:xfrm>
            <a:off x="4754348" y="2305052"/>
            <a:ext cx="1873888" cy="369332"/>
          </a:xfrm>
          <a:prstGeom prst="rect">
            <a:avLst/>
          </a:prstGeom>
          <a:solidFill>
            <a:srgbClr val="FFCCFF"/>
          </a:solidFill>
          <a:ln w="19050">
            <a:noFill/>
            <a:miter lim="800000"/>
            <a:headEnd/>
            <a:tailEnd/>
          </a:ln>
          <a:effectLst>
            <a:innerShdw blurRad="63500" dist="50800" dir="16200000">
              <a:prstClr val="black">
                <a:alpha val="50000"/>
              </a:prstClr>
            </a:innerShdw>
          </a:effectLst>
        </p:spPr>
        <p:txBody>
          <a:bodyPr wrap="square" anchor="ctr">
            <a:spAutoFit/>
          </a:bodyPr>
          <a:lstStyle/>
          <a:p>
            <a:pPr algn="ctr" eaLnBrk="0" hangingPunct="0">
              <a:spcBef>
                <a:spcPct val="50000"/>
              </a:spcBef>
            </a:pPr>
            <a:r>
              <a:rPr lang="en-GB" dirty="0"/>
              <a:t>Exit condition</a:t>
            </a:r>
          </a:p>
        </p:txBody>
      </p:sp>
      <p:sp>
        <p:nvSpPr>
          <p:cNvPr id="9" name="Line 9"/>
          <p:cNvSpPr>
            <a:spLocks noChangeShapeType="1"/>
          </p:cNvSpPr>
          <p:nvPr/>
        </p:nvSpPr>
        <p:spPr bwMode="auto">
          <a:xfrm>
            <a:off x="5686426" y="2674208"/>
            <a:ext cx="3174" cy="366713"/>
          </a:xfrm>
          <a:prstGeom prst="line">
            <a:avLst/>
          </a:prstGeom>
          <a:noFill/>
          <a:ln w="19050">
            <a:solidFill>
              <a:srgbClr val="004050"/>
            </a:solidFill>
            <a:round/>
            <a:headEnd/>
            <a:tailEnd type="triangle" w="med" len="med"/>
          </a:ln>
        </p:spPr>
        <p:txBody>
          <a:bodyPr wrap="square">
            <a:spAutoFit/>
          </a:bodyPr>
          <a:lstStyle/>
          <a:p>
            <a:endParaRPr lang="en-GB"/>
          </a:p>
        </p:txBody>
      </p:sp>
      <p:sp>
        <p:nvSpPr>
          <p:cNvPr id="12" name="Rectangle 8"/>
          <p:cNvSpPr>
            <a:spLocks noChangeArrowheads="1"/>
          </p:cNvSpPr>
          <p:nvPr/>
        </p:nvSpPr>
        <p:spPr bwMode="auto">
          <a:xfrm>
            <a:off x="6819904" y="2308681"/>
            <a:ext cx="1459460" cy="369332"/>
          </a:xfrm>
          <a:prstGeom prst="rect">
            <a:avLst/>
          </a:prstGeom>
          <a:solidFill>
            <a:srgbClr val="FFCCFF"/>
          </a:solidFill>
          <a:ln w="19050">
            <a:noFill/>
            <a:miter lim="800000"/>
            <a:headEnd/>
            <a:tailEnd/>
          </a:ln>
          <a:effectLst>
            <a:innerShdw blurRad="63500" dist="50800" dir="16200000">
              <a:prstClr val="black">
                <a:alpha val="50000"/>
              </a:prstClr>
            </a:innerShdw>
          </a:effectLst>
        </p:spPr>
        <p:txBody>
          <a:bodyPr wrap="square" anchor="ctr">
            <a:spAutoFit/>
          </a:bodyPr>
          <a:lstStyle/>
          <a:p>
            <a:pPr algn="ctr" eaLnBrk="0" hangingPunct="0">
              <a:spcBef>
                <a:spcPct val="50000"/>
              </a:spcBef>
            </a:pPr>
            <a:r>
              <a:rPr lang="en-GB" dirty="0"/>
              <a:t>Changing</a:t>
            </a:r>
          </a:p>
        </p:txBody>
      </p:sp>
      <p:sp>
        <p:nvSpPr>
          <p:cNvPr id="13" name="Line 9"/>
          <p:cNvSpPr>
            <a:spLocks noChangeShapeType="1"/>
          </p:cNvSpPr>
          <p:nvPr/>
        </p:nvSpPr>
        <p:spPr bwMode="auto">
          <a:xfrm flipH="1">
            <a:off x="7097015" y="2678063"/>
            <a:ext cx="3176" cy="362857"/>
          </a:xfrm>
          <a:prstGeom prst="line">
            <a:avLst/>
          </a:prstGeom>
          <a:noFill/>
          <a:ln w="19050">
            <a:solidFill>
              <a:srgbClr val="004050"/>
            </a:solidFill>
            <a:round/>
            <a:headEnd/>
            <a:tailEnd type="triangle" w="med" len="med"/>
          </a:ln>
        </p:spPr>
        <p:txBody>
          <a:bodyPr wrap="square">
            <a:spAutoFit/>
          </a:bodyPr>
          <a:lstStyle/>
          <a:p>
            <a:endParaRPr lang="en-GB"/>
          </a:p>
        </p:txBody>
      </p:sp>
      <p:sp>
        <p:nvSpPr>
          <p:cNvPr id="14" name="Rectangle 3"/>
          <p:cNvSpPr txBox="1">
            <a:spLocks noChangeArrowheads="1"/>
          </p:cNvSpPr>
          <p:nvPr/>
        </p:nvSpPr>
        <p:spPr>
          <a:xfrm>
            <a:off x="341550" y="4619424"/>
            <a:ext cx="11516239" cy="51381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 typeface="Arial" panose="020B0604020202020204" pitchFamily="34" charset="0"/>
              <a:buChar char="•"/>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 typeface="Arial" panose="020B0604020202020204" pitchFamily="34" charset="0"/>
              <a:buChar char="•"/>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b="1" dirty="0"/>
              <a:t>Initialisation and update can be a list of  ','  separated expressions</a:t>
            </a:r>
            <a:br>
              <a:rPr lang="en-GB" dirty="0"/>
            </a:br>
            <a:endParaRPr lang="en-GB" dirty="0"/>
          </a:p>
        </p:txBody>
      </p:sp>
      <p:sp>
        <p:nvSpPr>
          <p:cNvPr id="15" name="Rounded Rectangular Callout 14"/>
          <p:cNvSpPr/>
          <p:nvPr/>
        </p:nvSpPr>
        <p:spPr>
          <a:xfrm>
            <a:off x="143691" y="3429000"/>
            <a:ext cx="2497909" cy="655320"/>
          </a:xfrm>
          <a:prstGeom prst="wedgeRoundRectCallout">
            <a:avLst>
              <a:gd name="adj1" fmla="val 68107"/>
              <a:gd name="adj2" fmla="val 44210"/>
              <a:gd name="adj3" fmla="val 16667"/>
            </a:avLst>
          </a:prstGeom>
          <a:solidFill>
            <a:schemeClr val="tx2"/>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accent2">
                    <a:lumMod val="25000"/>
                  </a:schemeClr>
                </a:solidFill>
                <a:latin typeface="Lucida Console" pitchFamily="49" charset="0"/>
              </a:rPr>
              <a:t>what is the value of '</a:t>
            </a:r>
            <a:r>
              <a:rPr lang="en-GB" sz="1600" dirty="0" err="1">
                <a:solidFill>
                  <a:schemeClr val="accent2">
                    <a:lumMod val="25000"/>
                  </a:schemeClr>
                </a:solidFill>
                <a:latin typeface="Lucida Console" pitchFamily="49" charset="0"/>
              </a:rPr>
              <a:t>i</a:t>
            </a:r>
            <a:r>
              <a:rPr lang="en-GB" sz="1600" dirty="0">
                <a:solidFill>
                  <a:schemeClr val="accent2">
                    <a:lumMod val="25000"/>
                  </a:schemeClr>
                </a:solidFill>
                <a:latin typeface="Lucida Console" pitchFamily="49" charset="0"/>
              </a:rPr>
              <a:t>' here?</a:t>
            </a:r>
          </a:p>
        </p:txBody>
      </p:sp>
    </p:spTree>
    <p:extLst>
      <p:ext uri="{BB962C8B-B14F-4D97-AF65-F5344CB8AC3E}">
        <p14:creationId xmlns:p14="http://schemas.microsoft.com/office/powerpoint/2010/main" val="42096503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34565"/>
                                        </p:tgtEl>
                                        <p:attrNameLst>
                                          <p:attrName>style.visibility</p:attrName>
                                        </p:attrNameLst>
                                      </p:cBhvr>
                                      <p:to>
                                        <p:strVal val="visible"/>
                                      </p:to>
                                    </p:set>
                                    <p:animEffect transition="in" filter="fade">
                                      <p:cBhvr>
                                        <p:cTn id="10" dur="500"/>
                                        <p:tgtEl>
                                          <p:spTgt spid="834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565" grpId="0" animBg="1"/>
      <p:bldP spid="1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dirty="0"/>
              <a:t>Using break to exit a any loop</a:t>
            </a:r>
          </a:p>
        </p:txBody>
      </p:sp>
      <p:sp>
        <p:nvSpPr>
          <p:cNvPr id="2" name="Rectangle 1"/>
          <p:cNvSpPr/>
          <p:nvPr/>
        </p:nvSpPr>
        <p:spPr>
          <a:xfrm>
            <a:off x="1663149" y="1227108"/>
            <a:ext cx="8827051" cy="3323987"/>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b="1" dirty="0">
                <a:solidFill>
                  <a:srgbClr val="7F0055"/>
                </a:solidFill>
                <a:latin typeface="Consolas" panose="020B0609020204030204" pitchFamily="49" charset="0"/>
              </a:rPr>
              <a:t>double</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money</a:t>
            </a:r>
            <a:r>
              <a:rPr lang="en-GB" sz="1400" b="1" dirty="0">
                <a:solidFill>
                  <a:srgbClr val="000000"/>
                </a:solidFill>
                <a:latin typeface="Consolas" panose="020B0609020204030204" pitchFamily="49" charset="0"/>
              </a:rPr>
              <a:t> = 50; 	</a:t>
            </a:r>
            <a:r>
              <a:rPr lang="en-GB" sz="1400" b="1" dirty="0">
                <a:solidFill>
                  <a:srgbClr val="3F7F5F"/>
                </a:solidFill>
                <a:latin typeface="Consolas" panose="020B0609020204030204" pitchFamily="49" charset="0"/>
              </a:rPr>
              <a:t>// £ pounds</a:t>
            </a:r>
          </a:p>
          <a:p>
            <a:endParaRPr lang="en-GB" sz="1400" b="1" dirty="0">
              <a:latin typeface="Consolas" panose="020B0609020204030204" pitchFamily="49" charset="0"/>
            </a:endParaRPr>
          </a:p>
          <a:p>
            <a:r>
              <a:rPr lang="en-GB" sz="1400" b="1" dirty="0">
                <a:solidFill>
                  <a:srgbClr val="7F0055"/>
                </a:solidFill>
                <a:latin typeface="Consolas" panose="020B0609020204030204" pitchFamily="49" charset="0"/>
              </a:rPr>
              <a:t>for</a:t>
            </a:r>
            <a:r>
              <a:rPr lang="en-GB" sz="1400" b="1" dirty="0">
                <a:solidFill>
                  <a:srgbClr val="000000"/>
                </a:solidFill>
                <a:latin typeface="Consolas" panose="020B0609020204030204" pitchFamily="49" charset="0"/>
              </a:rPr>
              <a:t> (</a:t>
            </a:r>
            <a:r>
              <a:rPr lang="en-GB" sz="1400" b="1" dirty="0" err="1">
                <a:solidFill>
                  <a:srgbClr val="7F0055"/>
                </a:solidFill>
                <a:latin typeface="Consolas" panose="020B0609020204030204" pitchFamily="49" charset="0"/>
              </a:rPr>
              <a:t>int</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years</a:t>
            </a:r>
            <a:r>
              <a:rPr lang="en-GB" sz="1400" b="1" dirty="0">
                <a:solidFill>
                  <a:srgbClr val="000000"/>
                </a:solidFill>
                <a:latin typeface="Consolas" panose="020B0609020204030204" pitchFamily="49" charset="0"/>
              </a:rPr>
              <a:t> = 1; </a:t>
            </a:r>
            <a:r>
              <a:rPr lang="en-GB" sz="1400" b="1" dirty="0">
                <a:solidFill>
                  <a:srgbClr val="6A3E3E"/>
                </a:solidFill>
                <a:latin typeface="Consolas" panose="020B0609020204030204" pitchFamily="49" charset="0"/>
              </a:rPr>
              <a:t>money</a:t>
            </a:r>
            <a:r>
              <a:rPr lang="en-GB" sz="1400" b="1" dirty="0">
                <a:solidFill>
                  <a:srgbClr val="000000"/>
                </a:solidFill>
                <a:latin typeface="Consolas" panose="020B0609020204030204" pitchFamily="49" charset="0"/>
              </a:rPr>
              <a:t> &lt; 1000; </a:t>
            </a:r>
            <a:r>
              <a:rPr lang="en-GB" sz="1400" b="1" dirty="0">
                <a:solidFill>
                  <a:srgbClr val="6A3E3E"/>
                </a:solidFill>
                <a:latin typeface="Consolas" panose="020B0609020204030204" pitchFamily="49" charset="0"/>
              </a:rPr>
              <a:t>years</a:t>
            </a:r>
            <a:r>
              <a:rPr lang="en-GB" sz="1400" b="1" dirty="0">
                <a:solidFill>
                  <a:srgbClr val="000000"/>
                </a:solidFill>
                <a:latin typeface="Consolas" panose="020B0609020204030204" pitchFamily="49" charset="0"/>
              </a:rPr>
              <a:t>++) {</a:t>
            </a:r>
          </a:p>
          <a:p>
            <a:pPr lvl="1"/>
            <a:r>
              <a:rPr lang="en-GB" sz="1400" b="1" dirty="0">
                <a:solidFill>
                  <a:srgbClr val="6A3E3E"/>
                </a:solidFill>
                <a:latin typeface="Consolas" panose="020B0609020204030204" pitchFamily="49" charset="0"/>
              </a:rPr>
              <a:t>	</a:t>
            </a:r>
          </a:p>
          <a:p>
            <a:pPr lvl="1"/>
            <a:r>
              <a:rPr lang="en-GB" sz="1400" b="1" dirty="0">
                <a:solidFill>
                  <a:srgbClr val="6A3E3E"/>
                </a:solidFill>
                <a:latin typeface="Consolas" panose="020B0609020204030204" pitchFamily="49" charset="0"/>
              </a:rPr>
              <a:t>	money</a:t>
            </a:r>
            <a:r>
              <a:rPr lang="en-GB" sz="1400" b="1" dirty="0">
                <a:solidFill>
                  <a:srgbClr val="000000"/>
                </a:solidFill>
                <a:latin typeface="Consolas" panose="020B0609020204030204" pitchFamily="49" charset="0"/>
              </a:rPr>
              <a:t> += 100;</a:t>
            </a:r>
          </a:p>
          <a:p>
            <a:r>
              <a:rPr lang="en-GB" sz="1400" b="1" dirty="0">
                <a:solidFill>
                  <a:srgbClr val="000000"/>
                </a:solidFill>
                <a:latin typeface="Cascadia Mono" panose="020B0609020000020004" pitchFamily="49" charset="0"/>
              </a:rPr>
              <a:t>	</a:t>
            </a:r>
          </a:p>
          <a:p>
            <a:r>
              <a:rPr lang="en-GB" sz="1400" b="1" dirty="0">
                <a:solidFill>
                  <a:srgbClr val="000000"/>
                </a:solidFill>
                <a:latin typeface="Cascadia Mono" panose="020B0609020000020004" pitchFamily="49" charset="0"/>
              </a:rPr>
              <a:t>	</a:t>
            </a:r>
            <a:r>
              <a:rPr lang="en-GB" sz="1400" b="1" dirty="0" err="1">
                <a:solidFill>
                  <a:srgbClr val="000000"/>
                </a:solidFill>
                <a:latin typeface="Cascadia Mono" panose="020B0609020000020004" pitchFamily="49" charset="0"/>
              </a:rPr>
              <a:t>Console.WriteLine</a:t>
            </a:r>
            <a:r>
              <a:rPr lang="en-GB" sz="1400" b="1" dirty="0">
                <a:solidFill>
                  <a:srgbClr val="000000"/>
                </a:solidFill>
                <a:latin typeface="Cascadia Mono" panose="020B0609020000020004" pitchFamily="49" charset="0"/>
              </a:rPr>
              <a:t>(</a:t>
            </a:r>
            <a:r>
              <a:rPr lang="en-GB" sz="1400" b="1" dirty="0">
                <a:solidFill>
                  <a:srgbClr val="A31515"/>
                </a:solidFill>
                <a:latin typeface="Cascadia Mono" panose="020B0609020000020004" pitchFamily="49" charset="0"/>
              </a:rPr>
              <a:t>$"Year </a:t>
            </a:r>
            <a:r>
              <a:rPr lang="en-GB" sz="1400" b="1" dirty="0">
                <a:solidFill>
                  <a:srgbClr val="000000"/>
                </a:solidFill>
                <a:latin typeface="Cascadia Mono" panose="020B0609020000020004" pitchFamily="49" charset="0"/>
              </a:rPr>
              <a:t>{years}</a:t>
            </a:r>
            <a:r>
              <a:rPr lang="en-GB" sz="1400" b="1" dirty="0">
                <a:solidFill>
                  <a:srgbClr val="A31515"/>
                </a:solidFill>
                <a:latin typeface="Cascadia Mono" panose="020B0609020000020004" pitchFamily="49" charset="0"/>
              </a:rPr>
              <a:t>:\t </a:t>
            </a:r>
            <a:r>
              <a:rPr lang="en-GB" sz="1400" b="1" dirty="0">
                <a:solidFill>
                  <a:srgbClr val="000000"/>
                </a:solidFill>
                <a:latin typeface="Cascadia Mono" panose="020B0609020000020004" pitchFamily="49" charset="0"/>
              </a:rPr>
              <a:t>{money}</a:t>
            </a:r>
            <a:r>
              <a:rPr lang="en-GB" sz="1400" b="1" dirty="0">
                <a:solidFill>
                  <a:srgbClr val="A31515"/>
                </a:solidFill>
                <a:latin typeface="Cascadia Mono" panose="020B0609020000020004" pitchFamily="49" charset="0"/>
              </a:rPr>
              <a:t>"</a:t>
            </a:r>
            <a:r>
              <a:rPr lang="en-GB" sz="1400" b="1" dirty="0">
                <a:solidFill>
                  <a:srgbClr val="000000"/>
                </a:solidFill>
                <a:latin typeface="Cascadia Mono" panose="020B0609020000020004" pitchFamily="49" charset="0"/>
              </a:rPr>
              <a:t>);</a:t>
            </a:r>
            <a:endParaRPr lang="en-GB" sz="1400" b="1" dirty="0"/>
          </a:p>
          <a:p>
            <a:pPr lvl="1"/>
            <a:endParaRPr lang="en-GB" sz="1400" b="1" dirty="0">
              <a:latin typeface="Consolas" panose="020B0609020204030204" pitchFamily="49" charset="0"/>
            </a:endParaRPr>
          </a:p>
          <a:p>
            <a:pPr lvl="1"/>
            <a:r>
              <a:rPr lang="en-GB" sz="1400" b="1" dirty="0">
                <a:solidFill>
                  <a:srgbClr val="7F0055"/>
                </a:solidFill>
                <a:latin typeface="Consolas" panose="020B0609020204030204" pitchFamily="49" charset="0"/>
              </a:rPr>
              <a:t>	double</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tax</a:t>
            </a:r>
            <a:r>
              <a:rPr lang="en-GB" sz="1400" b="1" dirty="0">
                <a:solidFill>
                  <a:srgbClr val="000000"/>
                </a:solidFill>
                <a:latin typeface="Consolas" panose="020B0609020204030204" pitchFamily="49" charset="0"/>
              </a:rPr>
              <a:t> = </a:t>
            </a:r>
            <a:r>
              <a:rPr lang="en-GB" sz="1400" b="1" dirty="0">
                <a:solidFill>
                  <a:srgbClr val="6A3E3E"/>
                </a:solidFill>
                <a:latin typeface="Consolas" panose="020B0609020204030204" pitchFamily="49" charset="0"/>
              </a:rPr>
              <a:t>money</a:t>
            </a:r>
            <a:r>
              <a:rPr lang="en-GB" sz="1400" b="1" dirty="0">
                <a:solidFill>
                  <a:srgbClr val="000000"/>
                </a:solidFill>
                <a:latin typeface="Consolas" panose="020B0609020204030204" pitchFamily="49" charset="0"/>
              </a:rPr>
              <a:t> * 0.40;</a:t>
            </a:r>
            <a:endParaRPr lang="en-GB" sz="1400" b="1" dirty="0">
              <a:latin typeface="Consolas" panose="020B0609020204030204" pitchFamily="49" charset="0"/>
            </a:endParaRPr>
          </a:p>
          <a:p>
            <a:pPr lvl="1"/>
            <a:r>
              <a:rPr lang="en-GB" sz="1400" b="1" dirty="0">
                <a:solidFill>
                  <a:srgbClr val="7F0055"/>
                </a:solidFill>
                <a:latin typeface="Consolas" panose="020B0609020204030204" pitchFamily="49" charset="0"/>
              </a:rPr>
              <a:t>	</a:t>
            </a:r>
          </a:p>
          <a:p>
            <a:pPr lvl="1"/>
            <a:r>
              <a:rPr lang="en-GB" sz="1400" b="1" dirty="0">
                <a:solidFill>
                  <a:srgbClr val="7F0055"/>
                </a:solidFill>
                <a:latin typeface="Consolas" panose="020B0609020204030204" pitchFamily="49" charset="0"/>
              </a:rPr>
              <a:t>	if</a:t>
            </a:r>
            <a:r>
              <a:rPr lang="en-GB" sz="1400" b="1" dirty="0">
                <a:solidFill>
                  <a:srgbClr val="000000"/>
                </a:solidFill>
                <a:latin typeface="Consolas" panose="020B0609020204030204" pitchFamily="49" charset="0"/>
              </a:rPr>
              <a:t> (</a:t>
            </a:r>
            <a:r>
              <a:rPr lang="en-GB" sz="1400" b="1" dirty="0">
                <a:solidFill>
                  <a:srgbClr val="6A3E3E"/>
                </a:solidFill>
                <a:latin typeface="Consolas" panose="020B0609020204030204" pitchFamily="49" charset="0"/>
              </a:rPr>
              <a:t>tax</a:t>
            </a:r>
            <a:r>
              <a:rPr lang="en-GB" sz="1400" b="1" dirty="0">
                <a:solidFill>
                  <a:srgbClr val="000000"/>
                </a:solidFill>
                <a:latin typeface="Consolas" panose="020B0609020204030204" pitchFamily="49" charset="0"/>
              </a:rPr>
              <a:t> &gt; 100) {</a:t>
            </a:r>
          </a:p>
          <a:p>
            <a:pPr lvl="2"/>
            <a:r>
              <a:rPr lang="en-GB" sz="1400" b="1" dirty="0">
                <a:latin typeface="Lucida Console" pitchFamily="49" charset="0"/>
              </a:rPr>
              <a:t>	</a:t>
            </a:r>
            <a:r>
              <a:rPr lang="en-GB" sz="1400" b="1" dirty="0" err="1">
                <a:latin typeface="Lucida Console" pitchFamily="49" charset="0"/>
              </a:rPr>
              <a:t>Console.WriteLine</a:t>
            </a:r>
            <a:r>
              <a:rPr lang="en-GB" sz="1400" b="1" i="1" dirty="0">
                <a:solidFill>
                  <a:srgbClr val="000000"/>
                </a:solidFill>
                <a:latin typeface="Consolas" panose="020B0609020204030204" pitchFamily="49" charset="0"/>
              </a:rPr>
              <a:t>(</a:t>
            </a:r>
            <a:r>
              <a:rPr lang="en-GB" sz="1400" b="1" i="1" dirty="0">
                <a:solidFill>
                  <a:srgbClr val="2A00FF"/>
                </a:solidFill>
                <a:latin typeface="Consolas" panose="020B0609020204030204" pitchFamily="49" charset="0"/>
              </a:rPr>
              <a:t>"Tax is &gt; 100"</a:t>
            </a:r>
            <a:r>
              <a:rPr lang="en-GB" sz="1400" b="1" i="1" dirty="0">
                <a:solidFill>
                  <a:srgbClr val="000000"/>
                </a:solidFill>
                <a:latin typeface="Consolas" panose="020B0609020204030204" pitchFamily="49" charset="0"/>
              </a:rPr>
              <a:t>);</a:t>
            </a:r>
          </a:p>
          <a:p>
            <a:pPr lvl="2"/>
            <a:r>
              <a:rPr lang="en-GB" sz="1400" b="1" dirty="0">
                <a:solidFill>
                  <a:srgbClr val="7F0055"/>
                </a:solidFill>
                <a:latin typeface="Consolas" panose="020B0609020204030204" pitchFamily="49" charset="0"/>
              </a:rPr>
              <a:t>	break</a:t>
            </a:r>
            <a:r>
              <a:rPr lang="en-GB" sz="1400" b="1" dirty="0">
                <a:solidFill>
                  <a:srgbClr val="000000"/>
                </a:solidFill>
                <a:latin typeface="Consolas" panose="020B0609020204030204" pitchFamily="49" charset="0"/>
              </a:rPr>
              <a:t>;</a:t>
            </a:r>
          </a:p>
          <a:p>
            <a:pPr lvl="1"/>
            <a:r>
              <a:rPr lang="en-GB" sz="1400" b="1" dirty="0">
                <a:solidFill>
                  <a:srgbClr val="000000"/>
                </a:solidFill>
                <a:latin typeface="Consolas" panose="020B0609020204030204" pitchFamily="49" charset="0"/>
              </a:rPr>
              <a:t>	}</a:t>
            </a:r>
          </a:p>
          <a:p>
            <a:r>
              <a:rPr lang="en-GB" sz="1400" b="1" dirty="0">
                <a:solidFill>
                  <a:srgbClr val="000000"/>
                </a:solidFill>
                <a:latin typeface="Consolas" panose="020B0609020204030204" pitchFamily="49" charset="0"/>
              </a:rPr>
              <a:t>}</a:t>
            </a:r>
          </a:p>
        </p:txBody>
      </p:sp>
      <p:sp>
        <p:nvSpPr>
          <p:cNvPr id="4" name="Rounded Rectangular Callout 3"/>
          <p:cNvSpPr/>
          <p:nvPr/>
        </p:nvSpPr>
        <p:spPr>
          <a:xfrm>
            <a:off x="5513979" y="4004291"/>
            <a:ext cx="2982321" cy="437321"/>
          </a:xfrm>
          <a:prstGeom prst="wedgeRoundRectCallout">
            <a:avLst>
              <a:gd name="adj1" fmla="val -59593"/>
              <a:gd name="adj2" fmla="val -38523"/>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cs typeface="Arial" pitchFamily="34" charset="0"/>
              </a:rPr>
              <a:t>Break out of the current loop</a:t>
            </a:r>
          </a:p>
        </p:txBody>
      </p:sp>
      <p:sp>
        <p:nvSpPr>
          <p:cNvPr id="9" name="TextBox 8">
            <a:extLst>
              <a:ext uri="{FF2B5EF4-FFF2-40B4-BE49-F238E27FC236}">
                <a16:creationId xmlns:a16="http://schemas.microsoft.com/office/drawing/2014/main" id="{AED6F14B-562F-2C69-2911-DE40413450AA}"/>
              </a:ext>
            </a:extLst>
          </p:cNvPr>
          <p:cNvSpPr txBox="1"/>
          <p:nvPr/>
        </p:nvSpPr>
        <p:spPr>
          <a:xfrm>
            <a:off x="9194800" y="2346236"/>
            <a:ext cx="1866900" cy="1077218"/>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GB" sz="1600" b="1" dirty="0"/>
              <a:t>Year 1:  150</a:t>
            </a:r>
          </a:p>
          <a:p>
            <a:r>
              <a:rPr lang="en-GB" sz="1600" b="1" dirty="0"/>
              <a:t>Year 2:  250</a:t>
            </a:r>
          </a:p>
          <a:p>
            <a:r>
              <a:rPr lang="en-GB" sz="1600" b="1" dirty="0"/>
              <a:t>Year 3:  350</a:t>
            </a:r>
          </a:p>
          <a:p>
            <a:r>
              <a:rPr lang="en-GB" sz="1600" b="1" dirty="0"/>
              <a:t>Tax is &gt; 100</a:t>
            </a:r>
          </a:p>
        </p:txBody>
      </p:sp>
    </p:spTree>
    <p:extLst>
      <p:ext uri="{BB962C8B-B14F-4D97-AF65-F5344CB8AC3E}">
        <p14:creationId xmlns:p14="http://schemas.microsoft.com/office/powerpoint/2010/main" val="299549757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dirty="0"/>
              <a:t>continue</a:t>
            </a:r>
          </a:p>
        </p:txBody>
      </p:sp>
      <p:sp>
        <p:nvSpPr>
          <p:cNvPr id="836611" name="Rectangle 3"/>
          <p:cNvSpPr>
            <a:spLocks noChangeArrowheads="1"/>
          </p:cNvSpPr>
          <p:nvPr/>
        </p:nvSpPr>
        <p:spPr bwMode="auto">
          <a:xfrm>
            <a:off x="2108419" y="1374537"/>
            <a:ext cx="2581728" cy="2582758"/>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b="1" dirty="0">
                <a:solidFill>
                  <a:srgbClr val="0000FF"/>
                </a:solidFill>
                <a:latin typeface="Courier New" pitchFamily="49" charset="0"/>
              </a:rPr>
              <a:t>for</a:t>
            </a:r>
            <a:r>
              <a:rPr lang="en-GB" b="1" dirty="0">
                <a:latin typeface="Courier New" pitchFamily="49" charset="0"/>
              </a:rPr>
              <a:t> (  ;  ;  )</a:t>
            </a:r>
          </a:p>
          <a:p>
            <a:pPr eaLnBrk="0" hangingPunct="0">
              <a:defRPr/>
            </a:pPr>
            <a:r>
              <a:rPr lang="en-GB" b="1" dirty="0">
                <a:latin typeface="Courier New" pitchFamily="49" charset="0"/>
              </a:rPr>
              <a:t>{</a:t>
            </a:r>
          </a:p>
          <a:p>
            <a:pPr eaLnBrk="0" hangingPunct="0">
              <a:defRPr/>
            </a:pPr>
            <a:r>
              <a:rPr lang="en-GB" b="1" dirty="0">
                <a:latin typeface="Courier New" pitchFamily="49" charset="0"/>
              </a:rPr>
              <a:t>  ...</a:t>
            </a:r>
            <a:endParaRPr lang="en-GB" b="1" dirty="0">
              <a:solidFill>
                <a:srgbClr val="000000"/>
              </a:solidFill>
              <a:latin typeface="Courier New" pitchFamily="49" charset="0"/>
            </a:endParaRPr>
          </a:p>
          <a:p>
            <a:pPr eaLnBrk="0" hangingPunct="0">
              <a:defRPr/>
            </a:pPr>
            <a:r>
              <a:rPr lang="en-GB" b="1" dirty="0">
                <a:solidFill>
                  <a:schemeClr val="bg2"/>
                </a:solidFill>
                <a:latin typeface="Courier New" pitchFamily="49" charset="0"/>
              </a:rPr>
              <a:t>  </a:t>
            </a:r>
            <a:r>
              <a:rPr lang="en-GB" b="1" dirty="0">
                <a:latin typeface="Courier New" pitchFamily="49" charset="0"/>
              </a:rPr>
              <a:t>...</a:t>
            </a:r>
          </a:p>
          <a:p>
            <a:pPr eaLnBrk="0" hangingPunct="0">
              <a:defRPr/>
            </a:pPr>
            <a:r>
              <a:rPr lang="en-GB" b="1" dirty="0">
                <a:solidFill>
                  <a:srgbClr val="000000"/>
                </a:solidFill>
                <a:latin typeface="Courier New" pitchFamily="49" charset="0"/>
              </a:rPr>
              <a:t>      </a:t>
            </a:r>
            <a:r>
              <a:rPr lang="en-GB" b="1" dirty="0">
                <a:solidFill>
                  <a:srgbClr val="0000C8"/>
                </a:solidFill>
                <a:latin typeface="Courier New" pitchFamily="49" charset="0"/>
              </a:rPr>
              <a:t>continue</a:t>
            </a:r>
            <a:r>
              <a:rPr lang="en-GB" b="1" dirty="0">
                <a:solidFill>
                  <a:srgbClr val="000000"/>
                </a:solidFill>
                <a:latin typeface="Courier New" pitchFamily="49" charset="0"/>
              </a:rPr>
              <a:t>; </a:t>
            </a:r>
          </a:p>
          <a:p>
            <a:pPr eaLnBrk="0" hangingPunct="0">
              <a:defRPr/>
            </a:pPr>
            <a:r>
              <a:rPr lang="en-GB" b="1" dirty="0">
                <a:solidFill>
                  <a:schemeClr val="bg2"/>
                </a:solidFill>
                <a:latin typeface="Courier New" pitchFamily="49" charset="0"/>
              </a:rPr>
              <a:t>  </a:t>
            </a:r>
            <a:r>
              <a:rPr lang="en-GB" b="1" dirty="0">
                <a:latin typeface="Courier New" pitchFamily="49" charset="0"/>
              </a:rPr>
              <a:t>...</a:t>
            </a:r>
          </a:p>
          <a:p>
            <a:pPr eaLnBrk="0" hangingPunct="0">
              <a:defRPr/>
            </a:pPr>
            <a:r>
              <a:rPr lang="en-GB" b="1" dirty="0">
                <a:solidFill>
                  <a:srgbClr val="000000"/>
                </a:solidFill>
                <a:latin typeface="Courier New" pitchFamily="49" charset="0"/>
              </a:rPr>
              <a:t>      </a:t>
            </a:r>
          </a:p>
          <a:p>
            <a:pPr eaLnBrk="0" hangingPunct="0">
              <a:defRPr/>
            </a:pPr>
            <a:r>
              <a:rPr lang="en-GB" b="1" dirty="0">
                <a:latin typeface="Courier New" pitchFamily="49" charset="0"/>
              </a:rPr>
              <a:t>}</a:t>
            </a:r>
          </a:p>
          <a:p>
            <a:pPr eaLnBrk="0" hangingPunct="0">
              <a:defRPr/>
            </a:pPr>
            <a:r>
              <a:rPr lang="en-GB" b="1" dirty="0">
                <a:latin typeface="Courier New" pitchFamily="49" charset="0"/>
              </a:rPr>
              <a:t>...</a:t>
            </a:r>
            <a:endParaRPr lang="en-GB" b="1" dirty="0">
              <a:solidFill>
                <a:schemeClr val="bg2"/>
              </a:solidFill>
              <a:latin typeface="Courier New" pitchFamily="49" charset="0"/>
            </a:endParaRPr>
          </a:p>
        </p:txBody>
      </p:sp>
      <p:sp>
        <p:nvSpPr>
          <p:cNvPr id="18436" name="Line 4"/>
          <p:cNvSpPr>
            <a:spLocks noChangeShapeType="1"/>
          </p:cNvSpPr>
          <p:nvPr/>
        </p:nvSpPr>
        <p:spPr bwMode="auto">
          <a:xfrm flipH="1">
            <a:off x="2361395" y="2912867"/>
            <a:ext cx="1144891" cy="496957"/>
          </a:xfrm>
          <a:prstGeom prst="line">
            <a:avLst/>
          </a:prstGeom>
          <a:noFill/>
          <a:ln w="12700">
            <a:noFill/>
            <a:round/>
            <a:headEnd/>
            <a:tailEnd type="triangle" w="med" len="med"/>
          </a:ln>
          <a:effectLst>
            <a:outerShdw blurRad="50800" dist="38100" algn="l" rotWithShape="0">
              <a:prstClr val="black">
                <a:alpha val="40000"/>
              </a:prstClr>
            </a:outerShdw>
          </a:effectLst>
        </p:spPr>
        <p:txBody>
          <a:bodyPr/>
          <a:lstStyle/>
          <a:p>
            <a:endParaRPr lang="en-GB"/>
          </a:p>
        </p:txBody>
      </p:sp>
      <p:sp>
        <p:nvSpPr>
          <p:cNvPr id="9" name="Rectangle 4"/>
          <p:cNvSpPr>
            <a:spLocks noChangeArrowheads="1"/>
          </p:cNvSpPr>
          <p:nvPr/>
        </p:nvSpPr>
        <p:spPr bwMode="auto">
          <a:xfrm>
            <a:off x="5993379" y="3667779"/>
            <a:ext cx="4645504" cy="2582758"/>
          </a:xfrm>
          <a:prstGeom prst="rect">
            <a:avLst/>
          </a:prstGeom>
          <a:solidFill>
            <a:schemeClr val="bg1">
              <a:lumMod val="95000"/>
            </a:schemeClr>
          </a:solidFill>
          <a:ln w="19050">
            <a:noFill/>
            <a:miter lim="800000"/>
            <a:headEnd/>
            <a:tailEnd/>
          </a:ln>
          <a:effectLst>
            <a:outerShdw blurRad="50800" dist="38100" algn="l" rotWithShape="0">
              <a:prstClr val="black">
                <a:alpha val="40000"/>
              </a:prstClr>
            </a:outerShdw>
          </a:effectLst>
        </p:spPr>
        <p:txBody>
          <a:bodyPr wrap="none" lIns="90488" tIns="44450" rIns="90488" bIns="44450">
            <a:spAutoFit/>
          </a:bodyPr>
          <a:lstStyle/>
          <a:p>
            <a:pPr eaLnBrk="0" hangingPunct="0">
              <a:defRPr/>
            </a:pPr>
            <a:r>
              <a:rPr lang="en-GB" dirty="0">
                <a:solidFill>
                  <a:srgbClr val="0000FF"/>
                </a:solidFill>
                <a:latin typeface="Lucida Console" pitchFamily="49" charset="0"/>
              </a:rPr>
              <a:t>for </a:t>
            </a:r>
            <a:r>
              <a:rPr lang="en-GB" dirty="0">
                <a:latin typeface="Lucida Console" pitchFamily="49" charset="0"/>
              </a:rPr>
              <a:t>( </a:t>
            </a: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 </a:t>
            </a:r>
            <a:r>
              <a:rPr lang="en-GB" dirty="0" err="1">
                <a:latin typeface="Lucida Console" pitchFamily="49" charset="0"/>
              </a:rPr>
              <a:t>i</a:t>
            </a:r>
            <a:r>
              <a:rPr lang="en-GB" dirty="0">
                <a:latin typeface="Lucida Console" pitchFamily="49" charset="0"/>
              </a:rPr>
              <a:t> &lt; 10; </a:t>
            </a:r>
            <a:r>
              <a:rPr lang="en-GB" dirty="0" err="1">
                <a:latin typeface="Lucida Console" pitchFamily="49" charset="0"/>
              </a:rPr>
              <a:t>i</a:t>
            </a:r>
            <a:r>
              <a:rPr lang="en-GB" dirty="0">
                <a:latin typeface="Lucida Console" pitchFamily="49" charset="0"/>
              </a:rPr>
              <a:t>++ ) {</a:t>
            </a:r>
          </a:p>
          <a:p>
            <a:pPr eaLnBrk="0" hangingPunct="0">
              <a:defRPr/>
            </a:pPr>
            <a:r>
              <a:rPr lang="en-GB" dirty="0">
                <a:latin typeface="Lucida Console" pitchFamily="49" charset="0"/>
              </a:rPr>
              <a:t>  </a:t>
            </a:r>
            <a:r>
              <a:rPr lang="en-GB" dirty="0">
                <a:solidFill>
                  <a:srgbClr val="0000FF"/>
                </a:solidFill>
                <a:latin typeface="Lucida Console" pitchFamily="49" charset="0"/>
              </a:rPr>
              <a:t>if</a:t>
            </a:r>
            <a:r>
              <a:rPr lang="en-GB" dirty="0">
                <a:latin typeface="Lucida Console" pitchFamily="49" charset="0"/>
              </a:rPr>
              <a:t> ( </a:t>
            </a:r>
            <a:r>
              <a:rPr lang="en-GB" dirty="0" err="1">
                <a:latin typeface="Lucida Console" pitchFamily="49" charset="0"/>
              </a:rPr>
              <a:t>i</a:t>
            </a:r>
            <a:r>
              <a:rPr lang="en-GB" dirty="0">
                <a:latin typeface="Lucida Console" pitchFamily="49" charset="0"/>
              </a:rPr>
              <a:t> % 4 == 0)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few statements </a:t>
            </a:r>
            <a:br>
              <a:rPr lang="en-GB" dirty="0">
                <a:latin typeface="Lucida Console" pitchFamily="49" charset="0"/>
              </a:rPr>
            </a:br>
            <a:r>
              <a:rPr lang="en-GB" dirty="0">
                <a:latin typeface="Lucida Console" pitchFamily="49" charset="0"/>
              </a:rPr>
              <a:t>  }</a:t>
            </a:r>
            <a:br>
              <a:rPr lang="en-GB" dirty="0">
                <a:latin typeface="Lucida Console" pitchFamily="49" charset="0"/>
              </a:rPr>
            </a:br>
            <a:r>
              <a:rPr lang="en-GB" dirty="0">
                <a:latin typeface="Lucida Console" pitchFamily="49" charset="0"/>
              </a:rPr>
              <a:t>  </a:t>
            </a:r>
            <a:r>
              <a:rPr lang="en-GB" dirty="0">
                <a:solidFill>
                  <a:srgbClr val="0000FF"/>
                </a:solidFill>
                <a:latin typeface="Lucida Console" pitchFamily="49" charset="0"/>
              </a:rPr>
              <a:t>else</a:t>
            </a:r>
            <a:r>
              <a:rPr lang="en-GB" dirty="0">
                <a:latin typeface="Lucida Console" pitchFamily="49" charset="0"/>
              </a:rPr>
              <a:t>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many statements </a:t>
            </a:r>
            <a:br>
              <a:rPr lang="en-GB" dirty="0">
                <a:latin typeface="Lucida Console" pitchFamily="49" charset="0"/>
              </a:rPr>
            </a:br>
            <a:r>
              <a:rPr lang="en-GB" dirty="0">
                <a:latin typeface="Lucida Console" pitchFamily="49" charset="0"/>
              </a:rPr>
              <a:t>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no code here!!</a:t>
            </a:r>
            <a:br>
              <a:rPr lang="en-GB" dirty="0">
                <a:latin typeface="Lucida Console" pitchFamily="49" charset="0"/>
              </a:rPr>
            </a:br>
            <a:r>
              <a:rPr lang="en-GB" dirty="0">
                <a:latin typeface="Lucida Console" pitchFamily="49" charset="0"/>
              </a:rPr>
              <a:t>}</a:t>
            </a:r>
          </a:p>
        </p:txBody>
      </p:sp>
      <p:sp>
        <p:nvSpPr>
          <p:cNvPr id="10" name="Rectangle 4"/>
          <p:cNvSpPr>
            <a:spLocks noChangeArrowheads="1"/>
          </p:cNvSpPr>
          <p:nvPr/>
        </p:nvSpPr>
        <p:spPr bwMode="auto">
          <a:xfrm>
            <a:off x="5998342" y="1179006"/>
            <a:ext cx="4645504" cy="2028761"/>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dirty="0">
                <a:solidFill>
                  <a:srgbClr val="0000FF"/>
                </a:solidFill>
                <a:latin typeface="Lucida Console" pitchFamily="49" charset="0"/>
              </a:rPr>
              <a:t>for</a:t>
            </a:r>
            <a:r>
              <a:rPr lang="en-GB" dirty="0">
                <a:latin typeface="Lucida Console" pitchFamily="49" charset="0"/>
              </a:rPr>
              <a:t> ( </a:t>
            </a:r>
            <a:r>
              <a:rPr lang="en-GB" dirty="0" err="1">
                <a:solidFill>
                  <a:srgbClr val="0000FF"/>
                </a:solidFill>
                <a:latin typeface="Lucida Console" pitchFamily="49" charset="0"/>
              </a:rPr>
              <a:t>int</a:t>
            </a:r>
            <a:r>
              <a:rPr lang="en-GB" dirty="0">
                <a:latin typeface="Lucida Console" pitchFamily="49" charset="0"/>
              </a:rPr>
              <a:t> </a:t>
            </a:r>
            <a:r>
              <a:rPr lang="en-GB" dirty="0" err="1">
                <a:latin typeface="Lucida Console" pitchFamily="49" charset="0"/>
              </a:rPr>
              <a:t>i</a:t>
            </a:r>
            <a:r>
              <a:rPr lang="en-GB" dirty="0">
                <a:latin typeface="Lucida Console" pitchFamily="49" charset="0"/>
              </a:rPr>
              <a:t> = 0; </a:t>
            </a:r>
            <a:r>
              <a:rPr lang="en-GB" dirty="0" err="1">
                <a:latin typeface="Lucida Console" pitchFamily="49" charset="0"/>
              </a:rPr>
              <a:t>i</a:t>
            </a:r>
            <a:r>
              <a:rPr lang="en-GB" dirty="0">
                <a:latin typeface="Lucida Console" pitchFamily="49" charset="0"/>
              </a:rPr>
              <a:t> &lt; 10; </a:t>
            </a:r>
            <a:r>
              <a:rPr lang="en-GB" dirty="0" err="1">
                <a:latin typeface="Lucida Console" pitchFamily="49" charset="0"/>
              </a:rPr>
              <a:t>i</a:t>
            </a:r>
            <a:r>
              <a:rPr lang="en-GB" dirty="0">
                <a:latin typeface="Lucida Console" pitchFamily="49" charset="0"/>
              </a:rPr>
              <a:t>++ ) {</a:t>
            </a:r>
          </a:p>
          <a:p>
            <a:pPr eaLnBrk="0" hangingPunct="0">
              <a:defRPr/>
            </a:pPr>
            <a:r>
              <a:rPr lang="en-GB" dirty="0">
                <a:latin typeface="Lucida Console" pitchFamily="49" charset="0"/>
              </a:rPr>
              <a:t>  </a:t>
            </a:r>
            <a:r>
              <a:rPr lang="en-GB" dirty="0">
                <a:solidFill>
                  <a:srgbClr val="0000FF"/>
                </a:solidFill>
                <a:latin typeface="Lucida Console" pitchFamily="49" charset="0"/>
              </a:rPr>
              <a:t>if</a:t>
            </a:r>
            <a:r>
              <a:rPr lang="en-GB" dirty="0">
                <a:latin typeface="Lucida Console" pitchFamily="49" charset="0"/>
              </a:rPr>
              <a:t> ( </a:t>
            </a:r>
            <a:r>
              <a:rPr lang="en-GB" dirty="0" err="1">
                <a:latin typeface="Lucida Console" pitchFamily="49" charset="0"/>
              </a:rPr>
              <a:t>i</a:t>
            </a:r>
            <a:r>
              <a:rPr lang="en-GB" dirty="0">
                <a:latin typeface="Lucida Console" pitchFamily="49" charset="0"/>
              </a:rPr>
              <a:t> % 4 == 0)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few statements </a:t>
            </a:r>
            <a:br>
              <a:rPr lang="en-GB" dirty="0">
                <a:latin typeface="Lucida Console" pitchFamily="49" charset="0"/>
              </a:rPr>
            </a:br>
            <a:r>
              <a:rPr lang="en-GB" dirty="0">
                <a:latin typeface="Lucida Console" pitchFamily="49" charset="0"/>
              </a:rPr>
              <a:t>     </a:t>
            </a:r>
            <a:r>
              <a:rPr lang="en-GB" dirty="0">
                <a:solidFill>
                  <a:srgbClr val="0000FF"/>
                </a:solidFill>
                <a:latin typeface="Lucida Console" pitchFamily="49" charset="0"/>
              </a:rPr>
              <a:t>continue</a:t>
            </a:r>
            <a:r>
              <a:rPr lang="en-GB" dirty="0">
                <a:latin typeface="Lucida Console" pitchFamily="49" charset="0"/>
              </a:rPr>
              <a:t>;</a:t>
            </a:r>
            <a:br>
              <a:rPr lang="en-GB" dirty="0">
                <a:latin typeface="Lucida Console" pitchFamily="49" charset="0"/>
              </a:rPr>
            </a:br>
            <a:r>
              <a:rPr lang="en-GB" dirty="0">
                <a:latin typeface="Lucida Console" pitchFamily="49" charset="0"/>
              </a:rPr>
              <a:t>  }</a:t>
            </a:r>
            <a:br>
              <a:rPr lang="en-GB" dirty="0">
                <a:latin typeface="Lucida Console" pitchFamily="49" charset="0"/>
              </a:rPr>
            </a:br>
            <a:r>
              <a:rPr lang="en-GB" dirty="0">
                <a:latin typeface="Lucida Console" pitchFamily="49" charset="0"/>
              </a:rPr>
              <a:t>  </a:t>
            </a:r>
            <a:r>
              <a:rPr lang="en-GB" dirty="0">
                <a:solidFill>
                  <a:schemeClr val="accent2">
                    <a:lumMod val="25000"/>
                  </a:schemeClr>
                </a:solidFill>
                <a:latin typeface="Lucida Console" pitchFamily="49" charset="0"/>
              </a:rPr>
              <a:t>// many statements </a:t>
            </a:r>
            <a:br>
              <a:rPr lang="en-GB" dirty="0">
                <a:latin typeface="Lucida Console" pitchFamily="49" charset="0"/>
              </a:rPr>
            </a:br>
            <a:r>
              <a:rPr lang="en-GB" dirty="0">
                <a:latin typeface="Lucida Console" pitchFamily="49" charset="0"/>
              </a:rPr>
              <a:t>}</a:t>
            </a:r>
          </a:p>
        </p:txBody>
      </p:sp>
      <p:sp>
        <p:nvSpPr>
          <p:cNvPr id="12" name="Rectangle 7"/>
          <p:cNvSpPr>
            <a:spLocks noChangeArrowheads="1"/>
          </p:cNvSpPr>
          <p:nvPr/>
        </p:nvSpPr>
        <p:spPr bwMode="auto">
          <a:xfrm>
            <a:off x="9150257" y="5595489"/>
            <a:ext cx="1493589" cy="646331"/>
          </a:xfrm>
          <a:prstGeom prst="rect">
            <a:avLst/>
          </a:prstGeom>
          <a:solidFill>
            <a:srgbClr val="FFCCFF"/>
          </a:solidFill>
          <a:ln w="19050">
            <a:noFill/>
            <a:miter lim="800000"/>
            <a:headEnd/>
            <a:tailEnd/>
          </a:ln>
          <a:effectLst>
            <a:outerShdw blurRad="50800" dist="38100" algn="l" rotWithShape="0">
              <a:prstClr val="black">
                <a:alpha val="40000"/>
              </a:prstClr>
            </a:outerShdw>
          </a:effectLst>
        </p:spPr>
        <p:txBody>
          <a:bodyPr wrap="square" anchor="ctr">
            <a:spAutoFit/>
          </a:bodyPr>
          <a:lstStyle/>
          <a:p>
            <a:pPr algn="ctr" eaLnBrk="0" hangingPunct="0">
              <a:spcBef>
                <a:spcPct val="50000"/>
              </a:spcBef>
            </a:pPr>
            <a:r>
              <a:rPr lang="en-GB" dirty="0"/>
              <a:t>Can be </a:t>
            </a:r>
            <a:br>
              <a:rPr lang="en-GB" dirty="0"/>
            </a:br>
            <a:r>
              <a:rPr lang="en-GB" dirty="0"/>
              <a:t>coded as </a:t>
            </a:r>
          </a:p>
        </p:txBody>
      </p:sp>
    </p:spTree>
    <p:extLst>
      <p:ext uri="{BB962C8B-B14F-4D97-AF65-F5344CB8AC3E}">
        <p14:creationId xmlns:p14="http://schemas.microsoft.com/office/powerpoint/2010/main" val="27386952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GB" dirty="0"/>
              <a:t>Foreach </a:t>
            </a:r>
            <a:r>
              <a:rPr lang="en-GB" dirty="0">
                <a:latin typeface="+mj-lt"/>
              </a:rPr>
              <a:t> loop - For iterating over a collection or an array</a:t>
            </a:r>
          </a:p>
        </p:txBody>
      </p:sp>
      <p:sp>
        <p:nvSpPr>
          <p:cNvPr id="838660" name="Rectangle 4"/>
          <p:cNvSpPr>
            <a:spLocks noChangeArrowheads="1"/>
          </p:cNvSpPr>
          <p:nvPr/>
        </p:nvSpPr>
        <p:spPr bwMode="auto">
          <a:xfrm>
            <a:off x="679770" y="1514117"/>
            <a:ext cx="6899085"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tabLst>
                <a:tab pos="338138" algn="l"/>
                <a:tab pos="688975" algn="l"/>
                <a:tab pos="1027113" algn="l"/>
                <a:tab pos="1377950" algn="l"/>
              </a:tabLst>
              <a:defRPr/>
            </a:pPr>
            <a:r>
              <a:rPr lang="en-GB" dirty="0">
                <a:solidFill>
                  <a:srgbClr val="0000FF"/>
                </a:solidFill>
                <a:latin typeface="Lucida Console" pitchFamily="49" charset="0"/>
              </a:rPr>
              <a:t>public void</a:t>
            </a:r>
            <a:r>
              <a:rPr lang="en-GB" dirty="0">
                <a:latin typeface="Lucida Console" pitchFamily="49" charset="0"/>
              </a:rPr>
              <a:t> </a:t>
            </a:r>
            <a:r>
              <a:rPr lang="en-GB" dirty="0" err="1">
                <a:latin typeface="Lucida Console" pitchFamily="49" charset="0"/>
              </a:rPr>
              <a:t>processNames</a:t>
            </a:r>
            <a:r>
              <a:rPr lang="en-GB" dirty="0">
                <a:latin typeface="Lucida Console" pitchFamily="49" charset="0"/>
              </a:rPr>
              <a:t>( String[] names ) {</a:t>
            </a:r>
          </a:p>
          <a:p>
            <a:pPr eaLnBrk="0" hangingPunct="0">
              <a:tabLst>
                <a:tab pos="338138" algn="l"/>
                <a:tab pos="688975" algn="l"/>
                <a:tab pos="1027113" algn="l"/>
                <a:tab pos="1377950" algn="l"/>
              </a:tabLst>
              <a:defRPr/>
            </a:pPr>
            <a:endParaRPr lang="en-GB" dirty="0">
              <a:latin typeface="Lucida Console" pitchFamily="49" charset="0"/>
            </a:endParaRPr>
          </a:p>
          <a:p>
            <a:pPr eaLnBrk="0" hangingPunct="0">
              <a:tabLst>
                <a:tab pos="338138" algn="l"/>
                <a:tab pos="688975" algn="l"/>
                <a:tab pos="1027113" algn="l"/>
                <a:tab pos="1377950" algn="l"/>
              </a:tabLst>
              <a:defRPr/>
            </a:pPr>
            <a:r>
              <a:rPr lang="en-GB" dirty="0">
                <a:latin typeface="Lucida Console" pitchFamily="49" charset="0"/>
              </a:rPr>
              <a:t>  </a:t>
            </a:r>
            <a:r>
              <a:rPr lang="en-GB" dirty="0">
                <a:solidFill>
                  <a:srgbClr val="0000FF"/>
                </a:solidFill>
                <a:latin typeface="Lucida Console" pitchFamily="49" charset="0"/>
              </a:rPr>
              <a:t>foreach</a:t>
            </a:r>
            <a:r>
              <a:rPr lang="en-GB" dirty="0">
                <a:latin typeface="Lucida Console" pitchFamily="49" charset="0"/>
              </a:rPr>
              <a:t> (string name </a:t>
            </a:r>
            <a:r>
              <a:rPr lang="en-GB" b="1" dirty="0">
                <a:solidFill>
                  <a:srgbClr val="0070C0"/>
                </a:solidFill>
                <a:latin typeface="Consolas" panose="020B0609020204030204" pitchFamily="49" charset="0"/>
              </a:rPr>
              <a:t>in</a:t>
            </a:r>
            <a:r>
              <a:rPr lang="en-GB" dirty="0">
                <a:latin typeface="Lucida Console" pitchFamily="49" charset="0"/>
              </a:rPr>
              <a:t> names ) { </a:t>
            </a:r>
          </a:p>
          <a:p>
            <a:pPr eaLnBrk="0" hangingPunct="0">
              <a:tabLst>
                <a:tab pos="338138" algn="l"/>
                <a:tab pos="688975" algn="l"/>
                <a:tab pos="1027113" algn="l"/>
                <a:tab pos="1377950" algn="l"/>
              </a:tabLst>
              <a:defRPr/>
            </a:pPr>
            <a:r>
              <a:rPr lang="en-GB" dirty="0">
                <a:latin typeface="Lucida Console" pitchFamily="49" charset="0"/>
              </a:rPr>
              <a:t>    </a:t>
            </a:r>
            <a:r>
              <a:rPr lang="en-GB" dirty="0" err="1">
                <a:latin typeface="Lucida Console" pitchFamily="49" charset="0"/>
              </a:rPr>
              <a:t>Console.WriteLine</a:t>
            </a:r>
            <a:r>
              <a:rPr lang="en-GB" dirty="0">
                <a:latin typeface="Lucida Console" pitchFamily="49" charset="0"/>
              </a:rPr>
              <a:t>( name );</a:t>
            </a:r>
          </a:p>
          <a:p>
            <a:pPr eaLnBrk="0" hangingPunct="0">
              <a:tabLst>
                <a:tab pos="338138" algn="l"/>
                <a:tab pos="688975" algn="l"/>
                <a:tab pos="1027113" algn="l"/>
                <a:tab pos="1377950" algn="l"/>
              </a:tabLst>
              <a:defRPr/>
            </a:pPr>
            <a:r>
              <a:rPr lang="en-GB" dirty="0">
                <a:latin typeface="Lucida Console" pitchFamily="49" charset="0"/>
              </a:rPr>
              <a:t>  }</a:t>
            </a:r>
          </a:p>
          <a:p>
            <a:pPr eaLnBrk="0" hangingPunct="0">
              <a:tabLst>
                <a:tab pos="338138" algn="l"/>
                <a:tab pos="688975" algn="l"/>
                <a:tab pos="1027113" algn="l"/>
                <a:tab pos="1377950" algn="l"/>
              </a:tabLst>
              <a:defRPr/>
            </a:pPr>
            <a:r>
              <a:rPr lang="en-GB" dirty="0">
                <a:latin typeface="Lucida Console" pitchFamily="49" charset="0"/>
              </a:rPr>
              <a:t>}</a:t>
            </a:r>
          </a:p>
        </p:txBody>
      </p:sp>
      <p:sp>
        <p:nvSpPr>
          <p:cNvPr id="2" name="Rectangle 1"/>
          <p:cNvSpPr/>
          <p:nvPr/>
        </p:nvSpPr>
        <p:spPr>
          <a:xfrm>
            <a:off x="679770" y="3784665"/>
            <a:ext cx="6899085" cy="230832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dirty="0">
                <a:solidFill>
                  <a:srgbClr val="000000"/>
                </a:solidFill>
                <a:latin typeface="Consolas" panose="020B0609020204030204" pitchFamily="49" charset="0"/>
              </a:rPr>
              <a:t>String[] </a:t>
            </a:r>
            <a:r>
              <a:rPr lang="en-GB" dirty="0">
                <a:solidFill>
                  <a:srgbClr val="6A3E3E"/>
                </a:solidFill>
                <a:latin typeface="Consolas" panose="020B0609020204030204" pitchFamily="49" charset="0"/>
              </a:rPr>
              <a:t>names</a:t>
            </a:r>
            <a:r>
              <a:rPr lang="en-GB" dirty="0">
                <a:solidFill>
                  <a:srgbClr val="000000"/>
                </a:solidFill>
                <a:latin typeface="Consolas" panose="020B0609020204030204" pitchFamily="49" charset="0"/>
              </a:rPr>
              <a:t> = {</a:t>
            </a:r>
            <a:r>
              <a:rPr lang="en-GB" dirty="0">
                <a:solidFill>
                  <a:srgbClr val="2A00FF"/>
                </a:solidFill>
                <a:latin typeface="Consolas" panose="020B0609020204030204" pitchFamily="49" charset="0"/>
              </a:rPr>
              <a:t>"</a:t>
            </a:r>
            <a:r>
              <a:rPr lang="en-GB" dirty="0" err="1">
                <a:solidFill>
                  <a:srgbClr val="2A00FF"/>
                </a:solidFill>
                <a:latin typeface="Consolas" panose="020B0609020204030204" pitchFamily="49" charset="0"/>
              </a:rPr>
              <a:t>Bob"</a:t>
            </a:r>
            <a:r>
              <a:rPr lang="en-GB" dirty="0" err="1">
                <a:solidFill>
                  <a:srgbClr val="000000"/>
                </a:solidFill>
                <a:latin typeface="Consolas" panose="020B0609020204030204" pitchFamily="49" charset="0"/>
              </a:rPr>
              <a:t>,</a:t>
            </a:r>
            <a:r>
              <a:rPr lang="en-GB" dirty="0" err="1">
                <a:solidFill>
                  <a:srgbClr val="2A00FF"/>
                </a:solidFill>
                <a:latin typeface="Consolas" panose="020B0609020204030204" pitchFamily="49" charset="0"/>
              </a:rPr>
              <a:t>"Sasha</a:t>
            </a:r>
            <a:r>
              <a:rPr lang="en-GB" dirty="0">
                <a:solidFill>
                  <a:srgbClr val="2A00FF"/>
                </a:solidFill>
                <a:latin typeface="Consolas" panose="020B0609020204030204" pitchFamily="49" charset="0"/>
              </a:rPr>
              <a:t>"</a:t>
            </a:r>
            <a:r>
              <a:rPr lang="en-GB" dirty="0">
                <a:solidFill>
                  <a:srgbClr val="000000"/>
                </a:solidFill>
                <a:latin typeface="Consolas" panose="020B0609020204030204" pitchFamily="49" charset="0"/>
              </a:rPr>
              <a:t>};</a:t>
            </a:r>
          </a:p>
          <a:p>
            <a:endParaRPr lang="en-GB" dirty="0">
              <a:solidFill>
                <a:srgbClr val="0000FF"/>
              </a:solidFill>
              <a:latin typeface="Lucida Console" pitchFamily="49" charset="0"/>
            </a:endParaRPr>
          </a:p>
          <a:p>
            <a:r>
              <a:rPr lang="en-GB" dirty="0">
                <a:solidFill>
                  <a:srgbClr val="0000FF"/>
                </a:solidFill>
                <a:latin typeface="Lucida Console" pitchFamily="49" charset="0"/>
              </a:rPr>
              <a:t>foreach</a:t>
            </a:r>
            <a:r>
              <a:rPr lang="en-GB" b="1" dirty="0">
                <a:solidFill>
                  <a:srgbClr val="000000"/>
                </a:solidFill>
                <a:latin typeface="Consolas" panose="020B0609020204030204" pitchFamily="49" charset="0"/>
              </a:rPr>
              <a:t>(string </a:t>
            </a:r>
            <a:r>
              <a:rPr lang="en-GB" b="1" dirty="0">
                <a:solidFill>
                  <a:srgbClr val="6A3E3E"/>
                </a:solidFill>
                <a:latin typeface="Consolas" panose="020B0609020204030204" pitchFamily="49" charset="0"/>
              </a:rPr>
              <a:t>name</a:t>
            </a:r>
            <a:r>
              <a:rPr lang="en-GB" b="1" dirty="0">
                <a:solidFill>
                  <a:srgbClr val="000000"/>
                </a:solidFill>
                <a:latin typeface="Consolas" panose="020B0609020204030204" pitchFamily="49" charset="0"/>
              </a:rPr>
              <a:t> </a:t>
            </a:r>
            <a:r>
              <a:rPr lang="en-GB" b="1" dirty="0">
                <a:solidFill>
                  <a:srgbClr val="0070C0"/>
                </a:solidFill>
                <a:latin typeface="Consolas" panose="020B0609020204030204" pitchFamily="49" charset="0"/>
              </a:rPr>
              <a:t>in</a:t>
            </a:r>
            <a:r>
              <a:rPr lang="en-GB" b="1" dirty="0">
                <a:solidFill>
                  <a:srgbClr val="000000"/>
                </a:solidFill>
                <a:latin typeface="Consolas" panose="020B0609020204030204" pitchFamily="49" charset="0"/>
              </a:rPr>
              <a:t> </a:t>
            </a:r>
            <a:r>
              <a:rPr lang="en-GB" b="1" dirty="0">
                <a:solidFill>
                  <a:srgbClr val="6A3E3E"/>
                </a:solidFill>
                <a:latin typeface="Consolas" panose="020B0609020204030204" pitchFamily="49" charset="0"/>
              </a:rPr>
              <a:t>names</a:t>
            </a:r>
            <a:r>
              <a:rPr lang="en-GB" b="1" dirty="0">
                <a:solidFill>
                  <a:srgbClr val="000000"/>
                </a:solidFill>
                <a:latin typeface="Consolas" panose="020B0609020204030204" pitchFamily="49" charset="0"/>
              </a:rPr>
              <a:t>) {</a:t>
            </a:r>
          </a:p>
          <a:p>
            <a:endParaRPr lang="en-GB" b="1" dirty="0">
              <a:solidFill>
                <a:srgbClr val="000000"/>
              </a:solidFill>
              <a:latin typeface="Consolas" panose="020B0609020204030204" pitchFamily="49" charset="0"/>
            </a:endParaRPr>
          </a:p>
          <a:p>
            <a:r>
              <a:rPr lang="en-GB" dirty="0">
                <a:solidFill>
                  <a:srgbClr val="6A3E3E"/>
                </a:solidFill>
                <a:latin typeface="Consolas" panose="020B0609020204030204" pitchFamily="49" charset="0"/>
              </a:rPr>
              <a:t>	name</a:t>
            </a:r>
            <a:r>
              <a:rPr lang="en-GB" dirty="0">
                <a:solidFill>
                  <a:srgbClr val="000000"/>
                </a:solidFill>
                <a:latin typeface="Consolas" panose="020B0609020204030204" pitchFamily="49" charset="0"/>
              </a:rPr>
              <a:t> += </a:t>
            </a:r>
            <a:r>
              <a:rPr lang="en-GB" dirty="0">
                <a:solidFill>
                  <a:srgbClr val="2A00FF"/>
                </a:solidFill>
                <a:latin typeface="Consolas" panose="020B0609020204030204" pitchFamily="49" charset="0"/>
              </a:rPr>
              <a:t>"x"</a:t>
            </a:r>
            <a:r>
              <a:rPr lang="en-GB" dirty="0">
                <a:solidFill>
                  <a:srgbClr val="000000"/>
                </a:solidFill>
                <a:latin typeface="Consolas" panose="020B0609020204030204" pitchFamily="49" charset="0"/>
              </a:rPr>
              <a:t>;</a:t>
            </a:r>
          </a:p>
          <a:p>
            <a:r>
              <a:rPr lang="en-GB" dirty="0">
                <a:solidFill>
                  <a:srgbClr val="000000"/>
                </a:solidFill>
                <a:latin typeface="Consolas" panose="020B0609020204030204" pitchFamily="49" charset="0"/>
              </a:rPr>
              <a:t>}</a:t>
            </a:r>
          </a:p>
          <a:p>
            <a:endParaRPr lang="en-GB" dirty="0">
              <a:solidFill>
                <a:srgbClr val="000000"/>
              </a:solidFill>
              <a:latin typeface="Consolas" panose="020B0609020204030204" pitchFamily="49" charset="0"/>
            </a:endParaRPr>
          </a:p>
          <a:p>
            <a:endParaRPr lang="en-GB" dirty="0">
              <a:solidFill>
                <a:srgbClr val="000000"/>
              </a:solidFill>
              <a:latin typeface="Consolas" panose="020B0609020204030204" pitchFamily="49" charset="0"/>
            </a:endParaRPr>
          </a:p>
        </p:txBody>
      </p:sp>
      <p:sp>
        <p:nvSpPr>
          <p:cNvPr id="4" name="Rounded Rectangular Callout 3"/>
          <p:cNvSpPr/>
          <p:nvPr/>
        </p:nvSpPr>
        <p:spPr>
          <a:xfrm>
            <a:off x="7741920" y="1584364"/>
            <a:ext cx="3566160" cy="805001"/>
          </a:xfrm>
          <a:prstGeom prst="wedgeRoundRectCallout">
            <a:avLst>
              <a:gd name="adj1" fmla="val -55875"/>
              <a:gd name="adj2" fmla="val -24317"/>
              <a:gd name="adj3" fmla="val 16667"/>
            </a:avLst>
          </a:prstGeom>
          <a:solidFill>
            <a:schemeClr val="accent3"/>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GB" sz="1600" dirty="0"/>
              <a:t>Read as: foreach String ‘name’ in the ‘names’ collection</a:t>
            </a:r>
          </a:p>
        </p:txBody>
      </p:sp>
      <p:sp>
        <p:nvSpPr>
          <p:cNvPr id="10" name="Rounded Rectangular Callout 9"/>
          <p:cNvSpPr/>
          <p:nvPr/>
        </p:nvSpPr>
        <p:spPr>
          <a:xfrm>
            <a:off x="7815753" y="4149754"/>
            <a:ext cx="3566160" cy="805001"/>
          </a:xfrm>
          <a:prstGeom prst="wedgeRoundRectCallout">
            <a:avLst>
              <a:gd name="adj1" fmla="val -55875"/>
              <a:gd name="adj2" fmla="val -24317"/>
              <a:gd name="adj3" fmla="val 16667"/>
            </a:avLst>
          </a:prstGeom>
          <a:solidFill>
            <a:schemeClr val="accent3"/>
          </a:solidFill>
          <a:ln>
            <a:noFill/>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r>
              <a:rPr lang="en-GB" sz="1600" b="1" dirty="0"/>
              <a:t>The elements are considered </a:t>
            </a:r>
            <a:br>
              <a:rPr lang="en-GB" sz="1600" b="1" dirty="0"/>
            </a:br>
            <a:r>
              <a:rPr lang="en-GB" sz="1600" b="1" dirty="0"/>
              <a:t>read-only</a:t>
            </a:r>
          </a:p>
        </p:txBody>
      </p:sp>
      <p:sp>
        <p:nvSpPr>
          <p:cNvPr id="5" name="Speech Bubble: Rectangle with Corners Rounded 4">
            <a:extLst>
              <a:ext uri="{FF2B5EF4-FFF2-40B4-BE49-F238E27FC236}">
                <a16:creationId xmlns:a16="http://schemas.microsoft.com/office/drawing/2014/main" id="{876DCA0C-6C79-F4E8-BFC1-53144C052A56}"/>
              </a:ext>
            </a:extLst>
          </p:cNvPr>
          <p:cNvSpPr/>
          <p:nvPr/>
        </p:nvSpPr>
        <p:spPr>
          <a:xfrm>
            <a:off x="3873500" y="5080000"/>
            <a:ext cx="2168655" cy="508000"/>
          </a:xfrm>
          <a:prstGeom prst="wedgeRoundRectCallout">
            <a:avLst>
              <a:gd name="adj1" fmla="val -64169"/>
              <a:gd name="adj2" fmla="val -37500"/>
              <a:gd name="adj3" fmla="val 16667"/>
            </a:avLst>
          </a:prstGeom>
          <a:ln/>
          <a:effectLst>
            <a:innerShdw blurRad="63500" dist="50800" dir="18900000">
              <a:prstClr val="black">
                <a:alpha val="50000"/>
              </a:prstClr>
            </a:innerShdw>
          </a:effectLst>
        </p:spPr>
        <p:style>
          <a:lnRef idx="1">
            <a:schemeClr val="accent4"/>
          </a:lnRef>
          <a:fillRef idx="2">
            <a:schemeClr val="accent4"/>
          </a:fillRef>
          <a:effectRef idx="1">
            <a:schemeClr val="accent4"/>
          </a:effectRef>
          <a:fontRef idx="minor">
            <a:schemeClr val="dk1"/>
          </a:fontRef>
        </p:style>
        <p:txBody>
          <a:bodyPr rtlCol="0" anchor="ctr"/>
          <a:lstStyle/>
          <a:p>
            <a:pPr algn="ctr"/>
            <a:r>
              <a:rPr lang="en-GB" sz="1600" b="1" dirty="0">
                <a:solidFill>
                  <a:schemeClr val="tx1"/>
                </a:solidFill>
                <a:latin typeface="Arial" pitchFamily="34" charset="0"/>
                <a:cs typeface="Arial" pitchFamily="34" charset="0"/>
              </a:rPr>
              <a:t>Compile time error</a:t>
            </a:r>
          </a:p>
        </p:txBody>
      </p:sp>
    </p:spTree>
    <p:extLst>
      <p:ext uri="{BB962C8B-B14F-4D97-AF65-F5344CB8AC3E}">
        <p14:creationId xmlns:p14="http://schemas.microsoft.com/office/powerpoint/2010/main" val="181536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D884C13-0F83-D8C6-1982-817AA25AEFBA}"/>
              </a:ext>
            </a:extLst>
          </p:cNvPr>
          <p:cNvSpPr txBox="1"/>
          <p:nvPr/>
        </p:nvSpPr>
        <p:spPr>
          <a:xfrm>
            <a:off x="5734696" y="825843"/>
            <a:ext cx="6099242" cy="4134465"/>
          </a:xfrm>
          <a:prstGeom prst="rect">
            <a:avLst/>
          </a:prstGeom>
          <a:noFill/>
        </p:spPr>
        <p:txBody>
          <a:bodyPr wrap="square">
            <a:spAutoFit/>
          </a:bodyPr>
          <a:lstStyle/>
          <a:p>
            <a:r>
              <a:rPr lang="en-GB" b="1" dirty="0"/>
              <a:t>In this chapter we reviewed</a:t>
            </a:r>
          </a:p>
          <a:p>
            <a:pPr marL="684000" lvl="1" indent="-342900">
              <a:spcAft>
                <a:spcPts val="650"/>
              </a:spcAft>
              <a:buSzPct val="115000"/>
            </a:pPr>
            <a:endParaRPr lang="en-GB" dirty="0"/>
          </a:p>
          <a:p>
            <a:pPr marL="684000" lvl="1" indent="-342900">
              <a:spcAft>
                <a:spcPts val="650"/>
              </a:spcAft>
              <a:buSzPct val="115000"/>
            </a:pPr>
            <a:r>
              <a:rPr lang="en-GB" b="1" dirty="0"/>
              <a:t>Creating variables</a:t>
            </a:r>
          </a:p>
          <a:p>
            <a:pPr marL="684000" lvl="1" indent="-342900">
              <a:spcAft>
                <a:spcPts val="650"/>
              </a:spcAft>
              <a:buSzPct val="115000"/>
            </a:pPr>
            <a:endParaRPr lang="en-GB" b="1" dirty="0"/>
          </a:p>
          <a:p>
            <a:pPr marL="684000" lvl="1" indent="-342900">
              <a:spcAft>
                <a:spcPts val="650"/>
              </a:spcAft>
              <a:buSzPct val="115000"/>
            </a:pPr>
            <a:r>
              <a:rPr lang="en-GB" b="1" dirty="0"/>
              <a:t>Selection statements</a:t>
            </a:r>
            <a:br>
              <a:rPr lang="en-GB" b="1" dirty="0"/>
            </a:br>
            <a:r>
              <a:rPr lang="en-GB" dirty="0"/>
              <a:t>if, else, else if and switch</a:t>
            </a:r>
          </a:p>
          <a:p>
            <a:pPr marL="684000" lvl="1" indent="-342900">
              <a:spcAft>
                <a:spcPts val="650"/>
              </a:spcAft>
              <a:buSzPct val="115000"/>
            </a:pPr>
            <a:endParaRPr lang="en-GB" b="1" dirty="0"/>
          </a:p>
          <a:p>
            <a:pPr marL="684000" lvl="1" indent="-342900">
              <a:spcAft>
                <a:spcPts val="650"/>
              </a:spcAft>
              <a:buSzPct val="115000"/>
            </a:pPr>
            <a:r>
              <a:rPr lang="en-GB" b="1" dirty="0"/>
              <a:t>Iteration statements</a:t>
            </a:r>
            <a:br>
              <a:rPr lang="en-GB" dirty="0"/>
            </a:br>
            <a:r>
              <a:rPr lang="en-GB" dirty="0"/>
              <a:t>while, do while, for and enhanced for loops</a:t>
            </a:r>
          </a:p>
          <a:p>
            <a:pPr marL="684000" lvl="1" indent="-342900">
              <a:spcAft>
                <a:spcPts val="650"/>
              </a:spcAft>
              <a:buSzPct val="115000"/>
            </a:pPr>
            <a:endParaRPr lang="en-GB" b="1" dirty="0"/>
          </a:p>
          <a:p>
            <a:pPr marL="684000" lvl="1" indent="-342900">
              <a:spcAft>
                <a:spcPts val="650"/>
              </a:spcAft>
              <a:buSzPct val="115000"/>
            </a:pPr>
            <a:r>
              <a:rPr lang="en-GB" b="1" dirty="0"/>
              <a:t>Creating and using methods</a:t>
            </a:r>
            <a:endParaRPr lang="en-IN" b="1" dirty="0"/>
          </a:p>
          <a:p>
            <a:pPr marL="684000" lvl="1" indent="-342900">
              <a:spcAft>
                <a:spcPts val="650"/>
              </a:spcAft>
              <a:buSzPct val="115000"/>
            </a:pPr>
            <a:endParaRPr lang="en-GB" b="1" dirty="0"/>
          </a:p>
        </p:txBody>
      </p:sp>
      <p:pic>
        <p:nvPicPr>
          <p:cNvPr id="8" name="Picture 2" descr="Reviews - Web Sites: Recommended - Research Guides at Thrift Library">
            <a:extLst>
              <a:ext uri="{FF2B5EF4-FFF2-40B4-BE49-F238E27FC236}">
                <a16:creationId xmlns:a16="http://schemas.microsoft.com/office/drawing/2014/main" id="{F4E84CE7-03B3-5F0A-155B-623B8AD33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062" y="218981"/>
            <a:ext cx="2251845" cy="2251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07187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C9B83F-EE2C-7F94-D034-DC91CCEA9986}"/>
              </a:ext>
            </a:extLst>
          </p:cNvPr>
          <p:cNvSpPr>
            <a:spLocks noGrp="1"/>
          </p:cNvSpPr>
          <p:nvPr>
            <p:ph type="body" sz="quarter" idx="16"/>
          </p:nvPr>
        </p:nvSpPr>
        <p:spPr/>
        <p:txBody>
          <a:bodyPr/>
          <a:lstStyle/>
          <a:p>
            <a:r>
              <a:rPr lang="en-GB" dirty="0"/>
              <a:t>Lab</a:t>
            </a:r>
          </a:p>
        </p:txBody>
      </p:sp>
      <p:graphicFrame>
        <p:nvGraphicFramePr>
          <p:cNvPr id="5" name="Text Placeholder 1">
            <a:extLst>
              <a:ext uri="{FF2B5EF4-FFF2-40B4-BE49-F238E27FC236}">
                <a16:creationId xmlns:a16="http://schemas.microsoft.com/office/drawing/2014/main" id="{B61EFA1A-7FB8-39EA-6E5A-EB7306FD4294}"/>
              </a:ext>
            </a:extLst>
          </p:cNvPr>
          <p:cNvGraphicFramePr/>
          <p:nvPr>
            <p:extLst>
              <p:ext uri="{D42A27DB-BD31-4B8C-83A1-F6EECF244321}">
                <p14:modId xmlns:p14="http://schemas.microsoft.com/office/powerpoint/2010/main" val="1064771101"/>
              </p:ext>
            </p:extLst>
          </p:nvPr>
        </p:nvGraphicFramePr>
        <p:xfrm>
          <a:off x="4394068" y="1222341"/>
          <a:ext cx="7411672" cy="32912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3462317"/>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806554" y="1585310"/>
            <a:ext cx="8494757" cy="4860000"/>
          </a:xfrm>
          <a:prstGeom prst="rect">
            <a:avLst/>
          </a:prstGeom>
          <a:solidFill>
            <a:schemeClr val="bg1"/>
          </a:solidFill>
          <a:ln w="19050">
            <a:solidFill>
              <a:schemeClr val="tx1"/>
            </a:solidFill>
            <a:miter lim="800000"/>
            <a:headEnd/>
            <a:tailEnd/>
          </a:ln>
        </p:spPr>
        <p:txBody>
          <a:bodyPr wrap="none" anchor="ctr"/>
          <a:lstStyle/>
          <a:p>
            <a:pPr eaLnBrk="0" hangingPunct="0">
              <a:spcBef>
                <a:spcPct val="50000"/>
              </a:spcBef>
            </a:pPr>
            <a:endParaRPr lang="en-US"/>
          </a:p>
        </p:txBody>
      </p:sp>
      <p:sp>
        <p:nvSpPr>
          <p:cNvPr id="32771" name="Rectangle 3"/>
          <p:cNvSpPr>
            <a:spLocks noChangeArrowheads="1"/>
          </p:cNvSpPr>
          <p:nvPr/>
        </p:nvSpPr>
        <p:spPr bwMode="auto">
          <a:xfrm>
            <a:off x="1806554" y="1149351"/>
            <a:ext cx="8494757" cy="441325"/>
          </a:xfrm>
          <a:prstGeom prst="rect">
            <a:avLst/>
          </a:prstGeom>
          <a:solidFill>
            <a:schemeClr val="bg1"/>
          </a:solidFill>
          <a:ln w="19050">
            <a:solidFill>
              <a:schemeClr val="tx1"/>
            </a:solidFill>
            <a:miter lim="800000"/>
            <a:headEnd/>
            <a:tailEnd/>
          </a:ln>
          <a:effectLst/>
        </p:spPr>
        <p:txBody>
          <a:bodyPr wrap="none" anchor="ctr"/>
          <a:lstStyle/>
          <a:p>
            <a:pPr eaLnBrk="0" hangingPunct="0">
              <a:spcBef>
                <a:spcPct val="50000"/>
              </a:spcBef>
            </a:pPr>
            <a:endParaRPr lang="en-US"/>
          </a:p>
        </p:txBody>
      </p:sp>
      <p:sp>
        <p:nvSpPr>
          <p:cNvPr id="32772" name="Rectangle 4"/>
          <p:cNvSpPr>
            <a:spLocks noGrp="1" noChangeArrowheads="1"/>
          </p:cNvSpPr>
          <p:nvPr>
            <p:ph type="title"/>
          </p:nvPr>
        </p:nvSpPr>
        <p:spPr/>
        <p:txBody>
          <a:bodyPr/>
          <a:lstStyle/>
          <a:p>
            <a:pPr eaLnBrk="1" hangingPunct="1"/>
            <a:r>
              <a:rPr lang="en-GB" dirty="0"/>
              <a:t>Operator Precedence</a:t>
            </a:r>
          </a:p>
        </p:txBody>
      </p:sp>
      <p:sp>
        <p:nvSpPr>
          <p:cNvPr id="32773" name="Rectangle 5"/>
          <p:cNvSpPr>
            <a:spLocks noChangeArrowheads="1"/>
          </p:cNvSpPr>
          <p:nvPr/>
        </p:nvSpPr>
        <p:spPr bwMode="auto">
          <a:xfrm>
            <a:off x="3003366" y="1151936"/>
            <a:ext cx="4391536" cy="5292000"/>
          </a:xfrm>
          <a:prstGeom prst="rect">
            <a:avLst/>
          </a:prstGeom>
          <a:noFill/>
          <a:ln w="12700">
            <a:solidFill>
              <a:schemeClr val="tx1"/>
            </a:solidFill>
            <a:miter lim="800000"/>
            <a:headEnd/>
            <a:tailEnd/>
          </a:ln>
        </p:spPr>
        <p:txBody>
          <a:bodyPr wrap="none" lIns="90488" tIns="44450" rIns="90488" bIns="44450"/>
          <a:lstStyle/>
          <a:p>
            <a:pPr defTabSz="739775" eaLnBrk="0" hangingPunct="0"/>
            <a:r>
              <a:rPr lang="en-GB" sz="2000" b="1" dirty="0"/>
              <a:t> Operators</a:t>
            </a:r>
          </a:p>
          <a:p>
            <a:pPr defTabSz="739775" eaLnBrk="0" hangingPunct="0"/>
            <a:endParaRPr lang="en-GB" dirty="0"/>
          </a:p>
          <a:p>
            <a:pPr defTabSz="739775" eaLnBrk="0" hangingPunct="0"/>
            <a:r>
              <a:rPr lang="en-GB" sz="2000" dirty="0">
                <a:latin typeface="Lucida Console" pitchFamily="49" charset="0"/>
              </a:rPr>
              <a:t>( ) . f(x) [ ] x++ x– new</a:t>
            </a:r>
          </a:p>
          <a:p>
            <a:pPr defTabSz="739775" eaLnBrk="0" hangingPunct="0"/>
            <a:endParaRPr lang="en-GB" sz="2000" dirty="0">
              <a:latin typeface="Lucida Console" pitchFamily="49" charset="0"/>
            </a:endParaRPr>
          </a:p>
          <a:p>
            <a:pPr defTabSz="739775" eaLnBrk="0" hangingPunct="0"/>
            <a:r>
              <a:rPr lang="en-GB" sz="2000" dirty="0">
                <a:latin typeface="Lucida Console" pitchFamily="49" charset="0"/>
              </a:rPr>
              <a:t> + - ! ~ ++x --x (T)x</a:t>
            </a:r>
          </a:p>
          <a:p>
            <a:pPr defTabSz="739775" eaLnBrk="0" hangingPunct="0"/>
            <a:r>
              <a:rPr lang="en-GB" sz="2000" dirty="0">
                <a:latin typeface="Lucida Console" pitchFamily="49" charset="0"/>
              </a:rPr>
              <a:t> * / %</a:t>
            </a:r>
          </a:p>
          <a:p>
            <a:pPr defTabSz="739775" eaLnBrk="0" hangingPunct="0"/>
            <a:r>
              <a:rPr lang="en-GB" sz="2000" dirty="0">
                <a:latin typeface="Lucida Console" pitchFamily="49" charset="0"/>
              </a:rPr>
              <a:t> + -</a:t>
            </a:r>
          </a:p>
          <a:p>
            <a:pPr defTabSz="739775" eaLnBrk="0" hangingPunct="0"/>
            <a:r>
              <a:rPr lang="en-GB" sz="2000" dirty="0">
                <a:latin typeface="Lucida Console" pitchFamily="49" charset="0"/>
              </a:rPr>
              <a:t> &lt;&lt; &gt;&gt;</a:t>
            </a:r>
          </a:p>
          <a:p>
            <a:pPr defTabSz="739775" eaLnBrk="0" hangingPunct="0"/>
            <a:r>
              <a:rPr lang="en-GB" sz="2000" dirty="0">
                <a:latin typeface="Lucida Console" pitchFamily="49" charset="0"/>
              </a:rPr>
              <a:t> &lt; &gt; &lt;= &gt;= </a:t>
            </a:r>
            <a:r>
              <a:rPr lang="en-GB" sz="2000" dirty="0" err="1">
                <a:latin typeface="Lucida Console" pitchFamily="49" charset="0"/>
              </a:rPr>
              <a:t>instanceof</a:t>
            </a:r>
            <a:endParaRPr lang="en-GB" sz="2000" dirty="0">
              <a:latin typeface="Lucida Console" pitchFamily="49" charset="0"/>
            </a:endParaRPr>
          </a:p>
          <a:p>
            <a:pPr defTabSz="739775" eaLnBrk="0" hangingPunct="0"/>
            <a:r>
              <a:rPr lang="en-GB" sz="2000" dirty="0">
                <a:latin typeface="Lucida Console" pitchFamily="49" charset="0"/>
              </a:rPr>
              <a:t> == !=</a:t>
            </a:r>
          </a:p>
          <a:p>
            <a:pPr defTabSz="739775" eaLnBrk="0" hangingPunct="0"/>
            <a:r>
              <a:rPr lang="en-GB" sz="2000" dirty="0">
                <a:latin typeface="Lucida Console" pitchFamily="49" charset="0"/>
              </a:rPr>
              <a:t> &amp;</a:t>
            </a:r>
          </a:p>
          <a:p>
            <a:pPr defTabSz="739775" eaLnBrk="0" hangingPunct="0"/>
            <a:r>
              <a:rPr lang="en-GB" sz="2000" dirty="0">
                <a:latin typeface="Lucida Console" pitchFamily="49" charset="0"/>
              </a:rPr>
              <a:t> ^</a:t>
            </a:r>
          </a:p>
          <a:p>
            <a:pPr defTabSz="739775" eaLnBrk="0" hangingPunct="0"/>
            <a:r>
              <a:rPr lang="en-GB" sz="2000" dirty="0">
                <a:latin typeface="Lucida Console" pitchFamily="49" charset="0"/>
              </a:rPr>
              <a:t> |</a:t>
            </a:r>
          </a:p>
          <a:p>
            <a:pPr defTabSz="739775" eaLnBrk="0" hangingPunct="0"/>
            <a:r>
              <a:rPr lang="en-GB" sz="2000" dirty="0">
                <a:latin typeface="Lucida Console" pitchFamily="49" charset="0"/>
              </a:rPr>
              <a:t> &amp;&amp;</a:t>
            </a:r>
          </a:p>
          <a:p>
            <a:pPr defTabSz="739775" eaLnBrk="0" hangingPunct="0"/>
            <a:r>
              <a:rPr lang="en-GB" sz="2000" dirty="0">
                <a:latin typeface="Lucida Console" pitchFamily="49" charset="0"/>
              </a:rPr>
              <a:t> ||</a:t>
            </a:r>
          </a:p>
          <a:p>
            <a:pPr defTabSz="739775" eaLnBrk="0" hangingPunct="0"/>
            <a:r>
              <a:rPr lang="en-GB" sz="2000" dirty="0">
                <a:latin typeface="Lucida Console" pitchFamily="49" charset="0"/>
              </a:rPr>
              <a:t> ?:</a:t>
            </a:r>
          </a:p>
          <a:p>
            <a:pPr defTabSz="739775" eaLnBrk="0" hangingPunct="0"/>
            <a:r>
              <a:rPr lang="en-GB" sz="2000" dirty="0">
                <a:latin typeface="Lucida Console" pitchFamily="49" charset="0"/>
              </a:rPr>
              <a:t> = op=</a:t>
            </a:r>
          </a:p>
        </p:txBody>
      </p:sp>
      <p:sp>
        <p:nvSpPr>
          <p:cNvPr id="32774" name="Rectangle 6"/>
          <p:cNvSpPr>
            <a:spLocks noChangeArrowheads="1"/>
          </p:cNvSpPr>
          <p:nvPr/>
        </p:nvSpPr>
        <p:spPr bwMode="auto">
          <a:xfrm>
            <a:off x="7477480" y="1164544"/>
            <a:ext cx="2552499" cy="5168900"/>
          </a:xfrm>
          <a:prstGeom prst="rect">
            <a:avLst/>
          </a:prstGeom>
          <a:noFill/>
          <a:ln w="12700">
            <a:solidFill>
              <a:schemeClr val="tx1">
                <a:alpha val="0"/>
              </a:schemeClr>
            </a:solidFill>
            <a:miter lim="800000"/>
            <a:headEnd/>
            <a:tailEnd/>
          </a:ln>
        </p:spPr>
        <p:txBody>
          <a:bodyPr wrap="none" lIns="90488" tIns="44450" rIns="90488" bIns="44450"/>
          <a:lstStyle/>
          <a:p>
            <a:pPr defTabSz="739775" eaLnBrk="0" hangingPunct="0">
              <a:tabLst>
                <a:tab pos="1143000" algn="ctr"/>
              </a:tabLst>
            </a:pPr>
            <a:r>
              <a:rPr lang="en-GB" sz="2000" b="1" dirty="0"/>
              <a:t>	Comments</a:t>
            </a:r>
          </a:p>
          <a:p>
            <a:pPr defTabSz="739775" eaLnBrk="0" hangingPunct="0">
              <a:tabLst>
                <a:tab pos="1143000" algn="ctr"/>
              </a:tabLst>
            </a:pPr>
            <a:endParaRPr lang="en-GB" b="1" dirty="0">
              <a:solidFill>
                <a:srgbClr val="004050"/>
              </a:solidFill>
            </a:endParaRPr>
          </a:p>
          <a:p>
            <a:pPr defTabSz="739775" eaLnBrk="0" hangingPunct="0">
              <a:tabLst>
                <a:tab pos="1143000" algn="ctr"/>
              </a:tabLst>
            </a:pPr>
            <a:r>
              <a:rPr lang="en-GB" sz="2000" dirty="0">
                <a:solidFill>
                  <a:srgbClr val="004050"/>
                </a:solidFill>
              </a:rPr>
              <a:t>Primary</a:t>
            </a:r>
          </a:p>
          <a:p>
            <a:pPr defTabSz="739775" eaLnBrk="0" hangingPunct="0">
              <a:tabLst>
                <a:tab pos="1143000" algn="ctr"/>
              </a:tabLst>
            </a:pPr>
            <a:endParaRPr lang="en-GB" sz="2000" dirty="0">
              <a:solidFill>
                <a:srgbClr val="004050"/>
              </a:solidFill>
            </a:endParaRPr>
          </a:p>
          <a:p>
            <a:pPr defTabSz="739775" eaLnBrk="0" hangingPunct="0">
              <a:tabLst>
                <a:tab pos="1143000" algn="ctr"/>
              </a:tabLst>
            </a:pPr>
            <a:r>
              <a:rPr lang="en-GB" sz="2000" dirty="0">
                <a:solidFill>
                  <a:srgbClr val="004050"/>
                </a:solidFill>
              </a:rPr>
              <a:t>Unary</a:t>
            </a:r>
          </a:p>
          <a:p>
            <a:pPr defTabSz="739775" eaLnBrk="0" hangingPunct="0">
              <a:tabLst>
                <a:tab pos="1143000" algn="ctr"/>
              </a:tabLst>
            </a:pPr>
            <a:r>
              <a:rPr lang="en-GB" sz="2000" dirty="0">
                <a:solidFill>
                  <a:srgbClr val="004050"/>
                </a:solidFill>
              </a:rPr>
              <a:t>Multiplicative</a:t>
            </a:r>
          </a:p>
          <a:p>
            <a:pPr defTabSz="739775" eaLnBrk="0" hangingPunct="0">
              <a:tabLst>
                <a:tab pos="1143000" algn="ctr"/>
              </a:tabLst>
            </a:pPr>
            <a:r>
              <a:rPr lang="en-GB" sz="2000" dirty="0">
                <a:solidFill>
                  <a:srgbClr val="004050"/>
                </a:solidFill>
              </a:rPr>
              <a:t>Additive</a:t>
            </a:r>
          </a:p>
          <a:p>
            <a:pPr defTabSz="739775" eaLnBrk="0" hangingPunct="0">
              <a:tabLst>
                <a:tab pos="1143000" algn="ctr"/>
              </a:tabLst>
            </a:pPr>
            <a:r>
              <a:rPr lang="en-GB" sz="2000" dirty="0">
                <a:solidFill>
                  <a:srgbClr val="004050"/>
                </a:solidFill>
              </a:rPr>
              <a:t>Bit Shift</a:t>
            </a:r>
          </a:p>
          <a:p>
            <a:pPr defTabSz="739775" eaLnBrk="0" hangingPunct="0">
              <a:tabLst>
                <a:tab pos="1143000" algn="ctr"/>
              </a:tabLst>
            </a:pPr>
            <a:r>
              <a:rPr lang="en-GB" sz="2000" dirty="0">
                <a:solidFill>
                  <a:srgbClr val="004050"/>
                </a:solidFill>
              </a:rPr>
              <a:t>Relational</a:t>
            </a:r>
          </a:p>
          <a:p>
            <a:pPr defTabSz="739775" eaLnBrk="0" hangingPunct="0">
              <a:tabLst>
                <a:tab pos="1143000" algn="ctr"/>
              </a:tabLst>
            </a:pPr>
            <a:r>
              <a:rPr lang="en-GB" sz="2000" dirty="0">
                <a:solidFill>
                  <a:srgbClr val="004050"/>
                </a:solidFill>
              </a:rPr>
              <a:t>Equality</a:t>
            </a:r>
          </a:p>
          <a:p>
            <a:pPr defTabSz="739775" eaLnBrk="0" hangingPunct="0">
              <a:tabLst>
                <a:tab pos="1143000" algn="ctr"/>
              </a:tabLst>
            </a:pPr>
            <a:r>
              <a:rPr lang="en-GB" sz="2000" dirty="0">
                <a:solidFill>
                  <a:srgbClr val="004050"/>
                </a:solidFill>
              </a:rPr>
              <a:t>Bitwise AND</a:t>
            </a:r>
          </a:p>
          <a:p>
            <a:pPr defTabSz="739775" eaLnBrk="0" hangingPunct="0">
              <a:tabLst>
                <a:tab pos="1143000" algn="ctr"/>
              </a:tabLst>
            </a:pPr>
            <a:r>
              <a:rPr lang="en-GB" sz="2000" dirty="0">
                <a:solidFill>
                  <a:srgbClr val="004050"/>
                </a:solidFill>
              </a:rPr>
              <a:t>Bitwise exclusive OR</a:t>
            </a:r>
          </a:p>
          <a:p>
            <a:pPr defTabSz="739775" eaLnBrk="0" hangingPunct="0">
              <a:tabLst>
                <a:tab pos="1143000" algn="ctr"/>
              </a:tabLst>
            </a:pPr>
            <a:r>
              <a:rPr lang="en-GB" sz="2000" dirty="0">
                <a:solidFill>
                  <a:srgbClr val="004050"/>
                </a:solidFill>
              </a:rPr>
              <a:t>Bitwise inclusive OR</a:t>
            </a:r>
          </a:p>
          <a:p>
            <a:pPr defTabSz="739775" eaLnBrk="0" hangingPunct="0">
              <a:tabLst>
                <a:tab pos="1143000" algn="ctr"/>
              </a:tabLst>
            </a:pPr>
            <a:r>
              <a:rPr lang="en-GB" sz="2000" dirty="0">
                <a:solidFill>
                  <a:srgbClr val="004050"/>
                </a:solidFill>
              </a:rPr>
              <a:t>Logical AND</a:t>
            </a:r>
          </a:p>
          <a:p>
            <a:pPr defTabSz="739775" eaLnBrk="0" hangingPunct="0">
              <a:tabLst>
                <a:tab pos="1143000" algn="ctr"/>
              </a:tabLst>
            </a:pPr>
            <a:r>
              <a:rPr lang="en-GB" sz="2000" dirty="0">
                <a:solidFill>
                  <a:srgbClr val="004050"/>
                </a:solidFill>
              </a:rPr>
              <a:t>Logical OR</a:t>
            </a:r>
          </a:p>
          <a:p>
            <a:pPr defTabSz="739775" eaLnBrk="0" hangingPunct="0">
              <a:tabLst>
                <a:tab pos="1143000" algn="ctr"/>
              </a:tabLst>
            </a:pPr>
            <a:r>
              <a:rPr lang="en-GB" sz="2000" dirty="0">
                <a:solidFill>
                  <a:srgbClr val="004050"/>
                </a:solidFill>
              </a:rPr>
              <a:t>Conditional</a:t>
            </a:r>
          </a:p>
          <a:p>
            <a:pPr defTabSz="739775" eaLnBrk="0" hangingPunct="0">
              <a:tabLst>
                <a:tab pos="1143000" algn="ctr"/>
              </a:tabLst>
            </a:pPr>
            <a:r>
              <a:rPr lang="en-GB" sz="2000" dirty="0">
                <a:solidFill>
                  <a:srgbClr val="004050"/>
                </a:solidFill>
              </a:rPr>
              <a:t>Assignment</a:t>
            </a:r>
          </a:p>
          <a:p>
            <a:pPr defTabSz="739775" eaLnBrk="0" latinLnBrk="1" hangingPunct="0">
              <a:tabLst>
                <a:tab pos="1143000" algn="ctr"/>
              </a:tabLst>
            </a:pPr>
            <a:endParaRPr lang="en-GB" sz="2000" dirty="0"/>
          </a:p>
        </p:txBody>
      </p:sp>
      <p:sp>
        <p:nvSpPr>
          <p:cNvPr id="32775" name="Rectangle 7"/>
          <p:cNvSpPr>
            <a:spLocks noChangeArrowheads="1"/>
          </p:cNvSpPr>
          <p:nvPr/>
        </p:nvSpPr>
        <p:spPr bwMode="auto">
          <a:xfrm>
            <a:off x="1875191" y="1166092"/>
            <a:ext cx="878641" cy="5129850"/>
          </a:xfrm>
          <a:prstGeom prst="rect">
            <a:avLst/>
          </a:prstGeom>
          <a:noFill/>
          <a:ln w="12700">
            <a:solidFill>
              <a:schemeClr val="tx1">
                <a:alpha val="0"/>
              </a:schemeClr>
            </a:solidFill>
            <a:miter lim="800000"/>
            <a:headEnd/>
            <a:tailEnd/>
          </a:ln>
        </p:spPr>
        <p:txBody>
          <a:bodyPr wrap="none" lIns="90488" tIns="44450" rIns="90488" bIns="44450"/>
          <a:lstStyle/>
          <a:p>
            <a:pPr defTabSz="739775" eaLnBrk="0" hangingPunct="0"/>
            <a:r>
              <a:rPr lang="en-GB" sz="2000" b="1" dirty="0"/>
              <a:t>Order</a:t>
            </a:r>
          </a:p>
          <a:p>
            <a:pPr defTabSz="739775" eaLnBrk="0" hangingPunct="0"/>
            <a:endParaRPr lang="en-GB" b="1" dirty="0"/>
          </a:p>
          <a:p>
            <a:pPr defTabSz="739775" eaLnBrk="0" hangingPunct="0"/>
            <a:r>
              <a:rPr lang="en-GB" sz="2000" b="1" dirty="0"/>
              <a:t> </a:t>
            </a:r>
            <a:r>
              <a:rPr lang="en-GB" sz="2000" dirty="0"/>
              <a:t>1</a:t>
            </a:r>
          </a:p>
          <a:p>
            <a:pPr defTabSz="739775" eaLnBrk="0" hangingPunct="0"/>
            <a:endParaRPr lang="en-GB" sz="2000" dirty="0"/>
          </a:p>
          <a:p>
            <a:pPr defTabSz="739775" eaLnBrk="0" hangingPunct="0"/>
            <a:r>
              <a:rPr lang="en-GB" sz="2000" dirty="0"/>
              <a:t> 2</a:t>
            </a:r>
          </a:p>
          <a:p>
            <a:pPr defTabSz="739775" eaLnBrk="0" hangingPunct="0"/>
            <a:r>
              <a:rPr lang="en-GB" sz="2000" dirty="0"/>
              <a:t> 3</a:t>
            </a:r>
          </a:p>
          <a:p>
            <a:pPr defTabSz="739775" eaLnBrk="0" hangingPunct="0"/>
            <a:r>
              <a:rPr lang="en-GB" sz="2000" dirty="0"/>
              <a:t> 4</a:t>
            </a:r>
          </a:p>
          <a:p>
            <a:pPr defTabSz="739775" eaLnBrk="0" hangingPunct="0"/>
            <a:r>
              <a:rPr lang="en-GB" sz="2000" dirty="0"/>
              <a:t> 5</a:t>
            </a:r>
          </a:p>
          <a:p>
            <a:pPr defTabSz="739775" eaLnBrk="0" hangingPunct="0"/>
            <a:r>
              <a:rPr lang="en-GB" sz="2000" dirty="0"/>
              <a:t> 6</a:t>
            </a:r>
          </a:p>
          <a:p>
            <a:pPr defTabSz="739775" eaLnBrk="0" hangingPunct="0"/>
            <a:r>
              <a:rPr lang="en-GB" sz="2000" dirty="0"/>
              <a:t> 7 </a:t>
            </a:r>
          </a:p>
          <a:p>
            <a:pPr defTabSz="739775" eaLnBrk="0" hangingPunct="0"/>
            <a:r>
              <a:rPr lang="en-GB" sz="2000" dirty="0"/>
              <a:t> 8</a:t>
            </a:r>
          </a:p>
          <a:p>
            <a:pPr defTabSz="739775" eaLnBrk="0" hangingPunct="0"/>
            <a:r>
              <a:rPr lang="en-GB" sz="2000" dirty="0"/>
              <a:t> 9</a:t>
            </a:r>
          </a:p>
          <a:p>
            <a:pPr defTabSz="739775" eaLnBrk="0" hangingPunct="0"/>
            <a:r>
              <a:rPr lang="en-GB" sz="2000" dirty="0"/>
              <a:t>10</a:t>
            </a:r>
          </a:p>
          <a:p>
            <a:pPr defTabSz="739775" eaLnBrk="0" hangingPunct="0"/>
            <a:r>
              <a:rPr lang="en-GB" sz="2000" dirty="0"/>
              <a:t>11</a:t>
            </a:r>
          </a:p>
          <a:p>
            <a:pPr defTabSz="739775" eaLnBrk="0" hangingPunct="0"/>
            <a:r>
              <a:rPr lang="en-GB" sz="2000" dirty="0"/>
              <a:t>12</a:t>
            </a:r>
          </a:p>
          <a:p>
            <a:pPr defTabSz="739775" eaLnBrk="0" hangingPunct="0"/>
            <a:r>
              <a:rPr lang="en-GB" sz="2000" dirty="0"/>
              <a:t>13</a:t>
            </a:r>
          </a:p>
          <a:p>
            <a:pPr defTabSz="739775" eaLnBrk="0" hangingPunct="0"/>
            <a:r>
              <a:rPr lang="en-GB" sz="2000" dirty="0"/>
              <a:t>14</a:t>
            </a:r>
          </a:p>
        </p:txBody>
      </p:sp>
      <p:sp>
        <p:nvSpPr>
          <p:cNvPr id="32776" name="Oval 8"/>
          <p:cNvSpPr>
            <a:spLocks noChangeArrowheads="1"/>
          </p:cNvSpPr>
          <p:nvPr/>
        </p:nvSpPr>
        <p:spPr bwMode="auto">
          <a:xfrm>
            <a:off x="3651347" y="1727866"/>
            <a:ext cx="259766" cy="519351"/>
          </a:xfrm>
          <a:prstGeom prst="ellipse">
            <a:avLst/>
          </a:prstGeom>
          <a:noFill/>
          <a:ln w="19050">
            <a:solidFill>
              <a:srgbClr val="7E007C"/>
            </a:solidFill>
            <a:round/>
            <a:headEnd/>
            <a:tailEnd/>
          </a:ln>
        </p:spPr>
        <p:txBody>
          <a:bodyPr wrap="none" anchor="ctr">
            <a:spAutoFit/>
          </a:bodyPr>
          <a:lstStyle/>
          <a:p>
            <a:pPr eaLnBrk="0" hangingPunct="0">
              <a:spcBef>
                <a:spcPct val="50000"/>
              </a:spcBef>
            </a:pPr>
            <a:endParaRPr lang="en-US"/>
          </a:p>
        </p:txBody>
      </p:sp>
      <p:sp>
        <p:nvSpPr>
          <p:cNvPr id="32777" name="Oval 9"/>
          <p:cNvSpPr>
            <a:spLocks noChangeArrowheads="1"/>
          </p:cNvSpPr>
          <p:nvPr/>
        </p:nvSpPr>
        <p:spPr bwMode="auto">
          <a:xfrm>
            <a:off x="5674445" y="2285778"/>
            <a:ext cx="648045" cy="519351"/>
          </a:xfrm>
          <a:prstGeom prst="ellipse">
            <a:avLst/>
          </a:prstGeom>
          <a:noFill/>
          <a:ln w="19050">
            <a:solidFill>
              <a:srgbClr val="7E007C"/>
            </a:solidFill>
            <a:round/>
            <a:headEnd/>
            <a:tailEnd/>
          </a:ln>
        </p:spPr>
        <p:txBody>
          <a:bodyPr wrap="square" anchor="ctr">
            <a:spAutoFit/>
          </a:bodyPr>
          <a:lstStyle/>
          <a:p>
            <a:pPr eaLnBrk="0" hangingPunct="0">
              <a:spcBef>
                <a:spcPct val="50000"/>
              </a:spcBef>
            </a:pPr>
            <a:endParaRPr lang="en-US"/>
          </a:p>
        </p:txBody>
      </p:sp>
      <p:sp>
        <p:nvSpPr>
          <p:cNvPr id="32778" name="Oval 10"/>
          <p:cNvSpPr>
            <a:spLocks noChangeArrowheads="1"/>
          </p:cNvSpPr>
          <p:nvPr/>
        </p:nvSpPr>
        <p:spPr bwMode="auto">
          <a:xfrm>
            <a:off x="2997590" y="5111799"/>
            <a:ext cx="783216" cy="647273"/>
          </a:xfrm>
          <a:prstGeom prst="ellipse">
            <a:avLst/>
          </a:prstGeom>
          <a:noFill/>
          <a:ln w="19050">
            <a:solidFill>
              <a:srgbClr val="7E007C"/>
            </a:solidFill>
            <a:round/>
            <a:headEnd/>
            <a:tailEnd/>
          </a:ln>
        </p:spPr>
        <p:txBody>
          <a:bodyPr wrap="square" anchor="ctr">
            <a:spAutoFit/>
          </a:bodyPr>
          <a:lstStyle/>
          <a:p>
            <a:pPr eaLnBrk="0" hangingPunct="0">
              <a:spcBef>
                <a:spcPct val="50000"/>
              </a:spcBef>
            </a:pPr>
            <a:endParaRPr lang="en-US"/>
          </a:p>
        </p:txBody>
      </p:sp>
      <p:sp>
        <p:nvSpPr>
          <p:cNvPr id="32779" name="Oval 11"/>
          <p:cNvSpPr>
            <a:spLocks noChangeArrowheads="1"/>
          </p:cNvSpPr>
          <p:nvPr/>
        </p:nvSpPr>
        <p:spPr bwMode="auto">
          <a:xfrm>
            <a:off x="2947896" y="2627239"/>
            <a:ext cx="963596" cy="728302"/>
          </a:xfrm>
          <a:prstGeom prst="ellipse">
            <a:avLst/>
          </a:prstGeom>
          <a:noFill/>
          <a:ln w="19050">
            <a:solidFill>
              <a:srgbClr val="7E007C"/>
            </a:solidFill>
            <a:round/>
            <a:headEnd/>
            <a:tailEnd/>
          </a:ln>
        </p:spPr>
        <p:txBody>
          <a:bodyPr wrap="square" anchor="ctr">
            <a:spAutoFit/>
          </a:bodyPr>
          <a:lstStyle/>
          <a:p>
            <a:pPr eaLnBrk="0" hangingPunct="0">
              <a:spcBef>
                <a:spcPct val="50000"/>
              </a:spcBef>
            </a:pPr>
            <a:endParaRPr lang="en-US"/>
          </a:p>
        </p:txBody>
      </p:sp>
      <p:sp>
        <p:nvSpPr>
          <p:cNvPr id="32780" name="Oval 12"/>
          <p:cNvSpPr>
            <a:spLocks noChangeArrowheads="1"/>
          </p:cNvSpPr>
          <p:nvPr/>
        </p:nvSpPr>
        <p:spPr bwMode="auto">
          <a:xfrm>
            <a:off x="3135025" y="6028594"/>
            <a:ext cx="360000" cy="360000"/>
          </a:xfrm>
          <a:prstGeom prst="ellipse">
            <a:avLst/>
          </a:prstGeom>
          <a:noFill/>
          <a:ln w="19050">
            <a:solidFill>
              <a:srgbClr val="7E007C"/>
            </a:solidFill>
            <a:round/>
            <a:headEnd/>
            <a:tailEnd/>
          </a:ln>
        </p:spPr>
        <p:txBody>
          <a:bodyPr anchor="ctr">
            <a:spAutoFit/>
          </a:bodyPr>
          <a:lstStyle/>
          <a:p>
            <a:pPr eaLnBrk="0" hangingPunct="0">
              <a:spcBef>
                <a:spcPct val="50000"/>
              </a:spcBef>
            </a:pPr>
            <a:endParaRPr lang="en-US"/>
          </a:p>
        </p:txBody>
      </p:sp>
      <p:grpSp>
        <p:nvGrpSpPr>
          <p:cNvPr id="2" name="Group 17"/>
          <p:cNvGrpSpPr/>
          <p:nvPr/>
        </p:nvGrpSpPr>
        <p:grpSpPr>
          <a:xfrm>
            <a:off x="4054717" y="4017058"/>
            <a:ext cx="5763881" cy="2780249"/>
            <a:chOff x="2530716" y="4017057"/>
            <a:chExt cx="5763881" cy="2780249"/>
          </a:xfrm>
          <a:solidFill>
            <a:schemeClr val="bg1"/>
          </a:solidFill>
        </p:grpSpPr>
        <p:sp>
          <p:nvSpPr>
            <p:cNvPr id="13" name="Rectangle 5"/>
            <p:cNvSpPr>
              <a:spLocks noChangeArrowheads="1"/>
            </p:cNvSpPr>
            <p:nvPr/>
          </p:nvSpPr>
          <p:spPr bwMode="auto">
            <a:xfrm>
              <a:off x="2530716" y="4017057"/>
              <a:ext cx="3281465" cy="1813317"/>
            </a:xfrm>
            <a:prstGeom prst="rect">
              <a:avLst/>
            </a:prstGeom>
            <a:grpFill/>
            <a:ln w="19050">
              <a:solidFill>
                <a:srgbClr val="004050"/>
              </a:solidFill>
              <a:miter lim="800000"/>
              <a:headEnd/>
              <a:tailEnd/>
            </a:ln>
            <a:effectLst>
              <a:outerShdw dist="53882" dir="2700000" algn="ctr" rotWithShape="0">
                <a:schemeClr val="bg2"/>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p = x + (y * z); </a:t>
              </a:r>
              <a:br>
                <a:rPr lang="en-GB" sz="1600" dirty="0">
                  <a:solidFill>
                    <a:srgbClr val="000000"/>
                  </a:solidFill>
                  <a:latin typeface="Lucida Console" pitchFamily="49" charset="0"/>
                </a:rPr>
              </a:br>
              <a:r>
                <a:rPr lang="en-GB" sz="1600" dirty="0" err="1">
                  <a:solidFill>
                    <a:srgbClr val="0000C8"/>
                  </a:solidFill>
                  <a:latin typeface="Lucida Console" pitchFamily="49" charset="0"/>
                </a:rPr>
                <a:t>int</a:t>
              </a:r>
              <a:r>
                <a:rPr lang="en-GB" sz="1600" dirty="0">
                  <a:solidFill>
                    <a:srgbClr val="000000"/>
                  </a:solidFill>
                  <a:latin typeface="Lucida Console" pitchFamily="49" charset="0"/>
                </a:rPr>
                <a:t> q = (x + y) * z;</a:t>
              </a:r>
              <a:br>
                <a:rPr lang="en-GB" sz="1600" dirty="0">
                  <a:solidFill>
                    <a:srgbClr val="000000"/>
                  </a:solidFill>
                  <a:latin typeface="Lucida Console" pitchFamily="49" charset="0"/>
                </a:rPr>
              </a:br>
              <a:r>
                <a:rPr lang="en-GB" sz="1600" dirty="0" err="1">
                  <a:solidFill>
                    <a:srgbClr val="0000C8"/>
                  </a:solidFill>
                  <a:latin typeface="Lucida Console" pitchFamily="49" charset="0"/>
                </a:rPr>
                <a:t>bool</a:t>
              </a:r>
              <a:r>
                <a:rPr lang="en-GB" sz="1600" dirty="0">
                  <a:solidFill>
                    <a:schemeClr val="tx1">
                      <a:lumMod val="60000"/>
                      <a:lumOff val="40000"/>
                    </a:schemeClr>
                  </a:solidFill>
                  <a:latin typeface="Lucida Console" pitchFamily="49" charset="0"/>
                </a:rPr>
                <a:t> </a:t>
              </a:r>
              <a:r>
                <a:rPr lang="en-GB" sz="1600" dirty="0">
                  <a:latin typeface="Lucida Console" pitchFamily="49" charset="0"/>
                </a:rPr>
                <a:t>b1, b2, b3;</a:t>
              </a:r>
              <a:br>
                <a:rPr lang="en-GB" sz="1600" dirty="0">
                  <a:solidFill>
                    <a:srgbClr val="000000"/>
                  </a:solidFill>
                  <a:latin typeface="Lucida Console" pitchFamily="49" charset="0"/>
                </a:rPr>
              </a:br>
              <a:r>
                <a:rPr lang="en-GB" sz="1600" dirty="0">
                  <a:solidFill>
                    <a:srgbClr val="0000C8"/>
                  </a:solidFill>
                  <a:latin typeface="Lucida Console" pitchFamily="49" charset="0"/>
                </a:rPr>
                <a:t>if</a:t>
              </a:r>
              <a:r>
                <a:rPr lang="en-GB" sz="1600" dirty="0">
                  <a:solidFill>
                    <a:srgbClr val="000000"/>
                  </a:solidFill>
                  <a:latin typeface="Lucida Console" pitchFamily="49" charset="0"/>
                </a:rPr>
                <a:t> (b1 &amp;&amp; b2 || b3) { </a:t>
              </a:r>
              <a:br>
                <a:rPr lang="en-GB" sz="1600" dirty="0">
                  <a:solidFill>
                    <a:srgbClr val="000000"/>
                  </a:solidFill>
                  <a:latin typeface="Lucida Console" pitchFamily="49" charset="0"/>
                </a:rPr>
              </a:br>
              <a:r>
                <a:rPr lang="en-GB" sz="1600" dirty="0">
                  <a:solidFill>
                    <a:srgbClr val="000000"/>
                  </a:solidFill>
                  <a:latin typeface="Lucida Console" pitchFamily="49" charset="0"/>
                </a:rPr>
                <a:t>  </a:t>
              </a:r>
              <a:r>
                <a:rPr lang="en-GB" sz="1600" dirty="0">
                  <a:solidFill>
                    <a:schemeClr val="accent2">
                      <a:lumMod val="25000"/>
                    </a:schemeClr>
                  </a:solidFill>
                  <a:latin typeface="Lucida Console" pitchFamily="49" charset="0"/>
                </a:rPr>
                <a:t>//does this if b3 true</a:t>
              </a:r>
              <a:br>
                <a:rPr lang="en-GB" sz="1600" dirty="0">
                  <a:solidFill>
                    <a:schemeClr val="accent2">
                      <a:lumMod val="25000"/>
                    </a:schemeClr>
                  </a:solidFill>
                  <a:latin typeface="Lucida Console" pitchFamily="49" charset="0"/>
                </a:rPr>
              </a:br>
              <a:r>
                <a:rPr lang="en-GB" sz="1600" dirty="0">
                  <a:solidFill>
                    <a:schemeClr val="accent2">
                      <a:lumMod val="25000"/>
                    </a:schemeClr>
                  </a:solidFill>
                  <a:latin typeface="Lucida Console" pitchFamily="49" charset="0"/>
                </a:rPr>
                <a:t>  //b1 and/or b2 might be </a:t>
              </a:r>
              <a:br>
                <a:rPr lang="en-GB" sz="1600" dirty="0">
                  <a:solidFill>
                    <a:srgbClr val="000000"/>
                  </a:solidFill>
                  <a:latin typeface="Lucida Console" pitchFamily="49" charset="0"/>
                </a:rPr>
              </a:br>
              <a:r>
                <a:rPr lang="en-GB" sz="1600" dirty="0">
                  <a:solidFill>
                    <a:srgbClr val="000000"/>
                  </a:solidFill>
                  <a:latin typeface="Lucida Console" pitchFamily="49" charset="0"/>
                </a:rPr>
                <a:t>}</a:t>
              </a:r>
            </a:p>
          </p:txBody>
        </p:sp>
        <p:sp>
          <p:nvSpPr>
            <p:cNvPr id="15" name="Rectangle 5"/>
            <p:cNvSpPr>
              <a:spLocks noChangeArrowheads="1"/>
            </p:cNvSpPr>
            <p:nvPr/>
          </p:nvSpPr>
          <p:spPr bwMode="auto">
            <a:xfrm>
              <a:off x="3093039" y="6461317"/>
              <a:ext cx="5201558" cy="335989"/>
            </a:xfrm>
            <a:prstGeom prst="rect">
              <a:avLst/>
            </a:prstGeom>
            <a:grpFill/>
            <a:ln w="19050">
              <a:solidFill>
                <a:schemeClr val="tx1"/>
              </a:solidFill>
              <a:miter lim="800000"/>
              <a:headEnd/>
              <a:tailEnd/>
            </a:ln>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C8"/>
                  </a:solidFill>
                  <a:latin typeface="Lucida Console" pitchFamily="49" charset="0"/>
                </a:rPr>
                <a:t>while</a:t>
              </a:r>
              <a:r>
                <a:rPr lang="en-GB" sz="1600" dirty="0">
                  <a:solidFill>
                    <a:srgbClr val="000000"/>
                  </a:solidFill>
                  <a:latin typeface="Lucida Console" pitchFamily="49" charset="0"/>
                </a:rPr>
                <a:t>((b = </a:t>
              </a:r>
              <a:r>
                <a:rPr lang="en-GB" sz="1600" dirty="0" err="1">
                  <a:solidFill>
                    <a:srgbClr val="000000"/>
                  </a:solidFill>
                  <a:latin typeface="Lucida Console" pitchFamily="49" charset="0"/>
                </a:rPr>
                <a:t>getNextByte</a:t>
              </a:r>
              <a:r>
                <a:rPr lang="en-GB" sz="1600" dirty="0">
                  <a:solidFill>
                    <a:srgbClr val="000000"/>
                  </a:solidFill>
                  <a:latin typeface="Lucida Console" pitchFamily="49" charset="0"/>
                </a:rPr>
                <a:t>()) != -1) {...}</a:t>
              </a:r>
            </a:p>
          </p:txBody>
        </p:sp>
      </p:grpSp>
      <p:sp>
        <p:nvSpPr>
          <p:cNvPr id="14" name="Rectangle 5"/>
          <p:cNvSpPr>
            <a:spLocks noChangeArrowheads="1"/>
          </p:cNvSpPr>
          <p:nvPr/>
        </p:nvSpPr>
        <p:spPr bwMode="auto">
          <a:xfrm>
            <a:off x="4320837" y="2690311"/>
            <a:ext cx="3015343" cy="582211"/>
          </a:xfrm>
          <a:prstGeom prst="rect">
            <a:avLst/>
          </a:prstGeom>
          <a:solidFill>
            <a:schemeClr val="bg1"/>
          </a:solidFill>
          <a:ln w="19050">
            <a:solidFill>
              <a:srgbClr val="004050"/>
            </a:solidFill>
            <a:miter lim="800000"/>
            <a:headEnd/>
            <a:tailEnd/>
          </a:ln>
          <a:effectLst>
            <a:outerShdw dist="53882" dir="2700000" algn="ctr" rotWithShape="0">
              <a:schemeClr val="bg2"/>
            </a:outerShdw>
          </a:effectLst>
        </p:spPr>
        <p:txBody>
          <a:bodyPr wrap="square" lIns="90488" tIns="44450" rIns="90488" bIns="44450">
            <a:spAutoFit/>
          </a:bodyPr>
          <a:lstStyle/>
          <a:p>
            <a:pPr defTabSz="739775" eaLnBrk="0" hangingPunct="0">
              <a:tabLst>
                <a:tab pos="341313" algn="l"/>
                <a:tab pos="690563" algn="l"/>
                <a:tab pos="1030288" algn="l"/>
                <a:tab pos="1371600" algn="l"/>
              </a:tabLst>
              <a:defRPr/>
            </a:pPr>
            <a:r>
              <a:rPr lang="en-GB" sz="1600" dirty="0">
                <a:solidFill>
                  <a:srgbClr val="000000"/>
                </a:solidFill>
                <a:latin typeface="Lucida Console" pitchFamily="49" charset="0"/>
              </a:rPr>
              <a:t>Vehicle v = ...;</a:t>
            </a:r>
            <a:br>
              <a:rPr lang="en-GB" sz="1600" dirty="0">
                <a:solidFill>
                  <a:srgbClr val="000000"/>
                </a:solidFill>
                <a:latin typeface="Lucida Console" pitchFamily="49" charset="0"/>
              </a:rPr>
            </a:br>
            <a:r>
              <a:rPr lang="en-GB" sz="1600" dirty="0">
                <a:solidFill>
                  <a:srgbClr val="000000"/>
                </a:solidFill>
                <a:latin typeface="Lucida Console" pitchFamily="49" charset="0"/>
              </a:rPr>
              <a:t>((Car)v).</a:t>
            </a:r>
            <a:r>
              <a:rPr lang="en-GB" sz="1600" dirty="0" err="1">
                <a:solidFill>
                  <a:srgbClr val="000000"/>
                </a:solidFill>
                <a:latin typeface="Lucida Console" pitchFamily="49" charset="0"/>
              </a:rPr>
              <a:t>openSunRoof</a:t>
            </a:r>
            <a:r>
              <a:rPr lang="en-GB" sz="1600" dirty="0">
                <a:solidFill>
                  <a:srgbClr val="000000"/>
                </a:solidFill>
                <a:latin typeface="Lucida Console" pitchFamily="49" charset="0"/>
              </a:rPr>
              <a:t>();</a:t>
            </a:r>
          </a:p>
        </p:txBody>
      </p:sp>
      <p:sp>
        <p:nvSpPr>
          <p:cNvPr id="17" name="Rectangle 15"/>
          <p:cNvSpPr>
            <a:spLocks noChangeArrowheads="1"/>
          </p:cNvSpPr>
          <p:nvPr/>
        </p:nvSpPr>
        <p:spPr bwMode="auto">
          <a:xfrm>
            <a:off x="5247031" y="3298120"/>
            <a:ext cx="2094593" cy="307777"/>
          </a:xfrm>
          <a:prstGeom prst="rect">
            <a:avLst/>
          </a:prstGeom>
          <a:solidFill>
            <a:srgbClr val="A9EEFF"/>
          </a:solidFill>
          <a:ln w="19050">
            <a:solidFill>
              <a:srgbClr val="004050"/>
            </a:solidFill>
            <a:miter lim="800000"/>
            <a:headEnd/>
            <a:tailEnd/>
          </a:ln>
        </p:spPr>
        <p:txBody>
          <a:bodyPr wrap="square" anchor="ctr">
            <a:spAutoFit/>
          </a:bodyPr>
          <a:lstStyle/>
          <a:p>
            <a:pPr algn="ctr" eaLnBrk="0" hangingPunct="0">
              <a:spcBef>
                <a:spcPct val="50000"/>
              </a:spcBef>
            </a:pPr>
            <a:r>
              <a:rPr lang="en-GB" sz="1400" dirty="0"/>
              <a:t>Much more later ..</a:t>
            </a:r>
          </a:p>
        </p:txBody>
      </p:sp>
    </p:spTree>
    <p:extLst>
      <p:ext uri="{BB962C8B-B14F-4D97-AF65-F5344CB8AC3E}">
        <p14:creationId xmlns:p14="http://schemas.microsoft.com/office/powerpoint/2010/main" val="122781271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Props1.xml><?xml version="1.0" encoding="utf-8"?>
<ds:datastoreItem xmlns:ds="http://schemas.openxmlformats.org/officeDocument/2006/customXml" ds:itemID="{E72A4E4C-4430-4993-B430-D45066C7803B}">
  <ds:schemaRefs>
    <ds:schemaRef ds:uri="http://schemas.microsoft.com/sharepoint/v3/contenttype/forms"/>
  </ds:schemaRefs>
</ds:datastoreItem>
</file>

<file path=customXml/itemProps2.xml><?xml version="1.0" encoding="utf-8"?>
<ds:datastoreItem xmlns:ds="http://schemas.openxmlformats.org/officeDocument/2006/customXml" ds:itemID="{F2A14162-CCCA-4690-8872-03DEB98322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8F143C-5F8F-4F12-A25E-E0CFB4EDDD8F}">
  <ds:schemaRefs>
    <ds:schemaRef ds:uri="http://purl.org/dc/terms/"/>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6794D9DE-4FDF-4DC0-8B2C-5438320C69D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0</TotalTime>
  <Words>6046</Words>
  <Application>Microsoft Office PowerPoint</Application>
  <PresentationFormat>Widescreen</PresentationFormat>
  <Paragraphs>755</Paragraphs>
  <Slides>41</Slides>
  <Notes>34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Arial</vt:lpstr>
      <vt:lpstr>Calibri</vt:lpstr>
      <vt:lpstr>Cascadia Mono</vt:lpstr>
      <vt:lpstr>Consolas</vt:lpstr>
      <vt:lpstr>Courier New</vt:lpstr>
      <vt:lpstr>Krana Fat B</vt:lpstr>
      <vt:lpstr>Lucida Console</vt:lpstr>
      <vt:lpstr>Montserrat</vt:lpstr>
      <vt:lpstr>Mulish</vt:lpstr>
      <vt:lpstr>Wingdings</vt:lpstr>
      <vt:lpstr>Master</vt:lpstr>
      <vt:lpstr>Introduction  C# Basics (revision)</vt:lpstr>
      <vt:lpstr>Contents</vt:lpstr>
      <vt:lpstr>What is the .NET framework?</vt:lpstr>
      <vt:lpstr>What is Managed code?</vt:lpstr>
      <vt:lpstr>namespaces - Used to group types and avoid naming conflicts  </vt:lpstr>
      <vt:lpstr>The using statement</vt:lpstr>
      <vt:lpstr>The using statement in .NET 6</vt:lpstr>
      <vt:lpstr>C# Language basics</vt:lpstr>
      <vt:lpstr>Variables (Symbolic name for an address in memory) </vt:lpstr>
      <vt:lpstr>Pre-defined in-built primitive data types</vt:lpstr>
      <vt:lpstr>Standard Mathematical Operators</vt:lpstr>
      <vt:lpstr>Compound Operators</vt:lpstr>
      <vt:lpstr>Pre &amp; Post-fix ++ and -- Operators</vt:lpstr>
      <vt:lpstr>Casting – Implicit casting</vt:lpstr>
      <vt:lpstr>Casting - You can explicitly cast any numeric type to another type </vt:lpstr>
      <vt:lpstr>Casting strings using the Parse and TryParse methods</vt:lpstr>
      <vt:lpstr>PowerPoint Presentation</vt:lpstr>
      <vt:lpstr>Introducing ‘if’</vt:lpstr>
      <vt:lpstr>Introducing ‘else if’(s)</vt:lpstr>
      <vt:lpstr>The ternary Conditional Operator ( ? : )</vt:lpstr>
      <vt:lpstr>Logical operators AND and OR</vt:lpstr>
      <vt:lpstr>The switch Statement</vt:lpstr>
      <vt:lpstr>Methods</vt:lpstr>
      <vt:lpstr>Example of a method with no parameter and no returned value</vt:lpstr>
      <vt:lpstr>Example of a void method with two parameters</vt:lpstr>
      <vt:lpstr>Example of method returning a value</vt:lpstr>
      <vt:lpstr>Method overloading</vt:lpstr>
      <vt:lpstr>Arrays and Loops</vt:lpstr>
      <vt:lpstr>PowerPoint Presentation</vt:lpstr>
      <vt:lpstr>Introduction to Arrays</vt:lpstr>
      <vt:lpstr>Create an empty array</vt:lpstr>
      <vt:lpstr>PowerPoint Presentation</vt:lpstr>
      <vt:lpstr>Iteration using while and for Statements</vt:lpstr>
      <vt:lpstr>Iteration Using while Loops</vt:lpstr>
      <vt:lpstr>The for loop</vt:lpstr>
      <vt:lpstr>Using break to exit a any loop</vt:lpstr>
      <vt:lpstr>continue</vt:lpstr>
      <vt:lpstr>Foreach  loop - For iterating over a collection or an array</vt:lpstr>
      <vt:lpstr>PowerPoint Presentation</vt:lpstr>
      <vt:lpstr>PowerPoint Presentation</vt:lpstr>
      <vt:lpstr>Operator Precedence</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1025</cp:revision>
  <cp:lastPrinted>2019-07-03T09:46:41Z</cp:lastPrinted>
  <dcterms:created xsi:type="dcterms:W3CDTF">2019-09-05T08:17:12Z</dcterms:created>
  <dcterms:modified xsi:type="dcterms:W3CDTF">2026-08-03T13:38:28Z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300</vt:r8>
  </property>
  <property fmtid="{D5CDD505-2E9C-101B-9397-08002B2CF9AE}" pid="3" name="Chapter">
    <vt:lpwstr>1</vt:lpwstr>
  </property>
  <property fmtid="{D5CDD505-2E9C-101B-9397-08002B2CF9AE}" pid="4" name="ContentTypeId">
    <vt:lpwstr>0x010100F0967B7CEE8D417F966757887D9466FB00B3EF5B1D149FDF49B1880C030D548140</vt:lpwstr>
  </property>
  <property fmtid="{D5CDD505-2E9C-101B-9397-08002B2CF9AE}" pid="5" name="BookType">
    <vt:lpwstr>7</vt:lpwstr>
  </property>
</Properties>
</file>