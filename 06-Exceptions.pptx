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39" saveSubsetFonts="1" autoCompressPictures="0">
  <p:sldMasterIdLst>
    <p:sldMasterId id="2147483648" r:id="rId4"/>
  </p:sldMasterIdLst>
  <p:notesMasterIdLst>
    <p:notesMasterId r:id="rId18"/>
  </p:notesMasterIdLst>
  <p:handoutMasterIdLst>
    <p:handoutMasterId r:id="rId19"/>
  </p:handoutMasterIdLst>
  <p:sldIdLst>
    <p:sldId id="462" r:id="rId5"/>
    <p:sldId id="775" r:id="rId6"/>
    <p:sldId id="776" r:id="rId7"/>
    <p:sldId id="777" r:id="rId8"/>
    <p:sldId id="778" r:id="rId9"/>
    <p:sldId id="779" r:id="rId10"/>
    <p:sldId id="780" r:id="rId11"/>
    <p:sldId id="781" r:id="rId12"/>
    <p:sldId id="782" r:id="rId13"/>
    <p:sldId id="784" r:id="rId14"/>
    <p:sldId id="788" r:id="rId15"/>
    <p:sldId id="789" r:id="rId16"/>
    <p:sldId id="790" r:id="rId17"/>
  </p:sldIdLst>
  <p:sldSz cx="12192000" cy="6858000"/>
  <p:notesSz cx="6645275" cy="9775825"/>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DE8BF54A-1323-4403-83F8-D7B5510C9D53}">
          <p14:sldIdLst>
            <p14:sldId id="462"/>
            <p14:sldId id="775"/>
            <p14:sldId id="776"/>
            <p14:sldId id="777"/>
            <p14:sldId id="778"/>
            <p14:sldId id="779"/>
            <p14:sldId id="780"/>
            <p14:sldId id="781"/>
            <p14:sldId id="782"/>
            <p14:sldId id="784"/>
            <p14:sldId id="788"/>
            <p14:sldId id="789"/>
            <p14:sldId id="790"/>
          </p14:sldIdLst>
        </p14:section>
      </p14:sectionLst>
    </p:ex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28CFF9"/>
    <a:srgbClr val="F91258"/>
    <a:srgbClr val="7E007C"/>
    <a:srgbClr val="F3622C"/>
    <a:srgbClr val="09EDB8"/>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05" autoAdjust="0"/>
    <p:restoredTop sz="75000" autoAdjust="0"/>
  </p:normalViewPr>
  <p:slideViewPr>
    <p:cSldViewPr snapToGrid="0" snapToObjects="1" showGuides="1">
      <p:cViewPr varScale="1">
        <p:scale>
          <a:sx n="75" d="100"/>
          <a:sy n="75" d="100"/>
        </p:scale>
        <p:origin x="54" y="294"/>
      </p:cViewPr>
      <p:guideLst>
        <p:guide pos="3840"/>
        <p:guide orient="horz" pos="3770"/>
      </p:guideLst>
    </p:cSldViewPr>
  </p:slideViewPr>
  <p:outlineViewPr>
    <p:cViewPr>
      <p:scale>
        <a:sx n="33" d="100"/>
        <a:sy n="33" d="100"/>
      </p:scale>
      <p:origin x="0" y="-3774"/>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76" d="100"/>
          <a:sy n="76" d="100"/>
        </p:scale>
        <p:origin x="322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3E8290-94B5-4F56-8375-3AFCFE4C785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B29320F-D142-4B95-95BF-C5397D4B5077}">
      <dgm:prSet custT="1"/>
      <dgm:spPr/>
      <dgm:t>
        <a:bodyPr/>
        <a:lstStyle/>
        <a:p>
          <a:r>
            <a:rPr lang="en-GB" sz="2000" b="1" dirty="0"/>
            <a:t> Don't only catch class Throwable or Exception</a:t>
          </a:r>
          <a:endParaRPr lang="en-US" sz="2000" dirty="0"/>
        </a:p>
      </dgm:t>
    </dgm:pt>
    <dgm:pt modelId="{0C1AD4D8-BFB6-46B4-B839-3A3130AE3457}" type="parTrans" cxnId="{75E04E1F-802B-4C66-807B-F73AA83ACC5D}">
      <dgm:prSet/>
      <dgm:spPr/>
      <dgm:t>
        <a:bodyPr/>
        <a:lstStyle/>
        <a:p>
          <a:endParaRPr lang="en-US" sz="1600"/>
        </a:p>
      </dgm:t>
    </dgm:pt>
    <dgm:pt modelId="{713C7398-785A-4D42-9C1E-40FB0B6F00C3}" type="sibTrans" cxnId="{75E04E1F-802B-4C66-807B-F73AA83ACC5D}">
      <dgm:prSet/>
      <dgm:spPr/>
      <dgm:t>
        <a:bodyPr/>
        <a:lstStyle/>
        <a:p>
          <a:endParaRPr lang="en-US" sz="1600"/>
        </a:p>
      </dgm:t>
    </dgm:pt>
    <dgm:pt modelId="{11379E39-3F5F-4D4D-9F29-73E3F7F07BE6}">
      <dgm:prSet custT="1"/>
      <dgm:spPr/>
      <dgm:t>
        <a:bodyPr/>
        <a:lstStyle/>
        <a:p>
          <a:r>
            <a:rPr lang="en-GB" sz="2000" b="1" dirty="0"/>
            <a:t> Don't try to catch every possible exception type</a:t>
          </a:r>
          <a:endParaRPr lang="en-US" sz="2000" dirty="0"/>
        </a:p>
      </dgm:t>
    </dgm:pt>
    <dgm:pt modelId="{1459950D-7C8B-4AE9-A482-CDB892B1DE5F}" type="parTrans" cxnId="{03BD39CC-0C3F-4E09-8582-1A7F404E0FF6}">
      <dgm:prSet/>
      <dgm:spPr/>
      <dgm:t>
        <a:bodyPr/>
        <a:lstStyle/>
        <a:p>
          <a:endParaRPr lang="en-US" sz="1600"/>
        </a:p>
      </dgm:t>
    </dgm:pt>
    <dgm:pt modelId="{9459D76B-9576-444B-BEA2-B74EDF50EB2D}" type="sibTrans" cxnId="{03BD39CC-0C3F-4E09-8582-1A7F404E0FF6}">
      <dgm:prSet/>
      <dgm:spPr/>
      <dgm:t>
        <a:bodyPr/>
        <a:lstStyle/>
        <a:p>
          <a:endParaRPr lang="en-US" sz="1600"/>
        </a:p>
      </dgm:t>
    </dgm:pt>
    <dgm:pt modelId="{B5F5F4C1-1A93-4D16-88A3-C8F7471BDAD3}">
      <dgm:prSet custT="1"/>
      <dgm:spPr/>
      <dgm:t>
        <a:bodyPr/>
        <a:lstStyle/>
        <a:p>
          <a:r>
            <a:rPr lang="en-GB" sz="1800"/>
            <a:t>Have a ‘final’ catch of Exception</a:t>
          </a:r>
          <a:endParaRPr lang="en-US" sz="1800"/>
        </a:p>
      </dgm:t>
    </dgm:pt>
    <dgm:pt modelId="{65B79385-BFE8-4499-954A-F862ADD7BF78}" type="parTrans" cxnId="{5F075C3D-BA6B-4C8A-95CE-0E36FD551102}">
      <dgm:prSet/>
      <dgm:spPr/>
      <dgm:t>
        <a:bodyPr/>
        <a:lstStyle/>
        <a:p>
          <a:endParaRPr lang="en-US" sz="1600"/>
        </a:p>
      </dgm:t>
    </dgm:pt>
    <dgm:pt modelId="{F07EF233-030C-4020-8C89-918CD1718732}" type="sibTrans" cxnId="{5F075C3D-BA6B-4C8A-95CE-0E36FD551102}">
      <dgm:prSet/>
      <dgm:spPr/>
      <dgm:t>
        <a:bodyPr/>
        <a:lstStyle/>
        <a:p>
          <a:endParaRPr lang="en-US" sz="1600"/>
        </a:p>
      </dgm:t>
    </dgm:pt>
    <dgm:pt modelId="{C9B05670-39D3-4BFD-996E-5B5F586F564D}">
      <dgm:prSet custT="1"/>
      <dgm:spPr/>
      <dgm:t>
        <a:bodyPr/>
        <a:lstStyle/>
        <a:p>
          <a:r>
            <a:rPr lang="en-GB" sz="2000" b="1" dirty="0"/>
            <a:t> Don't need try { } catch { } in every method</a:t>
          </a:r>
          <a:endParaRPr lang="en-US" sz="2000" dirty="0"/>
        </a:p>
      </dgm:t>
    </dgm:pt>
    <dgm:pt modelId="{7CD5CAE8-F2D8-46E5-99EB-FBEEDD7AA196}" type="parTrans" cxnId="{2E9D1277-C528-4B01-8CD6-3A9281D997C3}">
      <dgm:prSet/>
      <dgm:spPr/>
      <dgm:t>
        <a:bodyPr/>
        <a:lstStyle/>
        <a:p>
          <a:endParaRPr lang="en-US" sz="1600"/>
        </a:p>
      </dgm:t>
    </dgm:pt>
    <dgm:pt modelId="{B3429A7B-FAB2-4BF0-A2BF-98DBA434C7D1}" type="sibTrans" cxnId="{2E9D1277-C528-4B01-8CD6-3A9281D997C3}">
      <dgm:prSet/>
      <dgm:spPr/>
      <dgm:t>
        <a:bodyPr/>
        <a:lstStyle/>
        <a:p>
          <a:endParaRPr lang="en-US" sz="1600"/>
        </a:p>
      </dgm:t>
    </dgm:pt>
    <dgm:pt modelId="{183231BD-A59E-433A-A0FC-7689C0C05CC7}">
      <dgm:prSet custT="1"/>
      <dgm:spPr/>
      <dgm:t>
        <a:bodyPr/>
        <a:lstStyle/>
        <a:p>
          <a:r>
            <a:rPr lang="en-GB" sz="2000" b="1" dirty="0"/>
            <a:t> Use finally blocks to ensure resources freed</a:t>
          </a:r>
          <a:endParaRPr lang="en-US" sz="2000" dirty="0"/>
        </a:p>
      </dgm:t>
    </dgm:pt>
    <dgm:pt modelId="{84AF8EB9-71CF-446C-9E50-F99E8C4E6419}" type="parTrans" cxnId="{1FFA0F05-4260-4B73-9CDA-8F498E5258A7}">
      <dgm:prSet/>
      <dgm:spPr/>
      <dgm:t>
        <a:bodyPr/>
        <a:lstStyle/>
        <a:p>
          <a:endParaRPr lang="en-US" sz="1600"/>
        </a:p>
      </dgm:t>
    </dgm:pt>
    <dgm:pt modelId="{88387825-CE69-4334-9F68-AC5A114AABCE}" type="sibTrans" cxnId="{1FFA0F05-4260-4B73-9CDA-8F498E5258A7}">
      <dgm:prSet/>
      <dgm:spPr/>
      <dgm:t>
        <a:bodyPr/>
        <a:lstStyle/>
        <a:p>
          <a:endParaRPr lang="en-US" sz="1600"/>
        </a:p>
      </dgm:t>
    </dgm:pt>
    <dgm:pt modelId="{24950320-EC45-44DD-B0B6-377B8600C01E}">
      <dgm:prSet custT="1"/>
      <dgm:spPr/>
      <dgm:t>
        <a:bodyPr/>
        <a:lstStyle/>
        <a:p>
          <a:r>
            <a:rPr lang="en-GB" sz="2000" b="1" dirty="0"/>
            <a:t> Only use exceptions for </a:t>
          </a:r>
          <a:r>
            <a:rPr lang="en-GB" sz="2000" b="1" i="1" dirty="0"/>
            <a:t>exceptional </a:t>
          </a:r>
          <a:r>
            <a:rPr lang="en-GB" sz="2000" b="1" dirty="0"/>
            <a:t>circumstances</a:t>
          </a:r>
          <a:endParaRPr lang="en-US" sz="2000" dirty="0"/>
        </a:p>
      </dgm:t>
    </dgm:pt>
    <dgm:pt modelId="{CF7A2994-90AF-4665-A9B2-BE80690EBF73}" type="parTrans" cxnId="{7495FA02-9FEA-46D0-85E8-C5D6806BB3C3}">
      <dgm:prSet/>
      <dgm:spPr/>
      <dgm:t>
        <a:bodyPr/>
        <a:lstStyle/>
        <a:p>
          <a:endParaRPr lang="en-US" sz="1600"/>
        </a:p>
      </dgm:t>
    </dgm:pt>
    <dgm:pt modelId="{3E92FDC1-221C-40D4-A429-0E8DB96C8470}" type="sibTrans" cxnId="{7495FA02-9FEA-46D0-85E8-C5D6806BB3C3}">
      <dgm:prSet/>
      <dgm:spPr/>
      <dgm:t>
        <a:bodyPr/>
        <a:lstStyle/>
        <a:p>
          <a:endParaRPr lang="en-US" sz="1600"/>
        </a:p>
      </dgm:t>
    </dgm:pt>
    <dgm:pt modelId="{3DA14F1F-FF4B-40C0-9B32-6B67C32C5FCA}">
      <dgm:prSet custT="1"/>
      <dgm:spPr/>
      <dgm:t>
        <a:bodyPr/>
        <a:lstStyle/>
        <a:p>
          <a:r>
            <a:rPr lang="en-GB" sz="2000" b="1" dirty="0"/>
            <a:t> Be wary of just reporting back large error message</a:t>
          </a:r>
          <a:endParaRPr lang="en-US" sz="2000" dirty="0"/>
        </a:p>
      </dgm:t>
    </dgm:pt>
    <dgm:pt modelId="{21825F6F-816B-4169-9E2F-3562FCA1C026}" type="parTrans" cxnId="{FC002C8C-4558-4F1C-B8F4-5703F3A99824}">
      <dgm:prSet/>
      <dgm:spPr/>
      <dgm:t>
        <a:bodyPr/>
        <a:lstStyle/>
        <a:p>
          <a:endParaRPr lang="en-US" sz="1600"/>
        </a:p>
      </dgm:t>
    </dgm:pt>
    <dgm:pt modelId="{795251DF-7997-4FEF-BEFF-D3B055874993}" type="sibTrans" cxnId="{FC002C8C-4558-4F1C-B8F4-5703F3A99824}">
      <dgm:prSet/>
      <dgm:spPr/>
      <dgm:t>
        <a:bodyPr/>
        <a:lstStyle/>
        <a:p>
          <a:endParaRPr lang="en-US" sz="1600"/>
        </a:p>
      </dgm:t>
    </dgm:pt>
    <dgm:pt modelId="{E9100565-6168-4C0D-9707-155183C8AC78}">
      <dgm:prSet custT="1"/>
      <dgm:spPr/>
      <dgm:t>
        <a:bodyPr/>
        <a:lstStyle/>
        <a:p>
          <a:r>
            <a:rPr lang="en-GB" sz="1800"/>
            <a:t>Might contain system information</a:t>
          </a:r>
          <a:endParaRPr lang="en-US" sz="1800"/>
        </a:p>
      </dgm:t>
    </dgm:pt>
    <dgm:pt modelId="{BD546E04-5ED3-491F-A742-5E03A9DA4DA1}" type="parTrans" cxnId="{0B2373F2-0BCF-42D7-A93E-47357C5E40AF}">
      <dgm:prSet/>
      <dgm:spPr/>
      <dgm:t>
        <a:bodyPr/>
        <a:lstStyle/>
        <a:p>
          <a:endParaRPr lang="en-US" sz="1600"/>
        </a:p>
      </dgm:t>
    </dgm:pt>
    <dgm:pt modelId="{07FFB623-0441-4E1A-A6D1-D1164CCF47F1}" type="sibTrans" cxnId="{0B2373F2-0BCF-42D7-A93E-47357C5E40AF}">
      <dgm:prSet/>
      <dgm:spPr/>
      <dgm:t>
        <a:bodyPr/>
        <a:lstStyle/>
        <a:p>
          <a:endParaRPr lang="en-US" sz="1600"/>
        </a:p>
      </dgm:t>
    </dgm:pt>
    <dgm:pt modelId="{ED01A35E-A144-4A66-98FB-1B096EA4F8D9}">
      <dgm:prSet custT="1"/>
      <dgm:spPr/>
      <dgm:t>
        <a:bodyPr/>
        <a:lstStyle/>
        <a:p>
          <a:r>
            <a:rPr lang="en-GB" sz="1800"/>
            <a:t>Might be better with “Sorry, we couldn’t find those credentials”</a:t>
          </a:r>
          <a:endParaRPr lang="en-US" sz="1800"/>
        </a:p>
      </dgm:t>
    </dgm:pt>
    <dgm:pt modelId="{4A203F5A-1C2F-4817-9E99-08C1E0AE5514}" type="parTrans" cxnId="{693AD08D-5723-469A-8278-3A18411E7B17}">
      <dgm:prSet/>
      <dgm:spPr/>
      <dgm:t>
        <a:bodyPr/>
        <a:lstStyle/>
        <a:p>
          <a:endParaRPr lang="en-US" sz="1600"/>
        </a:p>
      </dgm:t>
    </dgm:pt>
    <dgm:pt modelId="{F29099F5-CBC9-4AA5-9692-311222DB55AA}" type="sibTrans" cxnId="{693AD08D-5723-469A-8278-3A18411E7B17}">
      <dgm:prSet/>
      <dgm:spPr/>
      <dgm:t>
        <a:bodyPr/>
        <a:lstStyle/>
        <a:p>
          <a:endParaRPr lang="en-US" sz="1600"/>
        </a:p>
      </dgm:t>
    </dgm:pt>
    <dgm:pt modelId="{77271835-0158-4A73-AF96-18261E89E70A}" type="pres">
      <dgm:prSet presAssocID="{943E8290-94B5-4F56-8375-3AFCFE4C785E}" presName="linear" presStyleCnt="0">
        <dgm:presLayoutVars>
          <dgm:animLvl val="lvl"/>
          <dgm:resizeHandles val="exact"/>
        </dgm:presLayoutVars>
      </dgm:prSet>
      <dgm:spPr/>
    </dgm:pt>
    <dgm:pt modelId="{9376FC5F-B815-4BF5-BC07-919B8AABEAB9}" type="pres">
      <dgm:prSet presAssocID="{6B29320F-D142-4B95-95BF-C5397D4B5077}" presName="parentText" presStyleLbl="node1" presStyleIdx="0" presStyleCnt="6">
        <dgm:presLayoutVars>
          <dgm:chMax val="0"/>
          <dgm:bulletEnabled val="1"/>
        </dgm:presLayoutVars>
      </dgm:prSet>
      <dgm:spPr/>
    </dgm:pt>
    <dgm:pt modelId="{33632C81-1409-4043-8871-471B9558C432}" type="pres">
      <dgm:prSet presAssocID="{713C7398-785A-4D42-9C1E-40FB0B6F00C3}" presName="spacer" presStyleCnt="0"/>
      <dgm:spPr/>
    </dgm:pt>
    <dgm:pt modelId="{21E196C1-0B54-4A4A-BD8A-8559DB28976D}" type="pres">
      <dgm:prSet presAssocID="{11379E39-3F5F-4D4D-9F29-73E3F7F07BE6}" presName="parentText" presStyleLbl="node1" presStyleIdx="1" presStyleCnt="6">
        <dgm:presLayoutVars>
          <dgm:chMax val="0"/>
          <dgm:bulletEnabled val="1"/>
        </dgm:presLayoutVars>
      </dgm:prSet>
      <dgm:spPr/>
    </dgm:pt>
    <dgm:pt modelId="{EDB9A94A-CBB3-43EE-8662-3227181321AA}" type="pres">
      <dgm:prSet presAssocID="{11379E39-3F5F-4D4D-9F29-73E3F7F07BE6}" presName="childText" presStyleLbl="revTx" presStyleIdx="0" presStyleCnt="2">
        <dgm:presLayoutVars>
          <dgm:bulletEnabled val="1"/>
        </dgm:presLayoutVars>
      </dgm:prSet>
      <dgm:spPr/>
    </dgm:pt>
    <dgm:pt modelId="{3296D735-166F-42D3-AB44-3025BAA3BD02}" type="pres">
      <dgm:prSet presAssocID="{C9B05670-39D3-4BFD-996E-5B5F586F564D}" presName="parentText" presStyleLbl="node1" presStyleIdx="2" presStyleCnt="6">
        <dgm:presLayoutVars>
          <dgm:chMax val="0"/>
          <dgm:bulletEnabled val="1"/>
        </dgm:presLayoutVars>
      </dgm:prSet>
      <dgm:spPr/>
    </dgm:pt>
    <dgm:pt modelId="{92F12BBA-0751-4E81-A9FA-56B234A20667}" type="pres">
      <dgm:prSet presAssocID="{B3429A7B-FAB2-4BF0-A2BF-98DBA434C7D1}" presName="spacer" presStyleCnt="0"/>
      <dgm:spPr/>
    </dgm:pt>
    <dgm:pt modelId="{1487D1D5-FFD4-40E6-85C3-98A65CED15CA}" type="pres">
      <dgm:prSet presAssocID="{183231BD-A59E-433A-A0FC-7689C0C05CC7}" presName="parentText" presStyleLbl="node1" presStyleIdx="3" presStyleCnt="6">
        <dgm:presLayoutVars>
          <dgm:chMax val="0"/>
          <dgm:bulletEnabled val="1"/>
        </dgm:presLayoutVars>
      </dgm:prSet>
      <dgm:spPr/>
    </dgm:pt>
    <dgm:pt modelId="{14BD0BFD-BBCD-4DC7-A079-94088875497B}" type="pres">
      <dgm:prSet presAssocID="{88387825-CE69-4334-9F68-AC5A114AABCE}" presName="spacer" presStyleCnt="0"/>
      <dgm:spPr/>
    </dgm:pt>
    <dgm:pt modelId="{4CF7B39D-C5CC-45FB-B3D1-91FE636F09C8}" type="pres">
      <dgm:prSet presAssocID="{24950320-EC45-44DD-B0B6-377B8600C01E}" presName="parentText" presStyleLbl="node1" presStyleIdx="4" presStyleCnt="6">
        <dgm:presLayoutVars>
          <dgm:chMax val="0"/>
          <dgm:bulletEnabled val="1"/>
        </dgm:presLayoutVars>
      </dgm:prSet>
      <dgm:spPr/>
    </dgm:pt>
    <dgm:pt modelId="{0DEF9EF0-D81A-4320-AA7B-52C0661B90F0}" type="pres">
      <dgm:prSet presAssocID="{3E92FDC1-221C-40D4-A429-0E8DB96C8470}" presName="spacer" presStyleCnt="0"/>
      <dgm:spPr/>
    </dgm:pt>
    <dgm:pt modelId="{D01C8B73-79C7-4672-852A-623BBDB2DD56}" type="pres">
      <dgm:prSet presAssocID="{3DA14F1F-FF4B-40C0-9B32-6B67C32C5FCA}" presName="parentText" presStyleLbl="node1" presStyleIdx="5" presStyleCnt="6">
        <dgm:presLayoutVars>
          <dgm:chMax val="0"/>
          <dgm:bulletEnabled val="1"/>
        </dgm:presLayoutVars>
      </dgm:prSet>
      <dgm:spPr/>
    </dgm:pt>
    <dgm:pt modelId="{312C1A64-D99F-474C-911D-3FAE7DBB60FE}" type="pres">
      <dgm:prSet presAssocID="{3DA14F1F-FF4B-40C0-9B32-6B67C32C5FCA}" presName="childText" presStyleLbl="revTx" presStyleIdx="1" presStyleCnt="2">
        <dgm:presLayoutVars>
          <dgm:bulletEnabled val="1"/>
        </dgm:presLayoutVars>
      </dgm:prSet>
      <dgm:spPr/>
    </dgm:pt>
  </dgm:ptLst>
  <dgm:cxnLst>
    <dgm:cxn modelId="{7495FA02-9FEA-46D0-85E8-C5D6806BB3C3}" srcId="{943E8290-94B5-4F56-8375-3AFCFE4C785E}" destId="{24950320-EC45-44DD-B0B6-377B8600C01E}" srcOrd="4" destOrd="0" parTransId="{CF7A2994-90AF-4665-A9B2-BE80690EBF73}" sibTransId="{3E92FDC1-221C-40D4-A429-0E8DB96C8470}"/>
    <dgm:cxn modelId="{1FFA0F05-4260-4B73-9CDA-8F498E5258A7}" srcId="{943E8290-94B5-4F56-8375-3AFCFE4C785E}" destId="{183231BD-A59E-433A-A0FC-7689C0C05CC7}" srcOrd="3" destOrd="0" parTransId="{84AF8EB9-71CF-446C-9E50-F99E8C4E6419}" sibTransId="{88387825-CE69-4334-9F68-AC5A114AABCE}"/>
    <dgm:cxn modelId="{4B62DC0A-E072-4CBE-BB47-69E268C7441F}" type="presOf" srcId="{C9B05670-39D3-4BFD-996E-5B5F586F564D}" destId="{3296D735-166F-42D3-AB44-3025BAA3BD02}" srcOrd="0" destOrd="0" presId="urn:microsoft.com/office/officeart/2005/8/layout/vList2"/>
    <dgm:cxn modelId="{75E04E1F-802B-4C66-807B-F73AA83ACC5D}" srcId="{943E8290-94B5-4F56-8375-3AFCFE4C785E}" destId="{6B29320F-D142-4B95-95BF-C5397D4B5077}" srcOrd="0" destOrd="0" parTransId="{0C1AD4D8-BFB6-46B4-B839-3A3130AE3457}" sibTransId="{713C7398-785A-4D42-9C1E-40FB0B6F00C3}"/>
    <dgm:cxn modelId="{5F075C3D-BA6B-4C8A-95CE-0E36FD551102}" srcId="{11379E39-3F5F-4D4D-9F29-73E3F7F07BE6}" destId="{B5F5F4C1-1A93-4D16-88A3-C8F7471BDAD3}" srcOrd="0" destOrd="0" parTransId="{65B79385-BFE8-4499-954A-F862ADD7BF78}" sibTransId="{F07EF233-030C-4020-8C89-918CD1718732}"/>
    <dgm:cxn modelId="{971CFF5E-1C08-411C-A4CE-78C84C5BE7B7}" type="presOf" srcId="{11379E39-3F5F-4D4D-9F29-73E3F7F07BE6}" destId="{21E196C1-0B54-4A4A-BD8A-8559DB28976D}" srcOrd="0" destOrd="0" presId="urn:microsoft.com/office/officeart/2005/8/layout/vList2"/>
    <dgm:cxn modelId="{637D3365-7293-4449-9BD3-356FBD443E90}" type="presOf" srcId="{183231BD-A59E-433A-A0FC-7689C0C05CC7}" destId="{1487D1D5-FFD4-40E6-85C3-98A65CED15CA}" srcOrd="0" destOrd="0" presId="urn:microsoft.com/office/officeart/2005/8/layout/vList2"/>
    <dgm:cxn modelId="{9765196A-6FC9-4252-9753-226B88F46B1F}" type="presOf" srcId="{943E8290-94B5-4F56-8375-3AFCFE4C785E}" destId="{77271835-0158-4A73-AF96-18261E89E70A}" srcOrd="0" destOrd="0" presId="urn:microsoft.com/office/officeart/2005/8/layout/vList2"/>
    <dgm:cxn modelId="{2E9D1277-C528-4B01-8CD6-3A9281D997C3}" srcId="{943E8290-94B5-4F56-8375-3AFCFE4C785E}" destId="{C9B05670-39D3-4BFD-996E-5B5F586F564D}" srcOrd="2" destOrd="0" parTransId="{7CD5CAE8-F2D8-46E5-99EB-FBEEDD7AA196}" sibTransId="{B3429A7B-FAB2-4BF0-A2BF-98DBA434C7D1}"/>
    <dgm:cxn modelId="{FC002C8C-4558-4F1C-B8F4-5703F3A99824}" srcId="{943E8290-94B5-4F56-8375-3AFCFE4C785E}" destId="{3DA14F1F-FF4B-40C0-9B32-6B67C32C5FCA}" srcOrd="5" destOrd="0" parTransId="{21825F6F-816B-4169-9E2F-3562FCA1C026}" sibTransId="{795251DF-7997-4FEF-BEFF-D3B055874993}"/>
    <dgm:cxn modelId="{693AD08D-5723-469A-8278-3A18411E7B17}" srcId="{3DA14F1F-FF4B-40C0-9B32-6B67C32C5FCA}" destId="{ED01A35E-A144-4A66-98FB-1B096EA4F8D9}" srcOrd="1" destOrd="0" parTransId="{4A203F5A-1C2F-4817-9E99-08C1E0AE5514}" sibTransId="{F29099F5-CBC9-4AA5-9692-311222DB55AA}"/>
    <dgm:cxn modelId="{4B3026B3-A2AF-4786-9642-E9125A1AB415}" type="presOf" srcId="{24950320-EC45-44DD-B0B6-377B8600C01E}" destId="{4CF7B39D-C5CC-45FB-B3D1-91FE636F09C8}" srcOrd="0" destOrd="0" presId="urn:microsoft.com/office/officeart/2005/8/layout/vList2"/>
    <dgm:cxn modelId="{411F3BCA-AE2E-4F46-B317-9A93DE025D51}" type="presOf" srcId="{3DA14F1F-FF4B-40C0-9B32-6B67C32C5FCA}" destId="{D01C8B73-79C7-4672-852A-623BBDB2DD56}" srcOrd="0" destOrd="0" presId="urn:microsoft.com/office/officeart/2005/8/layout/vList2"/>
    <dgm:cxn modelId="{03BD39CC-0C3F-4E09-8582-1A7F404E0FF6}" srcId="{943E8290-94B5-4F56-8375-3AFCFE4C785E}" destId="{11379E39-3F5F-4D4D-9F29-73E3F7F07BE6}" srcOrd="1" destOrd="0" parTransId="{1459950D-7C8B-4AE9-A482-CDB892B1DE5F}" sibTransId="{9459D76B-9576-444B-BEA2-B74EDF50EB2D}"/>
    <dgm:cxn modelId="{3B02BBD0-CECA-4A7D-A993-8F855055C126}" type="presOf" srcId="{ED01A35E-A144-4A66-98FB-1B096EA4F8D9}" destId="{312C1A64-D99F-474C-911D-3FAE7DBB60FE}" srcOrd="0" destOrd="1" presId="urn:microsoft.com/office/officeart/2005/8/layout/vList2"/>
    <dgm:cxn modelId="{C3A105D2-5E00-4FB2-9550-9110C8E3F617}" type="presOf" srcId="{E9100565-6168-4C0D-9707-155183C8AC78}" destId="{312C1A64-D99F-474C-911D-3FAE7DBB60FE}" srcOrd="0" destOrd="0" presId="urn:microsoft.com/office/officeart/2005/8/layout/vList2"/>
    <dgm:cxn modelId="{939773D8-0AF4-4047-9342-DE9035CBEE65}" type="presOf" srcId="{B5F5F4C1-1A93-4D16-88A3-C8F7471BDAD3}" destId="{EDB9A94A-CBB3-43EE-8662-3227181321AA}" srcOrd="0" destOrd="0" presId="urn:microsoft.com/office/officeart/2005/8/layout/vList2"/>
    <dgm:cxn modelId="{00467FD9-1405-42C2-856E-7A7D301BCA44}" type="presOf" srcId="{6B29320F-D142-4B95-95BF-C5397D4B5077}" destId="{9376FC5F-B815-4BF5-BC07-919B8AABEAB9}" srcOrd="0" destOrd="0" presId="urn:microsoft.com/office/officeart/2005/8/layout/vList2"/>
    <dgm:cxn modelId="{0B2373F2-0BCF-42D7-A93E-47357C5E40AF}" srcId="{3DA14F1F-FF4B-40C0-9B32-6B67C32C5FCA}" destId="{E9100565-6168-4C0D-9707-155183C8AC78}" srcOrd="0" destOrd="0" parTransId="{BD546E04-5ED3-491F-A742-5E03A9DA4DA1}" sibTransId="{07FFB623-0441-4E1A-A6D1-D1164CCF47F1}"/>
    <dgm:cxn modelId="{1B16E2AB-53DF-465F-9B61-024118CF54A4}" type="presParOf" srcId="{77271835-0158-4A73-AF96-18261E89E70A}" destId="{9376FC5F-B815-4BF5-BC07-919B8AABEAB9}" srcOrd="0" destOrd="0" presId="urn:microsoft.com/office/officeart/2005/8/layout/vList2"/>
    <dgm:cxn modelId="{95325004-75AF-4CB0-88A0-7795310EB122}" type="presParOf" srcId="{77271835-0158-4A73-AF96-18261E89E70A}" destId="{33632C81-1409-4043-8871-471B9558C432}" srcOrd="1" destOrd="0" presId="urn:microsoft.com/office/officeart/2005/8/layout/vList2"/>
    <dgm:cxn modelId="{4A01D25F-F9B4-409B-993B-32A446E89BB6}" type="presParOf" srcId="{77271835-0158-4A73-AF96-18261E89E70A}" destId="{21E196C1-0B54-4A4A-BD8A-8559DB28976D}" srcOrd="2" destOrd="0" presId="urn:microsoft.com/office/officeart/2005/8/layout/vList2"/>
    <dgm:cxn modelId="{A684ED54-7CE6-4914-BE31-94CAC221ED71}" type="presParOf" srcId="{77271835-0158-4A73-AF96-18261E89E70A}" destId="{EDB9A94A-CBB3-43EE-8662-3227181321AA}" srcOrd="3" destOrd="0" presId="urn:microsoft.com/office/officeart/2005/8/layout/vList2"/>
    <dgm:cxn modelId="{B6B24EE5-8ABB-4445-83BC-3C8511CD6D2B}" type="presParOf" srcId="{77271835-0158-4A73-AF96-18261E89E70A}" destId="{3296D735-166F-42D3-AB44-3025BAA3BD02}" srcOrd="4" destOrd="0" presId="urn:microsoft.com/office/officeart/2005/8/layout/vList2"/>
    <dgm:cxn modelId="{9900A25E-9DF6-4E2C-92BC-A8A9447C0394}" type="presParOf" srcId="{77271835-0158-4A73-AF96-18261E89E70A}" destId="{92F12BBA-0751-4E81-A9FA-56B234A20667}" srcOrd="5" destOrd="0" presId="urn:microsoft.com/office/officeart/2005/8/layout/vList2"/>
    <dgm:cxn modelId="{4C7D2989-615E-4D09-8FEA-7BCE3764466E}" type="presParOf" srcId="{77271835-0158-4A73-AF96-18261E89E70A}" destId="{1487D1D5-FFD4-40E6-85C3-98A65CED15CA}" srcOrd="6" destOrd="0" presId="urn:microsoft.com/office/officeart/2005/8/layout/vList2"/>
    <dgm:cxn modelId="{858AD4CA-CAE0-483B-A12F-0D3EB618CC91}" type="presParOf" srcId="{77271835-0158-4A73-AF96-18261E89E70A}" destId="{14BD0BFD-BBCD-4DC7-A079-94088875497B}" srcOrd="7" destOrd="0" presId="urn:microsoft.com/office/officeart/2005/8/layout/vList2"/>
    <dgm:cxn modelId="{E441A72D-D2DD-463B-8F12-D953CFE37515}" type="presParOf" srcId="{77271835-0158-4A73-AF96-18261E89E70A}" destId="{4CF7B39D-C5CC-45FB-B3D1-91FE636F09C8}" srcOrd="8" destOrd="0" presId="urn:microsoft.com/office/officeart/2005/8/layout/vList2"/>
    <dgm:cxn modelId="{22CAC0E5-36E8-438D-86A8-03FCE55B385D}" type="presParOf" srcId="{77271835-0158-4A73-AF96-18261E89E70A}" destId="{0DEF9EF0-D81A-4320-AA7B-52C0661B90F0}" srcOrd="9" destOrd="0" presId="urn:microsoft.com/office/officeart/2005/8/layout/vList2"/>
    <dgm:cxn modelId="{B0975CC1-1AC1-49FE-90A8-90D611C24DF0}" type="presParOf" srcId="{77271835-0158-4A73-AF96-18261E89E70A}" destId="{D01C8B73-79C7-4672-852A-623BBDB2DD56}" srcOrd="10" destOrd="0" presId="urn:microsoft.com/office/officeart/2005/8/layout/vList2"/>
    <dgm:cxn modelId="{CCE212D8-9EFE-4528-8CC2-2DFFFB6AA193}" type="presParOf" srcId="{77271835-0158-4A73-AF96-18261E89E70A}" destId="{312C1A64-D99F-474C-911D-3FAE7DBB60FE}" srcOrd="1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FA7BE4-2A98-4B02-9510-7EFAF39B32E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414C31-A7F2-410B-A8A2-2074AACF2012}">
      <dgm:prSet custT="1"/>
      <dgm:spPr/>
      <dgm:t>
        <a:bodyPr/>
        <a:lstStyle/>
        <a:p>
          <a:r>
            <a:rPr lang="en-GB" sz="2000" b="1" dirty="0"/>
            <a:t>    Working with exceptions</a:t>
          </a:r>
          <a:endParaRPr lang="en-US" sz="1600" b="1" dirty="0"/>
        </a:p>
      </dgm:t>
    </dgm:pt>
    <dgm:pt modelId="{A5537179-FFE8-4D37-888A-AAD3C607B1BB}" type="parTrans" cxnId="{B2BE5219-F392-4120-9C61-30B42EF09C07}">
      <dgm:prSet/>
      <dgm:spPr/>
      <dgm:t>
        <a:bodyPr/>
        <a:lstStyle/>
        <a:p>
          <a:endParaRPr lang="en-US"/>
        </a:p>
      </dgm:t>
    </dgm:pt>
    <dgm:pt modelId="{B8FF9BF0-3F09-4B40-9D20-AAFDA877092C}" type="sibTrans" cxnId="{B2BE5219-F392-4120-9C61-30B42EF09C07}">
      <dgm:prSet/>
      <dgm:spPr/>
      <dgm:t>
        <a:bodyPr/>
        <a:lstStyle/>
        <a:p>
          <a:endParaRPr lang="en-US"/>
        </a:p>
      </dgm:t>
    </dgm:pt>
    <dgm:pt modelId="{EB544CAE-C268-4556-8B77-B6AF41E0C214}">
      <dgm:prSet custT="1"/>
      <dgm:spPr/>
      <dgm:t>
        <a:bodyPr/>
        <a:lstStyle/>
        <a:p>
          <a:r>
            <a:rPr lang="en-GB" sz="2000" b="1" dirty="0"/>
            <a:t>Duration 30 minutes</a:t>
          </a:r>
          <a:endParaRPr lang="en-US" sz="2400" b="0" dirty="0"/>
        </a:p>
      </dgm:t>
    </dgm:pt>
    <dgm:pt modelId="{8EC46064-FB22-48BD-9157-CFB16DFAE2E9}" type="parTrans" cxnId="{789F647B-A22C-49B5-9CEE-CE24E198B80B}">
      <dgm:prSet/>
      <dgm:spPr/>
      <dgm:t>
        <a:bodyPr/>
        <a:lstStyle/>
        <a:p>
          <a:endParaRPr lang="en-US"/>
        </a:p>
      </dgm:t>
    </dgm:pt>
    <dgm:pt modelId="{780DEF43-8EED-459C-8DFA-982C494C12FB}" type="sibTrans" cxnId="{789F647B-A22C-49B5-9CEE-CE24E198B80B}">
      <dgm:prSet/>
      <dgm:spPr/>
      <dgm:t>
        <a:bodyPr/>
        <a:lstStyle/>
        <a:p>
          <a:endParaRPr lang="en-US"/>
        </a:p>
      </dgm:t>
    </dgm:pt>
    <dgm:pt modelId="{E7F6EAA9-1048-45E6-A143-4541D8903BDB}" type="pres">
      <dgm:prSet presAssocID="{D5FA7BE4-2A98-4B02-9510-7EFAF39B32EC}" presName="root" presStyleCnt="0">
        <dgm:presLayoutVars>
          <dgm:dir/>
          <dgm:resizeHandles val="exact"/>
        </dgm:presLayoutVars>
      </dgm:prSet>
      <dgm:spPr/>
    </dgm:pt>
    <dgm:pt modelId="{138C29D8-924F-4AA7-B9EB-12B62EF94A0A}" type="pres">
      <dgm:prSet presAssocID="{20414C31-A7F2-410B-A8A2-2074AACF2012}" presName="compNode" presStyleCnt="0"/>
      <dgm:spPr/>
    </dgm:pt>
    <dgm:pt modelId="{0F45E7EC-4823-4B41-8FB7-1517A5644CF2}" type="pres">
      <dgm:prSet presAssocID="{20414C31-A7F2-410B-A8A2-2074AACF2012}" presName="bgRect" presStyleLbl="bgShp" presStyleIdx="0" presStyleCnt="2"/>
      <dgm:spPr/>
    </dgm:pt>
    <dgm:pt modelId="{270C9F17-21DD-4C6B-B4A4-FC56789D82E8}" type="pres">
      <dgm:prSet presAssocID="{20414C31-A7F2-410B-A8A2-2074AACF201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5FA18B10-A546-407B-BFD4-81E437748BD0}" type="pres">
      <dgm:prSet presAssocID="{20414C31-A7F2-410B-A8A2-2074AACF2012}" presName="spaceRect" presStyleCnt="0"/>
      <dgm:spPr/>
    </dgm:pt>
    <dgm:pt modelId="{C656AC05-6F41-4032-BE1E-876234FB0335}" type="pres">
      <dgm:prSet presAssocID="{20414C31-A7F2-410B-A8A2-2074AACF2012}" presName="parTx" presStyleLbl="revTx" presStyleIdx="0" presStyleCnt="2" custScaleX="117685" custLinFactNeighborX="5708" custLinFactNeighborY="5955">
        <dgm:presLayoutVars>
          <dgm:chMax val="0"/>
          <dgm:chPref val="0"/>
        </dgm:presLayoutVars>
      </dgm:prSet>
      <dgm:spPr/>
    </dgm:pt>
    <dgm:pt modelId="{B015EF07-ED1F-4CB3-A3A7-4091453A6B41}" type="pres">
      <dgm:prSet presAssocID="{B8FF9BF0-3F09-4B40-9D20-AAFDA877092C}" presName="sibTrans" presStyleCnt="0"/>
      <dgm:spPr/>
    </dgm:pt>
    <dgm:pt modelId="{B64599BA-DCD9-4FCE-BDA8-FD048B6A3EEC}" type="pres">
      <dgm:prSet presAssocID="{EB544CAE-C268-4556-8B77-B6AF41E0C214}" presName="compNode" presStyleCnt="0"/>
      <dgm:spPr/>
    </dgm:pt>
    <dgm:pt modelId="{A30C6321-6940-4E9D-84D1-CFF719883A23}" type="pres">
      <dgm:prSet presAssocID="{EB544CAE-C268-4556-8B77-B6AF41E0C214}" presName="bgRect" presStyleLbl="bgShp" presStyleIdx="1" presStyleCnt="2" custLinFactNeighborX="984"/>
      <dgm:spPr/>
    </dgm:pt>
    <dgm:pt modelId="{319A5AB9-5146-4CC8-9B3C-F5994CAAC7CB}" type="pres">
      <dgm:prSet presAssocID="{EB544CAE-C268-4556-8B77-B6AF41E0C21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4C1BB512-F3BB-43EE-9CE4-9504E559D210}" type="pres">
      <dgm:prSet presAssocID="{EB544CAE-C268-4556-8B77-B6AF41E0C214}" presName="spaceRect" presStyleCnt="0"/>
      <dgm:spPr/>
    </dgm:pt>
    <dgm:pt modelId="{8D4A5A7B-430A-470B-97C9-2884B891E74A}" type="pres">
      <dgm:prSet presAssocID="{EB544CAE-C268-4556-8B77-B6AF41E0C214}" presName="parTx" presStyleLbl="revTx" presStyleIdx="1" presStyleCnt="2">
        <dgm:presLayoutVars>
          <dgm:chMax val="0"/>
          <dgm:chPref val="0"/>
        </dgm:presLayoutVars>
      </dgm:prSet>
      <dgm:spPr/>
    </dgm:pt>
  </dgm:ptLst>
  <dgm:cxnLst>
    <dgm:cxn modelId="{B2BE5219-F392-4120-9C61-30B42EF09C07}" srcId="{D5FA7BE4-2A98-4B02-9510-7EFAF39B32EC}" destId="{20414C31-A7F2-410B-A8A2-2074AACF2012}" srcOrd="0" destOrd="0" parTransId="{A5537179-FFE8-4D37-888A-AAD3C607B1BB}" sibTransId="{B8FF9BF0-3F09-4B40-9D20-AAFDA877092C}"/>
    <dgm:cxn modelId="{DE718C37-8600-413B-AF15-3D97C4D6915B}" type="presOf" srcId="{D5FA7BE4-2A98-4B02-9510-7EFAF39B32EC}" destId="{E7F6EAA9-1048-45E6-A143-4541D8903BDB}" srcOrd="0" destOrd="0" presId="urn:microsoft.com/office/officeart/2018/2/layout/IconVerticalSolidList"/>
    <dgm:cxn modelId="{AA353D44-1F2B-445F-A8FA-B054AA7F76A1}" type="presOf" srcId="{EB544CAE-C268-4556-8B77-B6AF41E0C214}" destId="{8D4A5A7B-430A-470B-97C9-2884B891E74A}" srcOrd="0" destOrd="0" presId="urn:microsoft.com/office/officeart/2018/2/layout/IconVerticalSolidList"/>
    <dgm:cxn modelId="{789F647B-A22C-49B5-9CEE-CE24E198B80B}" srcId="{D5FA7BE4-2A98-4B02-9510-7EFAF39B32EC}" destId="{EB544CAE-C268-4556-8B77-B6AF41E0C214}" srcOrd="1" destOrd="0" parTransId="{8EC46064-FB22-48BD-9157-CFB16DFAE2E9}" sibTransId="{780DEF43-8EED-459C-8DFA-982C494C12FB}"/>
    <dgm:cxn modelId="{6A9768A7-9C9B-48D1-AB31-0E5F79F0750F}" type="presOf" srcId="{20414C31-A7F2-410B-A8A2-2074AACF2012}" destId="{C656AC05-6F41-4032-BE1E-876234FB0335}" srcOrd="0" destOrd="0" presId="urn:microsoft.com/office/officeart/2018/2/layout/IconVerticalSolidList"/>
    <dgm:cxn modelId="{5F6091D2-572A-4521-85FF-AA8A6C29846A}" type="presParOf" srcId="{E7F6EAA9-1048-45E6-A143-4541D8903BDB}" destId="{138C29D8-924F-4AA7-B9EB-12B62EF94A0A}" srcOrd="0" destOrd="0" presId="urn:microsoft.com/office/officeart/2018/2/layout/IconVerticalSolidList"/>
    <dgm:cxn modelId="{3276DD5E-C0AC-416E-A4F0-BE554558219C}" type="presParOf" srcId="{138C29D8-924F-4AA7-B9EB-12B62EF94A0A}" destId="{0F45E7EC-4823-4B41-8FB7-1517A5644CF2}" srcOrd="0" destOrd="0" presId="urn:microsoft.com/office/officeart/2018/2/layout/IconVerticalSolidList"/>
    <dgm:cxn modelId="{3CB14AC9-56C7-4C8D-9EEC-6D5691F936C4}" type="presParOf" srcId="{138C29D8-924F-4AA7-B9EB-12B62EF94A0A}" destId="{270C9F17-21DD-4C6B-B4A4-FC56789D82E8}" srcOrd="1" destOrd="0" presId="urn:microsoft.com/office/officeart/2018/2/layout/IconVerticalSolidList"/>
    <dgm:cxn modelId="{45A74FE9-3B4D-4A63-B970-51D44F6CABF5}" type="presParOf" srcId="{138C29D8-924F-4AA7-B9EB-12B62EF94A0A}" destId="{5FA18B10-A546-407B-BFD4-81E437748BD0}" srcOrd="2" destOrd="0" presId="urn:microsoft.com/office/officeart/2018/2/layout/IconVerticalSolidList"/>
    <dgm:cxn modelId="{E2F7E5F7-6CEA-432E-8219-8FCD648DFDA8}" type="presParOf" srcId="{138C29D8-924F-4AA7-B9EB-12B62EF94A0A}" destId="{C656AC05-6F41-4032-BE1E-876234FB0335}" srcOrd="3" destOrd="0" presId="urn:microsoft.com/office/officeart/2018/2/layout/IconVerticalSolidList"/>
    <dgm:cxn modelId="{C808A7CC-51D3-4C33-AB31-554D1652DEF9}" type="presParOf" srcId="{E7F6EAA9-1048-45E6-A143-4541D8903BDB}" destId="{B015EF07-ED1F-4CB3-A3A7-4091453A6B41}" srcOrd="1" destOrd="0" presId="urn:microsoft.com/office/officeart/2018/2/layout/IconVerticalSolidList"/>
    <dgm:cxn modelId="{7EEBB25C-9CB6-4089-B7F2-A01D1B746529}" type="presParOf" srcId="{E7F6EAA9-1048-45E6-A143-4541D8903BDB}" destId="{B64599BA-DCD9-4FCE-BDA8-FD048B6A3EEC}" srcOrd="2" destOrd="0" presId="urn:microsoft.com/office/officeart/2018/2/layout/IconVerticalSolidList"/>
    <dgm:cxn modelId="{BCF9EA9A-3AF6-4AE0-B3A4-4CF6B7DFC6E3}" type="presParOf" srcId="{B64599BA-DCD9-4FCE-BDA8-FD048B6A3EEC}" destId="{A30C6321-6940-4E9D-84D1-CFF719883A23}" srcOrd="0" destOrd="0" presId="urn:microsoft.com/office/officeart/2018/2/layout/IconVerticalSolidList"/>
    <dgm:cxn modelId="{F5B506FF-2C7D-4561-98D7-6ED63318B9D2}" type="presParOf" srcId="{B64599BA-DCD9-4FCE-BDA8-FD048B6A3EEC}" destId="{319A5AB9-5146-4CC8-9B3C-F5994CAAC7CB}" srcOrd="1" destOrd="0" presId="urn:microsoft.com/office/officeart/2018/2/layout/IconVerticalSolidList"/>
    <dgm:cxn modelId="{35613772-D6C6-4C22-BE96-DFF63EB87521}" type="presParOf" srcId="{B64599BA-DCD9-4FCE-BDA8-FD048B6A3EEC}" destId="{4C1BB512-F3BB-43EE-9CE4-9504E559D210}" srcOrd="2" destOrd="0" presId="urn:microsoft.com/office/officeart/2018/2/layout/IconVerticalSolidList"/>
    <dgm:cxn modelId="{CAB38E2A-B608-4F65-AEA3-10BD6D672291}" type="presParOf" srcId="{B64599BA-DCD9-4FCE-BDA8-FD048B6A3EEC}" destId="{8D4A5A7B-430A-470B-97C9-2884B891E7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6FC5F-B815-4BF5-BC07-919B8AABEAB9}">
      <dsp:nvSpPr>
        <dsp:cNvPr id="0" name=""/>
        <dsp:cNvSpPr/>
      </dsp:nvSpPr>
      <dsp:spPr>
        <a:xfrm>
          <a:off x="0" y="68939"/>
          <a:ext cx="7931362" cy="561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 Don't only catch class Throwable or Exception</a:t>
          </a:r>
          <a:endParaRPr lang="en-US" sz="2000" kern="1200" dirty="0"/>
        </a:p>
      </dsp:txBody>
      <dsp:txXfrm>
        <a:off x="27415" y="96354"/>
        <a:ext cx="7876532" cy="506770"/>
      </dsp:txXfrm>
    </dsp:sp>
    <dsp:sp modelId="{21E196C1-0B54-4A4A-BD8A-8559DB28976D}">
      <dsp:nvSpPr>
        <dsp:cNvPr id="0" name=""/>
        <dsp:cNvSpPr/>
      </dsp:nvSpPr>
      <dsp:spPr>
        <a:xfrm>
          <a:off x="0" y="716939"/>
          <a:ext cx="7931362" cy="561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 Don't try to catch every possible exception type</a:t>
          </a:r>
          <a:endParaRPr lang="en-US" sz="2000" kern="1200" dirty="0"/>
        </a:p>
      </dsp:txBody>
      <dsp:txXfrm>
        <a:off x="27415" y="744354"/>
        <a:ext cx="7876532" cy="506770"/>
      </dsp:txXfrm>
    </dsp:sp>
    <dsp:sp modelId="{EDB9A94A-CBB3-43EE-8662-3227181321AA}">
      <dsp:nvSpPr>
        <dsp:cNvPr id="0" name=""/>
        <dsp:cNvSpPr/>
      </dsp:nvSpPr>
      <dsp:spPr>
        <a:xfrm>
          <a:off x="0" y="1278539"/>
          <a:ext cx="7931362" cy="49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182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GB" sz="1800" kern="1200"/>
            <a:t>Have a ‘final’ catch of Exception</a:t>
          </a:r>
          <a:endParaRPr lang="en-US" sz="1800" kern="1200"/>
        </a:p>
      </dsp:txBody>
      <dsp:txXfrm>
        <a:off x="0" y="1278539"/>
        <a:ext cx="7931362" cy="496800"/>
      </dsp:txXfrm>
    </dsp:sp>
    <dsp:sp modelId="{3296D735-166F-42D3-AB44-3025BAA3BD02}">
      <dsp:nvSpPr>
        <dsp:cNvPr id="0" name=""/>
        <dsp:cNvSpPr/>
      </dsp:nvSpPr>
      <dsp:spPr>
        <a:xfrm>
          <a:off x="0" y="1775339"/>
          <a:ext cx="7931362" cy="561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 Don't need try { } catch { } in every method</a:t>
          </a:r>
          <a:endParaRPr lang="en-US" sz="2000" kern="1200" dirty="0"/>
        </a:p>
      </dsp:txBody>
      <dsp:txXfrm>
        <a:off x="27415" y="1802754"/>
        <a:ext cx="7876532" cy="506770"/>
      </dsp:txXfrm>
    </dsp:sp>
    <dsp:sp modelId="{1487D1D5-FFD4-40E6-85C3-98A65CED15CA}">
      <dsp:nvSpPr>
        <dsp:cNvPr id="0" name=""/>
        <dsp:cNvSpPr/>
      </dsp:nvSpPr>
      <dsp:spPr>
        <a:xfrm>
          <a:off x="0" y="2423339"/>
          <a:ext cx="7931362" cy="561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 Use finally blocks to ensure resources freed</a:t>
          </a:r>
          <a:endParaRPr lang="en-US" sz="2000" kern="1200" dirty="0"/>
        </a:p>
      </dsp:txBody>
      <dsp:txXfrm>
        <a:off x="27415" y="2450754"/>
        <a:ext cx="7876532" cy="506770"/>
      </dsp:txXfrm>
    </dsp:sp>
    <dsp:sp modelId="{4CF7B39D-C5CC-45FB-B3D1-91FE636F09C8}">
      <dsp:nvSpPr>
        <dsp:cNvPr id="0" name=""/>
        <dsp:cNvSpPr/>
      </dsp:nvSpPr>
      <dsp:spPr>
        <a:xfrm>
          <a:off x="0" y="3071339"/>
          <a:ext cx="7931362" cy="561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 Only use exceptions for </a:t>
          </a:r>
          <a:r>
            <a:rPr lang="en-GB" sz="2000" b="1" i="1" kern="1200" dirty="0"/>
            <a:t>exceptional </a:t>
          </a:r>
          <a:r>
            <a:rPr lang="en-GB" sz="2000" b="1" kern="1200" dirty="0"/>
            <a:t>circumstances</a:t>
          </a:r>
          <a:endParaRPr lang="en-US" sz="2000" kern="1200" dirty="0"/>
        </a:p>
      </dsp:txBody>
      <dsp:txXfrm>
        <a:off x="27415" y="3098754"/>
        <a:ext cx="7876532" cy="506770"/>
      </dsp:txXfrm>
    </dsp:sp>
    <dsp:sp modelId="{D01C8B73-79C7-4672-852A-623BBDB2DD56}">
      <dsp:nvSpPr>
        <dsp:cNvPr id="0" name=""/>
        <dsp:cNvSpPr/>
      </dsp:nvSpPr>
      <dsp:spPr>
        <a:xfrm>
          <a:off x="0" y="3719339"/>
          <a:ext cx="7931362" cy="561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dirty="0"/>
            <a:t> Be wary of just reporting back large error message</a:t>
          </a:r>
          <a:endParaRPr lang="en-US" sz="2000" kern="1200" dirty="0"/>
        </a:p>
      </dsp:txBody>
      <dsp:txXfrm>
        <a:off x="27415" y="3746754"/>
        <a:ext cx="7876532" cy="506770"/>
      </dsp:txXfrm>
    </dsp:sp>
    <dsp:sp modelId="{312C1A64-D99F-474C-911D-3FAE7DBB60FE}">
      <dsp:nvSpPr>
        <dsp:cNvPr id="0" name=""/>
        <dsp:cNvSpPr/>
      </dsp:nvSpPr>
      <dsp:spPr>
        <a:xfrm>
          <a:off x="0" y="4280939"/>
          <a:ext cx="7931362" cy="605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182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GB" sz="1800" kern="1200"/>
            <a:t>Might contain system information</a:t>
          </a:r>
          <a:endParaRPr lang="en-US" sz="1800" kern="1200"/>
        </a:p>
        <a:p>
          <a:pPr marL="171450" lvl="1" indent="-171450" algn="l" defTabSz="800100">
            <a:lnSpc>
              <a:spcPct val="90000"/>
            </a:lnSpc>
            <a:spcBef>
              <a:spcPct val="0"/>
            </a:spcBef>
            <a:spcAft>
              <a:spcPct val="20000"/>
            </a:spcAft>
            <a:buChar char="•"/>
          </a:pPr>
          <a:r>
            <a:rPr lang="en-GB" sz="1800" kern="1200"/>
            <a:t>Might be better with “Sorry, we couldn’t find those credentials”</a:t>
          </a:r>
          <a:endParaRPr lang="en-US" sz="1800" kern="1200"/>
        </a:p>
      </dsp:txBody>
      <dsp:txXfrm>
        <a:off x="0" y="4280939"/>
        <a:ext cx="7931362" cy="6054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5E7EC-4823-4B41-8FB7-1517A5644CF2}">
      <dsp:nvSpPr>
        <dsp:cNvPr id="0" name=""/>
        <dsp:cNvSpPr/>
      </dsp:nvSpPr>
      <dsp:spPr>
        <a:xfrm>
          <a:off x="-231310" y="618168"/>
          <a:ext cx="6565582" cy="11276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C9F17-21DD-4C6B-B4A4-FC56789D82E8}">
      <dsp:nvSpPr>
        <dsp:cNvPr id="0" name=""/>
        <dsp:cNvSpPr/>
      </dsp:nvSpPr>
      <dsp:spPr>
        <a:xfrm>
          <a:off x="109802" y="871888"/>
          <a:ext cx="620205" cy="6202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56AC05-6F41-4032-BE1E-876234FB0335}">
      <dsp:nvSpPr>
        <dsp:cNvPr id="0" name=""/>
        <dsp:cNvSpPr/>
      </dsp:nvSpPr>
      <dsp:spPr>
        <a:xfrm>
          <a:off x="605952" y="685319"/>
          <a:ext cx="6190939" cy="112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343" tIns="119343" rIns="119343" bIns="119343" numCol="1" spcCol="1270" anchor="ctr" anchorCtr="0">
          <a:noAutofit/>
        </a:bodyPr>
        <a:lstStyle/>
        <a:p>
          <a:pPr marL="0" lvl="0" indent="0" algn="l" defTabSz="889000">
            <a:lnSpc>
              <a:spcPct val="90000"/>
            </a:lnSpc>
            <a:spcBef>
              <a:spcPct val="0"/>
            </a:spcBef>
            <a:spcAft>
              <a:spcPct val="35000"/>
            </a:spcAft>
            <a:buNone/>
          </a:pPr>
          <a:r>
            <a:rPr lang="en-GB" sz="2000" b="1" kern="1200" dirty="0"/>
            <a:t>    Working with exceptions</a:t>
          </a:r>
          <a:endParaRPr lang="en-US" sz="1600" b="1" kern="1200" dirty="0"/>
        </a:p>
      </dsp:txBody>
      <dsp:txXfrm>
        <a:off x="605952" y="685319"/>
        <a:ext cx="6190939" cy="1127646"/>
      </dsp:txXfrm>
    </dsp:sp>
    <dsp:sp modelId="{A30C6321-6940-4E9D-84D1-CFF719883A23}">
      <dsp:nvSpPr>
        <dsp:cNvPr id="0" name=""/>
        <dsp:cNvSpPr/>
      </dsp:nvSpPr>
      <dsp:spPr>
        <a:xfrm>
          <a:off x="-166705" y="2027726"/>
          <a:ext cx="6565582" cy="112764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A5AB9-5146-4CC8-9B3C-F5994CAAC7CB}">
      <dsp:nvSpPr>
        <dsp:cNvPr id="0" name=""/>
        <dsp:cNvSpPr/>
      </dsp:nvSpPr>
      <dsp:spPr>
        <a:xfrm>
          <a:off x="109802" y="2281447"/>
          <a:ext cx="620205" cy="6202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4A5A7B-430A-470B-97C9-2884B891E74A}">
      <dsp:nvSpPr>
        <dsp:cNvPr id="0" name=""/>
        <dsp:cNvSpPr/>
      </dsp:nvSpPr>
      <dsp:spPr>
        <a:xfrm>
          <a:off x="1071121" y="2027726"/>
          <a:ext cx="5260602" cy="1127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343" tIns="119343" rIns="119343" bIns="119343" numCol="1" spcCol="1270" anchor="ctr" anchorCtr="0">
          <a:noAutofit/>
        </a:bodyPr>
        <a:lstStyle/>
        <a:p>
          <a:pPr marL="0" lvl="0" indent="0" algn="l" defTabSz="889000">
            <a:lnSpc>
              <a:spcPct val="90000"/>
            </a:lnSpc>
            <a:spcBef>
              <a:spcPct val="0"/>
            </a:spcBef>
            <a:spcAft>
              <a:spcPct val="35000"/>
            </a:spcAft>
            <a:buNone/>
          </a:pPr>
          <a:r>
            <a:rPr lang="en-GB" sz="2000" b="1" kern="1200" dirty="0"/>
            <a:t>Duration 30 minutes</a:t>
          </a:r>
          <a:endParaRPr lang="en-US" sz="2400" b="0" kern="1200" dirty="0"/>
        </a:p>
      </dsp:txBody>
      <dsp:txXfrm>
        <a:off x="1071121" y="2027726"/>
        <a:ext cx="5260602" cy="11276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04/12/2025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04/12/2025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39</a:t>
            </a:fld>
            <a:endParaRPr lang="en-GB"/>
          </a:p>
        </p:txBody>
      </p:sp>
    </p:spTree>
    <p:extLst>
      <p:ext uri="{BB962C8B-B14F-4D97-AF65-F5344CB8AC3E}">
        <p14:creationId xmlns:p14="http://schemas.microsoft.com/office/powerpoint/2010/main" val="2613327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p:spPr>
        <p:txBody>
          <a:bodyPr/>
          <a:lstStyle/>
          <a:p>
            <a:endParaRPr lang="en-US"/>
          </a:p>
        </p:txBody>
      </p:sp>
      <p:sp>
        <p:nvSpPr>
          <p:cNvPr id="2" name="Slide Number Placeholder 1"/>
          <p:cNvSpPr>
            <a:spLocks noGrp="1"/>
          </p:cNvSpPr>
          <p:nvPr>
            <p:ph type="sldNum" sz="quarter" idx="10"/>
          </p:nvPr>
        </p:nvSpPr>
        <p:spPr/>
        <p:txBody>
          <a:bodyPr/>
          <a:lstStyle/>
          <a:p>
            <a:fld id="{548901C6-1DA1-FB44-ABEE-06A0FEB7738E}" type="slidenum">
              <a:rPr lang="en-GB" smtClean="0"/>
              <a:pPr/>
              <a:t>40</a:t>
            </a:fld>
            <a:endParaRPr lang="en-GB"/>
          </a:p>
        </p:txBody>
      </p:sp>
    </p:spTree>
    <p:extLst>
      <p:ext uri="{BB962C8B-B14F-4D97-AF65-F5344CB8AC3E}">
        <p14:creationId xmlns:p14="http://schemas.microsoft.com/office/powerpoint/2010/main" val="1259513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14300" marR="0" lvl="1" indent="0" algn="l" defTabSz="457200" rtl="0" eaLnBrk="0" fontAlgn="base" latinLnBrk="0" hangingPunct="0">
              <a:lnSpc>
                <a:spcPct val="100000"/>
              </a:lnSpc>
              <a:spcBef>
                <a:spcPts val="400"/>
              </a:spcBef>
              <a:spcAft>
                <a:spcPct val="0"/>
              </a:spcAft>
              <a:buClrTx/>
              <a:buSzPct val="100000"/>
              <a:buFont typeface="Times New Roman" pitchFamily="18" charset="0"/>
              <a:buNone/>
              <a:tabLst/>
              <a:defRPr/>
            </a:pPr>
            <a:r>
              <a:rPr kumimoji="0" lang="en-US" sz="1100" b="0" i="0" u="none" strike="noStrike" kern="1200" cap="none" spc="0" normalizeH="0" baseline="0" noProof="0" dirty="0">
                <a:ln>
                  <a:noFill/>
                </a:ln>
                <a:solidFill>
                  <a:srgbClr val="000000"/>
                </a:solidFill>
                <a:effectLst/>
                <a:uLnTx/>
                <a:uFillTx/>
                <a:latin typeface="Arial" charset="0"/>
                <a:cs typeface="+mn-cs"/>
              </a:rPr>
              <a:t>You might have produced this error whilst working on some of the course’s labs. A common coding error when using an array – out by one! Arrays are zero based (the first element is accessed as index value 0), so in an array like the one above that has seven elements, the last element is actually ages[6].</a:t>
            </a:r>
          </a:p>
          <a:p>
            <a:pPr marL="114300" marR="0" lvl="1" indent="0" algn="l" defTabSz="457200" rtl="0" eaLnBrk="0" fontAlgn="base" latinLnBrk="0" hangingPunct="0">
              <a:lnSpc>
                <a:spcPct val="100000"/>
              </a:lnSpc>
              <a:spcBef>
                <a:spcPts val="400"/>
              </a:spcBef>
              <a:spcAft>
                <a:spcPct val="0"/>
              </a:spcAft>
              <a:buClrTx/>
              <a:buSzPct val="100000"/>
              <a:buFont typeface="Times New Roman" pitchFamily="18" charset="0"/>
              <a:buNone/>
              <a:tabLst/>
              <a:defRPr/>
            </a:pPr>
            <a:r>
              <a:rPr kumimoji="0" lang="en-US" sz="1100" b="0" i="0" u="none" strike="noStrike" kern="1200" cap="none" spc="0" normalizeH="0" baseline="0" noProof="0" dirty="0">
                <a:ln>
                  <a:noFill/>
                </a:ln>
                <a:solidFill>
                  <a:srgbClr val="000000"/>
                </a:solidFill>
                <a:effectLst/>
                <a:uLnTx/>
                <a:uFillTx/>
                <a:latin typeface="Arial" charset="0"/>
                <a:cs typeface="+mn-cs"/>
              </a:rPr>
              <a:t>ages[7] tries to access an element that does not exist and Java responds to this coding mistake by printing the text shown in the console. </a:t>
            </a:r>
          </a:p>
          <a:p>
            <a:endParaRPr lang="en-GB" dirty="0"/>
          </a:p>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41</a:t>
            </a:fld>
            <a:endParaRPr lang="en-GB"/>
          </a:p>
        </p:txBody>
      </p:sp>
    </p:spTree>
    <p:extLst>
      <p:ext uri="{BB962C8B-B14F-4D97-AF65-F5344CB8AC3E}">
        <p14:creationId xmlns:p14="http://schemas.microsoft.com/office/powerpoint/2010/main" val="1194034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48901C6-1DA1-FB44-ABEE-06A0FEB7738E}" type="slidenum">
              <a:rPr lang="en-GB" smtClean="0"/>
              <a:pPr/>
              <a:t>42</a:t>
            </a:fld>
            <a:endParaRPr lang="en-GB"/>
          </a:p>
        </p:txBody>
      </p:sp>
    </p:spTree>
    <p:extLst>
      <p:ext uri="{BB962C8B-B14F-4D97-AF65-F5344CB8AC3E}">
        <p14:creationId xmlns:p14="http://schemas.microsoft.com/office/powerpoint/2010/main" val="197569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GB" dirty="0"/>
              <a:t>There are two types that extend </a:t>
            </a:r>
            <a:r>
              <a:rPr lang="en-GB" dirty="0" err="1"/>
              <a:t>Throwable</a:t>
            </a:r>
            <a:r>
              <a:rPr lang="en-GB" dirty="0"/>
              <a:t>: class Error</a:t>
            </a:r>
            <a:r>
              <a:rPr lang="en-GB" baseline="0" dirty="0"/>
              <a:t> and class Exception.</a:t>
            </a:r>
          </a:p>
          <a:p>
            <a:r>
              <a:rPr lang="en-GB" baseline="0" dirty="0"/>
              <a:t>Errors are unrecoverable, abnormal situations. The compiler can’t and doesn’t check for whether you are ‘handling’ them. Most programs would never contain a catch(Error e) clause.</a:t>
            </a:r>
            <a:br>
              <a:rPr lang="en-GB" baseline="0" dirty="0"/>
            </a:br>
            <a:r>
              <a:rPr lang="en-GB" baseline="0" dirty="0"/>
              <a:t>There are two sorts of Exceptions: checked and unchecked.</a:t>
            </a:r>
            <a:br>
              <a:rPr lang="en-GB" baseline="0" dirty="0"/>
            </a:br>
            <a:r>
              <a:rPr lang="en-GB" baseline="0" dirty="0"/>
              <a:t>The compiler is able to and does confirm that you are addressing the handling of checked exceptions.</a:t>
            </a:r>
            <a:br>
              <a:rPr lang="en-GB" baseline="0" dirty="0"/>
            </a:br>
            <a:r>
              <a:rPr lang="en-GB" baseline="0" dirty="0"/>
              <a:t>It knows which exception types are ‘checked exceptions’ and your code does not compile without a catch of them.</a:t>
            </a:r>
            <a:br>
              <a:rPr lang="en-GB" baseline="0" dirty="0"/>
            </a:br>
            <a:r>
              <a:rPr lang="en-GB" baseline="0" dirty="0"/>
              <a:t>But there is a slightly confusing definition that can ‘throw’ people at first.</a:t>
            </a:r>
            <a:br>
              <a:rPr lang="en-GB" baseline="0" dirty="0"/>
            </a:br>
            <a:r>
              <a:rPr lang="en-GB" baseline="0" dirty="0"/>
              <a:t>There is a class called </a:t>
            </a:r>
            <a:r>
              <a:rPr lang="en-GB" baseline="0" dirty="0" err="1"/>
              <a:t>RuntimeException</a:t>
            </a:r>
            <a:r>
              <a:rPr lang="en-GB" baseline="0" dirty="0"/>
              <a:t>. Anything that derives from it, whether written as part of the framework (like </a:t>
            </a:r>
            <a:r>
              <a:rPr lang="en-GB" baseline="0" dirty="0" err="1"/>
              <a:t>ArrayIndexOutOfBoundsException</a:t>
            </a:r>
            <a:r>
              <a:rPr lang="en-GB" baseline="0" dirty="0"/>
              <a:t>) or by you, is an unchecked exception. You don’t catch them, they are avoidable. You pick them up in your testing and then go and improve your code.</a:t>
            </a:r>
            <a:br>
              <a:rPr lang="en-GB" baseline="0" dirty="0"/>
            </a:br>
            <a:r>
              <a:rPr lang="en-GB" baseline="0" dirty="0" err="1"/>
              <a:t>CheckedExceptions</a:t>
            </a:r>
            <a:r>
              <a:rPr lang="en-GB" baseline="0" dirty="0"/>
              <a:t> (like </a:t>
            </a:r>
            <a:r>
              <a:rPr lang="en-GB" baseline="0" dirty="0" err="1"/>
              <a:t>IOException</a:t>
            </a:r>
            <a:r>
              <a:rPr lang="en-GB" baseline="0" dirty="0"/>
              <a:t>, </a:t>
            </a:r>
            <a:r>
              <a:rPr lang="en-GB" baseline="0" dirty="0" err="1"/>
              <a:t>SQLException</a:t>
            </a:r>
            <a:r>
              <a:rPr lang="en-GB" baseline="0" dirty="0"/>
              <a:t> etc.) are all classes which derive from Exception, but DO NOT derive from </a:t>
            </a:r>
            <a:r>
              <a:rPr lang="en-GB" baseline="0" dirty="0" err="1"/>
              <a:t>RuntimeException</a:t>
            </a:r>
            <a:r>
              <a:rPr lang="en-GB" baseline="0" dirty="0"/>
              <a:t>.</a:t>
            </a:r>
            <a:br>
              <a:rPr lang="en-GB" baseline="0" dirty="0"/>
            </a:br>
            <a:r>
              <a:rPr lang="en-GB" baseline="0" dirty="0"/>
              <a:t>What often throws people is that there is no class called </a:t>
            </a:r>
            <a:r>
              <a:rPr lang="en-GB" baseline="0" dirty="0" err="1"/>
              <a:t>CheckedException</a:t>
            </a:r>
            <a:r>
              <a:rPr lang="en-GB" baseline="0" dirty="0"/>
              <a:t>!</a:t>
            </a:r>
          </a:p>
          <a:p>
            <a:r>
              <a:rPr lang="en-GB" baseline="0" dirty="0"/>
              <a:t>‘Potential’ checked exceptions can be observed by the compiler and it ensures you have coded to deal with them.</a:t>
            </a:r>
            <a:br>
              <a:rPr lang="en-GB" baseline="0" dirty="0"/>
            </a:br>
            <a:r>
              <a:rPr lang="en-GB" baseline="0" dirty="0"/>
              <a:t>Also remember that although some exception types derive from </a:t>
            </a:r>
            <a:r>
              <a:rPr lang="en-GB" baseline="0" dirty="0" err="1"/>
              <a:t>RuntimeException</a:t>
            </a:r>
            <a:r>
              <a:rPr lang="en-GB" baseline="0" dirty="0"/>
              <a:t> and some don’t that they all happen </a:t>
            </a:r>
            <a:r>
              <a:rPr lang="en-GB" b="1" baseline="0" dirty="0"/>
              <a:t>at Runtime</a:t>
            </a:r>
            <a:r>
              <a:rPr lang="en-GB" baseline="0" dirty="0"/>
              <a:t>!</a:t>
            </a:r>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43</a:t>
            </a:fld>
            <a:endParaRPr lang="en-GB"/>
          </a:p>
        </p:txBody>
      </p:sp>
    </p:spTree>
    <p:extLst>
      <p:ext uri="{BB962C8B-B14F-4D97-AF65-F5344CB8AC3E}">
        <p14:creationId xmlns:p14="http://schemas.microsoft.com/office/powerpoint/2010/main" val="4265225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48901C6-1DA1-FB44-ABEE-06A0FEB7738E}" type="slidenum">
              <a:rPr lang="en-GB" smtClean="0"/>
              <a:pPr/>
              <a:t>44</a:t>
            </a:fld>
            <a:endParaRPr lang="en-GB"/>
          </a:p>
        </p:txBody>
      </p:sp>
    </p:spTree>
    <p:extLst>
      <p:ext uri="{BB962C8B-B14F-4D97-AF65-F5344CB8AC3E}">
        <p14:creationId xmlns:p14="http://schemas.microsoft.com/office/powerpoint/2010/main" val="2175548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14300" marR="0" lvl="1" indent="0" algn="l" defTabSz="457200" rtl="0" eaLnBrk="0" fontAlgn="base" latinLnBrk="0" hangingPunct="0">
              <a:lnSpc>
                <a:spcPct val="100000"/>
              </a:lnSpc>
              <a:spcBef>
                <a:spcPts val="400"/>
              </a:spcBef>
              <a:spcAft>
                <a:spcPct val="0"/>
              </a:spcAft>
              <a:buClrTx/>
              <a:buSzPct val="100000"/>
              <a:buFont typeface="Times New Roman" pitchFamily="18" charset="0"/>
              <a:buNone/>
              <a:tabLst/>
              <a:defRPr/>
            </a:pPr>
            <a:r>
              <a:rPr kumimoji="0" lang="en-US" sz="1100" b="0" i="0" u="none" strike="noStrike" kern="1200" cap="none" spc="0" normalizeH="0" baseline="0" noProof="0" dirty="0">
                <a:ln>
                  <a:noFill/>
                </a:ln>
                <a:solidFill>
                  <a:srgbClr val="000000"/>
                </a:solidFill>
                <a:effectLst/>
                <a:uLnTx/>
                <a:uFillTx/>
                <a:latin typeface="Arial" charset="0"/>
                <a:cs typeface="+mn-cs"/>
              </a:rPr>
              <a:t>Here is a similar example, except this time the code that creates the array and tries to assign a value to a nonexistent element has been moved to a different method. The error message in the console is almost identical to the previous example, but this time both the methods </a:t>
            </a:r>
            <a:r>
              <a:rPr kumimoji="0" lang="en-US" sz="1100" b="0" i="0" u="none" strike="noStrike" kern="1200" cap="none" spc="0" normalizeH="0" baseline="0" noProof="0" dirty="0">
                <a:ln>
                  <a:noFill/>
                </a:ln>
                <a:solidFill>
                  <a:srgbClr val="000000"/>
                </a:solidFill>
                <a:effectLst/>
                <a:uLnTx/>
                <a:uFillTx/>
              </a:rPr>
              <a:t>main() and </a:t>
            </a:r>
            <a:r>
              <a:rPr kumimoji="0" lang="en-US" sz="1100" b="0" i="0" u="none" strike="noStrike" kern="1200" cap="none" spc="0" normalizeH="0" baseline="0" noProof="0" dirty="0" err="1">
                <a:ln>
                  <a:noFill/>
                </a:ln>
                <a:solidFill>
                  <a:srgbClr val="000000"/>
                </a:solidFill>
                <a:effectLst/>
                <a:uLnTx/>
                <a:uFillTx/>
              </a:rPr>
              <a:t>processAges</a:t>
            </a:r>
            <a:r>
              <a:rPr kumimoji="0" lang="en-US" sz="1100" b="0" i="0" u="none" strike="noStrike" kern="1200" cap="none" spc="0" normalizeH="0" baseline="0" noProof="0" dirty="0">
                <a:ln>
                  <a:noFill/>
                </a:ln>
                <a:solidFill>
                  <a:srgbClr val="000000"/>
                </a:solidFill>
                <a:effectLst/>
                <a:uLnTx/>
                <a:uFillTx/>
              </a:rPr>
              <a:t>() are listed.</a:t>
            </a:r>
          </a:p>
          <a:p>
            <a:pPr marL="114300" marR="0" lvl="1" indent="0" algn="l" defTabSz="457200" rtl="0" eaLnBrk="0" fontAlgn="base" latinLnBrk="0" hangingPunct="0">
              <a:lnSpc>
                <a:spcPct val="100000"/>
              </a:lnSpc>
              <a:spcBef>
                <a:spcPts val="400"/>
              </a:spcBef>
              <a:spcAft>
                <a:spcPct val="0"/>
              </a:spcAft>
              <a:buClrTx/>
              <a:buSzPct val="100000"/>
              <a:buFont typeface="Times New Roman" pitchFamily="18" charset="0"/>
              <a:buNone/>
              <a:tabLst/>
              <a:defRPr/>
            </a:pPr>
            <a:endParaRPr kumimoji="0" lang="en-US" sz="1100" b="0" i="0" u="none" strike="noStrike" kern="1200" cap="none" spc="0" normalizeH="0" baseline="0" noProof="0" dirty="0">
              <a:ln>
                <a:noFill/>
              </a:ln>
              <a:solidFill>
                <a:srgbClr val="000000"/>
              </a:solidFill>
              <a:effectLst/>
              <a:uLnTx/>
              <a:uFillTx/>
            </a:endParaRPr>
          </a:p>
          <a:p>
            <a:pPr marL="114300" marR="0" lvl="1" indent="0" algn="l" defTabSz="457200" rtl="0" eaLnBrk="0" fontAlgn="base" latinLnBrk="0" hangingPunct="0">
              <a:lnSpc>
                <a:spcPct val="100000"/>
              </a:lnSpc>
              <a:spcBef>
                <a:spcPts val="400"/>
              </a:spcBef>
              <a:spcAft>
                <a:spcPct val="0"/>
              </a:spcAft>
              <a:buClrTx/>
              <a:buSzPct val="100000"/>
              <a:buFont typeface="Times New Roman" pitchFamily="18" charset="0"/>
              <a:buNone/>
              <a:tabLst/>
              <a:defRPr/>
            </a:pPr>
            <a:r>
              <a:rPr kumimoji="0" lang="en-US" sz="1100" b="0" i="0" u="none" strike="noStrike" kern="1200" cap="none" spc="0" normalizeH="0" baseline="0" noProof="0" dirty="0">
                <a:ln>
                  <a:noFill/>
                </a:ln>
                <a:solidFill>
                  <a:srgbClr val="000000"/>
                </a:solidFill>
                <a:effectLst/>
                <a:uLnTx/>
                <a:uFillTx/>
              </a:rPr>
              <a:t>Exception in thread "main" </a:t>
            </a:r>
            <a:r>
              <a:rPr kumimoji="0" lang="en-US" sz="1100" b="0" i="0" u="none" strike="noStrike" kern="1200" cap="none" spc="0" normalizeH="0" baseline="0" noProof="0" dirty="0" err="1">
                <a:ln>
                  <a:noFill/>
                </a:ln>
                <a:solidFill>
                  <a:srgbClr val="000000"/>
                </a:solidFill>
                <a:effectLst/>
                <a:uLnTx/>
                <a:uFillTx/>
              </a:rPr>
              <a:t>java.lang.ArrayIndexOutOfBoundsException</a:t>
            </a:r>
            <a:r>
              <a:rPr kumimoji="0" lang="en-US" sz="1100" b="0" i="0" u="none" strike="noStrike" kern="1200" cap="none" spc="0" normalizeH="0" baseline="0" noProof="0" dirty="0">
                <a:ln>
                  <a:noFill/>
                </a:ln>
                <a:solidFill>
                  <a:srgbClr val="000000"/>
                </a:solidFill>
                <a:effectLst/>
                <a:uLnTx/>
                <a:uFillTx/>
              </a:rPr>
              <a:t>: 7</a:t>
            </a:r>
          </a:p>
          <a:p>
            <a:pPr marL="114300" marR="0" lvl="1" indent="0" algn="l" defTabSz="457200" rtl="0" eaLnBrk="0" fontAlgn="base" latinLnBrk="0" hangingPunct="0">
              <a:lnSpc>
                <a:spcPct val="100000"/>
              </a:lnSpc>
              <a:spcBef>
                <a:spcPts val="400"/>
              </a:spcBef>
              <a:spcAft>
                <a:spcPct val="0"/>
              </a:spcAft>
              <a:buClrTx/>
              <a:buSzPct val="100000"/>
              <a:buFont typeface="Times New Roman" pitchFamily="18" charset="0"/>
              <a:buNone/>
              <a:tabLst/>
              <a:defRPr/>
            </a:pPr>
            <a:r>
              <a:rPr kumimoji="0" lang="en-US" sz="1100" b="0" i="0" u="none" strike="noStrike" kern="1200" cap="none" spc="0" normalizeH="0" baseline="0" noProof="0" dirty="0">
                <a:ln>
                  <a:noFill/>
                </a:ln>
                <a:solidFill>
                  <a:srgbClr val="000000"/>
                </a:solidFill>
                <a:effectLst/>
                <a:uLnTx/>
                <a:uFillTx/>
              </a:rPr>
              <a:t>	at </a:t>
            </a:r>
            <a:r>
              <a:rPr kumimoji="0" lang="en-US" sz="1100" b="0" i="0" u="none" strike="noStrike" kern="1200" cap="none" spc="0" normalizeH="0" baseline="0" noProof="0" dirty="0" err="1">
                <a:ln>
                  <a:noFill/>
                </a:ln>
                <a:solidFill>
                  <a:srgbClr val="000000"/>
                </a:solidFill>
                <a:effectLst/>
                <a:uLnTx/>
                <a:uFillTx/>
              </a:rPr>
              <a:t>TestError.processAges</a:t>
            </a:r>
            <a:r>
              <a:rPr kumimoji="0" lang="en-US" sz="1100" b="0" i="0" u="none" strike="noStrike" kern="1200" cap="none" spc="0" normalizeH="0" baseline="0" noProof="0" dirty="0">
                <a:ln>
                  <a:noFill/>
                </a:ln>
                <a:solidFill>
                  <a:srgbClr val="000000"/>
                </a:solidFill>
                <a:effectLst/>
                <a:uLnTx/>
                <a:uFillTx/>
              </a:rPr>
              <a:t>(TestError.java:15)</a:t>
            </a:r>
          </a:p>
          <a:p>
            <a:pPr marL="114300" marR="0" lvl="1" indent="0" algn="l" defTabSz="457200" rtl="0" eaLnBrk="0" fontAlgn="base" latinLnBrk="0" hangingPunct="0">
              <a:lnSpc>
                <a:spcPct val="100000"/>
              </a:lnSpc>
              <a:spcBef>
                <a:spcPts val="400"/>
              </a:spcBef>
              <a:spcAft>
                <a:spcPct val="0"/>
              </a:spcAft>
              <a:buClrTx/>
              <a:buSzPct val="100000"/>
              <a:buFont typeface="Times New Roman" pitchFamily="18" charset="0"/>
              <a:buNone/>
              <a:tabLst/>
              <a:defRPr/>
            </a:pPr>
            <a:r>
              <a:rPr kumimoji="0" lang="en-US" sz="1100" b="0" i="0" u="none" strike="noStrike" kern="1200" cap="none" spc="0" normalizeH="0" baseline="0" noProof="0" dirty="0">
                <a:ln>
                  <a:noFill/>
                </a:ln>
                <a:solidFill>
                  <a:srgbClr val="000000"/>
                </a:solidFill>
                <a:effectLst/>
                <a:uLnTx/>
                <a:uFillTx/>
              </a:rPr>
              <a:t>	at </a:t>
            </a:r>
            <a:r>
              <a:rPr kumimoji="0" lang="en-US" sz="1100" b="0" i="0" u="none" strike="noStrike" kern="1200" cap="none" spc="0" normalizeH="0" baseline="0" noProof="0" dirty="0" err="1">
                <a:ln>
                  <a:noFill/>
                </a:ln>
                <a:solidFill>
                  <a:srgbClr val="000000"/>
                </a:solidFill>
                <a:effectLst/>
                <a:uLnTx/>
                <a:uFillTx/>
              </a:rPr>
              <a:t>TestError.main</a:t>
            </a:r>
            <a:r>
              <a:rPr kumimoji="0" lang="en-US" sz="1100" b="0" i="0" u="none" strike="noStrike" kern="1200" cap="none" spc="0" normalizeH="0" baseline="0" noProof="0" dirty="0">
                <a:ln>
                  <a:noFill/>
                </a:ln>
                <a:solidFill>
                  <a:srgbClr val="000000"/>
                </a:solidFill>
                <a:effectLst/>
                <a:uLnTx/>
                <a:uFillTx/>
              </a:rPr>
              <a:t>(TestError.java:8)</a:t>
            </a:r>
          </a:p>
          <a:p>
            <a:pPr marL="114300" marR="0" lvl="1" indent="0" algn="l" defTabSz="457200" rtl="0" eaLnBrk="0" fontAlgn="base" latinLnBrk="0" hangingPunct="0">
              <a:lnSpc>
                <a:spcPct val="100000"/>
              </a:lnSpc>
              <a:spcBef>
                <a:spcPts val="400"/>
              </a:spcBef>
              <a:spcAft>
                <a:spcPct val="0"/>
              </a:spcAft>
              <a:buClrTx/>
              <a:buSzPct val="100000"/>
              <a:buFont typeface="Times New Roman" pitchFamily="18" charset="0"/>
              <a:buNone/>
              <a:tabLst/>
              <a:defRPr/>
            </a:pPr>
            <a:endParaRPr kumimoji="0" lang="en-US" sz="1100" b="0" i="0" u="none" strike="noStrike" kern="1200" cap="none" spc="0" normalizeH="0" baseline="0" noProof="0" dirty="0">
              <a:ln>
                <a:noFill/>
              </a:ln>
              <a:solidFill>
                <a:srgbClr val="000000"/>
              </a:solidFill>
              <a:effectLst/>
              <a:uLnTx/>
              <a:uFillTx/>
              <a:latin typeface="Courier New" pitchFamily="49" charset="0"/>
              <a:cs typeface="Courier New" pitchFamily="49" charset="0"/>
            </a:endParaRPr>
          </a:p>
          <a:p>
            <a:pPr marL="114300" marR="0" lvl="1" indent="0" algn="l" defTabSz="457200" rtl="0" eaLnBrk="0" fontAlgn="base" latinLnBrk="0" hangingPunct="0">
              <a:lnSpc>
                <a:spcPct val="100000"/>
              </a:lnSpc>
              <a:spcBef>
                <a:spcPts val="400"/>
              </a:spcBef>
              <a:spcAft>
                <a:spcPct val="0"/>
              </a:spcAft>
              <a:buClrTx/>
              <a:buSzPct val="100000"/>
              <a:buFont typeface="Times New Roman" pitchFamily="18" charset="0"/>
              <a:buNone/>
              <a:tabLst/>
              <a:defRPr/>
            </a:pPr>
            <a:r>
              <a:rPr kumimoji="0" lang="en-US" sz="1100" b="0" i="0" u="none" strike="noStrike" kern="1200" cap="none" spc="0" normalizeH="0" baseline="0" noProof="0" dirty="0">
                <a:ln>
                  <a:noFill/>
                </a:ln>
                <a:solidFill>
                  <a:srgbClr val="000000"/>
                </a:solidFill>
                <a:effectLst/>
                <a:uLnTx/>
                <a:uFillTx/>
                <a:latin typeface="Arial" charset="0"/>
                <a:cs typeface="+mn-cs"/>
              </a:rPr>
              <a:t>In this chapter, you will learn why that message is printed to the console. You also learn how you can catch or trap the message so that it is not printed to the console, and what other kinds of errors are reported by Java.</a:t>
            </a:r>
          </a:p>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45</a:t>
            </a:fld>
            <a:endParaRPr lang="en-GB"/>
          </a:p>
        </p:txBody>
      </p:sp>
    </p:spTree>
    <p:extLst>
      <p:ext uri="{BB962C8B-B14F-4D97-AF65-F5344CB8AC3E}">
        <p14:creationId xmlns:p14="http://schemas.microsoft.com/office/powerpoint/2010/main" val="7259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p:spPr>
        <p:txBody>
          <a:bodyPr/>
          <a:lstStyle/>
          <a:p>
            <a:r>
              <a:rPr lang="en-GB" dirty="0"/>
              <a:t>The three mainstays of writing code that use exception handling are the try, catch and finally blocks. These work as follows:</a:t>
            </a:r>
          </a:p>
          <a:p>
            <a:r>
              <a:rPr lang="en-GB" b="1" dirty="0"/>
              <a:t>try</a:t>
            </a:r>
          </a:p>
          <a:p>
            <a:r>
              <a:rPr lang="en-GB" dirty="0"/>
              <a:t>The try block is where you write the code that is part of the normal flow of execution for the application. In the example, only</a:t>
            </a:r>
            <a:r>
              <a:rPr lang="en-GB" baseline="0" dirty="0"/>
              <a:t> if </a:t>
            </a:r>
            <a:r>
              <a:rPr lang="en-GB" baseline="0" dirty="0" err="1"/>
              <a:t>methodA</a:t>
            </a:r>
            <a:r>
              <a:rPr lang="en-GB" baseline="0" dirty="0"/>
              <a:t>() completes successfully does </a:t>
            </a:r>
            <a:r>
              <a:rPr lang="en-GB" baseline="0" dirty="0" err="1"/>
              <a:t>methodB</a:t>
            </a:r>
            <a:r>
              <a:rPr lang="en-GB" baseline="0" dirty="0"/>
              <a:t>() get invoked.</a:t>
            </a:r>
            <a:endParaRPr lang="en-GB" dirty="0"/>
          </a:p>
          <a:p>
            <a:r>
              <a:rPr lang="en-GB" b="1" dirty="0"/>
              <a:t>catch</a:t>
            </a:r>
          </a:p>
          <a:p>
            <a:r>
              <a:rPr lang="en-GB" dirty="0"/>
              <a:t>Following a try block you can have zero to many catch blocks. These contain statements that would be executed if an exception of the specified type is thrown (raised) by the code that is called in the try block. If you have more than one catch block they must be in a very specific order: the most derived exception type blocks must appear before their base class counterparts. This is because the exception handling code walks the blocks in sequence, looking for the first exception that matches according to the "is a type of" checking that we'll discus in the next chapter on inheritance. It is important to remember that only ONE of the exception handling blocks will ever be used.</a:t>
            </a:r>
          </a:p>
          <a:p>
            <a:r>
              <a:rPr lang="en-GB" b="1" dirty="0"/>
              <a:t>finally</a:t>
            </a:r>
          </a:p>
          <a:p>
            <a:r>
              <a:rPr lang="en-GB" dirty="0"/>
              <a:t>You can also optionally have a finally block. The code in this block will always execute, no matter whether an exception is thrown (and/or caught) or not.</a:t>
            </a:r>
          </a:p>
          <a:p>
            <a:r>
              <a:rPr lang="en-GB" dirty="0"/>
              <a:t>The next three slides will demonstrate how this fits together and how exceptions alter the flow of execution of code.</a:t>
            </a:r>
            <a:endParaRPr lang="en-US"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46</a:t>
            </a:fld>
            <a:endParaRPr lang="en-GB"/>
          </a:p>
        </p:txBody>
      </p:sp>
    </p:spTree>
    <p:extLst>
      <p:ext uri="{BB962C8B-B14F-4D97-AF65-F5344CB8AC3E}">
        <p14:creationId xmlns:p14="http://schemas.microsoft.com/office/powerpoint/2010/main" val="524098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a:latin typeface="Arial" charset="0"/>
              </a:rPr>
              <a:t>The Benefits of </a:t>
            </a:r>
            <a:r>
              <a:rPr lang="en-US" b="1" dirty="0">
                <a:latin typeface="Arial" charset="0"/>
                <a:cs typeface="Arial" charset="0"/>
              </a:rPr>
              <a:t>multi-</a:t>
            </a:r>
            <a:r>
              <a:rPr lang="en-US" b="1" dirty="0">
                <a:latin typeface="Courier New" pitchFamily="49" charset="0"/>
                <a:cs typeface="Courier New" pitchFamily="49" charset="0"/>
              </a:rPr>
              <a:t>catch</a:t>
            </a:r>
          </a:p>
          <a:p>
            <a:pPr eaLnBrk="1" hangingPunct="1"/>
            <a:r>
              <a:rPr lang="en-US" dirty="0"/>
              <a:t>Sometimes you want to perform the same action regardless of the exception being generated. The new multi-catch clause reduces the amount of code you must write, by eliminating the need for multiple catch clauses with the same behaviors.</a:t>
            </a:r>
          </a:p>
          <a:p>
            <a:pPr eaLnBrk="1" hangingPunct="1"/>
            <a:r>
              <a:rPr lang="en-US" dirty="0"/>
              <a:t>Another benefit is that it makes it less likely that you will attempt to catch a generic exception. Catching Exception prevents you from noticing other types of exceptions that might be generated by code that you add later to a try block.</a:t>
            </a:r>
          </a:p>
          <a:p>
            <a:pPr eaLnBrk="1" hangingPunct="1"/>
            <a:r>
              <a:rPr lang="en-US" dirty="0"/>
              <a:t>The type alternatives that are separated with vertical bars may not have an inheritance relationship. You may not list, for example, both a </a:t>
            </a:r>
            <a:r>
              <a:rPr lang="en-US" dirty="0" err="1"/>
              <a:t>FileNotFoundException</a:t>
            </a:r>
            <a:r>
              <a:rPr lang="en-US" dirty="0"/>
              <a:t> and an </a:t>
            </a:r>
            <a:r>
              <a:rPr lang="en-US" dirty="0" err="1"/>
              <a:t>IOException</a:t>
            </a:r>
            <a:r>
              <a:rPr lang="en-US" dirty="0"/>
              <a:t> in a multi-catch clause.</a:t>
            </a:r>
          </a:p>
          <a:p>
            <a:endParaRPr lang="en-GB" dirty="0"/>
          </a:p>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47</a:t>
            </a:fld>
            <a:endParaRPr lang="en-GB"/>
          </a:p>
        </p:txBody>
      </p:sp>
    </p:spTree>
    <p:extLst>
      <p:ext uri="{BB962C8B-B14F-4D97-AF65-F5344CB8AC3E}">
        <p14:creationId xmlns:p14="http://schemas.microsoft.com/office/powerpoint/2010/main" val="3294934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48901C6-1DA1-FB44-ABEE-06A0FEB7738E}" type="slidenum">
              <a:rPr lang="en-GB" smtClean="0"/>
              <a:pPr/>
              <a:t>48</a:t>
            </a:fld>
            <a:endParaRPr lang="en-GB"/>
          </a:p>
        </p:txBody>
      </p:sp>
    </p:spTree>
    <p:extLst>
      <p:ext uri="{BB962C8B-B14F-4D97-AF65-F5344CB8AC3E}">
        <p14:creationId xmlns:p14="http://schemas.microsoft.com/office/powerpoint/2010/main" val="3453173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a:noFill/>
          <a:ln/>
        </p:spPr>
        <p:txBody>
          <a:bodyPr/>
          <a:lstStyle/>
          <a:p>
            <a:r>
              <a:rPr lang="en-GB" dirty="0"/>
              <a:t>There are a few guidelines for making the most out of exceptions.</a:t>
            </a:r>
          </a:p>
          <a:p>
            <a:r>
              <a:rPr lang="en-GB" dirty="0"/>
              <a:t>Firstly, don't be lazy and simply write catch handlers for </a:t>
            </a:r>
            <a:r>
              <a:rPr lang="en-GB" dirty="0" err="1"/>
              <a:t>Throwable</a:t>
            </a:r>
            <a:r>
              <a:rPr lang="en-GB" dirty="0"/>
              <a:t>. This would catch every type of exception and error, including those from the JVM that are indicating traumatic problems (stack overflow, security exceptions, etc.). </a:t>
            </a:r>
          </a:p>
          <a:p>
            <a:r>
              <a:rPr lang="en-GB" dirty="0"/>
              <a:t>This leads neatly onto the second point: only catch the specific exceptions that you are interested in. You can completely obfuscate your code if you attempt to catch every possible exception type.</a:t>
            </a:r>
          </a:p>
          <a:p>
            <a:r>
              <a:rPr lang="en-GB" dirty="0"/>
              <a:t>Remember, you don't need try / catch blocks in every method. Exceptions propagate back up the call stack, so only place them where you need to perform, say, logging or resource management code.</a:t>
            </a:r>
          </a:p>
          <a:p>
            <a:r>
              <a:rPr lang="en-GB" dirty="0"/>
              <a:t>To manage key resources, such as database connections and files, which need to be closed when finished with, use try / finally blocks.</a:t>
            </a:r>
          </a:p>
          <a:p>
            <a:r>
              <a:rPr lang="en-GB" dirty="0"/>
              <a:t>Next, exceptions are designed to be used in exceptional circumstances, such as attempting to open a file that doesn't exist.</a:t>
            </a:r>
          </a:p>
          <a:p>
            <a:r>
              <a:rPr lang="en-GB" dirty="0"/>
              <a:t>It's tragically common, but many developers dutifully add exception handling code and then never test their program under the circumstances where it is used. </a:t>
            </a:r>
          </a:p>
          <a:p>
            <a:r>
              <a:rPr lang="en-GB" dirty="0"/>
              <a:t>Finally, always be polite with the error messages that you pass back.</a:t>
            </a:r>
          </a:p>
        </p:txBody>
      </p:sp>
      <p:sp>
        <p:nvSpPr>
          <p:cNvPr id="2" name="Slide Number Placeholder 1"/>
          <p:cNvSpPr>
            <a:spLocks noGrp="1"/>
          </p:cNvSpPr>
          <p:nvPr>
            <p:ph type="sldNum" sz="quarter" idx="10"/>
          </p:nvPr>
        </p:nvSpPr>
        <p:spPr/>
        <p:txBody>
          <a:bodyPr/>
          <a:lstStyle/>
          <a:p>
            <a:fld id="{548901C6-1DA1-FB44-ABEE-06A0FEB7738E}" type="slidenum">
              <a:rPr lang="en-GB" smtClean="0"/>
              <a:pPr/>
              <a:t>49</a:t>
            </a:fld>
            <a:endParaRPr lang="en-GB"/>
          </a:p>
        </p:txBody>
      </p:sp>
    </p:spTree>
    <p:extLst>
      <p:ext uri="{BB962C8B-B14F-4D97-AF65-F5344CB8AC3E}">
        <p14:creationId xmlns:p14="http://schemas.microsoft.com/office/powerpoint/2010/main" val="2358771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p:spPr>
        <p:txBody>
          <a:bodyPr/>
          <a:lstStyle/>
          <a:p>
            <a:endParaRPr lang="en-US"/>
          </a:p>
        </p:txBody>
      </p:sp>
      <p:sp>
        <p:nvSpPr>
          <p:cNvPr id="2" name="Slide Number Placeholder 1"/>
          <p:cNvSpPr>
            <a:spLocks noGrp="1"/>
          </p:cNvSpPr>
          <p:nvPr>
            <p:ph type="sldNum" sz="quarter" idx="10"/>
          </p:nvPr>
        </p:nvSpPr>
        <p:spPr/>
        <p:txBody>
          <a:bodyPr/>
          <a:lstStyle/>
          <a:p>
            <a:fld id="{548901C6-1DA1-FB44-ABEE-06A0FEB7738E}" type="slidenum">
              <a:rPr lang="en-GB" smtClean="0"/>
              <a:pPr/>
              <a:t>50</a:t>
            </a:fld>
            <a:endParaRPr lang="en-GB"/>
          </a:p>
        </p:txBody>
      </p:sp>
    </p:spTree>
    <p:extLst>
      <p:ext uri="{BB962C8B-B14F-4D97-AF65-F5344CB8AC3E}">
        <p14:creationId xmlns:p14="http://schemas.microsoft.com/office/powerpoint/2010/main" val="1397610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p:spPr>
        <p:txBody>
          <a:bodyPr/>
          <a:lstStyle/>
          <a:p>
            <a:endParaRPr lang="en-US"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51</a:t>
            </a:fld>
            <a:endParaRPr lang="en-GB"/>
          </a:p>
        </p:txBody>
      </p:sp>
    </p:spTree>
    <p:extLst>
      <p:ext uri="{BB962C8B-B14F-4D97-AF65-F5344CB8AC3E}">
        <p14:creationId xmlns:p14="http://schemas.microsoft.com/office/powerpoint/2010/main" val="32439068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07571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974439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3" r:id="rId35"/>
    <p:sldLayoutId id="2147483905" r:id="rId36"/>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8"/>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8"/>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8"/>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8"/>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376238" y="1970185"/>
            <a:ext cx="5627171" cy="2353439"/>
          </a:xfrm>
        </p:spPr>
        <p:txBody>
          <a:bodyPr/>
          <a:lstStyle/>
          <a:p>
            <a:r>
              <a:rPr lang="en-GB" dirty="0"/>
              <a:t>Exceptions</a:t>
            </a:r>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dirty="0"/>
          </a:p>
        </p:txBody>
      </p:sp>
    </p:spTree>
    <p:extLst>
      <p:ext uri="{BB962C8B-B14F-4D97-AF65-F5344CB8AC3E}">
        <p14:creationId xmlns:p14="http://schemas.microsoft.com/office/powerpoint/2010/main" val="1792101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Contents</a:t>
            </a:r>
            <a:endParaRPr lang="en-IN" dirty="0"/>
          </a:p>
        </p:txBody>
      </p:sp>
      <p:sp>
        <p:nvSpPr>
          <p:cNvPr id="3" name="Text Placeholder 2"/>
          <p:cNvSpPr>
            <a:spLocks noGrp="1"/>
          </p:cNvSpPr>
          <p:nvPr>
            <p:ph type="body" sz="quarter" idx="15"/>
          </p:nvPr>
        </p:nvSpPr>
        <p:spPr>
          <a:xfrm>
            <a:off x="5037137" y="1349985"/>
            <a:ext cx="6871577" cy="4526834"/>
          </a:xfrm>
        </p:spPr>
        <p:txBody>
          <a:bodyPr vert="horz" lIns="0" tIns="0" rIns="0" bIns="0" rtlCol="0" anchor="t" anchorCtr="0">
            <a:noAutofit/>
          </a:bodyPr>
          <a:lstStyle/>
          <a:p>
            <a:pPr marL="342900" indent="-342900">
              <a:buChar char="•"/>
            </a:pPr>
            <a:r>
              <a:rPr lang="en-GB" b="1" dirty="0"/>
              <a:t>Objectives</a:t>
            </a:r>
          </a:p>
          <a:p>
            <a:pPr marL="684000" lvl="1" indent="-342900">
              <a:buSzPct val="115000"/>
            </a:pPr>
            <a:r>
              <a:rPr lang="en-GB" dirty="0"/>
              <a:t>To explain exception handling in Java and C#</a:t>
            </a:r>
          </a:p>
          <a:p>
            <a:pPr marL="342900" indent="-342900">
              <a:buChar char="•"/>
            </a:pPr>
            <a:endParaRPr lang="en-GB" b="1" dirty="0"/>
          </a:p>
          <a:p>
            <a:pPr marL="342900" indent="-342900">
              <a:buChar char="•"/>
            </a:pPr>
            <a:r>
              <a:rPr lang="en-GB" b="1" dirty="0"/>
              <a:t>Contents</a:t>
            </a:r>
          </a:p>
          <a:p>
            <a:pPr marL="684000" lvl="1" indent="-342900">
              <a:buSzPct val="115000"/>
            </a:pPr>
            <a:r>
              <a:rPr lang="en-GB" dirty="0"/>
              <a:t>Exception handling syntax</a:t>
            </a:r>
          </a:p>
          <a:p>
            <a:pPr marL="684000" lvl="1" indent="-342900">
              <a:buSzPct val="115000"/>
            </a:pPr>
            <a:r>
              <a:rPr lang="en-GB" dirty="0"/>
              <a:t>Throwing exceptions</a:t>
            </a:r>
          </a:p>
          <a:p>
            <a:pPr marL="684000" lvl="1" indent="-342900">
              <a:buSzPct val="115000"/>
            </a:pPr>
            <a:r>
              <a:rPr lang="en-GB" dirty="0"/>
              <a:t>Understanding execution flow with exceptions</a:t>
            </a:r>
          </a:p>
          <a:p>
            <a:pPr marL="684000" lvl="1" indent="-342900">
              <a:buSzPct val="115000"/>
            </a:pPr>
            <a:r>
              <a:rPr lang="en-GB" dirty="0"/>
              <a:t>The try-with-resources statement</a:t>
            </a:r>
          </a:p>
          <a:p>
            <a:pPr marL="342900" indent="-342900">
              <a:buChar char="•"/>
            </a:pPr>
            <a:endParaRPr lang="en-GB" b="1" dirty="0"/>
          </a:p>
          <a:p>
            <a:pPr marL="342900" indent="-342900">
              <a:buChar char="•"/>
            </a:pPr>
            <a:r>
              <a:rPr lang="en-GB" b="1" dirty="0"/>
              <a:t>Hands on Labs</a:t>
            </a:r>
          </a:p>
        </p:txBody>
      </p:sp>
      <p:sp>
        <p:nvSpPr>
          <p:cNvPr id="4" name="Rectangle 3" descr="Document">
            <a:extLst>
              <a:ext uri="{FF2B5EF4-FFF2-40B4-BE49-F238E27FC236}">
                <a16:creationId xmlns:a16="http://schemas.microsoft.com/office/drawing/2014/main" id="{322929EE-DE3C-B0E8-3308-3A579104589E}"/>
              </a:ext>
            </a:extLst>
          </p:cNvPr>
          <p:cNvSpPr/>
          <p:nvPr/>
        </p:nvSpPr>
        <p:spPr>
          <a:xfrm>
            <a:off x="4215204" y="2981387"/>
            <a:ext cx="796640" cy="70012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5" name="Rectangle 4" descr="Bullseye">
            <a:extLst>
              <a:ext uri="{FF2B5EF4-FFF2-40B4-BE49-F238E27FC236}">
                <a16:creationId xmlns:a16="http://schemas.microsoft.com/office/drawing/2014/main" id="{1B6E2706-F6A5-61BA-930C-8AAA7805C956}"/>
              </a:ext>
            </a:extLst>
          </p:cNvPr>
          <p:cNvSpPr/>
          <p:nvPr/>
        </p:nvSpPr>
        <p:spPr>
          <a:xfrm>
            <a:off x="4235524" y="1548827"/>
            <a:ext cx="796640" cy="801720"/>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273313558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Simple example of exception being thrown</a:t>
            </a:r>
          </a:p>
        </p:txBody>
      </p:sp>
      <p:sp>
        <p:nvSpPr>
          <p:cNvPr id="3" name="Content Placeholder 2"/>
          <p:cNvSpPr>
            <a:spLocks noGrp="1"/>
          </p:cNvSpPr>
          <p:nvPr>
            <p:ph idx="1"/>
          </p:nvPr>
        </p:nvSpPr>
        <p:spPr>
          <a:xfrm>
            <a:off x="341273" y="1368256"/>
            <a:ext cx="7919150" cy="2371537"/>
          </a:xfrm>
        </p:spPr>
        <p:txBody>
          <a:bodyPr/>
          <a:lstStyle/>
          <a:p>
            <a:pPr marL="342900" indent="-342900">
              <a:buFont typeface="Arial" panose="020B0604020202020204" pitchFamily="34" charset="0"/>
              <a:buChar char="•"/>
            </a:pPr>
            <a:r>
              <a:rPr lang="en-GB" b="1" dirty="0"/>
              <a:t>Coding error</a:t>
            </a:r>
          </a:p>
          <a:p>
            <a:endParaRPr lang="en-GB" b="1" dirty="0"/>
          </a:p>
        </p:txBody>
      </p:sp>
      <p:sp>
        <p:nvSpPr>
          <p:cNvPr id="5" name="Rectangle 4"/>
          <p:cNvSpPr>
            <a:spLocks noChangeArrowheads="1"/>
          </p:cNvSpPr>
          <p:nvPr/>
        </p:nvSpPr>
        <p:spPr bwMode="auto">
          <a:xfrm>
            <a:off x="2054352" y="1838636"/>
            <a:ext cx="6647859" cy="1751762"/>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Lst>
              <a:defRPr/>
            </a:pPr>
            <a:r>
              <a:rPr lang="en-GB" b="1" dirty="0">
                <a:solidFill>
                  <a:srgbClr val="0000C8"/>
                </a:solidFill>
                <a:latin typeface="Lucida Console" pitchFamily="49" charset="0"/>
              </a:rPr>
              <a:t>public static void </a:t>
            </a:r>
            <a:r>
              <a:rPr lang="en-GB" b="1" dirty="0">
                <a:latin typeface="Lucida Console" pitchFamily="49" charset="0"/>
              </a:rPr>
              <a:t>Main(string[] </a:t>
            </a:r>
            <a:r>
              <a:rPr lang="en-GB" b="1" dirty="0" err="1">
                <a:latin typeface="Lucida Console" pitchFamily="49" charset="0"/>
              </a:rPr>
              <a:t>args</a:t>
            </a:r>
            <a:r>
              <a:rPr lang="en-GB" b="1" dirty="0">
                <a:latin typeface="Lucida Console" pitchFamily="49" charset="0"/>
              </a:rPr>
              <a:t>) {</a:t>
            </a:r>
          </a:p>
          <a:p>
            <a:pPr defTabSz="739775" eaLnBrk="0" hangingPunct="0">
              <a:tabLst>
                <a:tab pos="341313" algn="l"/>
                <a:tab pos="690563" algn="l"/>
              </a:tabLst>
              <a:defRPr/>
            </a:pPr>
            <a:br>
              <a:rPr lang="en-GB" b="1" dirty="0">
                <a:latin typeface="Lucida Console" pitchFamily="49" charset="0"/>
              </a:rPr>
            </a:br>
            <a:r>
              <a:rPr lang="en-GB" b="1" dirty="0">
                <a:latin typeface="Lucida Console" pitchFamily="49" charset="0"/>
              </a:rPr>
              <a:t>  int[] ages = </a:t>
            </a:r>
            <a:r>
              <a:rPr lang="en-GB" b="1" dirty="0">
                <a:solidFill>
                  <a:srgbClr val="0000C8"/>
                </a:solidFill>
                <a:latin typeface="Lucida Console" pitchFamily="49" charset="0"/>
              </a:rPr>
              <a:t>new</a:t>
            </a:r>
            <a:r>
              <a:rPr lang="en-GB" b="1" dirty="0">
                <a:latin typeface="Lucida Console" pitchFamily="49" charset="0"/>
              </a:rPr>
              <a:t> int[7];</a:t>
            </a:r>
          </a:p>
          <a:p>
            <a:pPr defTabSz="739775" eaLnBrk="0" hangingPunct="0">
              <a:tabLst>
                <a:tab pos="341313" algn="l"/>
                <a:tab pos="690563" algn="l"/>
              </a:tabLst>
              <a:defRPr/>
            </a:pPr>
            <a:br>
              <a:rPr lang="en-GB" b="1" dirty="0">
                <a:latin typeface="Lucida Console" pitchFamily="49" charset="0"/>
              </a:rPr>
            </a:br>
            <a:r>
              <a:rPr lang="en-GB" b="1" dirty="0">
                <a:latin typeface="Lucida Console" pitchFamily="49" charset="0"/>
              </a:rPr>
              <a:t>  ages[7] = 34;</a:t>
            </a:r>
            <a:br>
              <a:rPr lang="en-GB" b="1" dirty="0">
                <a:latin typeface="Lucida Console" pitchFamily="49" charset="0"/>
              </a:rPr>
            </a:br>
            <a:r>
              <a:rPr lang="en-GB" b="1" dirty="0">
                <a:latin typeface="Lucida Console" pitchFamily="49" charset="0"/>
              </a:rPr>
              <a:t>}</a:t>
            </a:r>
          </a:p>
        </p:txBody>
      </p:sp>
      <p:sp>
        <p:nvSpPr>
          <p:cNvPr id="6" name="Rectangle 5"/>
          <p:cNvSpPr/>
          <p:nvPr/>
        </p:nvSpPr>
        <p:spPr>
          <a:xfrm>
            <a:off x="2054352" y="3814829"/>
            <a:ext cx="6647859" cy="707886"/>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2000" dirty="0">
                <a:solidFill>
                  <a:srgbClr val="FF0000"/>
                </a:solidFill>
                <a:latin typeface="Consolas" panose="020B0609020204030204" pitchFamily="49" charset="0"/>
              </a:rPr>
              <a:t>Exception in thread "main"       </a:t>
            </a:r>
          </a:p>
          <a:p>
            <a:r>
              <a:rPr lang="en-GB" sz="2000" dirty="0">
                <a:solidFill>
                  <a:srgbClr val="FF0000"/>
                </a:solidFill>
                <a:latin typeface="Consolas" panose="020B0609020204030204" pitchFamily="49" charset="0"/>
              </a:rPr>
              <a:t>   </a:t>
            </a:r>
            <a:r>
              <a:rPr lang="en-GB" sz="2000" b="1" dirty="0" err="1">
                <a:solidFill>
                  <a:srgbClr val="0066CC"/>
                </a:solidFill>
                <a:latin typeface="Consolas" panose="020B0609020204030204" pitchFamily="49" charset="0"/>
              </a:rPr>
              <a:t>IndexOutOfBoundsException</a:t>
            </a:r>
            <a:endParaRPr lang="en-GB" sz="20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366746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GB" dirty="0"/>
              <a:t>A few unpredictable exceptions</a:t>
            </a:r>
            <a:endParaRPr lang="en-IN" dirty="0"/>
          </a:p>
        </p:txBody>
      </p:sp>
      <p:sp>
        <p:nvSpPr>
          <p:cNvPr id="5" name="Text Placeholder 4"/>
          <p:cNvSpPr>
            <a:spLocks noGrp="1"/>
          </p:cNvSpPr>
          <p:nvPr>
            <p:ph type="body" sz="quarter" idx="11"/>
          </p:nvPr>
        </p:nvSpPr>
        <p:spPr/>
        <p:txBody>
          <a:bodyPr vert="horz" lIns="0" tIns="0" rIns="0" bIns="0" rtlCol="0" anchor="t" anchorCtr="0">
            <a:noAutofit/>
          </a:bodyPr>
          <a:lstStyle/>
          <a:p>
            <a:pPr marL="342900" indent="-342900">
              <a:buChar char="•"/>
            </a:pPr>
            <a:r>
              <a:rPr lang="en-GB" b="1" dirty="0"/>
              <a:t>Accessing a file</a:t>
            </a:r>
          </a:p>
          <a:p>
            <a:pPr marL="684000" lvl="1" indent="-342900">
              <a:spcAft>
                <a:spcPts val="650"/>
              </a:spcAft>
              <a:buSzPct val="115000"/>
            </a:pPr>
            <a:r>
              <a:rPr lang="en-GB" dirty="0" err="1"/>
              <a:t>AccessDeniedException</a:t>
            </a:r>
            <a:endParaRPr lang="en-GB" dirty="0"/>
          </a:p>
          <a:p>
            <a:pPr marL="684000" lvl="1" indent="-342900">
              <a:spcAft>
                <a:spcPts val="650"/>
              </a:spcAft>
              <a:buSzPct val="115000"/>
            </a:pPr>
            <a:r>
              <a:rPr lang="en-GB" dirty="0" err="1"/>
              <a:t>FileNotFoundException</a:t>
            </a:r>
            <a:endParaRPr lang="en-GB" dirty="0"/>
          </a:p>
          <a:p>
            <a:pPr lvl="1">
              <a:spcAft>
                <a:spcPts val="650"/>
              </a:spcAft>
            </a:pPr>
            <a:endParaRPr lang="en-GB" dirty="0"/>
          </a:p>
          <a:p>
            <a:pPr marL="342900" indent="-342900">
              <a:buChar char="•"/>
            </a:pPr>
            <a:r>
              <a:rPr lang="en-GB" b="1" dirty="0"/>
              <a:t>Accessing objects</a:t>
            </a:r>
          </a:p>
          <a:p>
            <a:pPr marL="684000" lvl="1" indent="-342900">
              <a:spcAft>
                <a:spcPts val="650"/>
              </a:spcAft>
              <a:buSzPct val="115000"/>
            </a:pPr>
            <a:r>
              <a:rPr lang="en-GB" dirty="0" err="1"/>
              <a:t>NullReferenceException</a:t>
            </a:r>
            <a:endParaRPr lang="en-GB" dirty="0"/>
          </a:p>
          <a:p>
            <a:pPr lvl="1">
              <a:spcAft>
                <a:spcPts val="650"/>
              </a:spcAft>
            </a:pPr>
            <a:endParaRPr lang="en-GB" dirty="0"/>
          </a:p>
          <a:p>
            <a:pPr marL="342900" indent="-342900">
              <a:buChar char="•"/>
            </a:pPr>
            <a:r>
              <a:rPr lang="en-GB" b="1" dirty="0"/>
              <a:t>Networking</a:t>
            </a:r>
          </a:p>
          <a:p>
            <a:pPr marL="684000" lvl="1" indent="-342900">
              <a:spcAft>
                <a:spcPts val="650"/>
              </a:spcAft>
              <a:buSzPct val="115000"/>
            </a:pPr>
            <a:r>
              <a:rPr lang="en-GB" dirty="0" err="1"/>
              <a:t>SSLException</a:t>
            </a:r>
            <a:endParaRPr lang="en-GB" dirty="0"/>
          </a:p>
          <a:p>
            <a:pPr marL="684000" lvl="1" indent="-342900">
              <a:spcAft>
                <a:spcPts val="650"/>
              </a:spcAft>
              <a:buSzPct val="115000"/>
            </a:pPr>
            <a:r>
              <a:rPr lang="en-GB" dirty="0" err="1"/>
              <a:t>ConnectException</a:t>
            </a:r>
            <a:endParaRPr lang="en-GB" dirty="0"/>
          </a:p>
          <a:p>
            <a:pPr marL="684000" lvl="1" indent="-342900">
              <a:spcAft>
                <a:spcPts val="650"/>
              </a:spcAft>
              <a:buSzPct val="115000"/>
            </a:pPr>
            <a:r>
              <a:rPr lang="en-GB" dirty="0" err="1"/>
              <a:t>SocketTimeoutException</a:t>
            </a:r>
            <a:endParaRPr lang="en-GB" dirty="0"/>
          </a:p>
          <a:p>
            <a:pPr marL="342900" indent="-342900">
              <a:buChar char="•"/>
            </a:pPr>
            <a:endParaRPr lang="en-IN" b="1" dirty="0"/>
          </a:p>
        </p:txBody>
      </p:sp>
    </p:spTree>
    <p:extLst>
      <p:ext uri="{BB962C8B-B14F-4D97-AF65-F5344CB8AC3E}">
        <p14:creationId xmlns:p14="http://schemas.microsoft.com/office/powerpoint/2010/main" val="2758965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lstStyle/>
          <a:p>
            <a:r>
              <a:rPr lang="en-GB" dirty="0"/>
              <a:t>Types of exceptions and errors</a:t>
            </a:r>
            <a:endParaRPr lang="en-IN" dirty="0"/>
          </a:p>
        </p:txBody>
      </p:sp>
      <p:sp>
        <p:nvSpPr>
          <p:cNvPr id="6" name="Text Placeholder 5"/>
          <p:cNvSpPr>
            <a:spLocks noGrp="1"/>
          </p:cNvSpPr>
          <p:nvPr>
            <p:ph type="body" sz="quarter" idx="15"/>
          </p:nvPr>
        </p:nvSpPr>
        <p:spPr>
          <a:xfrm>
            <a:off x="4720614" y="482476"/>
            <a:ext cx="7086601" cy="6015143"/>
          </a:xfrm>
        </p:spPr>
        <p:txBody>
          <a:bodyPr vert="horz" lIns="0" tIns="0" rIns="0" bIns="0" rtlCol="0" anchor="t" anchorCtr="0">
            <a:noAutofit/>
          </a:bodyPr>
          <a:lstStyle/>
          <a:p>
            <a:pPr marL="342900" indent="-342900">
              <a:buChar char="•"/>
            </a:pPr>
            <a:r>
              <a:rPr lang="en-GB" b="1" dirty="0"/>
              <a:t>Class Exception is the super class of all Exceptions which can be</a:t>
            </a:r>
            <a:endParaRPr lang="en-US" b="1" dirty="0"/>
          </a:p>
          <a:p>
            <a:pPr marL="684000" lvl="1" indent="-342900">
              <a:buSzPct val="115000"/>
            </a:pPr>
            <a:r>
              <a:rPr lang="en-US" b="1" dirty="0"/>
              <a:t>Error</a:t>
            </a:r>
          </a:p>
          <a:p>
            <a:pPr marL="1026000" lvl="2" indent="-342900">
              <a:buSzPct val="115000"/>
            </a:pPr>
            <a:r>
              <a:rPr lang="en-US" dirty="0"/>
              <a:t>Typically, unrecoverable external error </a:t>
            </a:r>
          </a:p>
          <a:p>
            <a:pPr marL="1368000" lvl="3" indent="-342900">
              <a:buSzPct val="115000"/>
            </a:pPr>
            <a:r>
              <a:rPr lang="en-US" dirty="0"/>
              <a:t>Out of memory, stack overflow etc.</a:t>
            </a:r>
          </a:p>
          <a:p>
            <a:pPr marL="1026000" lvl="2" indent="-342900">
              <a:buSzPct val="115000"/>
            </a:pPr>
            <a:r>
              <a:rPr lang="en-US" dirty="0"/>
              <a:t>Unchecked by compiler</a:t>
            </a:r>
          </a:p>
          <a:p>
            <a:pPr marL="684000" lvl="1" indent="-342900">
              <a:buSzPct val="115000"/>
            </a:pPr>
            <a:r>
              <a:rPr lang="en-US" b="1" dirty="0" err="1"/>
              <a:t>RuntimeException</a:t>
            </a:r>
            <a:endParaRPr lang="en-US" b="1" dirty="0"/>
          </a:p>
          <a:p>
            <a:pPr marL="1026000" lvl="2" indent="-342900">
              <a:buSzPct val="115000"/>
            </a:pPr>
            <a:r>
              <a:rPr lang="en-US" dirty="0"/>
              <a:t>Typically programming error</a:t>
            </a:r>
          </a:p>
          <a:p>
            <a:pPr marL="1026000" lvl="2" indent="-342900">
              <a:buSzPct val="115000"/>
            </a:pPr>
            <a:r>
              <a:rPr lang="en-US" dirty="0"/>
              <a:t>Unchecked by compiler</a:t>
            </a:r>
          </a:p>
          <a:p>
            <a:pPr marL="1026000" lvl="2" indent="-342900">
              <a:buSzPct val="115000"/>
            </a:pPr>
            <a:endParaRPr lang="en-US" dirty="0"/>
          </a:p>
          <a:p>
            <a:pPr marL="684000" lvl="1" indent="-342900">
              <a:buSzPct val="115000"/>
            </a:pPr>
            <a:r>
              <a:rPr lang="en-US" b="1" dirty="0"/>
              <a:t>Exception</a:t>
            </a:r>
          </a:p>
          <a:p>
            <a:pPr marL="1026000" lvl="2" indent="-342900">
              <a:buSzPct val="115000"/>
            </a:pPr>
            <a:r>
              <a:rPr lang="en-US" dirty="0"/>
              <a:t>Recoverable error (Database/File IO etc.)</a:t>
            </a:r>
          </a:p>
          <a:p>
            <a:endParaRPr lang="en-GB" b="1" dirty="0"/>
          </a:p>
          <a:p>
            <a:pPr marL="342900" indent="-342900">
              <a:buChar char="•"/>
            </a:pPr>
            <a:endParaRPr lang="en-IN" b="1" dirty="0"/>
          </a:p>
        </p:txBody>
      </p:sp>
    </p:spTree>
    <p:extLst>
      <p:ext uri="{BB962C8B-B14F-4D97-AF65-F5344CB8AC3E}">
        <p14:creationId xmlns:p14="http://schemas.microsoft.com/office/powerpoint/2010/main" val="4029103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Exceptions bubble up the call stack</a:t>
            </a:r>
          </a:p>
        </p:txBody>
      </p:sp>
      <p:sp>
        <p:nvSpPr>
          <p:cNvPr id="6" name="Rounded Rectangle 5"/>
          <p:cNvSpPr/>
          <p:nvPr/>
        </p:nvSpPr>
        <p:spPr>
          <a:xfrm>
            <a:off x="2201695" y="1484723"/>
            <a:ext cx="1867711" cy="739303"/>
          </a:xfrm>
          <a:prstGeom prst="round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method1()</a:t>
            </a:r>
            <a:endParaRPr lang="en-GB" sz="1600" dirty="0">
              <a:solidFill>
                <a:schemeClr val="tx1"/>
              </a:solidFill>
              <a:latin typeface="Arial" pitchFamily="34" charset="0"/>
              <a:cs typeface="Arial" pitchFamily="34" charset="0"/>
            </a:endParaRPr>
          </a:p>
        </p:txBody>
      </p:sp>
      <p:sp>
        <p:nvSpPr>
          <p:cNvPr id="7" name="Rounded Rectangle 6"/>
          <p:cNvSpPr/>
          <p:nvPr/>
        </p:nvSpPr>
        <p:spPr>
          <a:xfrm>
            <a:off x="3271738" y="3020927"/>
            <a:ext cx="1867711" cy="739303"/>
          </a:xfrm>
          <a:prstGeom prst="round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method2()</a:t>
            </a:r>
            <a:endParaRPr lang="en-GB" sz="1600" dirty="0">
              <a:solidFill>
                <a:schemeClr val="tx1"/>
              </a:solidFill>
              <a:latin typeface="Arial" pitchFamily="34" charset="0"/>
              <a:cs typeface="Arial" pitchFamily="34" charset="0"/>
            </a:endParaRPr>
          </a:p>
        </p:txBody>
      </p:sp>
      <p:sp>
        <p:nvSpPr>
          <p:cNvPr id="8" name="Rounded Rectangle 7"/>
          <p:cNvSpPr/>
          <p:nvPr/>
        </p:nvSpPr>
        <p:spPr>
          <a:xfrm>
            <a:off x="4494180" y="4557131"/>
            <a:ext cx="1867711" cy="739303"/>
          </a:xfrm>
          <a:prstGeom prst="round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method3()</a:t>
            </a:r>
            <a:endParaRPr lang="en-GB" sz="1600" dirty="0">
              <a:solidFill>
                <a:schemeClr val="tx1"/>
              </a:solidFill>
              <a:latin typeface="Arial" pitchFamily="34" charset="0"/>
              <a:cs typeface="Arial" pitchFamily="34" charset="0"/>
            </a:endParaRPr>
          </a:p>
        </p:txBody>
      </p:sp>
      <p:cxnSp>
        <p:nvCxnSpPr>
          <p:cNvPr id="11" name="Straight Arrow Connector 10"/>
          <p:cNvCxnSpPr>
            <a:stCxn id="6" idx="2"/>
            <a:endCxn id="7" idx="0"/>
          </p:cNvCxnSpPr>
          <p:nvPr/>
        </p:nvCxnSpPr>
        <p:spPr>
          <a:xfrm>
            <a:off x="3135551" y="2224026"/>
            <a:ext cx="1070043" cy="796901"/>
          </a:xfrm>
          <a:prstGeom prst="straightConnector1">
            <a:avLst/>
          </a:prstGeom>
          <a:ln>
            <a:solidFill>
              <a:srgbClr val="004050"/>
            </a:solidFill>
            <a:tailEnd type="triangle"/>
          </a:ln>
        </p:spPr>
        <p:style>
          <a:lnRef idx="3">
            <a:schemeClr val="accent4"/>
          </a:lnRef>
          <a:fillRef idx="0">
            <a:schemeClr val="accent4"/>
          </a:fillRef>
          <a:effectRef idx="2">
            <a:schemeClr val="accent4"/>
          </a:effectRef>
          <a:fontRef idx="minor">
            <a:schemeClr val="tx1"/>
          </a:fontRef>
        </p:style>
      </p:cxnSp>
      <p:cxnSp>
        <p:nvCxnSpPr>
          <p:cNvPr id="12" name="Straight Arrow Connector 11"/>
          <p:cNvCxnSpPr/>
          <p:nvPr/>
        </p:nvCxnSpPr>
        <p:spPr>
          <a:xfrm>
            <a:off x="4383933" y="3760230"/>
            <a:ext cx="1070043" cy="796901"/>
          </a:xfrm>
          <a:prstGeom prst="straightConnector1">
            <a:avLst/>
          </a:prstGeom>
          <a:ln>
            <a:solidFill>
              <a:srgbClr val="004050"/>
            </a:solidFill>
            <a:tailEnd type="triangle"/>
          </a:ln>
        </p:spPr>
        <p:style>
          <a:lnRef idx="3">
            <a:schemeClr val="accent4"/>
          </a:lnRef>
          <a:fillRef idx="0">
            <a:schemeClr val="accent4"/>
          </a:fillRef>
          <a:effectRef idx="2">
            <a:schemeClr val="accent4"/>
          </a:effectRef>
          <a:fontRef idx="minor">
            <a:schemeClr val="tx1"/>
          </a:fontRef>
        </p:style>
      </p:cxnSp>
      <p:sp>
        <p:nvSpPr>
          <p:cNvPr id="13" name="TextBox 12"/>
          <p:cNvSpPr txBox="1"/>
          <p:nvPr/>
        </p:nvSpPr>
        <p:spPr>
          <a:xfrm>
            <a:off x="2438396" y="2330650"/>
            <a:ext cx="954107" cy="400110"/>
          </a:xfrm>
          <a:prstGeom prst="rect">
            <a:avLst/>
          </a:prstGeom>
          <a:noFill/>
        </p:spPr>
        <p:txBody>
          <a:bodyPr wrap="none" rtlCol="0">
            <a:spAutoFit/>
          </a:bodyPr>
          <a:lstStyle/>
          <a:p>
            <a:r>
              <a:rPr lang="en-GB" sz="2000" dirty="0">
                <a:latin typeface="Courier New" pitchFamily="49" charset="0"/>
                <a:cs typeface="Courier New" pitchFamily="49" charset="0"/>
              </a:rPr>
              <a:t>calls</a:t>
            </a:r>
          </a:p>
        </p:txBody>
      </p:sp>
      <p:sp>
        <p:nvSpPr>
          <p:cNvPr id="14" name="TextBox 13"/>
          <p:cNvSpPr txBox="1"/>
          <p:nvPr/>
        </p:nvSpPr>
        <p:spPr>
          <a:xfrm>
            <a:off x="3670174" y="3861349"/>
            <a:ext cx="954107" cy="400110"/>
          </a:xfrm>
          <a:prstGeom prst="rect">
            <a:avLst/>
          </a:prstGeom>
          <a:noFill/>
        </p:spPr>
        <p:txBody>
          <a:bodyPr wrap="none" rtlCol="0">
            <a:spAutoFit/>
          </a:bodyPr>
          <a:lstStyle/>
          <a:p>
            <a:r>
              <a:rPr lang="en-GB" sz="2000" dirty="0">
                <a:latin typeface="Courier New" pitchFamily="49" charset="0"/>
                <a:cs typeface="Courier New" pitchFamily="49" charset="0"/>
              </a:rPr>
              <a:t>calls</a:t>
            </a:r>
          </a:p>
        </p:txBody>
      </p:sp>
      <p:sp>
        <p:nvSpPr>
          <p:cNvPr id="15" name="Explosion 1 14"/>
          <p:cNvSpPr/>
          <p:nvPr/>
        </p:nvSpPr>
        <p:spPr>
          <a:xfrm>
            <a:off x="6050606" y="5395243"/>
            <a:ext cx="804153" cy="787940"/>
          </a:xfrm>
          <a:prstGeom prst="irregularSeal1">
            <a:avLst/>
          </a:prstGeom>
          <a:solidFill>
            <a:srgbClr val="28CFF9">
              <a:alpha val="40000"/>
            </a:srgbClr>
          </a:solidFill>
          <a:ln w="19050">
            <a:solidFill>
              <a:srgbClr val="7E007C"/>
            </a:solidFill>
            <a:prstDash val="sysDot"/>
          </a:ln>
        </p:spPr>
        <p:style>
          <a:lnRef idx="1">
            <a:schemeClr val="dk1"/>
          </a:lnRef>
          <a:fillRef idx="2">
            <a:schemeClr val="dk1"/>
          </a:fillRef>
          <a:effectRef idx="1">
            <a:schemeClr val="dk1"/>
          </a:effectRef>
          <a:fontRef idx="minor">
            <a:schemeClr val="dk1"/>
          </a:fontRef>
        </p:style>
        <p:txBody>
          <a:bodyPr rtlCol="0" anchor="ctr"/>
          <a:lstStyle/>
          <a:p>
            <a:pPr algn="ctr"/>
            <a:endParaRPr lang="en-GB" sz="1600" dirty="0">
              <a:solidFill>
                <a:schemeClr val="tx1"/>
              </a:solidFill>
              <a:latin typeface="Arial" pitchFamily="34" charset="0"/>
              <a:cs typeface="Arial" pitchFamily="34" charset="0"/>
            </a:endParaRPr>
          </a:p>
        </p:txBody>
      </p:sp>
      <p:cxnSp>
        <p:nvCxnSpPr>
          <p:cNvPr id="16" name="Straight Arrow Connector 15"/>
          <p:cNvCxnSpPr>
            <a:stCxn id="8" idx="2"/>
            <a:endCxn id="15" idx="1"/>
          </p:cNvCxnSpPr>
          <p:nvPr/>
        </p:nvCxnSpPr>
        <p:spPr>
          <a:xfrm>
            <a:off x="5428035" y="5296433"/>
            <a:ext cx="622570" cy="413074"/>
          </a:xfrm>
          <a:prstGeom prst="straightConnector1">
            <a:avLst/>
          </a:prstGeom>
          <a:ln>
            <a:solidFill>
              <a:srgbClr val="004050"/>
            </a:solidFill>
            <a:tailEnd type="triangle"/>
          </a:ln>
        </p:spPr>
        <p:style>
          <a:lnRef idx="3">
            <a:schemeClr val="accent4"/>
          </a:lnRef>
          <a:fillRef idx="0">
            <a:schemeClr val="accent4"/>
          </a:fillRef>
          <a:effectRef idx="2">
            <a:schemeClr val="accent4"/>
          </a:effectRef>
          <a:fontRef idx="minor">
            <a:schemeClr val="tx1"/>
          </a:fontRef>
        </p:style>
      </p:cxnSp>
      <p:sp>
        <p:nvSpPr>
          <p:cNvPr id="20" name="TextBox 19"/>
          <p:cNvSpPr txBox="1"/>
          <p:nvPr/>
        </p:nvSpPr>
        <p:spPr>
          <a:xfrm>
            <a:off x="2613489" y="5395242"/>
            <a:ext cx="3112857" cy="400110"/>
          </a:xfrm>
          <a:prstGeom prst="rect">
            <a:avLst/>
          </a:prstGeom>
          <a:noFill/>
        </p:spPr>
        <p:txBody>
          <a:bodyPr wrap="square" rtlCol="0">
            <a:spAutoFit/>
          </a:bodyPr>
          <a:lstStyle/>
          <a:p>
            <a:r>
              <a:rPr lang="en-GB" sz="2000" dirty="0">
                <a:latin typeface="Courier New" pitchFamily="49" charset="0"/>
                <a:cs typeface="Courier New" pitchFamily="49" charset="0"/>
              </a:rPr>
              <a:t>Throws an exception</a:t>
            </a:r>
          </a:p>
        </p:txBody>
      </p:sp>
      <p:sp>
        <p:nvSpPr>
          <p:cNvPr id="22" name="Freeform 21"/>
          <p:cNvSpPr/>
          <p:nvPr/>
        </p:nvSpPr>
        <p:spPr>
          <a:xfrm>
            <a:off x="5084326" y="3278997"/>
            <a:ext cx="2607693" cy="2718811"/>
          </a:xfrm>
          <a:custGeom>
            <a:avLst/>
            <a:gdLst>
              <a:gd name="connsiteX0" fmla="*/ 1731523 w 2607693"/>
              <a:gd name="connsiteY0" fmla="*/ 2602627 h 2718811"/>
              <a:gd name="connsiteX1" fmla="*/ 2587557 w 2607693"/>
              <a:gd name="connsiteY1" fmla="*/ 2466440 h 2718811"/>
              <a:gd name="connsiteX2" fmla="*/ 972766 w 2607693"/>
              <a:gd name="connsiteY2" fmla="*/ 365266 h 2718811"/>
              <a:gd name="connsiteX3" fmla="*/ 0 w 2607693"/>
              <a:gd name="connsiteY3" fmla="*/ 15070 h 2718811"/>
            </a:gdLst>
            <a:ahLst/>
            <a:cxnLst>
              <a:cxn ang="0">
                <a:pos x="connsiteX0" y="connsiteY0"/>
              </a:cxn>
              <a:cxn ang="0">
                <a:pos x="connsiteX1" y="connsiteY1"/>
              </a:cxn>
              <a:cxn ang="0">
                <a:pos x="connsiteX2" y="connsiteY2"/>
              </a:cxn>
              <a:cxn ang="0">
                <a:pos x="connsiteX3" y="connsiteY3"/>
              </a:cxn>
            </a:cxnLst>
            <a:rect l="l" t="t" r="r" b="b"/>
            <a:pathLst>
              <a:path w="2607693" h="2718811">
                <a:moveTo>
                  <a:pt x="1731523" y="2602627"/>
                </a:moveTo>
                <a:cubicBezTo>
                  <a:pt x="2222769" y="2720980"/>
                  <a:pt x="2714016" y="2839333"/>
                  <a:pt x="2587557" y="2466440"/>
                </a:cubicBezTo>
                <a:cubicBezTo>
                  <a:pt x="2461098" y="2093547"/>
                  <a:pt x="1404025" y="773828"/>
                  <a:pt x="972766" y="365266"/>
                </a:cubicBezTo>
                <a:cubicBezTo>
                  <a:pt x="541506" y="-43296"/>
                  <a:pt x="270753" y="-14113"/>
                  <a:pt x="0" y="15070"/>
                </a:cubicBezTo>
              </a:path>
            </a:pathLst>
          </a:custGeom>
          <a:ln w="19050">
            <a:solidFill>
              <a:srgbClr val="004050"/>
            </a:solidFill>
            <a:headEnd type="none" w="med" len="med"/>
            <a:tailEnd type="arrow" w="med" len="med"/>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en-GB"/>
          </a:p>
        </p:txBody>
      </p:sp>
      <p:sp>
        <p:nvSpPr>
          <p:cNvPr id="23" name="Freeform 22"/>
          <p:cNvSpPr/>
          <p:nvPr/>
        </p:nvSpPr>
        <p:spPr>
          <a:xfrm>
            <a:off x="4150467" y="1698733"/>
            <a:ext cx="1506948" cy="1498059"/>
          </a:xfrm>
          <a:custGeom>
            <a:avLst/>
            <a:gdLst>
              <a:gd name="connsiteX0" fmla="*/ 1011677 w 1506948"/>
              <a:gd name="connsiteY0" fmla="*/ 1498059 h 1498059"/>
              <a:gd name="connsiteX1" fmla="*/ 1459149 w 1506948"/>
              <a:gd name="connsiteY1" fmla="*/ 1186774 h 1498059"/>
              <a:gd name="connsiteX2" fmla="*/ 0 w 1506948"/>
              <a:gd name="connsiteY2" fmla="*/ 0 h 1498059"/>
            </a:gdLst>
            <a:ahLst/>
            <a:cxnLst>
              <a:cxn ang="0">
                <a:pos x="connsiteX0" y="connsiteY0"/>
              </a:cxn>
              <a:cxn ang="0">
                <a:pos x="connsiteX1" y="connsiteY1"/>
              </a:cxn>
              <a:cxn ang="0">
                <a:pos x="connsiteX2" y="connsiteY2"/>
              </a:cxn>
            </a:cxnLst>
            <a:rect l="l" t="t" r="r" b="b"/>
            <a:pathLst>
              <a:path w="1506948" h="1498059">
                <a:moveTo>
                  <a:pt x="1011677" y="1498059"/>
                </a:moveTo>
                <a:cubicBezTo>
                  <a:pt x="1319719" y="1467254"/>
                  <a:pt x="1627762" y="1436450"/>
                  <a:pt x="1459149" y="1186774"/>
                </a:cubicBezTo>
                <a:cubicBezTo>
                  <a:pt x="1290536" y="937098"/>
                  <a:pt x="645268" y="468549"/>
                  <a:pt x="0" y="0"/>
                </a:cubicBezTo>
              </a:path>
            </a:pathLst>
          </a:custGeom>
          <a:ln w="19050">
            <a:solidFill>
              <a:srgbClr val="004050"/>
            </a:solidFill>
            <a:headEnd type="none" w="med" len="med"/>
            <a:tailEnd type="arrow" w="med" len="med"/>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en-GB"/>
          </a:p>
        </p:txBody>
      </p:sp>
      <p:sp>
        <p:nvSpPr>
          <p:cNvPr id="24" name="TextBox 23"/>
          <p:cNvSpPr txBox="1"/>
          <p:nvPr/>
        </p:nvSpPr>
        <p:spPr>
          <a:xfrm>
            <a:off x="7337891" y="4788891"/>
            <a:ext cx="3116102" cy="646331"/>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a:latin typeface="Courier New" pitchFamily="49" charset="0"/>
                <a:cs typeface="Courier New" pitchFamily="49" charset="0"/>
              </a:rPr>
              <a:t>Goes up the call stack if not handled</a:t>
            </a:r>
          </a:p>
        </p:txBody>
      </p:sp>
      <p:sp>
        <p:nvSpPr>
          <p:cNvPr id="26" name="TextBox 25"/>
          <p:cNvSpPr txBox="1"/>
          <p:nvPr/>
        </p:nvSpPr>
        <p:spPr>
          <a:xfrm>
            <a:off x="5058375" y="1867348"/>
            <a:ext cx="3116102" cy="646331"/>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a:latin typeface="Courier New" pitchFamily="49" charset="0"/>
                <a:cs typeface="Courier New" pitchFamily="49" charset="0"/>
              </a:rPr>
              <a:t>Goes up the call stack if not handled</a:t>
            </a:r>
          </a:p>
        </p:txBody>
      </p:sp>
    </p:spTree>
    <p:extLst>
      <p:ext uri="{BB962C8B-B14F-4D97-AF65-F5344CB8AC3E}">
        <p14:creationId xmlns:p14="http://schemas.microsoft.com/office/powerpoint/2010/main" val="2596424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Example of Exception bubbling up</a:t>
            </a:r>
          </a:p>
        </p:txBody>
      </p:sp>
      <p:sp>
        <p:nvSpPr>
          <p:cNvPr id="3" name="Content Placeholder 2"/>
          <p:cNvSpPr>
            <a:spLocks noGrp="1"/>
          </p:cNvSpPr>
          <p:nvPr>
            <p:ph idx="1"/>
          </p:nvPr>
        </p:nvSpPr>
        <p:spPr>
          <a:xfrm>
            <a:off x="341272" y="1368256"/>
            <a:ext cx="11073317" cy="3892113"/>
          </a:xfrm>
        </p:spPr>
        <p:txBody>
          <a:bodyPr vert="horz" lIns="0" tIns="0" rIns="0" bIns="0" rtlCol="0" anchor="t" anchorCtr="0">
            <a:noAutofit/>
          </a:bodyPr>
          <a:lstStyle/>
          <a:p>
            <a:r>
              <a:rPr lang="en-GB" b="1" dirty="0"/>
              <a:t>Same coding error but exception thrown in called method</a:t>
            </a:r>
          </a:p>
          <a:p>
            <a:endParaRPr lang="en-GB" b="1" dirty="0"/>
          </a:p>
        </p:txBody>
      </p:sp>
      <p:sp>
        <p:nvSpPr>
          <p:cNvPr id="7" name="Rectangle 6"/>
          <p:cNvSpPr/>
          <p:nvPr/>
        </p:nvSpPr>
        <p:spPr>
          <a:xfrm>
            <a:off x="2292483" y="2196960"/>
            <a:ext cx="6760726" cy="2154436"/>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main(String[] </a:t>
            </a:r>
            <a:r>
              <a:rPr lang="en-GB" sz="1600" b="1" dirty="0" err="1">
                <a:solidFill>
                  <a:srgbClr val="6A3E3E"/>
                </a:solidFill>
                <a:latin typeface="Consolas" panose="020B0609020204030204" pitchFamily="49" charset="0"/>
              </a:rPr>
              <a:t>args</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ages</a:t>
            </a:r>
            <a:r>
              <a:rPr lang="en-GB" sz="1600" b="1" dirty="0">
                <a:solidFill>
                  <a:srgbClr val="000000"/>
                </a:solidFill>
                <a:latin typeface="Consolas" panose="020B0609020204030204" pitchFamily="49" charset="0"/>
              </a:rPr>
              <a:t> =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[7];</a:t>
            </a:r>
          </a:p>
          <a:p>
            <a:r>
              <a:rPr lang="en-GB" sz="1600" i="1" dirty="0">
                <a:solidFill>
                  <a:srgbClr val="000000"/>
                </a:solidFill>
                <a:latin typeface="Consolas" panose="020B0609020204030204" pitchFamily="49" charset="0"/>
              </a:rPr>
              <a:t>	</a:t>
            </a:r>
            <a:r>
              <a:rPr lang="en-GB" b="1" i="1" dirty="0" err="1">
                <a:solidFill>
                  <a:srgbClr val="000000"/>
                </a:solidFill>
                <a:latin typeface="Consolas" panose="020B0609020204030204" pitchFamily="49" charset="0"/>
              </a:rPr>
              <a:t>processAges</a:t>
            </a:r>
            <a:r>
              <a:rPr lang="en-GB" b="1" i="1" dirty="0">
                <a:solidFill>
                  <a:srgbClr val="000000"/>
                </a:solidFill>
                <a:latin typeface="Consolas" panose="020B0609020204030204" pitchFamily="49" charset="0"/>
              </a:rPr>
              <a:t>(</a:t>
            </a:r>
            <a:r>
              <a:rPr lang="en-GB" b="1" i="1" dirty="0">
                <a:solidFill>
                  <a:srgbClr val="6A3E3E"/>
                </a:solidFill>
                <a:latin typeface="Consolas" panose="020B0609020204030204" pitchFamily="49" charset="0"/>
              </a:rPr>
              <a:t>ages</a:t>
            </a:r>
            <a:r>
              <a:rPr lang="en-GB" b="1" i="1" dirty="0">
                <a:solidFill>
                  <a:srgbClr val="000000"/>
                </a:solidFill>
                <a:latin typeface="Consolas" panose="020B0609020204030204" pitchFamily="49" charset="0"/>
              </a:rPr>
              <a:t>);</a:t>
            </a:r>
            <a:endParaRPr lang="en-GB" sz="1600" b="1" i="1"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a:t>
            </a:r>
          </a:p>
          <a:p>
            <a:endParaRPr lang="en-GB" sz="1600" dirty="0">
              <a:latin typeface="Consolas" panose="020B0609020204030204" pitchFamily="49" charset="0"/>
            </a:endParaRPr>
          </a:p>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processAges</a:t>
            </a:r>
            <a:r>
              <a:rPr lang="en-GB" sz="1600" b="1" dirty="0">
                <a:solidFill>
                  <a:srgbClr val="000000"/>
                </a:solidFill>
                <a:latin typeface="Consolas" panose="020B0609020204030204" pitchFamily="49" charset="0"/>
              </a:rPr>
              <a:t>(</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ages</a:t>
            </a:r>
            <a:r>
              <a:rPr lang="en-GB" sz="1600" b="1"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800" dirty="0">
                <a:solidFill>
                  <a:srgbClr val="000000"/>
                </a:solidFill>
                <a:latin typeface="Consolas" panose="020B0609020204030204" pitchFamily="49" charset="0"/>
              </a:rPr>
              <a:t> </a:t>
            </a:r>
            <a:r>
              <a:rPr lang="en-GB" sz="18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2A00FF"/>
                </a:solidFill>
                <a:latin typeface="Consolas" panose="020B0609020204030204" pitchFamily="49" charset="0"/>
              </a:rPr>
              <a:t>"Last age is"</a:t>
            </a:r>
            <a:r>
              <a:rPr lang="en-GB" sz="1600" b="1" i="1" dirty="0">
                <a:solidFill>
                  <a:srgbClr val="000000"/>
                </a:solidFill>
                <a:latin typeface="Consolas" panose="020B0609020204030204" pitchFamily="49" charset="0"/>
              </a:rPr>
              <a:t> + </a:t>
            </a:r>
            <a:r>
              <a:rPr lang="en-GB" sz="1600" b="1" i="1" dirty="0">
                <a:solidFill>
                  <a:srgbClr val="6A3E3E"/>
                </a:solidFill>
                <a:latin typeface="Consolas" panose="020B0609020204030204" pitchFamily="49" charset="0"/>
              </a:rPr>
              <a:t>ages</a:t>
            </a:r>
            <a:r>
              <a:rPr lang="en-GB" sz="1600" b="1" i="1" dirty="0">
                <a:solidFill>
                  <a:srgbClr val="000000"/>
                </a:solidFill>
                <a:latin typeface="Consolas" panose="020B0609020204030204" pitchFamily="49" charset="0"/>
              </a:rPr>
              <a:t>[7]);</a:t>
            </a:r>
          </a:p>
          <a:p>
            <a:r>
              <a:rPr lang="en-GB" sz="1600" dirty="0">
                <a:solidFill>
                  <a:srgbClr val="000000"/>
                </a:solidFill>
                <a:latin typeface="Consolas" panose="020B0609020204030204" pitchFamily="49" charset="0"/>
              </a:rPr>
              <a:t>}</a:t>
            </a:r>
          </a:p>
        </p:txBody>
      </p:sp>
      <p:sp>
        <p:nvSpPr>
          <p:cNvPr id="8" name="Rectangle 7"/>
          <p:cNvSpPr/>
          <p:nvPr/>
        </p:nvSpPr>
        <p:spPr>
          <a:xfrm>
            <a:off x="2292483" y="4711680"/>
            <a:ext cx="6760726" cy="646331"/>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FF0000"/>
                </a:solidFill>
                <a:latin typeface="Consolas" panose="020B0609020204030204" pitchFamily="49" charset="0"/>
              </a:rPr>
              <a:t>Exception in thread "main" </a:t>
            </a:r>
            <a:r>
              <a:rPr lang="en-GB" b="1" dirty="0" err="1">
                <a:solidFill>
                  <a:srgbClr val="0066CC"/>
                </a:solidFill>
                <a:latin typeface="Consolas" panose="020B0609020204030204" pitchFamily="49" charset="0"/>
              </a:rPr>
              <a:t>IndexOutOfBoundsException</a:t>
            </a:r>
            <a:endParaRPr lang="en-GB" b="1" dirty="0">
              <a:solidFill>
                <a:srgbClr val="FF0000"/>
              </a:solidFill>
              <a:latin typeface="Consolas" panose="020B0609020204030204" pitchFamily="49" charset="0"/>
            </a:endParaRPr>
          </a:p>
          <a:p>
            <a:r>
              <a:rPr lang="en-GB" b="1" dirty="0">
                <a:solidFill>
                  <a:srgbClr val="FF0000"/>
                </a:solidFill>
                <a:latin typeface="Consolas" panose="020B0609020204030204" pitchFamily="49" charset="0"/>
              </a:rPr>
              <a:t>	</a:t>
            </a:r>
          </a:p>
        </p:txBody>
      </p:sp>
      <p:sp>
        <p:nvSpPr>
          <p:cNvPr id="9" name="Rounded Rectangle 8"/>
          <p:cNvSpPr/>
          <p:nvPr/>
        </p:nvSpPr>
        <p:spPr>
          <a:xfrm>
            <a:off x="8605737" y="3727547"/>
            <a:ext cx="1424181" cy="466928"/>
          </a:xfrm>
          <a:prstGeom prst="roundRect">
            <a:avLst/>
          </a:prstGeom>
          <a:solidFill>
            <a:schemeClr val="accent1">
              <a:lumMod val="20000"/>
              <a:lumOff val="80000"/>
            </a:schemeClr>
          </a:solidFill>
          <a:ln w="19050"/>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exception</a:t>
            </a:r>
          </a:p>
        </p:txBody>
      </p:sp>
      <p:sp>
        <p:nvSpPr>
          <p:cNvPr id="14" name="Freeform 13"/>
          <p:cNvSpPr/>
          <p:nvPr/>
        </p:nvSpPr>
        <p:spPr>
          <a:xfrm>
            <a:off x="6018180" y="2949337"/>
            <a:ext cx="3482787" cy="758757"/>
          </a:xfrm>
          <a:custGeom>
            <a:avLst/>
            <a:gdLst>
              <a:gd name="connsiteX0" fmla="*/ 3190672 w 3482787"/>
              <a:gd name="connsiteY0" fmla="*/ 758757 h 758757"/>
              <a:gd name="connsiteX1" fmla="*/ 3171217 w 3482787"/>
              <a:gd name="connsiteY1" fmla="*/ 311285 h 758757"/>
              <a:gd name="connsiteX2" fmla="*/ 0 w 3482787"/>
              <a:gd name="connsiteY2" fmla="*/ 0 h 758757"/>
            </a:gdLst>
            <a:ahLst/>
            <a:cxnLst>
              <a:cxn ang="0">
                <a:pos x="connsiteX0" y="connsiteY0"/>
              </a:cxn>
              <a:cxn ang="0">
                <a:pos x="connsiteX1" y="connsiteY1"/>
              </a:cxn>
              <a:cxn ang="0">
                <a:pos x="connsiteX2" y="connsiteY2"/>
              </a:cxn>
            </a:cxnLst>
            <a:rect l="l" t="t" r="r" b="b"/>
            <a:pathLst>
              <a:path w="3482787" h="758757">
                <a:moveTo>
                  <a:pt x="3190672" y="758757"/>
                </a:moveTo>
                <a:cubicBezTo>
                  <a:pt x="3446834" y="598250"/>
                  <a:pt x="3702996" y="437744"/>
                  <a:pt x="3171217" y="311285"/>
                </a:cubicBezTo>
                <a:cubicBezTo>
                  <a:pt x="2639438" y="184826"/>
                  <a:pt x="1319719" y="92413"/>
                  <a:pt x="0" y="0"/>
                </a:cubicBezTo>
              </a:path>
            </a:pathLst>
          </a:custGeom>
          <a:ln>
            <a:solidFill>
              <a:srgbClr val="004050"/>
            </a:solidFill>
            <a:headEnd type="none" w="med" len="med"/>
            <a:tailEnd type="arrow" w="med" len="med"/>
          </a:ln>
        </p:spPr>
        <p:style>
          <a:lnRef idx="3">
            <a:schemeClr val="accent4"/>
          </a:lnRef>
          <a:fillRef idx="0">
            <a:schemeClr val="accent4"/>
          </a:fillRef>
          <a:effectRef idx="2">
            <a:schemeClr val="accent4"/>
          </a:effectRef>
          <a:fontRef idx="minor">
            <a:schemeClr val="tx1"/>
          </a:fontRef>
        </p:style>
        <p:txBody>
          <a:bodyPr rtlCol="0" anchor="ctr"/>
          <a:lstStyle/>
          <a:p>
            <a:pPr algn="ctr"/>
            <a:endParaRPr lang="en-GB"/>
          </a:p>
        </p:txBody>
      </p:sp>
      <p:sp>
        <p:nvSpPr>
          <p:cNvPr id="15" name="Freeform 14"/>
          <p:cNvSpPr/>
          <p:nvPr/>
        </p:nvSpPr>
        <p:spPr>
          <a:xfrm>
            <a:off x="7477328" y="4077744"/>
            <a:ext cx="1245140" cy="448254"/>
          </a:xfrm>
          <a:custGeom>
            <a:avLst/>
            <a:gdLst>
              <a:gd name="connsiteX0" fmla="*/ 0 w 1245140"/>
              <a:gd name="connsiteY0" fmla="*/ 0 h 448254"/>
              <a:gd name="connsiteX1" fmla="*/ 311285 w 1245140"/>
              <a:gd name="connsiteY1" fmla="*/ 447473 h 448254"/>
              <a:gd name="connsiteX2" fmla="*/ 1245140 w 1245140"/>
              <a:gd name="connsiteY2" fmla="*/ 116732 h 448254"/>
              <a:gd name="connsiteX3" fmla="*/ 1245140 w 1245140"/>
              <a:gd name="connsiteY3" fmla="*/ 116732 h 448254"/>
            </a:gdLst>
            <a:ahLst/>
            <a:cxnLst>
              <a:cxn ang="0">
                <a:pos x="connsiteX0" y="connsiteY0"/>
              </a:cxn>
              <a:cxn ang="0">
                <a:pos x="connsiteX1" y="connsiteY1"/>
              </a:cxn>
              <a:cxn ang="0">
                <a:pos x="connsiteX2" y="connsiteY2"/>
              </a:cxn>
              <a:cxn ang="0">
                <a:pos x="connsiteX3" y="connsiteY3"/>
              </a:cxn>
            </a:cxnLst>
            <a:rect l="l" t="t" r="r" b="b"/>
            <a:pathLst>
              <a:path w="1245140" h="448254">
                <a:moveTo>
                  <a:pt x="0" y="0"/>
                </a:moveTo>
                <a:cubicBezTo>
                  <a:pt x="51881" y="214009"/>
                  <a:pt x="103762" y="428018"/>
                  <a:pt x="311285" y="447473"/>
                </a:cubicBezTo>
                <a:cubicBezTo>
                  <a:pt x="518808" y="466928"/>
                  <a:pt x="1245140" y="116732"/>
                  <a:pt x="1245140" y="116732"/>
                </a:cubicBezTo>
                <a:lnTo>
                  <a:pt x="1245140" y="116732"/>
                </a:lnTo>
              </a:path>
            </a:pathLst>
          </a:custGeom>
          <a:ln>
            <a:solidFill>
              <a:srgbClr val="004050"/>
            </a:solidFill>
            <a:headEnd type="none" w="med" len="med"/>
            <a:tailEnd type="arrow" w="med" len="med"/>
          </a:ln>
        </p:spPr>
        <p:style>
          <a:lnRef idx="3">
            <a:schemeClr val="accent4"/>
          </a:lnRef>
          <a:fillRef idx="0">
            <a:schemeClr val="accent4"/>
          </a:fillRef>
          <a:effectRef idx="2">
            <a:schemeClr val="accent4"/>
          </a:effectRef>
          <a:fontRef idx="minor">
            <a:schemeClr val="tx1"/>
          </a:fontRef>
        </p:style>
        <p:txBody>
          <a:bodyPr rtlCol="0" anchor="ctr"/>
          <a:lstStyle/>
          <a:p>
            <a:pPr algn="ctr"/>
            <a:endParaRPr lang="en-GB"/>
          </a:p>
        </p:txBody>
      </p:sp>
      <p:sp>
        <p:nvSpPr>
          <p:cNvPr id="4" name="Rounded Rectangular Callout 3"/>
          <p:cNvSpPr/>
          <p:nvPr/>
        </p:nvSpPr>
        <p:spPr>
          <a:xfrm>
            <a:off x="341272" y="4798207"/>
            <a:ext cx="1577375" cy="816825"/>
          </a:xfrm>
          <a:prstGeom prst="wedgeRoundRectCallout">
            <a:avLst>
              <a:gd name="adj1" fmla="val 64635"/>
              <a:gd name="adj2" fmla="val -19307"/>
              <a:gd name="adj3" fmla="val 16667"/>
            </a:avLst>
          </a:prstGeom>
          <a:solidFill>
            <a:schemeClr val="tx2"/>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Console output</a:t>
            </a:r>
          </a:p>
        </p:txBody>
      </p:sp>
    </p:spTree>
    <p:extLst>
      <p:ext uri="{BB962C8B-B14F-4D97-AF65-F5344CB8AC3E}">
        <p14:creationId xmlns:p14="http://schemas.microsoft.com/office/powerpoint/2010/main" val="2068106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20114" y="1412642"/>
            <a:ext cx="8291097" cy="4524315"/>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7F0055"/>
                </a:solidFill>
                <a:latin typeface="Consolas" panose="020B0609020204030204" pitchFamily="49" charset="0"/>
              </a:rPr>
              <a:t>try</a:t>
            </a:r>
            <a:r>
              <a:rPr lang="en-GB" b="1" dirty="0">
                <a:solidFill>
                  <a:srgbClr val="000000"/>
                </a:solidFill>
                <a:latin typeface="Consolas" panose="020B0609020204030204" pitchFamily="49" charset="0"/>
              </a:rPr>
              <a:t> { </a:t>
            </a:r>
          </a:p>
          <a:p>
            <a:r>
              <a:rPr lang="en-GB" dirty="0">
                <a:solidFill>
                  <a:srgbClr val="000000"/>
                </a:solidFill>
                <a:latin typeface="Consolas" panose="020B0609020204030204" pitchFamily="49" charset="0"/>
              </a:rPr>
              <a:t>  </a:t>
            </a:r>
            <a:r>
              <a:rPr lang="en-GB" dirty="0">
                <a:solidFill>
                  <a:srgbClr val="3F7F5F"/>
                </a:solidFill>
                <a:latin typeface="Consolas" panose="020B0609020204030204" pitchFamily="49" charset="0"/>
              </a:rPr>
              <a:t>// guarded block  </a:t>
            </a:r>
          </a:p>
          <a:p>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execute_code</a:t>
            </a:r>
            <a:r>
              <a:rPr lang="en-GB" dirty="0">
                <a:solidFill>
                  <a:srgbClr val="000000"/>
                </a:solidFill>
                <a:latin typeface="Consolas" panose="020B0609020204030204" pitchFamily="49" charset="0"/>
              </a:rPr>
              <a:t>();</a:t>
            </a:r>
          </a:p>
          <a:p>
            <a:r>
              <a:rPr lang="en-GB" dirty="0">
                <a:solidFill>
                  <a:srgbClr val="000000"/>
                </a:solidFill>
                <a:latin typeface="Consolas" panose="020B0609020204030204" pitchFamily="49" charset="0"/>
              </a:rPr>
              <a:t>} </a:t>
            </a:r>
          </a:p>
          <a:p>
            <a:r>
              <a:rPr lang="en-GB" b="1" dirty="0">
                <a:solidFill>
                  <a:srgbClr val="7F0055"/>
                </a:solidFill>
                <a:latin typeface="Consolas" panose="020B0609020204030204" pitchFamily="49" charset="0"/>
              </a:rPr>
              <a:t>catch</a:t>
            </a:r>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SomeSpecificExceptionType</a:t>
            </a:r>
            <a:r>
              <a:rPr lang="en-GB" b="1" dirty="0">
                <a:solidFill>
                  <a:srgbClr val="000000"/>
                </a:solidFill>
                <a:latin typeface="Consolas" panose="020B0609020204030204" pitchFamily="49" charset="0"/>
              </a:rPr>
              <a:t> </a:t>
            </a:r>
            <a:r>
              <a:rPr lang="en-GB" b="1" dirty="0" err="1">
                <a:solidFill>
                  <a:srgbClr val="6A3E3E"/>
                </a:solidFill>
                <a:latin typeface="Consolas" panose="020B0609020204030204" pitchFamily="49" charset="0"/>
              </a:rPr>
              <a:t>exn</a:t>
            </a:r>
            <a:r>
              <a:rPr lang="en-GB"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a:t>
            </a:r>
            <a:r>
              <a:rPr lang="en-GB" sz="1800" dirty="0" err="1">
                <a:solidFill>
                  <a:srgbClr val="000000"/>
                </a:solidFill>
                <a:latin typeface="Cascadia Mono" panose="020B0609020000020004" pitchFamily="49" charset="0"/>
              </a:rPr>
              <a:t>Console.WriteLine</a:t>
            </a:r>
            <a:r>
              <a:rPr lang="en-GB" b="1" i="1" dirty="0">
                <a:solidFill>
                  <a:srgbClr val="000000"/>
                </a:solidFill>
                <a:latin typeface="Consolas" panose="020B0609020204030204" pitchFamily="49" charset="0"/>
              </a:rPr>
              <a:t>(</a:t>
            </a:r>
            <a:r>
              <a:rPr lang="en-GB" b="1" i="1" dirty="0">
                <a:solidFill>
                  <a:srgbClr val="2A00FF"/>
                </a:solidFill>
                <a:latin typeface="Consolas" panose="020B0609020204030204" pitchFamily="49" charset="0"/>
              </a:rPr>
              <a:t>"....: "</a:t>
            </a:r>
            <a:r>
              <a:rPr lang="en-GB" b="1" i="1" dirty="0">
                <a:solidFill>
                  <a:srgbClr val="000000"/>
                </a:solidFill>
                <a:latin typeface="Consolas" panose="020B0609020204030204" pitchFamily="49" charset="0"/>
              </a:rPr>
              <a:t> + </a:t>
            </a:r>
            <a:r>
              <a:rPr lang="en-GB" b="1" i="1" dirty="0" err="1">
                <a:solidFill>
                  <a:srgbClr val="6A3E3E"/>
                </a:solidFill>
                <a:latin typeface="Consolas" panose="020B0609020204030204" pitchFamily="49" charset="0"/>
              </a:rPr>
              <a:t>exn</a:t>
            </a:r>
            <a:r>
              <a:rPr lang="en-GB" b="1" i="1" dirty="0" err="1">
                <a:solidFill>
                  <a:srgbClr val="000000"/>
                </a:solidFill>
                <a:latin typeface="Consolas" panose="020B0609020204030204" pitchFamily="49" charset="0"/>
              </a:rPr>
              <a:t>.Message</a:t>
            </a:r>
            <a:r>
              <a:rPr lang="en-GB" b="1" i="1" dirty="0">
                <a:solidFill>
                  <a:srgbClr val="000000"/>
                </a:solidFill>
                <a:latin typeface="Consolas" panose="020B0609020204030204" pitchFamily="49" charset="0"/>
              </a:rPr>
              <a:t>);</a:t>
            </a:r>
          </a:p>
          <a:p>
            <a:r>
              <a:rPr lang="en-GB" dirty="0">
                <a:solidFill>
                  <a:srgbClr val="000000"/>
                </a:solidFill>
                <a:latin typeface="Consolas" panose="020B0609020204030204" pitchFamily="49" charset="0"/>
              </a:rPr>
              <a:t>  </a:t>
            </a:r>
          </a:p>
          <a:p>
            <a:r>
              <a:rPr lang="en-GB" dirty="0">
                <a:solidFill>
                  <a:srgbClr val="000000"/>
                </a:solidFill>
                <a:latin typeface="Consolas" panose="020B0609020204030204" pitchFamily="49" charset="0"/>
              </a:rPr>
              <a:t>}</a:t>
            </a:r>
          </a:p>
          <a:p>
            <a:r>
              <a:rPr lang="en-GB" b="1" dirty="0">
                <a:solidFill>
                  <a:srgbClr val="7F0055"/>
                </a:solidFill>
                <a:latin typeface="Consolas" panose="020B0609020204030204" pitchFamily="49" charset="0"/>
              </a:rPr>
              <a:t>catch</a:t>
            </a:r>
            <a:r>
              <a:rPr lang="en-GB" b="1" dirty="0">
                <a:solidFill>
                  <a:srgbClr val="000000"/>
                </a:solidFill>
                <a:latin typeface="Consolas" panose="020B0609020204030204" pitchFamily="49" charset="0"/>
              </a:rPr>
              <a:t>( Exception </a:t>
            </a:r>
            <a:r>
              <a:rPr lang="en-GB" b="1" dirty="0" err="1">
                <a:solidFill>
                  <a:srgbClr val="6A3E3E"/>
                </a:solidFill>
                <a:latin typeface="Consolas" panose="020B0609020204030204" pitchFamily="49" charset="0"/>
              </a:rPr>
              <a:t>exn</a:t>
            </a:r>
            <a:r>
              <a:rPr lang="en-GB" b="1" dirty="0">
                <a:solidFill>
                  <a:srgbClr val="000000"/>
                </a:solidFill>
                <a:latin typeface="Consolas" panose="020B0609020204030204" pitchFamily="49" charset="0"/>
              </a:rPr>
              <a:t> ) {  </a:t>
            </a:r>
            <a:r>
              <a:rPr lang="en-GB" b="1" dirty="0">
                <a:solidFill>
                  <a:srgbClr val="3F7F5F"/>
                </a:solidFill>
                <a:latin typeface="Consolas" panose="020B0609020204030204" pitchFamily="49" charset="0"/>
              </a:rPr>
              <a:t>// catch everything else</a:t>
            </a:r>
          </a:p>
          <a:p>
            <a:r>
              <a:rPr lang="en-GB" dirty="0">
                <a:solidFill>
                  <a:srgbClr val="000000"/>
                </a:solidFill>
                <a:latin typeface="Consolas" panose="020B0609020204030204" pitchFamily="49" charset="0"/>
              </a:rPr>
              <a:t>  </a:t>
            </a:r>
            <a:r>
              <a:rPr lang="en-GB" sz="1800" dirty="0" err="1">
                <a:solidFill>
                  <a:srgbClr val="000000"/>
                </a:solidFill>
                <a:latin typeface="Cascadia Mono" panose="020B0609020000020004" pitchFamily="49" charset="0"/>
              </a:rPr>
              <a:t>Console.WriteLine</a:t>
            </a:r>
            <a:r>
              <a:rPr lang="en-GB" sz="1800" dirty="0">
                <a:solidFill>
                  <a:srgbClr val="000000"/>
                </a:solidFill>
                <a:latin typeface="Cascadia Mono" panose="020B0609020000020004" pitchFamily="49" charset="0"/>
              </a:rPr>
              <a:t> </a:t>
            </a:r>
            <a:r>
              <a:rPr lang="en-GB" b="1" i="1" dirty="0">
                <a:solidFill>
                  <a:srgbClr val="000000"/>
                </a:solidFill>
                <a:latin typeface="Consolas" panose="020B0609020204030204" pitchFamily="49" charset="0"/>
              </a:rPr>
              <a:t>(</a:t>
            </a:r>
            <a:r>
              <a:rPr lang="en-GB" b="1" i="1" dirty="0">
                <a:solidFill>
                  <a:srgbClr val="2A00FF"/>
                </a:solidFill>
                <a:latin typeface="Consolas" panose="020B0609020204030204" pitchFamily="49" charset="0"/>
              </a:rPr>
              <a:t>"General error: "</a:t>
            </a:r>
            <a:r>
              <a:rPr lang="en-GB" b="1" i="1" dirty="0">
                <a:solidFill>
                  <a:srgbClr val="000000"/>
                </a:solidFill>
                <a:latin typeface="Consolas" panose="020B0609020204030204" pitchFamily="49" charset="0"/>
              </a:rPr>
              <a:t> + </a:t>
            </a:r>
            <a:r>
              <a:rPr lang="en-GB" b="1" i="1" dirty="0" err="1">
                <a:solidFill>
                  <a:srgbClr val="6A3E3E"/>
                </a:solidFill>
                <a:latin typeface="Consolas" panose="020B0609020204030204" pitchFamily="49" charset="0"/>
              </a:rPr>
              <a:t>exn</a:t>
            </a:r>
            <a:r>
              <a:rPr lang="en-GB" b="1" i="1" dirty="0" err="1">
                <a:solidFill>
                  <a:srgbClr val="000000"/>
                </a:solidFill>
                <a:latin typeface="Consolas" panose="020B0609020204030204" pitchFamily="49" charset="0"/>
              </a:rPr>
              <a:t>.Message</a:t>
            </a:r>
            <a:r>
              <a:rPr lang="en-GB" b="1" i="1" dirty="0">
                <a:solidFill>
                  <a:srgbClr val="000000"/>
                </a:solidFill>
                <a:latin typeface="Consolas" panose="020B0609020204030204" pitchFamily="49" charset="0"/>
              </a:rPr>
              <a:t>);</a:t>
            </a:r>
          </a:p>
          <a:p>
            <a:r>
              <a:rPr lang="en-GB" dirty="0">
                <a:solidFill>
                  <a:srgbClr val="000000"/>
                </a:solidFill>
                <a:latin typeface="Consolas" panose="020B0609020204030204" pitchFamily="49" charset="0"/>
              </a:rPr>
              <a:t>  </a:t>
            </a:r>
          </a:p>
          <a:p>
            <a:r>
              <a:rPr lang="en-GB" dirty="0">
                <a:solidFill>
                  <a:srgbClr val="000000"/>
                </a:solidFill>
                <a:latin typeface="Consolas" panose="020B0609020204030204" pitchFamily="49" charset="0"/>
              </a:rPr>
              <a:t>}</a:t>
            </a:r>
          </a:p>
          <a:p>
            <a:r>
              <a:rPr lang="en-GB" b="1" dirty="0">
                <a:solidFill>
                  <a:srgbClr val="7F0055"/>
                </a:solidFill>
                <a:latin typeface="Consolas" panose="020B0609020204030204" pitchFamily="49" charset="0"/>
              </a:rPr>
              <a:t>finally</a:t>
            </a:r>
            <a:r>
              <a:rPr lang="en-GB" b="1" dirty="0">
                <a:solidFill>
                  <a:srgbClr val="000000"/>
                </a:solidFill>
                <a:latin typeface="Consolas" panose="020B0609020204030204" pitchFamily="49" charset="0"/>
              </a:rPr>
              <a:t> {   </a:t>
            </a:r>
          </a:p>
          <a:p>
            <a:r>
              <a:rPr lang="en-GB" dirty="0">
                <a:solidFill>
                  <a:srgbClr val="000000"/>
                </a:solidFill>
                <a:latin typeface="Consolas" panose="020B0609020204030204" pitchFamily="49" charset="0"/>
              </a:rPr>
              <a:t>  </a:t>
            </a:r>
            <a:r>
              <a:rPr lang="en-GB" dirty="0">
                <a:solidFill>
                  <a:srgbClr val="3F7F5F"/>
                </a:solidFill>
                <a:latin typeface="Consolas" panose="020B0609020204030204" pitchFamily="49" charset="0"/>
              </a:rPr>
              <a:t>// closing files/connections  </a:t>
            </a:r>
          </a:p>
          <a:p>
            <a:r>
              <a:rPr lang="en-GB" dirty="0">
                <a:solidFill>
                  <a:srgbClr val="000000"/>
                </a:solidFill>
                <a:latin typeface="Consolas" panose="020B0609020204030204" pitchFamily="49" charset="0"/>
              </a:rPr>
              <a:t>}</a:t>
            </a:r>
          </a:p>
          <a:p>
            <a:r>
              <a:rPr lang="en-GB" dirty="0">
                <a:solidFill>
                  <a:srgbClr val="3F7F5F"/>
                </a:solidFill>
                <a:latin typeface="Consolas" panose="020B0609020204030204" pitchFamily="49" charset="0"/>
              </a:rPr>
              <a:t>//remainder of containing method</a:t>
            </a:r>
          </a:p>
        </p:txBody>
      </p:sp>
      <p:sp>
        <p:nvSpPr>
          <p:cNvPr id="6146" name="Rectangle 2"/>
          <p:cNvSpPr>
            <a:spLocks noGrp="1" noChangeArrowheads="1"/>
          </p:cNvSpPr>
          <p:nvPr>
            <p:ph type="title"/>
          </p:nvPr>
        </p:nvSpPr>
        <p:spPr/>
        <p:txBody>
          <a:bodyPr/>
          <a:lstStyle/>
          <a:p>
            <a:pPr eaLnBrk="1" hangingPunct="1"/>
            <a:r>
              <a:rPr lang="en-GB" dirty="0"/>
              <a:t>try/catch/finally syntax </a:t>
            </a:r>
          </a:p>
        </p:txBody>
      </p:sp>
      <p:sp>
        <p:nvSpPr>
          <p:cNvPr id="807941" name="Rectangle 5"/>
          <p:cNvSpPr>
            <a:spLocks noChangeArrowheads="1"/>
          </p:cNvSpPr>
          <p:nvPr/>
        </p:nvSpPr>
        <p:spPr bwMode="auto">
          <a:xfrm>
            <a:off x="7861557" y="3212412"/>
            <a:ext cx="2874575" cy="366767"/>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b="1" dirty="0">
                <a:solidFill>
                  <a:srgbClr val="000000"/>
                </a:solidFill>
              </a:rPr>
              <a:t>Clean up and/or abort</a:t>
            </a:r>
          </a:p>
        </p:txBody>
      </p:sp>
      <p:sp>
        <p:nvSpPr>
          <p:cNvPr id="6150" name="Line 6"/>
          <p:cNvSpPr>
            <a:spLocks noChangeShapeType="1"/>
          </p:cNvSpPr>
          <p:nvPr/>
        </p:nvSpPr>
        <p:spPr bwMode="auto">
          <a:xfrm flipH="1" flipV="1">
            <a:off x="6422774" y="3198383"/>
            <a:ext cx="1438783" cy="180775"/>
          </a:xfrm>
          <a:prstGeom prst="line">
            <a:avLst/>
          </a:prstGeom>
          <a:noFill/>
          <a:ln w="19050">
            <a:solidFill>
              <a:schemeClr val="tx1"/>
            </a:solidFill>
            <a:round/>
            <a:headEnd/>
            <a:tailEnd type="triangle" w="med" len="med"/>
          </a:ln>
        </p:spPr>
        <p:txBody>
          <a:bodyPr wrap="square">
            <a:spAutoFit/>
          </a:bodyPr>
          <a:lstStyle/>
          <a:p>
            <a:endParaRPr lang="en-GB"/>
          </a:p>
        </p:txBody>
      </p:sp>
      <p:sp>
        <p:nvSpPr>
          <p:cNvPr id="6151" name="Line 7"/>
          <p:cNvSpPr>
            <a:spLocks noChangeShapeType="1"/>
          </p:cNvSpPr>
          <p:nvPr/>
        </p:nvSpPr>
        <p:spPr bwMode="auto">
          <a:xfrm flipH="1">
            <a:off x="7412848" y="3395528"/>
            <a:ext cx="441680" cy="309892"/>
          </a:xfrm>
          <a:prstGeom prst="line">
            <a:avLst/>
          </a:prstGeom>
          <a:noFill/>
          <a:ln w="19050">
            <a:solidFill>
              <a:schemeClr val="tx1"/>
            </a:solidFill>
            <a:round/>
            <a:headEnd/>
            <a:tailEnd type="triangle" w="med" len="med"/>
          </a:ln>
        </p:spPr>
        <p:txBody>
          <a:bodyPr wrap="square">
            <a:spAutoFit/>
          </a:bodyPr>
          <a:lstStyle/>
          <a:p>
            <a:endParaRPr lang="en-GB"/>
          </a:p>
        </p:txBody>
      </p:sp>
      <p:sp>
        <p:nvSpPr>
          <p:cNvPr id="807945" name="Rectangle 9"/>
          <p:cNvSpPr>
            <a:spLocks noChangeArrowheads="1"/>
          </p:cNvSpPr>
          <p:nvPr/>
        </p:nvSpPr>
        <p:spPr bwMode="auto">
          <a:xfrm>
            <a:off x="7841333" y="4831738"/>
            <a:ext cx="2722676" cy="643766"/>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algn="ctr" defTabSz="739775" eaLnBrk="0" hangingPunct="0">
              <a:tabLst>
                <a:tab pos="341313" algn="l"/>
                <a:tab pos="690563" algn="l"/>
                <a:tab pos="1030288" algn="l"/>
                <a:tab pos="1371600" algn="l"/>
              </a:tabLst>
              <a:defRPr/>
            </a:pPr>
            <a:r>
              <a:rPr lang="en-GB" b="1" dirty="0">
                <a:solidFill>
                  <a:srgbClr val="000000"/>
                </a:solidFill>
              </a:rPr>
              <a:t>Execute this </a:t>
            </a:r>
            <a:br>
              <a:rPr lang="en-GB" b="1" dirty="0">
                <a:solidFill>
                  <a:srgbClr val="000000"/>
                </a:solidFill>
              </a:rPr>
            </a:br>
            <a:r>
              <a:rPr lang="en-GB" b="1" dirty="0">
                <a:solidFill>
                  <a:srgbClr val="000000"/>
                </a:solidFill>
              </a:rPr>
              <a:t>whatever happens </a:t>
            </a:r>
          </a:p>
        </p:txBody>
      </p:sp>
      <p:sp>
        <p:nvSpPr>
          <p:cNvPr id="6154" name="Line 10"/>
          <p:cNvSpPr>
            <a:spLocks noChangeShapeType="1"/>
          </p:cNvSpPr>
          <p:nvPr/>
        </p:nvSpPr>
        <p:spPr bwMode="auto">
          <a:xfrm flipH="1">
            <a:off x="6352774" y="5183526"/>
            <a:ext cx="1447283" cy="1530"/>
          </a:xfrm>
          <a:prstGeom prst="line">
            <a:avLst/>
          </a:prstGeom>
          <a:noFill/>
          <a:ln w="19050">
            <a:solidFill>
              <a:srgbClr val="004050"/>
            </a:solidFill>
            <a:round/>
            <a:headEnd/>
            <a:tailEnd type="triangle" w="med" len="med"/>
          </a:ln>
        </p:spPr>
        <p:txBody>
          <a:bodyPr wrap="square">
            <a:spAutoFit/>
          </a:bodyPr>
          <a:lstStyle/>
          <a:p>
            <a:endParaRPr lang="en-GB"/>
          </a:p>
        </p:txBody>
      </p:sp>
    </p:spTree>
    <p:extLst>
      <p:ext uri="{BB962C8B-B14F-4D97-AF65-F5344CB8AC3E}">
        <p14:creationId xmlns:p14="http://schemas.microsoft.com/office/powerpoint/2010/main" val="14614313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Multiple Exceptions example</a:t>
            </a:r>
          </a:p>
        </p:txBody>
      </p:sp>
      <p:sp>
        <p:nvSpPr>
          <p:cNvPr id="5" name="Rectangle 4"/>
          <p:cNvSpPr/>
          <p:nvPr/>
        </p:nvSpPr>
        <p:spPr>
          <a:xfrm>
            <a:off x="2014838" y="1779990"/>
            <a:ext cx="5823676" cy="2585323"/>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try</a:t>
            </a:r>
            <a:r>
              <a:rPr lang="en-GB" sz="1600" b="1" dirty="0">
                <a:solidFill>
                  <a:srgbClr val="000000"/>
                </a:solidFill>
                <a:latin typeface="Consolas" panose="020B0609020204030204" pitchFamily="49" charset="0"/>
              </a:rPr>
              <a:t> {</a:t>
            </a:r>
          </a:p>
          <a:p>
            <a:r>
              <a:rPr lang="en-GB" sz="1600" dirty="0">
                <a:solidFill>
                  <a:srgbClr val="3F7F5F"/>
                </a:solidFill>
                <a:latin typeface="Consolas" panose="020B0609020204030204" pitchFamily="49" charset="0"/>
              </a:rPr>
              <a:t>	// some code</a:t>
            </a:r>
          </a:p>
          <a:p>
            <a:r>
              <a:rPr lang="en-GB" sz="1600"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catch</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IOException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ex</a:t>
            </a:r>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log(</a:t>
            </a:r>
            <a:r>
              <a:rPr lang="en-GB" sz="1600" b="1" dirty="0" err="1">
                <a:solidFill>
                  <a:srgbClr val="000000"/>
                </a:solidFill>
                <a:latin typeface="Consolas" panose="020B0609020204030204" pitchFamily="49" charset="0"/>
              </a:rPr>
              <a:t>ex.</a:t>
            </a:r>
            <a:r>
              <a:rPr lang="en-GB" sz="1800" dirty="0" err="1">
                <a:solidFill>
                  <a:srgbClr val="000000"/>
                </a:solidFill>
                <a:latin typeface="Cascadia Mono" panose="020B0609020000020004" pitchFamily="49" charset="0"/>
              </a:rPr>
              <a:t>StackTrace</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throw</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Exception(</a:t>
            </a:r>
            <a:r>
              <a:rPr lang="en-GB" sz="1600" b="1" dirty="0">
                <a:solidFill>
                  <a:srgbClr val="6A3E3E"/>
                </a:solidFill>
                <a:latin typeface="Consolas" panose="020B0609020204030204" pitchFamily="49" charset="0"/>
              </a:rPr>
              <a:t>"Cannot open file"</a:t>
            </a:r>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endParaRPr lang="en-GB" sz="1600" b="1"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catch</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SQLException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ex</a:t>
            </a:r>
            <a:r>
              <a:rPr lang="en-GB" sz="1600" b="1" dirty="0">
                <a:solidFill>
                  <a:srgbClr val="000000"/>
                </a:solidFill>
                <a:latin typeface="Consolas" panose="020B0609020204030204" pitchFamily="49" charset="0"/>
              </a:rPr>
              <a:t>) {</a:t>
            </a:r>
          </a:p>
          <a:p>
            <a:r>
              <a:rPr lang="en-GB" sz="1600" b="1" dirty="0">
                <a:solidFill>
                  <a:srgbClr val="7F0055"/>
                </a:solidFill>
                <a:latin typeface="Consolas" panose="020B0609020204030204" pitchFamily="49" charset="0"/>
              </a:rPr>
              <a:t>	</a:t>
            </a:r>
            <a:r>
              <a:rPr lang="en-GB" sz="1600" b="1" dirty="0">
                <a:solidFill>
                  <a:srgbClr val="000000"/>
                </a:solidFill>
                <a:latin typeface="Consolas" panose="020B0609020204030204" pitchFamily="49" charset="0"/>
              </a:rPr>
              <a:t>log(</a:t>
            </a:r>
            <a:r>
              <a:rPr lang="en-GB" sz="1600" b="1" dirty="0" err="1">
                <a:solidFill>
                  <a:srgbClr val="000000"/>
                </a:solidFill>
                <a:latin typeface="Consolas" panose="020B0609020204030204" pitchFamily="49" charset="0"/>
              </a:rPr>
              <a:t>ex.Message</a:t>
            </a:r>
            <a:r>
              <a:rPr lang="en-GB" sz="1600" b="1" dirty="0">
                <a:solidFill>
                  <a:srgbClr val="000000"/>
                </a:solidFill>
                <a:latin typeface="Consolas" panose="020B0609020204030204" pitchFamily="49" charset="0"/>
              </a:rPr>
              <a:t>);</a:t>
            </a:r>
          </a:p>
          <a:p>
            <a:r>
              <a:rPr lang="en-GB" sz="1600" b="1" dirty="0">
                <a:solidFill>
                  <a:srgbClr val="7F0055"/>
                </a:solidFill>
                <a:latin typeface="Consolas" panose="020B0609020204030204" pitchFamily="49" charset="0"/>
              </a:rPr>
              <a:t>	throw</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new</a:t>
            </a:r>
            <a:r>
              <a:rPr lang="en-GB" sz="1600" b="1" dirty="0">
                <a:solidFill>
                  <a:srgbClr val="000000"/>
                </a:solidFill>
                <a:latin typeface="Consolas" panose="020B0609020204030204" pitchFamily="49" charset="0"/>
              </a:rPr>
              <a:t> Exception(</a:t>
            </a:r>
            <a:r>
              <a:rPr lang="en-GB" sz="1600" b="1" dirty="0">
                <a:solidFill>
                  <a:srgbClr val="6A3E3E"/>
                </a:solidFill>
                <a:latin typeface="Consolas" panose="020B0609020204030204" pitchFamily="49" charset="0"/>
              </a:rPr>
              <a:t>"Database error!"</a:t>
            </a:r>
            <a:r>
              <a:rPr lang="en-GB" sz="1600" b="1"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p:txBody>
      </p:sp>
      <p:sp>
        <p:nvSpPr>
          <p:cNvPr id="9" name="Rounded Rectangular Callout 8"/>
          <p:cNvSpPr/>
          <p:nvPr/>
        </p:nvSpPr>
        <p:spPr>
          <a:xfrm>
            <a:off x="7967597" y="3715983"/>
            <a:ext cx="2042808" cy="758757"/>
          </a:xfrm>
          <a:prstGeom prst="wedgeRoundRectCallout">
            <a:avLst>
              <a:gd name="adj1" fmla="val -64056"/>
              <a:gd name="adj2" fmla="val -42930"/>
              <a:gd name="adj3" fmla="val 16667"/>
            </a:avLst>
          </a:prstGeom>
          <a:solidFill>
            <a:schemeClr val="accent1">
              <a:lumMod val="20000"/>
              <a:lumOff val="80000"/>
            </a:schemeClr>
          </a:solidFill>
          <a:ln w="19050">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Inform the caller</a:t>
            </a:r>
          </a:p>
        </p:txBody>
      </p:sp>
      <p:sp>
        <p:nvSpPr>
          <p:cNvPr id="3" name="Rectangle 2">
            <a:extLst>
              <a:ext uri="{FF2B5EF4-FFF2-40B4-BE49-F238E27FC236}">
                <a16:creationId xmlns:a16="http://schemas.microsoft.com/office/drawing/2014/main" id="{5B48E913-35AE-03D9-BF53-AD777CAFEF5C}"/>
              </a:ext>
            </a:extLst>
          </p:cNvPr>
          <p:cNvSpPr/>
          <p:nvPr/>
        </p:nvSpPr>
        <p:spPr>
          <a:xfrm>
            <a:off x="2014839" y="5013064"/>
            <a:ext cx="5823676" cy="758757"/>
          </a:xfrm>
          <a:prstGeom prst="rect">
            <a:avLst/>
          </a:prstGeom>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dirty="0">
                <a:solidFill>
                  <a:schemeClr val="tx1"/>
                </a:solidFill>
              </a:rPr>
              <a:t>Exception object has two main properties</a:t>
            </a:r>
          </a:p>
          <a:p>
            <a:pPr algn="ctr"/>
            <a:r>
              <a:rPr lang="en-GB" b="1" dirty="0">
                <a:solidFill>
                  <a:schemeClr val="tx1"/>
                </a:solidFill>
              </a:rPr>
              <a:t>Message</a:t>
            </a:r>
            <a:r>
              <a:rPr lang="en-GB" dirty="0">
                <a:solidFill>
                  <a:schemeClr val="tx1"/>
                </a:solidFill>
              </a:rPr>
              <a:t> and </a:t>
            </a:r>
            <a:r>
              <a:rPr lang="en-GB" b="1" dirty="0" err="1">
                <a:solidFill>
                  <a:schemeClr val="tx1"/>
                </a:solidFill>
              </a:rPr>
              <a:t>StackTrace</a:t>
            </a:r>
            <a:endParaRPr lang="en-GB" b="1" dirty="0">
              <a:solidFill>
                <a:schemeClr val="tx1"/>
              </a:solidFill>
            </a:endParaRPr>
          </a:p>
        </p:txBody>
      </p:sp>
    </p:spTree>
    <p:extLst>
      <p:ext uri="{BB962C8B-B14F-4D97-AF65-F5344CB8AC3E}">
        <p14:creationId xmlns:p14="http://schemas.microsoft.com/office/powerpoint/2010/main" val="1719501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throwing exceptions</a:t>
            </a:r>
          </a:p>
        </p:txBody>
      </p:sp>
      <p:sp>
        <p:nvSpPr>
          <p:cNvPr id="4" name="Rectangle 3"/>
          <p:cNvSpPr/>
          <p:nvPr/>
        </p:nvSpPr>
        <p:spPr>
          <a:xfrm>
            <a:off x="1822317" y="1309698"/>
            <a:ext cx="8667069" cy="2800767"/>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Main(string[] </a:t>
            </a:r>
            <a:r>
              <a:rPr lang="en-GB" sz="1600" b="1" dirty="0" err="1">
                <a:solidFill>
                  <a:srgbClr val="6A3E3E"/>
                </a:solidFill>
                <a:latin typeface="Consolas" panose="020B0609020204030204" pitchFamily="49" charset="0"/>
              </a:rPr>
              <a:t>args</a:t>
            </a:r>
            <a:r>
              <a:rPr lang="en-GB" sz="1600" b="1" dirty="0">
                <a:solidFill>
                  <a:srgbClr val="000000"/>
                </a:solidFill>
                <a:latin typeface="Consolas" panose="020B0609020204030204" pitchFamily="49" charset="0"/>
              </a:rPr>
              <a:t>) {</a:t>
            </a:r>
          </a:p>
          <a:p>
            <a:pPr lvl="1"/>
            <a:r>
              <a:rPr lang="en-GB" sz="1600" b="1" dirty="0">
                <a:solidFill>
                  <a:srgbClr val="7F0055"/>
                </a:solidFill>
                <a:latin typeface="Consolas" panose="020B0609020204030204" pitchFamily="49" charset="0"/>
              </a:rPr>
              <a:t>try</a:t>
            </a:r>
            <a:r>
              <a:rPr lang="en-GB" sz="1600" b="1" dirty="0">
                <a:solidFill>
                  <a:srgbClr val="000000"/>
                </a:solidFill>
                <a:latin typeface="Consolas" panose="020B0609020204030204" pitchFamily="49" charset="0"/>
              </a:rPr>
              <a:t> {</a:t>
            </a:r>
          </a:p>
          <a:p>
            <a:pPr lvl="2"/>
            <a:r>
              <a:rPr lang="en-GB" sz="1600" b="1" i="1" dirty="0" err="1">
                <a:solidFill>
                  <a:srgbClr val="000000"/>
                </a:solidFill>
                <a:latin typeface="Consolas" panose="020B0609020204030204" pitchFamily="49" charset="0"/>
              </a:rPr>
              <a:t>readFile</a:t>
            </a:r>
            <a:r>
              <a:rPr lang="en-GB" sz="1600" b="1" i="1" dirty="0">
                <a:solidFill>
                  <a:srgbClr val="000000"/>
                </a:solidFill>
                <a:latin typeface="Consolas" panose="020B0609020204030204" pitchFamily="49" charset="0"/>
              </a:rPr>
              <a:t>();</a:t>
            </a:r>
          </a:p>
          <a:p>
            <a:pPr lvl="2"/>
            <a:endParaRPr lang="en-GB" sz="1600" b="1" i="1" dirty="0">
              <a:solidFill>
                <a:srgbClr val="000000"/>
              </a:solidFill>
              <a:latin typeface="Consolas" panose="020B0609020204030204" pitchFamily="49" charset="0"/>
            </a:endParaRPr>
          </a:p>
          <a:p>
            <a:pPr lvl="1"/>
            <a:r>
              <a:rPr lang="en-GB" sz="1600"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catch</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FileNotFoundException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e</a:t>
            </a:r>
            <a:r>
              <a:rPr lang="en-GB" sz="1600" b="1" dirty="0">
                <a:solidFill>
                  <a:srgbClr val="000000"/>
                </a:solidFill>
                <a:latin typeface="Consolas" panose="020B0609020204030204" pitchFamily="49" charset="0"/>
              </a:rPr>
              <a:t>) {</a:t>
            </a:r>
          </a:p>
          <a:p>
            <a:pPr lvl="1"/>
            <a:r>
              <a:rPr lang="en-GB" sz="1600" dirty="0">
                <a:latin typeface="Consolas" panose="020B0609020204030204" pitchFamily="49" charset="0"/>
              </a:rPr>
              <a:t>	</a:t>
            </a:r>
            <a:r>
              <a:rPr lang="en-GB" sz="1600" b="1" dirty="0">
                <a:latin typeface="Consolas" panose="020B0609020204030204" pitchFamily="49" charset="0"/>
              </a:rPr>
              <a:t>// code to handle this exception</a:t>
            </a:r>
          </a:p>
          <a:p>
            <a:pPr lvl="1"/>
            <a:endParaRPr lang="en-GB" sz="1600" b="1" dirty="0">
              <a:latin typeface="Consolas" panose="020B0609020204030204" pitchFamily="49" charset="0"/>
            </a:endParaRPr>
          </a:p>
          <a:p>
            <a:pPr lvl="1"/>
            <a:r>
              <a:rPr lang="en-GB" sz="1600"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catch</a:t>
            </a:r>
            <a:r>
              <a:rPr lang="en-GB" sz="1600" b="1" dirty="0">
                <a:solidFill>
                  <a:srgbClr val="000000"/>
                </a:solidFill>
                <a:latin typeface="Consolas" panose="020B0609020204030204" pitchFamily="49" charset="0"/>
              </a:rPr>
              <a:t> (Exception </a:t>
            </a:r>
            <a:r>
              <a:rPr lang="en-GB" sz="1600" b="1" dirty="0">
                <a:solidFill>
                  <a:srgbClr val="6A3E3E"/>
                </a:solidFill>
                <a:latin typeface="Consolas" panose="020B0609020204030204" pitchFamily="49" charset="0"/>
              </a:rPr>
              <a:t>e</a:t>
            </a:r>
            <a:r>
              <a:rPr lang="en-GB" sz="1600" b="1" dirty="0">
                <a:solidFill>
                  <a:srgbClr val="000000"/>
                </a:solidFill>
                <a:latin typeface="Consolas" panose="020B0609020204030204" pitchFamily="49" charset="0"/>
              </a:rPr>
              <a:t>) {</a:t>
            </a:r>
          </a:p>
          <a:p>
            <a:pPr lvl="1"/>
            <a:r>
              <a:rPr lang="en-GB" sz="1600" dirty="0">
                <a:latin typeface="Consolas" panose="020B0609020204030204" pitchFamily="49" charset="0"/>
              </a:rPr>
              <a:t>	</a:t>
            </a:r>
            <a:r>
              <a:rPr lang="en-GB" sz="1600" b="1" dirty="0">
                <a:latin typeface="Consolas" panose="020B0609020204030204" pitchFamily="49" charset="0"/>
              </a:rPr>
              <a:t>// code to handle any other exception in the </a:t>
            </a:r>
            <a:r>
              <a:rPr lang="en-GB" sz="1600" b="1" dirty="0" err="1">
                <a:latin typeface="Consolas" panose="020B0609020204030204" pitchFamily="49" charset="0"/>
              </a:rPr>
              <a:t>readFile</a:t>
            </a:r>
            <a:r>
              <a:rPr lang="en-GB" sz="1600" b="1" dirty="0">
                <a:latin typeface="Consolas" panose="020B0609020204030204" pitchFamily="49" charset="0"/>
              </a:rPr>
              <a:t>() method</a:t>
            </a:r>
          </a:p>
          <a:p>
            <a:pPr lvl="1"/>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p:txBody>
      </p:sp>
      <p:sp>
        <p:nvSpPr>
          <p:cNvPr id="5" name="Rectangle 4"/>
          <p:cNvSpPr/>
          <p:nvPr/>
        </p:nvSpPr>
        <p:spPr>
          <a:xfrm>
            <a:off x="1822319" y="4184015"/>
            <a:ext cx="8667068" cy="1477328"/>
          </a:xfrm>
          <a:prstGeom prst="rect">
            <a:avLst/>
          </a:prstGeom>
          <a:solidFill>
            <a:schemeClr val="bg1"/>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a:solidFill>
                  <a:srgbClr val="000000"/>
                </a:solidFill>
                <a:latin typeface="Cascadia Mono" panose="020B0609020000020004" pitchFamily="49" charset="0"/>
              </a:rPr>
              <a:t> </a:t>
            </a:r>
            <a:r>
              <a:rPr lang="en-GB" sz="1800" b="1" dirty="0">
                <a:solidFill>
                  <a:srgbClr val="0000FF"/>
                </a:solidFill>
                <a:latin typeface="Cascadia Mono" panose="020B0609020000020004" pitchFamily="49" charset="0"/>
              </a:rPr>
              <a:t>private</a:t>
            </a:r>
            <a:r>
              <a:rPr lang="en-GB" sz="1800" b="1" dirty="0">
                <a:solidFill>
                  <a:srgbClr val="000000"/>
                </a:solidFill>
                <a:latin typeface="Cascadia Mono" panose="020B0609020000020004" pitchFamily="49" charset="0"/>
              </a:rPr>
              <a:t> </a:t>
            </a:r>
            <a:r>
              <a:rPr lang="en-GB" sz="1800" b="1" dirty="0">
                <a:solidFill>
                  <a:srgbClr val="0000FF"/>
                </a:solidFill>
                <a:latin typeface="Cascadia Mono" panose="020B0609020000020004" pitchFamily="49" charset="0"/>
              </a:rPr>
              <a:t>static</a:t>
            </a:r>
            <a:r>
              <a:rPr lang="en-GB" sz="1800" b="1" dirty="0">
                <a:solidFill>
                  <a:srgbClr val="000000"/>
                </a:solidFill>
                <a:latin typeface="Cascadia Mono" panose="020B0609020000020004" pitchFamily="49" charset="0"/>
              </a:rPr>
              <a:t> </a:t>
            </a:r>
            <a:r>
              <a:rPr lang="en-GB" sz="1800" b="1" dirty="0">
                <a:solidFill>
                  <a:srgbClr val="0000FF"/>
                </a:solidFill>
                <a:latin typeface="Cascadia Mono" panose="020B0609020000020004" pitchFamily="49" charset="0"/>
              </a:rPr>
              <a:t>void</a:t>
            </a:r>
            <a:r>
              <a:rPr lang="en-GB" sz="1800" b="1" dirty="0">
                <a:solidFill>
                  <a:srgbClr val="000000"/>
                </a:solidFill>
                <a:latin typeface="Cascadia Mono" panose="020B0609020000020004" pitchFamily="49" charset="0"/>
              </a:rPr>
              <a:t> </a:t>
            </a:r>
            <a:r>
              <a:rPr lang="en-GB" sz="1800" b="1" dirty="0" err="1">
                <a:solidFill>
                  <a:srgbClr val="000000"/>
                </a:solidFill>
                <a:latin typeface="Cascadia Mono" panose="020B0609020000020004" pitchFamily="49" charset="0"/>
              </a:rPr>
              <a:t>readFile</a:t>
            </a:r>
            <a:r>
              <a:rPr lang="en-GB" sz="1800" b="1" dirty="0">
                <a:solidFill>
                  <a:srgbClr val="000000"/>
                </a:solidFill>
                <a:latin typeface="Cascadia Mono" panose="020B0609020000020004" pitchFamily="49" charset="0"/>
              </a:rPr>
              <a:t>()</a:t>
            </a:r>
          </a:p>
          <a:p>
            <a:r>
              <a:rPr lang="en-GB" sz="1800" b="1" dirty="0">
                <a:solidFill>
                  <a:srgbClr val="000000"/>
                </a:solidFill>
                <a:latin typeface="Cascadia Mono" panose="020B0609020000020004" pitchFamily="49" charset="0"/>
              </a:rPr>
              <a:t> {</a:t>
            </a:r>
          </a:p>
          <a:p>
            <a:r>
              <a:rPr lang="en-GB" sz="1800" b="1" dirty="0">
                <a:solidFill>
                  <a:srgbClr val="000000"/>
                </a:solidFill>
                <a:latin typeface="Cascadia Mono" panose="020B0609020000020004" pitchFamily="49" charset="0"/>
              </a:rPr>
              <a:t>        </a:t>
            </a:r>
            <a:r>
              <a:rPr lang="en-GB" sz="1800" b="1" dirty="0">
                <a:solidFill>
                  <a:srgbClr val="0000FF"/>
                </a:solidFill>
                <a:latin typeface="Cascadia Mono" panose="020B0609020000020004" pitchFamily="49" charset="0"/>
              </a:rPr>
              <a:t>string</a:t>
            </a:r>
            <a:r>
              <a:rPr lang="en-GB" sz="1800" b="1" dirty="0">
                <a:solidFill>
                  <a:srgbClr val="000000"/>
                </a:solidFill>
                <a:latin typeface="Cascadia Mono" panose="020B0609020000020004" pitchFamily="49" charset="0"/>
              </a:rPr>
              <a:t> res = </a:t>
            </a:r>
            <a:r>
              <a:rPr lang="en-GB" sz="1800" b="1" dirty="0" err="1">
                <a:solidFill>
                  <a:srgbClr val="000000"/>
                </a:solidFill>
                <a:latin typeface="Cascadia Mono" panose="020B0609020000020004" pitchFamily="49" charset="0"/>
              </a:rPr>
              <a:t>File.ReadAllText</a:t>
            </a:r>
            <a:r>
              <a:rPr lang="en-GB" sz="1800" b="1" dirty="0">
                <a:solidFill>
                  <a:srgbClr val="000000"/>
                </a:solidFill>
                <a:latin typeface="Cascadia Mono" panose="020B0609020000020004" pitchFamily="49" charset="0"/>
              </a:rPr>
              <a:t>(</a:t>
            </a:r>
            <a:r>
              <a:rPr lang="en-GB" sz="1800" b="1" dirty="0">
                <a:solidFill>
                  <a:srgbClr val="A31515"/>
                </a:solidFill>
                <a:latin typeface="Cascadia Mono" panose="020B0609020000020004" pitchFamily="49" charset="0"/>
              </a:rPr>
              <a:t>"test.csv"</a:t>
            </a:r>
            <a:r>
              <a:rPr lang="en-GB" sz="1800" b="1" dirty="0">
                <a:solidFill>
                  <a:srgbClr val="000000"/>
                </a:solidFill>
                <a:latin typeface="Cascadia Mono" panose="020B0609020000020004" pitchFamily="49" charset="0"/>
              </a:rPr>
              <a:t>);</a:t>
            </a:r>
          </a:p>
          <a:p>
            <a:r>
              <a:rPr lang="en-GB" sz="1800" b="1" dirty="0">
                <a:solidFill>
                  <a:srgbClr val="000000"/>
                </a:solidFill>
                <a:latin typeface="Cascadia Mono" panose="020B0609020000020004" pitchFamily="49" charset="0"/>
              </a:rPr>
              <a:t>        // process the data. . .</a:t>
            </a:r>
          </a:p>
          <a:p>
            <a:r>
              <a:rPr lang="en-GB" sz="1800" b="1" dirty="0">
                <a:solidFill>
                  <a:srgbClr val="000000"/>
                </a:solidFill>
                <a:latin typeface="Cascadia Mono" panose="020B0609020000020004" pitchFamily="49" charset="0"/>
              </a:rPr>
              <a:t> }</a:t>
            </a:r>
            <a:endParaRPr lang="en-GB" sz="16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381816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a:extLst>
              <a:ext uri="{FF2B5EF4-FFF2-40B4-BE49-F238E27FC236}">
                <a16:creationId xmlns:a16="http://schemas.microsoft.com/office/drawing/2014/main" id="{9E68DED0-D7F0-93CB-2A61-034BD5FFED41}"/>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49</a:t>
            </a:fld>
            <a:endParaRPr lang="en-GB"/>
          </a:p>
        </p:txBody>
      </p:sp>
      <p:sp>
        <p:nvSpPr>
          <p:cNvPr id="5" name="Title 4"/>
          <p:cNvSpPr>
            <a:spLocks noGrp="1"/>
          </p:cNvSpPr>
          <p:nvPr>
            <p:ph type="title"/>
          </p:nvPr>
        </p:nvSpPr>
        <p:spPr>
          <a:xfrm>
            <a:off x="339971" y="562058"/>
            <a:ext cx="11517818" cy="805001"/>
          </a:xfrm>
        </p:spPr>
        <p:txBody>
          <a:bodyPr anchor="t">
            <a:normAutofit/>
          </a:bodyPr>
          <a:lstStyle/>
          <a:p>
            <a:r>
              <a:rPr lang="en-GB" dirty="0"/>
              <a:t>Best Practice Guidance</a:t>
            </a:r>
            <a:endParaRPr lang="en-IN" dirty="0"/>
          </a:p>
        </p:txBody>
      </p:sp>
      <p:graphicFrame>
        <p:nvGraphicFramePr>
          <p:cNvPr id="7" name="Text Placeholder 1">
            <a:extLst>
              <a:ext uri="{FF2B5EF4-FFF2-40B4-BE49-F238E27FC236}">
                <a16:creationId xmlns:a16="http://schemas.microsoft.com/office/drawing/2014/main" id="{13B8EEFE-65D1-AEAB-AA2B-1015CB09E4BF}"/>
              </a:ext>
            </a:extLst>
          </p:cNvPr>
          <p:cNvGraphicFramePr>
            <a:graphicFrameLocks noGrp="1"/>
          </p:cNvGraphicFramePr>
          <p:nvPr>
            <p:ph idx="1"/>
            <p:extLst>
              <p:ext uri="{D42A27DB-BD31-4B8C-83A1-F6EECF244321}">
                <p14:modId xmlns:p14="http://schemas.microsoft.com/office/powerpoint/2010/main" val="1769522672"/>
              </p:ext>
            </p:extLst>
          </p:nvPr>
        </p:nvGraphicFramePr>
        <p:xfrm>
          <a:off x="1589156" y="1368256"/>
          <a:ext cx="7931362" cy="4955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34427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Review</a:t>
            </a:r>
            <a:endParaRPr lang="en-IN" dirty="0"/>
          </a:p>
        </p:txBody>
      </p:sp>
      <p:sp>
        <p:nvSpPr>
          <p:cNvPr id="3" name="Text Placeholder 2"/>
          <p:cNvSpPr>
            <a:spLocks noGrp="1"/>
          </p:cNvSpPr>
          <p:nvPr>
            <p:ph type="body" sz="quarter" idx="11"/>
          </p:nvPr>
        </p:nvSpPr>
        <p:spPr>
          <a:xfrm>
            <a:off x="5168900" y="579549"/>
            <a:ext cx="6647471" cy="5899039"/>
          </a:xfrm>
        </p:spPr>
        <p:txBody>
          <a:bodyPr vert="horz" lIns="0" tIns="0" rIns="0" bIns="0" rtlCol="0" anchor="t" anchorCtr="0">
            <a:noAutofit/>
          </a:bodyPr>
          <a:lstStyle/>
          <a:p>
            <a:pPr marL="342900" indent="-342900">
              <a:buChar char="•"/>
            </a:pPr>
            <a:r>
              <a:rPr lang="en-GB" b="1" dirty="0"/>
              <a:t>C# uses exceptions to report errors</a:t>
            </a:r>
          </a:p>
          <a:p>
            <a:pPr marL="684000" lvl="1" indent="-342900">
              <a:spcAft>
                <a:spcPts val="650"/>
              </a:spcAft>
              <a:buSzPct val="115000"/>
            </a:pPr>
            <a:r>
              <a:rPr lang="en-GB" dirty="0"/>
              <a:t>Use </a:t>
            </a:r>
            <a:r>
              <a:rPr lang="en-GB" dirty="0">
                <a:latin typeface="Lucida Console" panose="020B0609040504020204" pitchFamily="49" charset="0"/>
              </a:rPr>
              <a:t>try / catch / finally </a:t>
            </a:r>
            <a:r>
              <a:rPr lang="en-GB" dirty="0"/>
              <a:t>blocks to encapsulate such code</a:t>
            </a:r>
          </a:p>
          <a:p>
            <a:pPr marL="684000" lvl="1" indent="-342900">
              <a:spcAft>
                <a:spcPts val="650"/>
              </a:spcAft>
              <a:buSzPct val="115000"/>
            </a:pPr>
            <a:r>
              <a:rPr lang="en-GB" dirty="0"/>
              <a:t>You can throw (or re-throw caught) exceptions</a:t>
            </a:r>
          </a:p>
          <a:p>
            <a:pPr marL="342900" indent="-342900">
              <a:buChar char="•"/>
            </a:pPr>
            <a:endParaRPr lang="en-GB" b="1" dirty="0"/>
          </a:p>
          <a:p>
            <a:pPr marL="342900" indent="-342900">
              <a:buChar char="•"/>
            </a:pPr>
            <a:r>
              <a:rPr lang="en-GB" b="1" dirty="0"/>
              <a:t>Unhandled exceptions are caught by the CLR</a:t>
            </a:r>
          </a:p>
          <a:p>
            <a:pPr marL="342900" indent="-342900">
              <a:buChar char="•"/>
            </a:pPr>
            <a:endParaRPr lang="en-IN" b="1" dirty="0"/>
          </a:p>
        </p:txBody>
      </p:sp>
      <p:pic>
        <p:nvPicPr>
          <p:cNvPr id="4" name="Picture 2" descr="Reviews - Web Sites: Recommended - Research Guides at Thrift Library">
            <a:extLst>
              <a:ext uri="{FF2B5EF4-FFF2-40B4-BE49-F238E27FC236}">
                <a16:creationId xmlns:a16="http://schemas.microsoft.com/office/drawing/2014/main" id="{ECEB8A24-DA46-C6E9-F051-CD0C5CC53C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62" y="165790"/>
            <a:ext cx="2251845" cy="225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718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IN" dirty="0"/>
              <a:t>Labs</a:t>
            </a:r>
          </a:p>
        </p:txBody>
      </p:sp>
      <p:sp>
        <p:nvSpPr>
          <p:cNvPr id="4" name="Text Placeholder 3">
            <a:extLst>
              <a:ext uri="{FF2B5EF4-FFF2-40B4-BE49-F238E27FC236}">
                <a16:creationId xmlns:a16="http://schemas.microsoft.com/office/drawing/2014/main" id="{FF434928-7046-8F60-4C1D-1685134120CC}"/>
              </a:ext>
            </a:extLst>
          </p:cNvPr>
          <p:cNvSpPr txBox="1">
            <a:spLocks/>
          </p:cNvSpPr>
          <p:nvPr/>
        </p:nvSpPr>
        <p:spPr>
          <a:xfrm>
            <a:off x="5225996" y="1786936"/>
            <a:ext cx="6565582" cy="409416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 typeface="Arial" panose="020B0604020202020204" pitchFamily="34" charset="0"/>
              <a:buNone/>
              <a:defRPr sz="2000" b="0" i="0" kern="1200">
                <a:solidFill>
                  <a:schemeClr val="tx1"/>
                </a:solidFill>
                <a:latin typeface="Montserrat" pitchFamily="2" charset="77"/>
                <a:ea typeface="+mn-ea"/>
                <a:cs typeface="+mn-cs"/>
              </a:defRPr>
            </a:lvl1pPr>
            <a:lvl2pPr marL="180000" indent="-18000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2pPr>
            <a:lvl3pPr marL="180000" indent="-180000" algn="l" defTabSz="914400" rtl="0" eaLnBrk="1" latinLnBrk="0" hangingPunct="1">
              <a:lnSpc>
                <a:spcPct val="100000"/>
              </a:lnSpc>
              <a:spcBef>
                <a:spcPts val="0"/>
              </a:spcBef>
              <a:spcAft>
                <a:spcPts val="650"/>
              </a:spcAft>
              <a:buSzPct val="120000"/>
              <a:buFont typeface="Arial" panose="020B0604020202020204" pitchFamily="34" charset="0"/>
              <a:buChar char="•"/>
              <a:tabLst/>
              <a:defRPr sz="2000" b="0" i="0" kern="1200">
                <a:solidFill>
                  <a:schemeClr val="tx1"/>
                </a:solidFill>
                <a:latin typeface="Montserrat" pitchFamily="2" charset="77"/>
                <a:ea typeface="+mn-ea"/>
                <a:cs typeface="+mn-cs"/>
              </a:defRPr>
            </a:lvl3pPr>
            <a:lvl4pPr marL="180000" indent="-180000" algn="l" defTabSz="914400" rtl="0" eaLnBrk="1" latinLnBrk="0" hangingPunct="1">
              <a:lnSpc>
                <a:spcPct val="100000"/>
              </a:lnSpc>
              <a:spcBef>
                <a:spcPts val="0"/>
              </a:spcBef>
              <a:spcAft>
                <a:spcPts val="650"/>
              </a:spcAft>
              <a:buSzPct val="120000"/>
              <a:buFont typeface="Arial" panose="020B0604020202020204" pitchFamily="34" charset="0"/>
              <a:buChar char="•"/>
              <a:tabLst/>
              <a:defRPr sz="2000" b="0" kern="1200">
                <a:solidFill>
                  <a:schemeClr val="tx1"/>
                </a:solidFill>
                <a:latin typeface="Montserrat" pitchFamily="2" charset="77"/>
                <a:ea typeface="+mn-ea"/>
                <a:cs typeface="+mn-cs"/>
              </a:defRPr>
            </a:lvl4pPr>
            <a:lvl5pPr marL="180000" indent="-18000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buSzPct val="115000"/>
            </a:pPr>
            <a:endParaRPr lang="en-GB"/>
          </a:p>
          <a:p>
            <a:pPr marL="342900" indent="-342900">
              <a:buFont typeface="Arial" panose="020B0604020202020204" pitchFamily="34" charset="0"/>
              <a:buChar char="•"/>
            </a:pPr>
            <a:endParaRPr lang="en-IN" b="1"/>
          </a:p>
          <a:p>
            <a:endParaRPr lang="en-IN" dirty="0"/>
          </a:p>
        </p:txBody>
      </p:sp>
      <p:graphicFrame>
        <p:nvGraphicFramePr>
          <p:cNvPr id="5" name="Text Placeholder 1">
            <a:extLst>
              <a:ext uri="{FF2B5EF4-FFF2-40B4-BE49-F238E27FC236}">
                <a16:creationId xmlns:a16="http://schemas.microsoft.com/office/drawing/2014/main" id="{8BBDF515-6D70-5694-3C68-8D5669A88671}"/>
              </a:ext>
            </a:extLst>
          </p:cNvPr>
          <p:cNvGraphicFramePr/>
          <p:nvPr>
            <p:extLst>
              <p:ext uri="{D42A27DB-BD31-4B8C-83A1-F6EECF244321}">
                <p14:modId xmlns:p14="http://schemas.microsoft.com/office/powerpoint/2010/main" val="2815032157"/>
              </p:ext>
            </p:extLst>
          </p:nvPr>
        </p:nvGraphicFramePr>
        <p:xfrm>
          <a:off x="4710058" y="1616037"/>
          <a:ext cx="6565582" cy="37735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346231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Props1.xml><?xml version="1.0" encoding="utf-8"?>
<ds:datastoreItem xmlns:ds="http://schemas.openxmlformats.org/officeDocument/2006/customXml" ds:itemID="{38D779E1-8CB2-490C-94E8-A3F7BA5791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3A42472-DB76-4B8D-867D-1AC9194BA1BF}">
  <ds:schemaRefs>
    <ds:schemaRef ds:uri="http://schemas.microsoft.com/sharepoint/v3/contenttype/forms"/>
  </ds:schemaRefs>
</ds:datastoreItem>
</file>

<file path=customXml/itemProps3.xml><?xml version="1.0" encoding="utf-8"?>
<ds:datastoreItem xmlns:ds="http://schemas.openxmlformats.org/officeDocument/2006/customXml" ds:itemID="{0692E60A-3D2D-41C1-8432-1DCD0B1BB915}">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6794D9DE-4FDF-4DC0-8B2C-5438320C69D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1726</Words>
  <Application>Microsoft Office PowerPoint</Application>
  <PresentationFormat>Widescreen</PresentationFormat>
  <Paragraphs>181</Paragraphs>
  <Slides>13</Slides>
  <Notes>13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Arial</vt:lpstr>
      <vt:lpstr>Calibri</vt:lpstr>
      <vt:lpstr>Cascadia Mono</vt:lpstr>
      <vt:lpstr>Consolas</vt:lpstr>
      <vt:lpstr>Courier New</vt:lpstr>
      <vt:lpstr>Krana Fat B</vt:lpstr>
      <vt:lpstr>Lucida Console</vt:lpstr>
      <vt:lpstr>Montserrat</vt:lpstr>
      <vt:lpstr>Times New Roman</vt:lpstr>
      <vt:lpstr>Wingdings</vt:lpstr>
      <vt:lpstr>Master</vt:lpstr>
      <vt:lpstr>Exceptions</vt:lpstr>
      <vt:lpstr>PowerPoint Presentation</vt:lpstr>
      <vt:lpstr>Simple example of exception being thrown</vt:lpstr>
      <vt:lpstr>PowerPoint Presentation</vt:lpstr>
      <vt:lpstr>PowerPoint Presentation</vt:lpstr>
      <vt:lpstr>Exceptions bubble up the call stack</vt:lpstr>
      <vt:lpstr>Example of Exception bubbling up</vt:lpstr>
      <vt:lpstr>try/catch/finally syntax </vt:lpstr>
      <vt:lpstr>Multiple Exceptions example</vt:lpstr>
      <vt:lpstr>Method throwing exceptions</vt:lpstr>
      <vt:lpstr>Best Practice Guidance</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217</cp:revision>
  <cp:lastPrinted>2019-07-03T09:46:41Z</cp:lastPrinted>
  <dcterms:created xsi:type="dcterms:W3CDTF">2019-09-05T08:17:12Z</dcterms:created>
  <dcterms:modified xsi:type="dcterms:W3CDTF">2025-12-04T15:30:52Z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0x010100F0967B7CEE8D417F966757887D9466FB00B3EF5B1D149FDF49B1880C030D548140</vt:lpwstr>
  </property>
  <property fmtid="{D5CDD505-2E9C-101B-9397-08002B2CF9AE}" pid="3" name="BookType">
    <vt:lpwstr>7</vt:lpwstr>
  </property>
</Properties>
</file>