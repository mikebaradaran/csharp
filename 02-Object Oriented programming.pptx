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99" r:id="rId5"/>
    <p:sldId id="377" r:id="rId6"/>
    <p:sldId id="1581" r:id="rId7"/>
    <p:sldId id="1582" r:id="rId8"/>
    <p:sldId id="1583" r:id="rId9"/>
    <p:sldId id="1584" r:id="rId10"/>
    <p:sldId id="1585" r:id="rId11"/>
    <p:sldId id="383" r:id="rId12"/>
    <p:sldId id="384" r:id="rId13"/>
    <p:sldId id="385" r:id="rId14"/>
    <p:sldId id="386" r:id="rId15"/>
    <p:sldId id="280" r:id="rId16"/>
    <p:sldId id="1578" r:id="rId17"/>
    <p:sldId id="282" r:id="rId18"/>
    <p:sldId id="283" r:id="rId19"/>
    <p:sldId id="284" r:id="rId20"/>
    <p:sldId id="285" r:id="rId21"/>
    <p:sldId id="294" r:id="rId22"/>
    <p:sldId id="1576" r:id="rId23"/>
    <p:sldId id="1580" r:id="rId24"/>
    <p:sldId id="1579" r:id="rId25"/>
    <p:sldId id="276" r:id="rId26"/>
    <p:sldId id="275" r:id="rId27"/>
  </p:sldIdLst>
  <p:sldSz cx="12192000" cy="6858000"/>
  <p:notesSz cx="9775825" cy="6645275"/>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Sterne, Symon" initials="SS" lastIdx="71" clrIdx="2">
    <p:extLst>
      <p:ext uri="{19B8F6BF-5375-455C-9EA6-DF929625EA0E}">
        <p15:presenceInfo xmlns:p15="http://schemas.microsoft.com/office/powerpoint/2012/main" userId="S-1-5-21-3476036342-1731177862-1559577602-52816" providerId="AD"/>
      </p:ext>
    </p:extLst>
  </p:cmAuthor>
  <p:cmAuthor id="4" name="Baradaran, Mike" initials="BM" lastIdx="1" clrIdx="3">
    <p:extLst>
      <p:ext uri="{19B8F6BF-5375-455C-9EA6-DF929625EA0E}">
        <p15:presenceInfo xmlns:p15="http://schemas.microsoft.com/office/powerpoint/2012/main" userId="Baradaran, Mik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FFCCFF"/>
    <a:srgbClr val="F3622C"/>
    <a:srgbClr val="F7916D"/>
    <a:srgbClr val="28CFF9"/>
    <a:srgbClr val="000000"/>
    <a:srgbClr val="09EDB8"/>
    <a:srgbClr val="7E007C"/>
    <a:srgbClr val="BE7FBD"/>
    <a:srgbClr val="E5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71" autoAdjust="0"/>
    <p:restoredTop sz="89643" autoAdjust="0"/>
  </p:normalViewPr>
  <p:slideViewPr>
    <p:cSldViewPr snapToGrid="0" snapToObjects="1" showGuides="1">
      <p:cViewPr varScale="1">
        <p:scale>
          <a:sx n="107" d="100"/>
          <a:sy n="107" d="100"/>
        </p:scale>
        <p:origin x="1182" y="102"/>
      </p:cViewPr>
      <p:guideLst>
        <p:guide pos="3840"/>
        <p:guide orient="horz" pos="377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133" d="100"/>
          <a:sy n="133" d="100"/>
        </p:scale>
        <p:origin x="2016" y="8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EDE3C9-5014-4508-B9DD-2F69312BB00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C872F94-4D45-4BDA-A0DD-BD62373C175F}">
      <dgm:prSet custT="1"/>
      <dgm:spPr/>
      <dgm:t>
        <a:bodyPr/>
        <a:lstStyle/>
        <a:p>
          <a:r>
            <a:rPr lang="en-US" sz="1600" b="1"/>
            <a:t>Creating and using reference types </a:t>
          </a:r>
        </a:p>
      </dgm:t>
    </dgm:pt>
    <dgm:pt modelId="{345022BE-07DD-4774-B13E-ABBBEBB47AB5}" type="parTrans" cxnId="{81622132-CF2F-4FE5-85C1-059D399117DF}">
      <dgm:prSet/>
      <dgm:spPr/>
      <dgm:t>
        <a:bodyPr/>
        <a:lstStyle/>
        <a:p>
          <a:endParaRPr lang="en-US" sz="1100" b="1"/>
        </a:p>
      </dgm:t>
    </dgm:pt>
    <dgm:pt modelId="{D6F398B1-4C2D-411E-BA48-903F58B6DEBC}" type="sibTrans" cxnId="{81622132-CF2F-4FE5-85C1-059D399117DF}">
      <dgm:prSet/>
      <dgm:spPr/>
      <dgm:t>
        <a:bodyPr/>
        <a:lstStyle/>
        <a:p>
          <a:endParaRPr lang="en-US" sz="1100" b="1"/>
        </a:p>
      </dgm:t>
    </dgm:pt>
    <dgm:pt modelId="{FA47ACB2-22BC-4DA7-B267-4FA534978DED}">
      <dgm:prSet custT="1"/>
      <dgm:spPr/>
      <dgm:t>
        <a:bodyPr/>
        <a:lstStyle/>
        <a:p>
          <a:r>
            <a:rPr lang="en-US" sz="1600" b="1"/>
            <a:t>Passing reference types to a method</a:t>
          </a:r>
        </a:p>
      </dgm:t>
    </dgm:pt>
    <dgm:pt modelId="{C7E001A8-991C-40B5-B1D3-F2B57FB01FA7}" type="parTrans" cxnId="{181C33DB-DCB0-4BFD-831C-5554D1A932E9}">
      <dgm:prSet/>
      <dgm:spPr/>
      <dgm:t>
        <a:bodyPr/>
        <a:lstStyle/>
        <a:p>
          <a:endParaRPr lang="en-US" sz="1100" b="1"/>
        </a:p>
      </dgm:t>
    </dgm:pt>
    <dgm:pt modelId="{CEB5E737-F381-4A4D-AC16-3E026840E378}" type="sibTrans" cxnId="{181C33DB-DCB0-4BFD-831C-5554D1A932E9}">
      <dgm:prSet/>
      <dgm:spPr/>
      <dgm:t>
        <a:bodyPr/>
        <a:lstStyle/>
        <a:p>
          <a:endParaRPr lang="en-US" sz="1100" b="1"/>
        </a:p>
      </dgm:t>
    </dgm:pt>
    <dgm:pt modelId="{67A4358E-10F5-4B58-821C-B5A01308260B}">
      <dgm:prSet custT="1"/>
      <dgm:spPr/>
      <dgm:t>
        <a:bodyPr/>
        <a:lstStyle/>
        <a:p>
          <a:r>
            <a:rPr lang="en-US" sz="1600" b="1" dirty="0"/>
            <a:t>Duration 2 hour</a:t>
          </a:r>
        </a:p>
      </dgm:t>
    </dgm:pt>
    <dgm:pt modelId="{9B959A1F-B641-4572-8F4D-20DF67C05A52}" type="parTrans" cxnId="{BC80D1C0-B60E-4575-8C6E-12B4745B828C}">
      <dgm:prSet/>
      <dgm:spPr/>
      <dgm:t>
        <a:bodyPr/>
        <a:lstStyle/>
        <a:p>
          <a:endParaRPr lang="en-US" sz="1100" b="1"/>
        </a:p>
      </dgm:t>
    </dgm:pt>
    <dgm:pt modelId="{B1DC5CDF-1630-4985-A060-8651B0C85854}" type="sibTrans" cxnId="{BC80D1C0-B60E-4575-8C6E-12B4745B828C}">
      <dgm:prSet/>
      <dgm:spPr/>
      <dgm:t>
        <a:bodyPr/>
        <a:lstStyle/>
        <a:p>
          <a:endParaRPr lang="en-US" sz="1100" b="1"/>
        </a:p>
      </dgm:t>
    </dgm:pt>
    <dgm:pt modelId="{DFC555C7-2F52-4012-9F28-86ECD86F7299}" type="pres">
      <dgm:prSet presAssocID="{3FEDE3C9-5014-4508-B9DD-2F69312BB00F}" presName="root" presStyleCnt="0">
        <dgm:presLayoutVars>
          <dgm:dir/>
          <dgm:resizeHandles val="exact"/>
        </dgm:presLayoutVars>
      </dgm:prSet>
      <dgm:spPr/>
    </dgm:pt>
    <dgm:pt modelId="{4DD26655-7966-48F5-8656-2A27964D39FD}" type="pres">
      <dgm:prSet presAssocID="{9C872F94-4D45-4BDA-A0DD-BD62373C175F}" presName="compNode" presStyleCnt="0"/>
      <dgm:spPr/>
    </dgm:pt>
    <dgm:pt modelId="{15E68215-8ED1-41C4-BC93-1DF2BE33F31B}" type="pres">
      <dgm:prSet presAssocID="{9C872F94-4D45-4BDA-A0DD-BD62373C175F}" presName="bgRect" presStyleLbl="bgShp" presStyleIdx="0" presStyleCnt="3"/>
      <dgm:spPr/>
    </dgm:pt>
    <dgm:pt modelId="{518BD5BC-B5CA-41BD-80C6-C04DC5F40EDA}" type="pres">
      <dgm:prSet presAssocID="{9C872F94-4D45-4BDA-A0DD-BD62373C175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encil"/>
        </a:ext>
      </dgm:extLst>
    </dgm:pt>
    <dgm:pt modelId="{A8B8AC39-E86D-43CB-BD04-0BD849E4432F}" type="pres">
      <dgm:prSet presAssocID="{9C872F94-4D45-4BDA-A0DD-BD62373C175F}" presName="spaceRect" presStyleCnt="0"/>
      <dgm:spPr/>
    </dgm:pt>
    <dgm:pt modelId="{B6715C04-4FEA-4444-B483-8F5B235CB868}" type="pres">
      <dgm:prSet presAssocID="{9C872F94-4D45-4BDA-A0DD-BD62373C175F}" presName="parTx" presStyleLbl="revTx" presStyleIdx="0" presStyleCnt="3">
        <dgm:presLayoutVars>
          <dgm:chMax val="0"/>
          <dgm:chPref val="0"/>
        </dgm:presLayoutVars>
      </dgm:prSet>
      <dgm:spPr/>
    </dgm:pt>
    <dgm:pt modelId="{B99F076C-2593-429E-ACDA-14E5306F403F}" type="pres">
      <dgm:prSet presAssocID="{D6F398B1-4C2D-411E-BA48-903F58B6DEBC}" presName="sibTrans" presStyleCnt="0"/>
      <dgm:spPr/>
    </dgm:pt>
    <dgm:pt modelId="{EF646DDB-A23C-4D04-AE9D-897AC956DC77}" type="pres">
      <dgm:prSet presAssocID="{FA47ACB2-22BC-4DA7-B267-4FA534978DED}" presName="compNode" presStyleCnt="0"/>
      <dgm:spPr/>
    </dgm:pt>
    <dgm:pt modelId="{32BAF1A9-333B-47D4-B554-BE3643F4C6C9}" type="pres">
      <dgm:prSet presAssocID="{FA47ACB2-22BC-4DA7-B267-4FA534978DED}" presName="bgRect" presStyleLbl="bgShp" presStyleIdx="1" presStyleCnt="3"/>
      <dgm:spPr/>
    </dgm:pt>
    <dgm:pt modelId="{2C5488FC-AD51-4618-B3F2-391584794FA2}" type="pres">
      <dgm:prSet presAssocID="{FA47ACB2-22BC-4DA7-B267-4FA534978DE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D83D1426-D3EF-48BC-881E-C1738301E346}" type="pres">
      <dgm:prSet presAssocID="{FA47ACB2-22BC-4DA7-B267-4FA534978DED}" presName="spaceRect" presStyleCnt="0"/>
      <dgm:spPr/>
    </dgm:pt>
    <dgm:pt modelId="{7F7CFDCE-3FA9-4557-BA42-7508A79DC052}" type="pres">
      <dgm:prSet presAssocID="{FA47ACB2-22BC-4DA7-B267-4FA534978DED}" presName="parTx" presStyleLbl="revTx" presStyleIdx="1" presStyleCnt="3">
        <dgm:presLayoutVars>
          <dgm:chMax val="0"/>
          <dgm:chPref val="0"/>
        </dgm:presLayoutVars>
      </dgm:prSet>
      <dgm:spPr/>
    </dgm:pt>
    <dgm:pt modelId="{D27DF0A9-5561-4591-8C49-CD16E9F8D022}" type="pres">
      <dgm:prSet presAssocID="{CEB5E737-F381-4A4D-AC16-3E026840E378}" presName="sibTrans" presStyleCnt="0"/>
      <dgm:spPr/>
    </dgm:pt>
    <dgm:pt modelId="{9794D4BC-288C-4260-96C3-01DDAD388AD2}" type="pres">
      <dgm:prSet presAssocID="{67A4358E-10F5-4B58-821C-B5A01308260B}" presName="compNode" presStyleCnt="0"/>
      <dgm:spPr/>
    </dgm:pt>
    <dgm:pt modelId="{A8E7D70F-2F8E-4552-9642-086286E07B36}" type="pres">
      <dgm:prSet presAssocID="{67A4358E-10F5-4B58-821C-B5A01308260B}" presName="bgRect" presStyleLbl="bgShp" presStyleIdx="2" presStyleCnt="3"/>
      <dgm:spPr/>
    </dgm:pt>
    <dgm:pt modelId="{BD2F8AE7-B272-4E12-A2A4-54D5CC4427FB}" type="pres">
      <dgm:prSet presAssocID="{67A4358E-10F5-4B58-821C-B5A01308260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ck"/>
        </a:ext>
      </dgm:extLst>
    </dgm:pt>
    <dgm:pt modelId="{658AF37D-124C-4926-BD36-7362072AD333}" type="pres">
      <dgm:prSet presAssocID="{67A4358E-10F5-4B58-821C-B5A01308260B}" presName="spaceRect" presStyleCnt="0"/>
      <dgm:spPr/>
    </dgm:pt>
    <dgm:pt modelId="{DDC880C9-9656-4E72-A12A-04561204D9A1}" type="pres">
      <dgm:prSet presAssocID="{67A4358E-10F5-4B58-821C-B5A01308260B}" presName="parTx" presStyleLbl="revTx" presStyleIdx="2" presStyleCnt="3">
        <dgm:presLayoutVars>
          <dgm:chMax val="0"/>
          <dgm:chPref val="0"/>
        </dgm:presLayoutVars>
      </dgm:prSet>
      <dgm:spPr/>
    </dgm:pt>
  </dgm:ptLst>
  <dgm:cxnLst>
    <dgm:cxn modelId="{71C8D41B-B4BA-4D24-9C16-889C5E961CF5}" type="presOf" srcId="{FA47ACB2-22BC-4DA7-B267-4FA534978DED}" destId="{7F7CFDCE-3FA9-4557-BA42-7508A79DC052}" srcOrd="0" destOrd="0" presId="urn:microsoft.com/office/officeart/2018/2/layout/IconVerticalSolidList"/>
    <dgm:cxn modelId="{81622132-CF2F-4FE5-85C1-059D399117DF}" srcId="{3FEDE3C9-5014-4508-B9DD-2F69312BB00F}" destId="{9C872F94-4D45-4BDA-A0DD-BD62373C175F}" srcOrd="0" destOrd="0" parTransId="{345022BE-07DD-4774-B13E-ABBBEBB47AB5}" sibTransId="{D6F398B1-4C2D-411E-BA48-903F58B6DEBC}"/>
    <dgm:cxn modelId="{CAD40346-D1C8-4A69-9D73-9B74502969DC}" type="presOf" srcId="{67A4358E-10F5-4B58-821C-B5A01308260B}" destId="{DDC880C9-9656-4E72-A12A-04561204D9A1}" srcOrd="0" destOrd="0" presId="urn:microsoft.com/office/officeart/2018/2/layout/IconVerticalSolidList"/>
    <dgm:cxn modelId="{746B764A-112C-4427-B06A-33901AA0ECDD}" type="presOf" srcId="{3FEDE3C9-5014-4508-B9DD-2F69312BB00F}" destId="{DFC555C7-2F52-4012-9F28-86ECD86F7299}" srcOrd="0" destOrd="0" presId="urn:microsoft.com/office/officeart/2018/2/layout/IconVerticalSolidList"/>
    <dgm:cxn modelId="{C1437AA3-AB2E-4F3A-891E-5DB569FE21B4}" type="presOf" srcId="{9C872F94-4D45-4BDA-A0DD-BD62373C175F}" destId="{B6715C04-4FEA-4444-B483-8F5B235CB868}" srcOrd="0" destOrd="0" presId="urn:microsoft.com/office/officeart/2018/2/layout/IconVerticalSolidList"/>
    <dgm:cxn modelId="{BC80D1C0-B60E-4575-8C6E-12B4745B828C}" srcId="{3FEDE3C9-5014-4508-B9DD-2F69312BB00F}" destId="{67A4358E-10F5-4B58-821C-B5A01308260B}" srcOrd="2" destOrd="0" parTransId="{9B959A1F-B641-4572-8F4D-20DF67C05A52}" sibTransId="{B1DC5CDF-1630-4985-A060-8651B0C85854}"/>
    <dgm:cxn modelId="{181C33DB-DCB0-4BFD-831C-5554D1A932E9}" srcId="{3FEDE3C9-5014-4508-B9DD-2F69312BB00F}" destId="{FA47ACB2-22BC-4DA7-B267-4FA534978DED}" srcOrd="1" destOrd="0" parTransId="{C7E001A8-991C-40B5-B1D3-F2B57FB01FA7}" sibTransId="{CEB5E737-F381-4A4D-AC16-3E026840E378}"/>
    <dgm:cxn modelId="{5F876DAF-D56E-48E3-82C5-B43D6E5DAAAC}" type="presParOf" srcId="{DFC555C7-2F52-4012-9F28-86ECD86F7299}" destId="{4DD26655-7966-48F5-8656-2A27964D39FD}" srcOrd="0" destOrd="0" presId="urn:microsoft.com/office/officeart/2018/2/layout/IconVerticalSolidList"/>
    <dgm:cxn modelId="{FC6B887E-C05A-4B80-B6EB-B450301163F3}" type="presParOf" srcId="{4DD26655-7966-48F5-8656-2A27964D39FD}" destId="{15E68215-8ED1-41C4-BC93-1DF2BE33F31B}" srcOrd="0" destOrd="0" presId="urn:microsoft.com/office/officeart/2018/2/layout/IconVerticalSolidList"/>
    <dgm:cxn modelId="{10D06936-4B46-4F82-B9F7-ADD993A10ED4}" type="presParOf" srcId="{4DD26655-7966-48F5-8656-2A27964D39FD}" destId="{518BD5BC-B5CA-41BD-80C6-C04DC5F40EDA}" srcOrd="1" destOrd="0" presId="urn:microsoft.com/office/officeart/2018/2/layout/IconVerticalSolidList"/>
    <dgm:cxn modelId="{34947FAF-D13E-4292-99B0-EF020FAD529A}" type="presParOf" srcId="{4DD26655-7966-48F5-8656-2A27964D39FD}" destId="{A8B8AC39-E86D-43CB-BD04-0BD849E4432F}" srcOrd="2" destOrd="0" presId="urn:microsoft.com/office/officeart/2018/2/layout/IconVerticalSolidList"/>
    <dgm:cxn modelId="{87A45CDD-7E70-48DF-A04C-214E8C885273}" type="presParOf" srcId="{4DD26655-7966-48F5-8656-2A27964D39FD}" destId="{B6715C04-4FEA-4444-B483-8F5B235CB868}" srcOrd="3" destOrd="0" presId="urn:microsoft.com/office/officeart/2018/2/layout/IconVerticalSolidList"/>
    <dgm:cxn modelId="{28DC8F1F-FC87-4786-8810-0D33A110907C}" type="presParOf" srcId="{DFC555C7-2F52-4012-9F28-86ECD86F7299}" destId="{B99F076C-2593-429E-ACDA-14E5306F403F}" srcOrd="1" destOrd="0" presId="urn:microsoft.com/office/officeart/2018/2/layout/IconVerticalSolidList"/>
    <dgm:cxn modelId="{54BC7B39-B7E6-4478-B300-793B06A1222A}" type="presParOf" srcId="{DFC555C7-2F52-4012-9F28-86ECD86F7299}" destId="{EF646DDB-A23C-4D04-AE9D-897AC956DC77}" srcOrd="2" destOrd="0" presId="urn:microsoft.com/office/officeart/2018/2/layout/IconVerticalSolidList"/>
    <dgm:cxn modelId="{E82493AF-E382-477C-BDE1-D0FEC12EA05B}" type="presParOf" srcId="{EF646DDB-A23C-4D04-AE9D-897AC956DC77}" destId="{32BAF1A9-333B-47D4-B554-BE3643F4C6C9}" srcOrd="0" destOrd="0" presId="urn:microsoft.com/office/officeart/2018/2/layout/IconVerticalSolidList"/>
    <dgm:cxn modelId="{3B7EBB48-3539-41F5-AC1E-60AE9338292A}" type="presParOf" srcId="{EF646DDB-A23C-4D04-AE9D-897AC956DC77}" destId="{2C5488FC-AD51-4618-B3F2-391584794FA2}" srcOrd="1" destOrd="0" presId="urn:microsoft.com/office/officeart/2018/2/layout/IconVerticalSolidList"/>
    <dgm:cxn modelId="{611A77B5-44B4-4DCD-A309-423B93AC15E7}" type="presParOf" srcId="{EF646DDB-A23C-4D04-AE9D-897AC956DC77}" destId="{D83D1426-D3EF-48BC-881E-C1738301E346}" srcOrd="2" destOrd="0" presId="urn:microsoft.com/office/officeart/2018/2/layout/IconVerticalSolidList"/>
    <dgm:cxn modelId="{CCCA9B12-7035-42B1-A7E1-356AE1DAA727}" type="presParOf" srcId="{EF646DDB-A23C-4D04-AE9D-897AC956DC77}" destId="{7F7CFDCE-3FA9-4557-BA42-7508A79DC052}" srcOrd="3" destOrd="0" presId="urn:microsoft.com/office/officeart/2018/2/layout/IconVerticalSolidList"/>
    <dgm:cxn modelId="{605B43E5-C99F-464B-97F3-64F41264608E}" type="presParOf" srcId="{DFC555C7-2F52-4012-9F28-86ECD86F7299}" destId="{D27DF0A9-5561-4591-8C49-CD16E9F8D022}" srcOrd="3" destOrd="0" presId="urn:microsoft.com/office/officeart/2018/2/layout/IconVerticalSolidList"/>
    <dgm:cxn modelId="{1778D386-D9C5-4F5E-A333-171324FF1ACF}" type="presParOf" srcId="{DFC555C7-2F52-4012-9F28-86ECD86F7299}" destId="{9794D4BC-288C-4260-96C3-01DDAD388AD2}" srcOrd="4" destOrd="0" presId="urn:microsoft.com/office/officeart/2018/2/layout/IconVerticalSolidList"/>
    <dgm:cxn modelId="{E1100944-F8BA-4F07-8217-0C8CD97901EB}" type="presParOf" srcId="{9794D4BC-288C-4260-96C3-01DDAD388AD2}" destId="{A8E7D70F-2F8E-4552-9642-086286E07B36}" srcOrd="0" destOrd="0" presId="urn:microsoft.com/office/officeart/2018/2/layout/IconVerticalSolidList"/>
    <dgm:cxn modelId="{651B2077-A444-4175-99C9-6BF3D6F28628}" type="presParOf" srcId="{9794D4BC-288C-4260-96C3-01DDAD388AD2}" destId="{BD2F8AE7-B272-4E12-A2A4-54D5CC4427FB}" srcOrd="1" destOrd="0" presId="urn:microsoft.com/office/officeart/2018/2/layout/IconVerticalSolidList"/>
    <dgm:cxn modelId="{144CBD7D-66CB-41EB-A7FA-99A6FDC3CF8D}" type="presParOf" srcId="{9794D4BC-288C-4260-96C3-01DDAD388AD2}" destId="{658AF37D-124C-4926-BD36-7362072AD333}" srcOrd="2" destOrd="0" presId="urn:microsoft.com/office/officeart/2018/2/layout/IconVerticalSolidList"/>
    <dgm:cxn modelId="{B51872AE-1124-472C-A2F2-30CAC40B6574}" type="presParOf" srcId="{9794D4BC-288C-4260-96C3-01DDAD388AD2}" destId="{DDC880C9-9656-4E72-A12A-04561204D9A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68215-8ED1-41C4-BC93-1DF2BE33F31B}">
      <dsp:nvSpPr>
        <dsp:cNvPr id="0" name=""/>
        <dsp:cNvSpPr/>
      </dsp:nvSpPr>
      <dsp:spPr>
        <a:xfrm>
          <a:off x="0" y="353"/>
          <a:ext cx="5770328" cy="8280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8BD5BC-B5CA-41BD-80C6-C04DC5F40EDA}">
      <dsp:nvSpPr>
        <dsp:cNvPr id="0" name=""/>
        <dsp:cNvSpPr/>
      </dsp:nvSpPr>
      <dsp:spPr>
        <a:xfrm>
          <a:off x="250490" y="186669"/>
          <a:ext cx="455437" cy="455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715C04-4FEA-4444-B483-8F5B235CB868}">
      <dsp:nvSpPr>
        <dsp:cNvPr id="0" name=""/>
        <dsp:cNvSpPr/>
      </dsp:nvSpPr>
      <dsp:spPr>
        <a:xfrm>
          <a:off x="956417" y="353"/>
          <a:ext cx="4813910" cy="828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a:t>Creating and using reference types </a:t>
          </a:r>
        </a:p>
      </dsp:txBody>
      <dsp:txXfrm>
        <a:off x="956417" y="353"/>
        <a:ext cx="4813910" cy="828067"/>
      </dsp:txXfrm>
    </dsp:sp>
    <dsp:sp modelId="{32BAF1A9-333B-47D4-B554-BE3643F4C6C9}">
      <dsp:nvSpPr>
        <dsp:cNvPr id="0" name=""/>
        <dsp:cNvSpPr/>
      </dsp:nvSpPr>
      <dsp:spPr>
        <a:xfrm>
          <a:off x="0" y="1035438"/>
          <a:ext cx="5770328" cy="8280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5488FC-AD51-4618-B3F2-391584794FA2}">
      <dsp:nvSpPr>
        <dsp:cNvPr id="0" name=""/>
        <dsp:cNvSpPr/>
      </dsp:nvSpPr>
      <dsp:spPr>
        <a:xfrm>
          <a:off x="250490" y="1221753"/>
          <a:ext cx="455437" cy="455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7CFDCE-3FA9-4557-BA42-7508A79DC052}">
      <dsp:nvSpPr>
        <dsp:cNvPr id="0" name=""/>
        <dsp:cNvSpPr/>
      </dsp:nvSpPr>
      <dsp:spPr>
        <a:xfrm>
          <a:off x="956417" y="1035438"/>
          <a:ext cx="4813910" cy="828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a:t>Passing reference types to a method</a:t>
          </a:r>
        </a:p>
      </dsp:txBody>
      <dsp:txXfrm>
        <a:off x="956417" y="1035438"/>
        <a:ext cx="4813910" cy="828067"/>
      </dsp:txXfrm>
    </dsp:sp>
    <dsp:sp modelId="{A8E7D70F-2F8E-4552-9642-086286E07B36}">
      <dsp:nvSpPr>
        <dsp:cNvPr id="0" name=""/>
        <dsp:cNvSpPr/>
      </dsp:nvSpPr>
      <dsp:spPr>
        <a:xfrm>
          <a:off x="0" y="2070522"/>
          <a:ext cx="5770328" cy="8280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2F8AE7-B272-4E12-A2A4-54D5CC4427FB}">
      <dsp:nvSpPr>
        <dsp:cNvPr id="0" name=""/>
        <dsp:cNvSpPr/>
      </dsp:nvSpPr>
      <dsp:spPr>
        <a:xfrm>
          <a:off x="250490" y="2256837"/>
          <a:ext cx="455437" cy="455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C880C9-9656-4E72-A12A-04561204D9A1}">
      <dsp:nvSpPr>
        <dsp:cNvPr id="0" name=""/>
        <dsp:cNvSpPr/>
      </dsp:nvSpPr>
      <dsp:spPr>
        <a:xfrm>
          <a:off x="956417" y="2070522"/>
          <a:ext cx="4813910" cy="828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dirty="0"/>
            <a:t>Duration 2 hour</a:t>
          </a:r>
        </a:p>
      </dsp:txBody>
      <dsp:txXfrm>
        <a:off x="956417" y="2070522"/>
        <a:ext cx="4813910" cy="82806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04/08/2026</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04/08/2026</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a:t>
            </a:fld>
            <a:endParaRPr lang="en-GB" dirty="0"/>
          </a:p>
        </p:txBody>
      </p:sp>
    </p:spTree>
    <p:extLst>
      <p:ext uri="{BB962C8B-B14F-4D97-AF65-F5344CB8AC3E}">
        <p14:creationId xmlns:p14="http://schemas.microsoft.com/office/powerpoint/2010/main" val="4093090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3</a:t>
            </a:fld>
            <a:endParaRPr lang="en-GB" dirty="0"/>
          </a:p>
        </p:txBody>
      </p:sp>
    </p:spTree>
    <p:extLst>
      <p:ext uri="{BB962C8B-B14F-4D97-AF65-F5344CB8AC3E}">
        <p14:creationId xmlns:p14="http://schemas.microsoft.com/office/powerpoint/2010/main" val="611502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4</a:t>
            </a:fld>
            <a:endParaRPr lang="en-GB" dirty="0"/>
          </a:p>
        </p:txBody>
      </p:sp>
    </p:spTree>
    <p:extLst>
      <p:ext uri="{BB962C8B-B14F-4D97-AF65-F5344CB8AC3E}">
        <p14:creationId xmlns:p14="http://schemas.microsoft.com/office/powerpoint/2010/main" val="3605397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5</a:t>
            </a:fld>
            <a:endParaRPr lang="en-GB" dirty="0"/>
          </a:p>
        </p:txBody>
      </p:sp>
    </p:spTree>
    <p:extLst>
      <p:ext uri="{BB962C8B-B14F-4D97-AF65-F5344CB8AC3E}">
        <p14:creationId xmlns:p14="http://schemas.microsoft.com/office/powerpoint/2010/main" val="2091677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6</a:t>
            </a:fld>
            <a:endParaRPr lang="en-GB" dirty="0"/>
          </a:p>
        </p:txBody>
      </p:sp>
    </p:spTree>
    <p:extLst>
      <p:ext uri="{BB962C8B-B14F-4D97-AF65-F5344CB8AC3E}">
        <p14:creationId xmlns:p14="http://schemas.microsoft.com/office/powerpoint/2010/main" val="3089990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dirty="0"/>
          </a:p>
        </p:txBody>
      </p:sp>
    </p:spTree>
    <p:extLst>
      <p:ext uri="{BB962C8B-B14F-4D97-AF65-F5344CB8AC3E}">
        <p14:creationId xmlns:p14="http://schemas.microsoft.com/office/powerpoint/2010/main" val="4149201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Types define the content and the behaviour of objects. It is a blueprint which the runtime will use to determine what memory needs to be allocated at run-time, and which the compiler will use to validate that your code is correct.</a:t>
            </a:r>
          </a:p>
          <a:p>
            <a:endParaRPr lang="en-GB" dirty="0"/>
          </a:p>
          <a:p>
            <a:r>
              <a:rPr lang="en-GB" dirty="0"/>
              <a:t>Types consist of two sorts of members: fields and methods.</a:t>
            </a:r>
          </a:p>
          <a:p>
            <a:endParaRPr lang="en-GB" dirty="0"/>
          </a:p>
          <a:p>
            <a:r>
              <a:rPr lang="en-GB" dirty="0"/>
              <a:t>Fields define the data elements from which your types are composed. For example, every car has a make and a model; these would therefore make ideal fields in a program that let's users browse car information on the web.</a:t>
            </a:r>
          </a:p>
          <a:p>
            <a:endParaRPr lang="en-GB" dirty="0"/>
          </a:p>
          <a:p>
            <a:r>
              <a:rPr lang="en-GB" dirty="0"/>
              <a:t>Methods are the functions (or operations) that determine the behaviour of instances of the type, or of the type itself. Looking at our car example again, methods might include starting the car, steering it, accelerating (and braking!), and parking.</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8</a:t>
            </a:fld>
            <a:endParaRPr lang="en-GB" dirty="0"/>
          </a:p>
        </p:txBody>
      </p:sp>
    </p:spTree>
    <p:extLst>
      <p:ext uri="{BB962C8B-B14F-4D97-AF65-F5344CB8AC3E}">
        <p14:creationId xmlns:p14="http://schemas.microsoft.com/office/powerpoint/2010/main" val="2672421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Remember, the type definition is simply a blueprint of methods and fields. Objects, on the other hand, are instances of the type. They have their own state (the values in the fields) and their own identity, which in the world of a computer program is the address in memory that the object is stored in.</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9</a:t>
            </a:fld>
            <a:endParaRPr lang="en-GB" dirty="0"/>
          </a:p>
        </p:txBody>
      </p:sp>
    </p:spTree>
    <p:extLst>
      <p:ext uri="{BB962C8B-B14F-4D97-AF65-F5344CB8AC3E}">
        <p14:creationId xmlns:p14="http://schemas.microsoft.com/office/powerpoint/2010/main" val="917463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Private fields</a:t>
            </a:r>
            <a:r>
              <a:rPr lang="en-GB" baseline="0" dirty="0"/>
              <a:t> should not be exposed as public. You would not expect someone outside of your car to change your speed or make of your car!</a:t>
            </a:r>
          </a:p>
          <a:p>
            <a:endParaRPr lang="en-GB" baseline="0" dirty="0"/>
          </a:p>
          <a:p>
            <a:r>
              <a:rPr lang="en-GB" baseline="0" dirty="0"/>
              <a:t>In the above example, name and age are made private to protect them, but how would you set these states?</a:t>
            </a: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10</a:t>
            </a:fld>
            <a:endParaRPr lang="en-GB" dirty="0"/>
          </a:p>
        </p:txBody>
      </p:sp>
    </p:spTree>
    <p:extLst>
      <p:ext uri="{BB962C8B-B14F-4D97-AF65-F5344CB8AC3E}">
        <p14:creationId xmlns:p14="http://schemas.microsoft.com/office/powerpoint/2010/main" val="621306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Private fields</a:t>
            </a:r>
            <a:r>
              <a:rPr lang="en-GB" baseline="0" dirty="0"/>
              <a:t> should not be exposed as public. You would not expect someone outside of your car to change your speed or make of your car!</a:t>
            </a:r>
          </a:p>
          <a:p>
            <a:endParaRPr lang="en-GB" baseline="0" dirty="0"/>
          </a:p>
          <a:p>
            <a:r>
              <a:rPr lang="en-GB" baseline="0" dirty="0"/>
              <a:t>In the above example, name and age are made private to protect them, but how would you set these states?</a:t>
            </a: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11</a:t>
            </a:fld>
            <a:endParaRPr lang="en-GB" dirty="0"/>
          </a:p>
        </p:txBody>
      </p:sp>
    </p:spTree>
    <p:extLst>
      <p:ext uri="{BB962C8B-B14F-4D97-AF65-F5344CB8AC3E}">
        <p14:creationId xmlns:p14="http://schemas.microsoft.com/office/powerpoint/2010/main" val="850661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r>
              <a:rPr lang="en-GB" baseline="0" dirty="0"/>
              <a:t>In the above example, name and age are made private and the only way to change them is through the get and set methods. You can build safety in these methods. For example, names must be greater than one character or age must be a positive number and within a range.</a:t>
            </a:r>
            <a:endParaRPr lang="en-GB" dirty="0"/>
          </a:p>
        </p:txBody>
      </p:sp>
    </p:spTree>
    <p:extLst>
      <p:ext uri="{BB962C8B-B14F-4D97-AF65-F5344CB8AC3E}">
        <p14:creationId xmlns:p14="http://schemas.microsoft.com/office/powerpoint/2010/main" val="417840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r>
              <a:rPr lang="en-GB" baseline="0" dirty="0"/>
              <a:t>In the above example, name and age are made private and the only way to change them is through the get and set methods. You can build safety in these methods. For example, names must be greater than one character or age must be a positive number and within a range.</a:t>
            </a:r>
            <a:endParaRPr lang="en-GB" dirty="0"/>
          </a:p>
        </p:txBody>
      </p:sp>
    </p:spTree>
    <p:extLst>
      <p:ext uri="{BB962C8B-B14F-4D97-AF65-F5344CB8AC3E}">
        <p14:creationId xmlns:p14="http://schemas.microsoft.com/office/powerpoint/2010/main" val="2417475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r>
              <a:rPr lang="en-GB" dirty="0"/>
              <a:t>In</a:t>
            </a:r>
            <a:r>
              <a:rPr lang="en-GB" baseline="0" dirty="0"/>
              <a:t> the above example the model and speed of the car will be null and zero by default. The account id and owner will be zero and null.</a:t>
            </a:r>
          </a:p>
          <a:p>
            <a:r>
              <a:rPr lang="en-GB" baseline="0" dirty="0"/>
              <a:t>Obviously we can ask developers to set these after the instance is created but there are two problems with this approach. There is no guarantee a future develop would do this. We really don't want an account with id of zero in our system! And the other problem is, how do you set a private field with no setter?</a:t>
            </a:r>
          </a:p>
          <a:p>
            <a:r>
              <a:rPr lang="en-GB" baseline="0" dirty="0"/>
              <a:t>We need a constructor to set these initial values and to hide the default parameter-less constructor. Parameter-less constructors are the ones used to </a:t>
            </a:r>
            <a:r>
              <a:rPr lang="en-GB" baseline="0" dirty="0" err="1"/>
              <a:t>creat</a:t>
            </a:r>
            <a:r>
              <a:rPr lang="en-GB" baseline="0" dirty="0"/>
              <a:t> an instance of Account and Car on the slide.</a:t>
            </a:r>
            <a:endParaRPr lang="en-GB" dirty="0"/>
          </a:p>
        </p:txBody>
      </p:sp>
    </p:spTree>
    <p:extLst>
      <p:ext uri="{BB962C8B-B14F-4D97-AF65-F5344CB8AC3E}">
        <p14:creationId xmlns:p14="http://schemas.microsoft.com/office/powerpoint/2010/main" val="3541422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86992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193300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r>
              <a:rPr lang="en-GB" dirty="0"/>
              <a:t>In the type definition above you can see that two (overloaded) constructors have been defined (1) and (2). These constructors can be invoked using the new operator, with the arguments being provided within the parentheses, as shown above.</a:t>
            </a:r>
          </a:p>
          <a:p>
            <a:r>
              <a:rPr lang="en-GB" dirty="0"/>
              <a:t>Note that you can also explicitly initialise fields at their point of declaration (1). You should be aware that the field initialisations occur before the constructor is invoked for the object.</a:t>
            </a:r>
          </a:p>
          <a:p>
            <a:r>
              <a:rPr lang="en-GB" dirty="0"/>
              <a:t>Finally, you should note the constructor chaining syntax (2). This instructs the compiler to call the constructor which takes a String and an </a:t>
            </a:r>
            <a:r>
              <a:rPr lang="en-GB" dirty="0" err="1"/>
              <a:t>int</a:t>
            </a:r>
            <a:r>
              <a:rPr lang="en-GB" dirty="0"/>
              <a:t> as parameters, in this case, before executing the body of the constructor from which it is being called.</a:t>
            </a:r>
          </a:p>
          <a:p>
            <a:r>
              <a:rPr lang="en-GB" dirty="0"/>
              <a:t>It is possible to chain multiple constructors together in this way.</a:t>
            </a:r>
            <a:br>
              <a:rPr lang="en-GB" dirty="0"/>
            </a:br>
            <a:r>
              <a:rPr lang="en-GB" dirty="0"/>
              <a:t>		</a:t>
            </a:r>
          </a:p>
        </p:txBody>
      </p:sp>
    </p:spTree>
    <p:extLst>
      <p:ext uri="{BB962C8B-B14F-4D97-AF65-F5344CB8AC3E}">
        <p14:creationId xmlns:p14="http://schemas.microsoft.com/office/powerpoint/2010/main" val="1899631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334551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Struct</a:t>
            </a:r>
            <a:r>
              <a:rPr lang="en-GB" baseline="0" dirty="0"/>
              <a:t> is another type offered by Microsoft. Its code look like a class but it behaves like a value type. Therefore it can v=be passed by value (by copy) to a method).</a:t>
            </a:r>
          </a:p>
          <a:p>
            <a:r>
              <a:rPr lang="en-GB" baseline="0" dirty="0"/>
              <a:t>It must be said that </a:t>
            </a:r>
            <a:r>
              <a:rPr lang="en-GB" baseline="0" dirty="0" err="1"/>
              <a:t>structs</a:t>
            </a:r>
            <a:r>
              <a:rPr lang="en-GB" baseline="0" dirty="0"/>
              <a:t> ae rarely used by developers but it is frequently used by the </a:t>
            </a:r>
            <a:r>
              <a:rPr lang="en-GB" baseline="0" dirty="0" err="1"/>
              <a:t>.Net</a:t>
            </a:r>
            <a:r>
              <a:rPr lang="en-GB" baseline="0" dirty="0"/>
              <a:t> framework to create types such as </a:t>
            </a:r>
            <a:r>
              <a:rPr lang="en-GB" baseline="0" dirty="0" err="1"/>
              <a:t>int</a:t>
            </a:r>
            <a:r>
              <a:rPr lang="en-GB" baseline="0" dirty="0"/>
              <a:t>, double…Point, Rectangle and so on.</a:t>
            </a:r>
          </a:p>
          <a:p>
            <a:r>
              <a:rPr lang="en-GB" baseline="0" dirty="0"/>
              <a:t>A value type lives on the stack and is therefore not subject to garbage collection.</a:t>
            </a:r>
          </a:p>
          <a:p>
            <a:r>
              <a:rPr lang="en-GB" baseline="0" dirty="0" err="1"/>
              <a:t>Structs</a:t>
            </a:r>
            <a:r>
              <a:rPr lang="en-GB" baseline="0" dirty="0"/>
              <a:t> are meant to be pure value types so please do not embed reference types such as a </a:t>
            </a:r>
            <a:r>
              <a:rPr lang="en-GB" baseline="0" dirty="0" err="1"/>
              <a:t>sring</a:t>
            </a:r>
            <a:r>
              <a:rPr lang="en-GB" baseline="0" dirty="0"/>
              <a:t> object inside a </a:t>
            </a:r>
            <a:r>
              <a:rPr lang="en-GB" baseline="0" dirty="0" err="1"/>
              <a:t>struct</a:t>
            </a:r>
            <a:r>
              <a:rPr lang="en-GB" baseline="0" dirty="0"/>
              <a:t>. The compiler does not mind but you should.</a:t>
            </a:r>
          </a:p>
          <a:p>
            <a:r>
              <a:rPr lang="en-GB" baseline="0" dirty="0" err="1"/>
              <a:t>Structs</a:t>
            </a:r>
            <a:r>
              <a:rPr lang="en-GB" baseline="0" dirty="0"/>
              <a:t> are passed by copy so do not create a </a:t>
            </a:r>
            <a:r>
              <a:rPr lang="en-GB" baseline="0" dirty="0" err="1"/>
              <a:t>struct</a:t>
            </a:r>
            <a:r>
              <a:rPr lang="en-GB" baseline="0" dirty="0"/>
              <a:t> that takes too much space. The typical rule is 16 bytes of length but this is just a </a:t>
            </a:r>
            <a:r>
              <a:rPr lang="en-GB" baseline="0"/>
              <a:t>performance rule.</a:t>
            </a:r>
            <a:endParaRPr lang="en-GB" dirty="0"/>
          </a:p>
        </p:txBody>
      </p:sp>
    </p:spTree>
    <p:extLst>
      <p:ext uri="{BB962C8B-B14F-4D97-AF65-F5344CB8AC3E}">
        <p14:creationId xmlns:p14="http://schemas.microsoft.com/office/powerpoint/2010/main" val="1489253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509E9-2F0D-A2AD-7EA4-A264E3CFF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923C9-1DC2-11C8-855E-764E1346A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3B3D4-7112-BA0E-58AF-19FDC8A7C81C}"/>
              </a:ext>
            </a:extLst>
          </p:cNvPr>
          <p:cNvSpPr>
            <a:spLocks noGrp="1"/>
          </p:cNvSpPr>
          <p:nvPr>
            <p:ph type="body" idx="1"/>
          </p:nvPr>
        </p:nvSpPr>
        <p:spPr/>
        <p:txBody>
          <a:bodyPr/>
          <a:lstStyle/>
          <a:p>
            <a:r>
              <a:rPr lang="en-GB" dirty="0" err="1"/>
              <a:t>Struct</a:t>
            </a:r>
            <a:r>
              <a:rPr lang="en-GB" baseline="0" dirty="0"/>
              <a:t> is another type offered by Microsoft. Its code look like a class but it behaves like a value type. Therefore it can v=be passed by value (by copy) to a method).</a:t>
            </a:r>
          </a:p>
          <a:p>
            <a:r>
              <a:rPr lang="en-GB" baseline="0" dirty="0"/>
              <a:t>It must be said that </a:t>
            </a:r>
            <a:r>
              <a:rPr lang="en-GB" baseline="0" dirty="0" err="1"/>
              <a:t>structs</a:t>
            </a:r>
            <a:r>
              <a:rPr lang="en-GB" baseline="0" dirty="0"/>
              <a:t> ae rarely used by developers but it is frequently used by the </a:t>
            </a:r>
            <a:r>
              <a:rPr lang="en-GB" baseline="0" dirty="0" err="1"/>
              <a:t>.Net</a:t>
            </a:r>
            <a:r>
              <a:rPr lang="en-GB" baseline="0" dirty="0"/>
              <a:t> framework to create types such as </a:t>
            </a:r>
            <a:r>
              <a:rPr lang="en-GB" baseline="0" dirty="0" err="1"/>
              <a:t>int</a:t>
            </a:r>
            <a:r>
              <a:rPr lang="en-GB" baseline="0" dirty="0"/>
              <a:t>, double…Point, Rectangle and so on.</a:t>
            </a:r>
          </a:p>
          <a:p>
            <a:r>
              <a:rPr lang="en-GB" baseline="0" dirty="0"/>
              <a:t>A value type lives on the stack and is therefore not subject to garbage collection.</a:t>
            </a:r>
          </a:p>
          <a:p>
            <a:r>
              <a:rPr lang="en-GB" baseline="0" dirty="0" err="1"/>
              <a:t>Structs</a:t>
            </a:r>
            <a:r>
              <a:rPr lang="en-GB" baseline="0" dirty="0"/>
              <a:t> are meant to be pure value types so please do not embed reference types such as a </a:t>
            </a:r>
            <a:r>
              <a:rPr lang="en-GB" baseline="0" dirty="0" err="1"/>
              <a:t>sring</a:t>
            </a:r>
            <a:r>
              <a:rPr lang="en-GB" baseline="0" dirty="0"/>
              <a:t> object inside a </a:t>
            </a:r>
            <a:r>
              <a:rPr lang="en-GB" baseline="0" dirty="0" err="1"/>
              <a:t>struct</a:t>
            </a:r>
            <a:r>
              <a:rPr lang="en-GB" baseline="0" dirty="0"/>
              <a:t>. The compiler does not mind but you should.</a:t>
            </a:r>
          </a:p>
          <a:p>
            <a:r>
              <a:rPr lang="en-GB" baseline="0" dirty="0" err="1"/>
              <a:t>Structs</a:t>
            </a:r>
            <a:r>
              <a:rPr lang="en-GB" baseline="0" dirty="0"/>
              <a:t> are passed by copy so do not create a </a:t>
            </a:r>
            <a:r>
              <a:rPr lang="en-GB" baseline="0" dirty="0" err="1"/>
              <a:t>struct</a:t>
            </a:r>
            <a:r>
              <a:rPr lang="en-GB" baseline="0" dirty="0"/>
              <a:t> that takes too much space. The typical rule is 16 bytes of length but this is just a </a:t>
            </a:r>
            <a:r>
              <a:rPr lang="en-GB" baseline="0"/>
              <a:t>performance rule.</a:t>
            </a:r>
            <a:endParaRPr lang="en-GB" dirty="0"/>
          </a:p>
        </p:txBody>
      </p:sp>
    </p:spTree>
    <p:extLst>
      <p:ext uri="{BB962C8B-B14F-4D97-AF65-F5344CB8AC3E}">
        <p14:creationId xmlns:p14="http://schemas.microsoft.com/office/powerpoint/2010/main" val="4241545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Struct</a:t>
            </a:r>
            <a:r>
              <a:rPr lang="en-GB" baseline="0" dirty="0"/>
              <a:t> is another type offered by Microsoft. Its code look like a class but it behaves like a value type. Therefore it can v=be passed by value (by copy) to a method).</a:t>
            </a:r>
          </a:p>
          <a:p>
            <a:r>
              <a:rPr lang="en-GB" baseline="0" dirty="0"/>
              <a:t>It must be said that </a:t>
            </a:r>
            <a:r>
              <a:rPr lang="en-GB" baseline="0" dirty="0" err="1"/>
              <a:t>structs</a:t>
            </a:r>
            <a:r>
              <a:rPr lang="en-GB" baseline="0" dirty="0"/>
              <a:t> ae rarely used by developers but it is frequently used by the </a:t>
            </a:r>
            <a:r>
              <a:rPr lang="en-GB" baseline="0" dirty="0" err="1"/>
              <a:t>.Net</a:t>
            </a:r>
            <a:r>
              <a:rPr lang="en-GB" baseline="0" dirty="0"/>
              <a:t> framework to create types such as </a:t>
            </a:r>
            <a:r>
              <a:rPr lang="en-GB" baseline="0" dirty="0" err="1"/>
              <a:t>int</a:t>
            </a:r>
            <a:r>
              <a:rPr lang="en-GB" baseline="0" dirty="0"/>
              <a:t>, double…Point, Rectangle and so on.</a:t>
            </a:r>
          </a:p>
          <a:p>
            <a:r>
              <a:rPr lang="en-GB" baseline="0" dirty="0"/>
              <a:t>A value type lives on the stack and is therefore not subject to garbage collection.</a:t>
            </a:r>
          </a:p>
          <a:p>
            <a:r>
              <a:rPr lang="en-GB" baseline="0" dirty="0" err="1"/>
              <a:t>Structs</a:t>
            </a:r>
            <a:r>
              <a:rPr lang="en-GB" baseline="0" dirty="0"/>
              <a:t> are meant to be pure value types so please do not embed reference types such as a </a:t>
            </a:r>
            <a:r>
              <a:rPr lang="en-GB" baseline="0" dirty="0" err="1"/>
              <a:t>sring</a:t>
            </a:r>
            <a:r>
              <a:rPr lang="en-GB" baseline="0" dirty="0"/>
              <a:t> object inside a </a:t>
            </a:r>
            <a:r>
              <a:rPr lang="en-GB" baseline="0" dirty="0" err="1"/>
              <a:t>struct</a:t>
            </a:r>
            <a:r>
              <a:rPr lang="en-GB" baseline="0" dirty="0"/>
              <a:t>. The compiler does not mind but you should.</a:t>
            </a:r>
          </a:p>
          <a:p>
            <a:r>
              <a:rPr lang="en-GB" baseline="0" dirty="0" err="1"/>
              <a:t>Structs</a:t>
            </a:r>
            <a:r>
              <a:rPr lang="en-GB" baseline="0" dirty="0"/>
              <a:t> are passed by copy so do not create a </a:t>
            </a:r>
            <a:r>
              <a:rPr lang="en-GB" baseline="0" dirty="0" err="1"/>
              <a:t>struct</a:t>
            </a:r>
            <a:r>
              <a:rPr lang="en-GB" baseline="0" dirty="0"/>
              <a:t> that takes too much space. The typical rule is 16 bytes of length but this is just a </a:t>
            </a:r>
            <a:r>
              <a:rPr lang="en-GB" baseline="0"/>
              <a:t>performance rule.</a:t>
            </a:r>
            <a:endParaRPr lang="en-GB" dirty="0"/>
          </a:p>
        </p:txBody>
      </p:sp>
    </p:spTree>
    <p:extLst>
      <p:ext uri="{BB962C8B-B14F-4D97-AF65-F5344CB8AC3E}">
        <p14:creationId xmlns:p14="http://schemas.microsoft.com/office/powerpoint/2010/main" val="3610536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Grp="1" noRot="1" noChangeAspect="1" noChangeArrowheads="1" noTextEdit="1"/>
          </p:cNvSpPr>
          <p:nvPr>
            <p:ph type="sldImg"/>
          </p:nvPr>
        </p:nvSpPr>
        <p:spPr>
          <a:ln/>
        </p:spPr>
      </p:sp>
      <p:sp>
        <p:nvSpPr>
          <p:cNvPr id="858115"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807257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6126779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9209851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0029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10" name="Text Placeholder 2"/>
          <p:cNvSpPr>
            <a:spLocks noGrp="1"/>
          </p:cNvSpPr>
          <p:nvPr>
            <p:ph type="body" sz="quarter" idx="16"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1"/>
          <a:stretch/>
        </p:blipFill>
        <p:spPr>
          <a:xfrm>
            <a:off x="-6057" y="3264823"/>
            <a:ext cx="5967455" cy="2859259"/>
          </a:xfrm>
          <a:prstGeom prst="rect">
            <a:avLst/>
          </a:prstGeom>
        </p:spPr>
      </p:pic>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ct val="100000"/>
              </a:lnSpc>
              <a:defRPr sz="3600" spc="60" baseline="0">
                <a:solidFill>
                  <a:srgbClr val="004050"/>
                </a:solidFill>
              </a:defRPr>
            </a:lvl1pPr>
          </a:lstStyle>
          <a:p>
            <a:r>
              <a:rPr lang="en-US" noProof="0" dirty="0"/>
              <a:t>CLICK TO EDIT MASTER TITLE STYLE</a:t>
            </a:r>
            <a:endParaRPr lang="en-GB" noProof="0" dirty="0"/>
          </a:p>
        </p:txBody>
      </p:sp>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rgbClr val="004050"/>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2116144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223561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userDrawn="1"/>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730909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6036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40542812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373053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902" r:id="rId2"/>
    <p:sldLayoutId id="2147483812" r:id="rId3"/>
    <p:sldLayoutId id="2147483813" r:id="rId4"/>
    <p:sldLayoutId id="2147483798" r:id="rId5"/>
    <p:sldLayoutId id="2147483806" r:id="rId6"/>
    <p:sldLayoutId id="2147483709" r:id="rId7"/>
    <p:sldLayoutId id="2147483822" r:id="rId8"/>
    <p:sldLayoutId id="2147483802" r:id="rId9"/>
    <p:sldLayoutId id="2147483792" r:id="rId10"/>
    <p:sldLayoutId id="2147483810" r:id="rId11"/>
    <p:sldLayoutId id="2147483804" r:id="rId12"/>
    <p:sldLayoutId id="2147483821" r:id="rId13"/>
    <p:sldLayoutId id="2147483824" r:id="rId14"/>
    <p:sldLayoutId id="2147483828" r:id="rId15"/>
    <p:sldLayoutId id="2147483853" r:id="rId16"/>
    <p:sldLayoutId id="2147483899" r:id="rId17"/>
    <p:sldLayoutId id="2147483832" r:id="rId18"/>
    <p:sldLayoutId id="2147483833" r:id="rId19"/>
    <p:sldLayoutId id="2147483836" r:id="rId20"/>
    <p:sldLayoutId id="2147483852" r:id="rId21"/>
    <p:sldLayoutId id="2147483900" r:id="rId22"/>
    <p:sldLayoutId id="2147483820" r:id="rId23"/>
    <p:sldLayoutId id="2147483842" r:id="rId24"/>
    <p:sldLayoutId id="2147483845" r:id="rId25"/>
    <p:sldLayoutId id="2147483851" r:id="rId26"/>
    <p:sldLayoutId id="2147483901" r:id="rId27"/>
    <p:sldLayoutId id="2147483650" r:id="rId28"/>
    <p:sldLayoutId id="2147483734" r:id="rId29"/>
    <p:sldLayoutId id="2147483796" r:id="rId30"/>
    <p:sldLayoutId id="2147483719" r:id="rId31"/>
    <p:sldLayoutId id="2147483721" r:id="rId32"/>
    <p:sldLayoutId id="2147483724" r:id="rId33"/>
    <p:sldLayoutId id="2147483797" r:id="rId34"/>
    <p:sldLayoutId id="2147483814" r:id="rId35"/>
    <p:sldLayoutId id="2147483905" r:id="rId36"/>
    <p:sldLayoutId id="2147483906" r:id="rId37"/>
    <p:sldLayoutId id="2147483907" r:id="rId38"/>
    <p:sldLayoutId id="2147483908" r:id="rId39"/>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1"/>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1"/>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9.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37.xml"/><Relationship Id="rId5" Type="http://schemas.openxmlformats.org/officeDocument/2006/relationships/image" Target="../media/image16.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8.xml"/><Relationship Id="rId1" Type="http://schemas.openxmlformats.org/officeDocument/2006/relationships/slideLayout" Target="../slideLayouts/slideLayout28.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Object Oriented programming</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DC59C-4EC7-D0BE-F26F-2E8CA48A55C4}"/>
              </a:ext>
            </a:extLst>
          </p:cNvPr>
          <p:cNvSpPr>
            <a:spLocks noGrp="1"/>
          </p:cNvSpPr>
          <p:nvPr>
            <p:ph type="ctrTitle"/>
          </p:nvPr>
        </p:nvSpPr>
        <p:spPr/>
        <p:txBody>
          <a:bodyPr/>
          <a:lstStyle/>
          <a:p>
            <a:r>
              <a:rPr lang="en-GB" dirty="0"/>
              <a:t>Contents</a:t>
            </a:r>
          </a:p>
        </p:txBody>
      </p:sp>
      <p:sp>
        <p:nvSpPr>
          <p:cNvPr id="3" name="Text Placeholder 2">
            <a:extLst>
              <a:ext uri="{FF2B5EF4-FFF2-40B4-BE49-F238E27FC236}">
                <a16:creationId xmlns:a16="http://schemas.microsoft.com/office/drawing/2014/main" id="{8F554285-ADE2-F7AC-2C27-9697927EBC86}"/>
              </a:ext>
            </a:extLst>
          </p:cNvPr>
          <p:cNvSpPr>
            <a:spLocks noGrp="1"/>
          </p:cNvSpPr>
          <p:nvPr>
            <p:ph type="body" sz="quarter" idx="14"/>
          </p:nvPr>
        </p:nvSpPr>
        <p:spPr/>
        <p:txBody>
          <a:bodyPr/>
          <a:lstStyle/>
          <a:p>
            <a:r>
              <a:rPr lang="en-GB" b="1" dirty="0"/>
              <a:t>Objectives</a:t>
            </a:r>
          </a:p>
          <a:p>
            <a:pPr marL="285750" indent="-285750">
              <a:buSzPct val="115000"/>
              <a:buFont typeface="Arial" panose="020B0604020202020204" pitchFamily="34" charset="0"/>
              <a:buChar char="•"/>
            </a:pPr>
            <a:r>
              <a:rPr lang="en-IN" dirty="0"/>
              <a:t>To understand types and how to create objects</a:t>
            </a:r>
          </a:p>
          <a:p>
            <a:pPr marL="285750" indent="-285750">
              <a:buSzPct val="115000"/>
              <a:buFont typeface="Arial" panose="020B0604020202020204" pitchFamily="34" charset="0"/>
              <a:buChar char="•"/>
            </a:pPr>
            <a:r>
              <a:rPr lang="en-IN" dirty="0"/>
              <a:t>To grasp the concept of reference type behaviour</a:t>
            </a:r>
            <a:endParaRPr lang="en-GB" dirty="0"/>
          </a:p>
        </p:txBody>
      </p:sp>
      <p:sp>
        <p:nvSpPr>
          <p:cNvPr id="4" name="Text Placeholder 3">
            <a:extLst>
              <a:ext uri="{FF2B5EF4-FFF2-40B4-BE49-F238E27FC236}">
                <a16:creationId xmlns:a16="http://schemas.microsoft.com/office/drawing/2014/main" id="{87FFA603-A550-771E-BA62-45DA2C1B803C}"/>
              </a:ext>
            </a:extLst>
          </p:cNvPr>
          <p:cNvSpPr>
            <a:spLocks noGrp="1"/>
          </p:cNvSpPr>
          <p:nvPr>
            <p:ph type="body" sz="quarter" idx="15"/>
          </p:nvPr>
        </p:nvSpPr>
        <p:spPr/>
        <p:txBody>
          <a:bodyPr/>
          <a:lstStyle/>
          <a:p>
            <a:r>
              <a:rPr lang="en-GB" b="1" dirty="0"/>
              <a:t>Contents</a:t>
            </a:r>
          </a:p>
          <a:p>
            <a:pPr marL="285750" indent="-285750">
              <a:buSzPct val="115000"/>
              <a:buFont typeface="Arial" panose="020B0604020202020204" pitchFamily="34" charset="0"/>
              <a:buChar char="•"/>
            </a:pPr>
            <a:r>
              <a:rPr lang="en-IN" dirty="0"/>
              <a:t>OO fundamentals – abstraction and encapsulation</a:t>
            </a:r>
          </a:p>
          <a:p>
            <a:pPr marL="285750" indent="-285750">
              <a:buSzPct val="115000"/>
              <a:buFont typeface="Arial" panose="020B0604020202020204" pitchFamily="34" charset="0"/>
              <a:buChar char="•"/>
            </a:pPr>
            <a:r>
              <a:rPr lang="en-IN" dirty="0"/>
              <a:t>Defining reference types</a:t>
            </a:r>
          </a:p>
          <a:p>
            <a:pPr marL="285750" indent="-285750">
              <a:buSzPct val="115000"/>
              <a:buFont typeface="Arial" panose="020B0604020202020204" pitchFamily="34" charset="0"/>
              <a:buChar char="•"/>
            </a:pPr>
            <a:r>
              <a:rPr lang="en-IN" dirty="0"/>
              <a:t>Creating objects (instances)</a:t>
            </a:r>
          </a:p>
          <a:p>
            <a:endParaRPr lang="en-GB" dirty="0"/>
          </a:p>
        </p:txBody>
      </p:sp>
      <p:pic>
        <p:nvPicPr>
          <p:cNvPr id="16" name="Content Placeholder 15" descr="Decorative image: A line drawing of a person at a laptop.">
            <a:extLst>
              <a:ext uri="{FF2B5EF4-FFF2-40B4-BE49-F238E27FC236}">
                <a16:creationId xmlns:a16="http://schemas.microsoft.com/office/drawing/2014/main" id="{E770B7FE-A6F8-2E4A-0FAC-AC2C64DAB4C4}"/>
              </a:ext>
            </a:extLst>
          </p:cNvPr>
          <p:cNvPicPr>
            <a:picLocks noGrp="1" noChangeAspect="1"/>
          </p:cNvPicPr>
          <p:nvPr>
            <p:ph sz="quarter" idx="18"/>
          </p:nvPr>
        </p:nvPicPr>
        <p:blipFill>
          <a:blip r:embed="rId3">
            <a:extLst>
              <a:ext uri="{28A0092B-C50C-407E-A947-70E740481C1C}">
                <a14:useLocalDpi xmlns:a14="http://schemas.microsoft.com/office/drawing/2010/main" val="0"/>
              </a:ext>
            </a:extLst>
          </a:blip>
          <a:stretch>
            <a:fillRect/>
          </a:stretch>
        </p:blipFill>
        <p:spPr>
          <a:xfrm>
            <a:off x="8223250" y="2336800"/>
            <a:ext cx="838200" cy="838200"/>
          </a:xfrm>
        </p:spPr>
      </p:pic>
      <p:sp>
        <p:nvSpPr>
          <p:cNvPr id="10" name="Text Placeholder 9">
            <a:extLst>
              <a:ext uri="{FF2B5EF4-FFF2-40B4-BE49-F238E27FC236}">
                <a16:creationId xmlns:a16="http://schemas.microsoft.com/office/drawing/2014/main" id="{94E28FE3-C433-6A93-0FB6-F4EE1A0DDD62}"/>
              </a:ext>
            </a:extLst>
          </p:cNvPr>
          <p:cNvSpPr>
            <a:spLocks noGrp="1"/>
          </p:cNvSpPr>
          <p:nvPr>
            <p:ph type="body" sz="quarter" idx="17"/>
          </p:nvPr>
        </p:nvSpPr>
        <p:spPr/>
        <p:txBody>
          <a:bodyPr/>
          <a:lstStyle/>
          <a:p>
            <a:r>
              <a:rPr lang="en-GB" b="1" dirty="0"/>
              <a:t>Hands-on labs</a:t>
            </a:r>
          </a:p>
        </p:txBody>
      </p:sp>
      <p:sp>
        <p:nvSpPr>
          <p:cNvPr id="5" name="Slide Number Placeholder 4">
            <a:extLst>
              <a:ext uri="{FF2B5EF4-FFF2-40B4-BE49-F238E27FC236}">
                <a16:creationId xmlns:a16="http://schemas.microsoft.com/office/drawing/2014/main" id="{40966D64-B662-10F1-13A2-A40979F531BD}"/>
              </a:ext>
            </a:extLst>
          </p:cNvPr>
          <p:cNvSpPr>
            <a:spLocks noGrp="1"/>
          </p:cNvSpPr>
          <p:nvPr>
            <p:ph type="sldNum" sz="quarter" idx="12"/>
          </p:nvPr>
        </p:nvSpPr>
        <p:spPr/>
        <p:txBody>
          <a:bodyPr/>
          <a:lstStyle/>
          <a:p>
            <a:fld id="{F3469444-D02B-D446-9CF8-19DEDDE073D1}" type="slidenum">
              <a:rPr lang="en-US" smtClean="0"/>
              <a:pPr/>
              <a:t>2</a:t>
            </a:fld>
            <a:endParaRPr lang="en-US" dirty="0"/>
          </a:p>
        </p:txBody>
      </p:sp>
      <p:pic>
        <p:nvPicPr>
          <p:cNvPr id="13" name="Content Placeholder 12" descr="Decorative image: A line drawing of a target with an arrow at the centre.">
            <a:extLst>
              <a:ext uri="{FF2B5EF4-FFF2-40B4-BE49-F238E27FC236}">
                <a16:creationId xmlns:a16="http://schemas.microsoft.com/office/drawing/2014/main" id="{7A065791-70B4-D2FC-FB28-060A897E2F67}"/>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745025" y="2336800"/>
            <a:ext cx="834050" cy="838200"/>
          </a:xfrm>
          <a:prstGeom prst="rect">
            <a:avLst/>
          </a:prstGeom>
        </p:spPr>
      </p:pic>
      <p:pic>
        <p:nvPicPr>
          <p:cNvPr id="14" name="Content Placeholder 13" descr="Decorative image: A line drawing of a  checklist">
            <a:extLst>
              <a:ext uri="{FF2B5EF4-FFF2-40B4-BE49-F238E27FC236}">
                <a16:creationId xmlns:a16="http://schemas.microsoft.com/office/drawing/2014/main" id="{8BCB9775-83AD-91C4-5A3A-D04FF2FF2BFA}"/>
              </a:ext>
            </a:extLst>
          </p:cNvPr>
          <p:cNvPicPr>
            <a:picLocks noGrp="1" noChangeAspect="1"/>
          </p:cNvPicPr>
          <p:nvPr>
            <p:ph sz="quarter" idx="16"/>
          </p:nvPr>
        </p:nvPicPr>
        <p:blipFill>
          <a:blip r:embed="rId5">
            <a:extLst>
              <a:ext uri="{28A0092B-C50C-407E-A947-70E740481C1C}">
                <a14:useLocalDpi xmlns:a14="http://schemas.microsoft.com/office/drawing/2010/main" val="0"/>
              </a:ext>
            </a:extLst>
          </a:blip>
          <a:stretch>
            <a:fillRect/>
          </a:stretch>
        </p:blipFill>
        <p:spPr>
          <a:xfrm>
            <a:off x="4478825" y="2336800"/>
            <a:ext cx="834050" cy="838200"/>
          </a:xfrm>
          <a:prstGeom prst="rect">
            <a:avLst/>
          </a:prstGeom>
        </p:spPr>
      </p:pic>
    </p:spTree>
    <p:extLst>
      <p:ext uri="{BB962C8B-B14F-4D97-AF65-F5344CB8AC3E}">
        <p14:creationId xmlns:p14="http://schemas.microsoft.com/office/powerpoint/2010/main" val="84191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72A3-CC0B-308C-2256-5483CB3B2BDA}"/>
              </a:ext>
            </a:extLst>
          </p:cNvPr>
          <p:cNvSpPr>
            <a:spLocks noGrp="1"/>
          </p:cNvSpPr>
          <p:nvPr>
            <p:ph type="ctrTitle"/>
          </p:nvPr>
        </p:nvSpPr>
        <p:spPr/>
        <p:txBody>
          <a:bodyPr/>
          <a:lstStyle/>
          <a:p>
            <a:r>
              <a:rPr lang="en-IN" dirty="0"/>
              <a:t>OO fundamentals – Abstraction</a:t>
            </a:r>
            <a:endParaRPr lang="en-GB" dirty="0"/>
          </a:p>
        </p:txBody>
      </p:sp>
      <p:sp>
        <p:nvSpPr>
          <p:cNvPr id="4" name="Slide Number Placeholder 3">
            <a:extLst>
              <a:ext uri="{FF2B5EF4-FFF2-40B4-BE49-F238E27FC236}">
                <a16:creationId xmlns:a16="http://schemas.microsoft.com/office/drawing/2014/main" id="{0A1D215B-0ACA-F128-4E24-FE473A6E4FD4}"/>
              </a:ext>
            </a:extLst>
          </p:cNvPr>
          <p:cNvSpPr>
            <a:spLocks noGrp="1"/>
          </p:cNvSpPr>
          <p:nvPr>
            <p:ph type="sldNum" sz="quarter" idx="12"/>
          </p:nvPr>
        </p:nvSpPr>
        <p:spPr/>
        <p:txBody>
          <a:bodyPr/>
          <a:lstStyle/>
          <a:p>
            <a:fld id="{F3469444-D02B-D446-9CF8-19DEDDE073D1}" type="slidenum">
              <a:rPr lang="en-US" smtClean="0"/>
              <a:pPr/>
              <a:t>3</a:t>
            </a:fld>
            <a:endParaRPr lang="en-US" dirty="0"/>
          </a:p>
        </p:txBody>
      </p:sp>
      <p:sp>
        <p:nvSpPr>
          <p:cNvPr id="5" name="Title 1">
            <a:extLst>
              <a:ext uri="{FF2B5EF4-FFF2-40B4-BE49-F238E27FC236}">
                <a16:creationId xmlns:a16="http://schemas.microsoft.com/office/drawing/2014/main" id="{FC73E558-9E00-10C7-D730-91DE6EA2F86B}"/>
              </a:ext>
            </a:extLst>
          </p:cNvPr>
          <p:cNvSpPr txBox="1">
            <a:spLocks/>
          </p:cNvSpPr>
          <p:nvPr/>
        </p:nvSpPr>
        <p:spPr>
          <a:xfrm>
            <a:off x="339971" y="562058"/>
            <a:ext cx="11517818" cy="805001"/>
          </a:xfrm>
          <a:prstGeom prst="rect">
            <a:avLst/>
          </a:prstGeom>
          <a:ln>
            <a:noFill/>
          </a:ln>
        </p:spPr>
        <p:txBody>
          <a:bodyPr anchor="ctr">
            <a:noAutofit/>
          </a:bodyPr>
          <a:lstStyle>
            <a:lvl1pPr algn="l" defTabSz="914400" rtl="0" eaLnBrk="1" latinLnBrk="0" hangingPunct="1">
              <a:lnSpc>
                <a:spcPct val="100000"/>
              </a:lnSpc>
              <a:spcBef>
                <a:spcPct val="0"/>
              </a:spcBef>
              <a:buNone/>
              <a:defRPr sz="3000" b="1" kern="1200">
                <a:solidFill>
                  <a:schemeClr val="tx1"/>
                </a:solidFill>
                <a:latin typeface="+mn-lt"/>
                <a:ea typeface="+mj-ea"/>
                <a:cs typeface="+mj-cs"/>
              </a:defRPr>
            </a:lvl1pPr>
          </a:lstStyle>
          <a:p>
            <a:endParaRPr lang="en-GB" dirty="0"/>
          </a:p>
        </p:txBody>
      </p:sp>
      <p:sp>
        <p:nvSpPr>
          <p:cNvPr id="6" name="Content Placeholder 2">
            <a:extLst>
              <a:ext uri="{FF2B5EF4-FFF2-40B4-BE49-F238E27FC236}">
                <a16:creationId xmlns:a16="http://schemas.microsoft.com/office/drawing/2014/main" id="{5F79B95F-F2D7-600D-3155-5CE6DD34078D}"/>
              </a:ext>
            </a:extLst>
          </p:cNvPr>
          <p:cNvSpPr txBox="1">
            <a:spLocks/>
          </p:cNvSpPr>
          <p:nvPr/>
        </p:nvSpPr>
        <p:spPr>
          <a:xfrm>
            <a:off x="443922" y="1414362"/>
            <a:ext cx="11409907" cy="495535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b="1" dirty="0"/>
              <a:t>Ability to represent a complex problem in simple terms</a:t>
            </a:r>
            <a:endParaRPr lang="en-GB" b="1" dirty="0"/>
          </a:p>
          <a:p>
            <a:pPr lvl="1">
              <a:lnSpc>
                <a:spcPct val="100000"/>
              </a:lnSpc>
              <a:spcBef>
                <a:spcPts val="1000"/>
              </a:spcBef>
            </a:pPr>
            <a:r>
              <a:rPr lang="en-IN" dirty="0"/>
              <a:t>Creation of a high-level definition to simplify complexity</a:t>
            </a:r>
          </a:p>
          <a:p>
            <a:pPr lvl="1">
              <a:lnSpc>
                <a:spcPct val="100000"/>
              </a:lnSpc>
              <a:spcBef>
                <a:spcPts val="1000"/>
              </a:spcBef>
            </a:pPr>
            <a:r>
              <a:rPr lang="en-GB" dirty="0"/>
              <a:t>Exposing only the relevant features. Hiding the complex implementation</a:t>
            </a:r>
            <a:br>
              <a:rPr lang="en-GB" dirty="0"/>
            </a:br>
            <a:endParaRPr lang="en-GB" dirty="0"/>
          </a:p>
          <a:p>
            <a:pPr marL="342900" indent="-342900">
              <a:lnSpc>
                <a:spcPct val="100000"/>
              </a:lnSpc>
            </a:pPr>
            <a:r>
              <a:rPr lang="en-GB" b="1" dirty="0"/>
              <a:t>Stresses ideas, qualities, and properties – not particulars</a:t>
            </a:r>
          </a:p>
          <a:p>
            <a:pPr marL="800100" lvl="1" indent="-342900">
              <a:lnSpc>
                <a:spcPct val="100000"/>
              </a:lnSpc>
              <a:spcBef>
                <a:spcPts val="1000"/>
              </a:spcBef>
            </a:pPr>
            <a:r>
              <a:rPr lang="en-IN" dirty="0"/>
              <a:t>Emphasises what an object is or does, rather than how it works</a:t>
            </a:r>
          </a:p>
        </p:txBody>
      </p:sp>
      <p:pic>
        <p:nvPicPr>
          <p:cNvPr id="7" name="Picture 6">
            <a:extLst>
              <a:ext uri="{FF2B5EF4-FFF2-40B4-BE49-F238E27FC236}">
                <a16:creationId xmlns:a16="http://schemas.microsoft.com/office/drawing/2014/main" id="{0026F2F7-329A-9C64-BCAC-A2A548B16042}"/>
              </a:ext>
              <a:ext uri="{C183D7F6-B498-43B3-948B-1728B52AA6E4}">
                <adec:decorative xmlns:adec="http://schemas.microsoft.com/office/drawing/2017/decorative" val="1"/>
              </a:ext>
            </a:extLst>
          </p:cNvPr>
          <p:cNvPicPr>
            <a:picLocks noChangeAspect="1"/>
          </p:cNvPicPr>
          <p:nvPr/>
        </p:nvPicPr>
        <p:blipFill rotWithShape="1">
          <a:blip r:embed="rId3"/>
          <a:srcRect l="21635" r="24472" b="-1"/>
          <a:stretch/>
        </p:blipFill>
        <p:spPr>
          <a:xfrm>
            <a:off x="9558001" y="1012055"/>
            <a:ext cx="2050922" cy="2692400"/>
          </a:xfrm>
          <a:prstGeom prst="rect">
            <a:avLst/>
          </a:prstGeom>
          <a:ln>
            <a:noFill/>
          </a:ln>
          <a:effectLst>
            <a:softEdge rad="112500"/>
          </a:effectLst>
        </p:spPr>
      </p:pic>
      <p:grpSp>
        <p:nvGrpSpPr>
          <p:cNvPr id="8" name="Group 7" descr="Steering wheel and pedals of a motor vehicle with wheels.">
            <a:extLst>
              <a:ext uri="{FF2B5EF4-FFF2-40B4-BE49-F238E27FC236}">
                <a16:creationId xmlns:a16="http://schemas.microsoft.com/office/drawing/2014/main" id="{BE4F28C8-E435-8B31-924B-2476C2E68D0B}"/>
              </a:ext>
            </a:extLst>
          </p:cNvPr>
          <p:cNvGrpSpPr/>
          <p:nvPr/>
        </p:nvGrpSpPr>
        <p:grpSpPr>
          <a:xfrm>
            <a:off x="9654854" y="3749040"/>
            <a:ext cx="1930399" cy="2692400"/>
            <a:chOff x="9654854" y="3749040"/>
            <a:chExt cx="1930399" cy="2692400"/>
          </a:xfrm>
        </p:grpSpPr>
        <p:sp>
          <p:nvSpPr>
            <p:cNvPr id="9" name="Rectangle: Rounded Corners 8">
              <a:extLst>
                <a:ext uri="{FF2B5EF4-FFF2-40B4-BE49-F238E27FC236}">
                  <a16:creationId xmlns:a16="http://schemas.microsoft.com/office/drawing/2014/main" id="{695E9A17-9EF7-CE1F-87E0-DF689D9BBA1B}"/>
                </a:ext>
              </a:extLst>
            </p:cNvPr>
            <p:cNvSpPr/>
            <p:nvPr/>
          </p:nvSpPr>
          <p:spPr>
            <a:xfrm>
              <a:off x="9654854" y="3749040"/>
              <a:ext cx="1930399" cy="26924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pic>
          <p:nvPicPr>
            <p:cNvPr id="10" name="Picture 2">
              <a:extLst>
                <a:ext uri="{FF2B5EF4-FFF2-40B4-BE49-F238E27FC236}">
                  <a16:creationId xmlns:a16="http://schemas.microsoft.com/office/drawing/2014/main" id="{EA20F812-85D5-AC7F-D9B8-931D13B7D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2941" y="4168104"/>
              <a:ext cx="1014222" cy="1014222"/>
            </a:xfrm>
            <a:prstGeom prst="rect">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pic>
        <p:pic>
          <p:nvPicPr>
            <p:cNvPr id="11" name="Picture 6" descr="Accelerator Brake Pedal And Clutch Pedal Of Manual Gear Car Stock Photo -  Download Image Now - iStock">
              <a:extLst>
                <a:ext uri="{FF2B5EF4-FFF2-40B4-BE49-F238E27FC236}">
                  <a16:creationId xmlns:a16="http://schemas.microsoft.com/office/drawing/2014/main" id="{DB25FC3A-9A7E-E090-236F-616012785C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3958" y="5216823"/>
              <a:ext cx="1672189" cy="112138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pic>
        <p:sp>
          <p:nvSpPr>
            <p:cNvPr id="12" name="TextBox 11">
              <a:extLst>
                <a:ext uri="{FF2B5EF4-FFF2-40B4-BE49-F238E27FC236}">
                  <a16:creationId xmlns:a16="http://schemas.microsoft.com/office/drawing/2014/main" id="{ECEEB594-6E03-3DD8-C1E7-BE52D25D7301}"/>
                </a:ext>
              </a:extLst>
            </p:cNvPr>
            <p:cNvSpPr txBox="1"/>
            <p:nvPr/>
          </p:nvSpPr>
          <p:spPr>
            <a:xfrm>
              <a:off x="10014502" y="3830540"/>
              <a:ext cx="1137920" cy="353695"/>
            </a:xfrm>
            <a:prstGeom prst="rect">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vert="horz" wrap="square" lIns="0" tIns="0" rIns="0" bIns="0" rtlCol="0" anchor="t" anchorCtr="0">
              <a:normAutofit/>
            </a:bodyPr>
            <a:lstStyle/>
            <a:p>
              <a:pPr algn="ctr"/>
              <a:r>
                <a:rPr lang="en-GB" b="1" dirty="0">
                  <a:solidFill>
                    <a:schemeClr val="tx1"/>
                  </a:solidFill>
                </a:rPr>
                <a:t>Interface</a:t>
              </a:r>
            </a:p>
            <a:p>
              <a:pPr algn="ctr"/>
              <a:endParaRPr lang="en-GB" b="1" dirty="0">
                <a:solidFill>
                  <a:schemeClr val="tx1"/>
                </a:solidFill>
              </a:endParaRPr>
            </a:p>
          </p:txBody>
        </p:sp>
      </p:grpSp>
      <p:pic>
        <p:nvPicPr>
          <p:cNvPr id="13" name="Picture 12" descr="Decorative image: A person in the driver seat of a car with their arms held out and a puzzled look on their face.">
            <a:extLst>
              <a:ext uri="{FF2B5EF4-FFF2-40B4-BE49-F238E27FC236}">
                <a16:creationId xmlns:a16="http://schemas.microsoft.com/office/drawing/2014/main" id="{998B690B-C5A1-C1D8-618A-6F0A4B5B9023}"/>
              </a:ext>
            </a:extLst>
          </p:cNvPr>
          <p:cNvPicPr>
            <a:picLocks noChangeAspect="1"/>
          </p:cNvPicPr>
          <p:nvPr/>
        </p:nvPicPr>
        <p:blipFill>
          <a:blip r:embed="rId6"/>
          <a:srcRect/>
          <a:stretch/>
        </p:blipFill>
        <p:spPr>
          <a:xfrm>
            <a:off x="960622" y="4007387"/>
            <a:ext cx="3566725" cy="2078857"/>
          </a:xfrm>
          <a:prstGeom prst="rect">
            <a:avLst/>
          </a:prstGeom>
        </p:spPr>
      </p:pic>
      <p:sp>
        <p:nvSpPr>
          <p:cNvPr id="14" name="Speech Bubble: Rectangle with Corners Rounded 13">
            <a:extLst>
              <a:ext uri="{FF2B5EF4-FFF2-40B4-BE49-F238E27FC236}">
                <a16:creationId xmlns:a16="http://schemas.microsoft.com/office/drawing/2014/main" id="{CE4D70FE-C3BD-ECA5-74C4-3B3502B637A9}"/>
              </a:ext>
            </a:extLst>
          </p:cNvPr>
          <p:cNvSpPr/>
          <p:nvPr/>
        </p:nvSpPr>
        <p:spPr>
          <a:xfrm>
            <a:off x="4527347" y="4996984"/>
            <a:ext cx="2787468" cy="985520"/>
          </a:xfrm>
          <a:prstGeom prst="wedgeRoundRectCallout">
            <a:avLst>
              <a:gd name="adj1" fmla="val -55698"/>
              <a:gd name="adj2" fmla="val -24098"/>
              <a:gd name="adj3" fmla="val 16667"/>
            </a:avLst>
          </a:prstGeom>
          <a:solidFill>
            <a:schemeClr val="bg1">
              <a:lumMod val="9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400" b="1" dirty="0">
                <a:solidFill>
                  <a:schemeClr val="tx1"/>
                </a:solidFill>
              </a:rPr>
              <a:t>Many drivers are unaware of car mechanics but can still drive a car.</a:t>
            </a:r>
          </a:p>
        </p:txBody>
      </p:sp>
    </p:spTree>
    <p:extLst>
      <p:ext uri="{BB962C8B-B14F-4D97-AF65-F5344CB8AC3E}">
        <p14:creationId xmlns:p14="http://schemas.microsoft.com/office/powerpoint/2010/main" val="15103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E697-7053-F2DE-9A5B-FAFD41AD54DB}"/>
              </a:ext>
            </a:extLst>
          </p:cNvPr>
          <p:cNvSpPr>
            <a:spLocks noGrp="1"/>
          </p:cNvSpPr>
          <p:nvPr>
            <p:ph type="ctrTitle"/>
          </p:nvPr>
        </p:nvSpPr>
        <p:spPr/>
        <p:txBody>
          <a:bodyPr/>
          <a:lstStyle/>
          <a:p>
            <a:r>
              <a:rPr lang="en-IN" dirty="0"/>
              <a:t>An example of using abstraction</a:t>
            </a:r>
            <a:endParaRPr lang="en-GB" dirty="0"/>
          </a:p>
        </p:txBody>
      </p:sp>
      <p:sp>
        <p:nvSpPr>
          <p:cNvPr id="4" name="Slide Number Placeholder 3">
            <a:extLst>
              <a:ext uri="{FF2B5EF4-FFF2-40B4-BE49-F238E27FC236}">
                <a16:creationId xmlns:a16="http://schemas.microsoft.com/office/drawing/2014/main" id="{206C455B-D209-63BA-6E19-BF830C1C9A9C}"/>
              </a:ext>
            </a:extLst>
          </p:cNvPr>
          <p:cNvSpPr>
            <a:spLocks noGrp="1"/>
          </p:cNvSpPr>
          <p:nvPr>
            <p:ph type="sldNum" sz="quarter" idx="12"/>
          </p:nvPr>
        </p:nvSpPr>
        <p:spPr/>
        <p:txBody>
          <a:bodyPr/>
          <a:lstStyle/>
          <a:p>
            <a:fld id="{F3469444-D02B-D446-9CF8-19DEDDE073D1}" type="slidenum">
              <a:rPr lang="en-US" smtClean="0"/>
              <a:pPr/>
              <a:t>4</a:t>
            </a:fld>
            <a:endParaRPr lang="en-US" dirty="0"/>
          </a:p>
        </p:txBody>
      </p:sp>
      <p:sp>
        <p:nvSpPr>
          <p:cNvPr id="5" name="Content Placeholder 2">
            <a:extLst>
              <a:ext uri="{FF2B5EF4-FFF2-40B4-BE49-F238E27FC236}">
                <a16:creationId xmlns:a16="http://schemas.microsoft.com/office/drawing/2014/main" id="{B2376BB9-3B20-93B7-65BF-0F3CD885DCF5}"/>
              </a:ext>
            </a:extLst>
          </p:cNvPr>
          <p:cNvSpPr txBox="1">
            <a:spLocks/>
          </p:cNvSpPr>
          <p:nvPr/>
        </p:nvSpPr>
        <p:spPr>
          <a:xfrm>
            <a:off x="443922" y="1537860"/>
            <a:ext cx="10152958" cy="38887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IN" b="1" dirty="0">
                <a:latin typeface="+mn-lt"/>
              </a:rPr>
              <a:t>Students (instances of type Student) attending a Course</a:t>
            </a:r>
          </a:p>
          <a:p>
            <a:pPr marL="684000" lvl="3" indent="-342900">
              <a:buSzPct val="115000"/>
            </a:pPr>
            <a:r>
              <a:rPr lang="en-IN" dirty="0">
                <a:latin typeface="+mn-lt"/>
              </a:rPr>
              <a:t>Have ‘</a:t>
            </a:r>
            <a:r>
              <a:rPr lang="en-IN" b="1" dirty="0">
                <a:latin typeface="+mn-lt"/>
              </a:rPr>
              <a:t>attributes</a:t>
            </a:r>
            <a:r>
              <a:rPr lang="en-IN" dirty="0">
                <a:latin typeface="+mn-lt"/>
              </a:rPr>
              <a:t>’- 	name,  experience, attendance record </a:t>
            </a:r>
          </a:p>
          <a:p>
            <a:pPr marL="684000" lvl="3" indent="-342900">
              <a:buSzPct val="115000"/>
            </a:pPr>
            <a:r>
              <a:rPr lang="en-IN" dirty="0">
                <a:latin typeface="+mn-lt"/>
              </a:rPr>
              <a:t>Have  ‘</a:t>
            </a:r>
            <a:r>
              <a:rPr lang="en-IN" b="1" dirty="0">
                <a:latin typeface="+mn-lt"/>
              </a:rPr>
              <a:t>behaviour</a:t>
            </a:r>
            <a:r>
              <a:rPr lang="en-IN" dirty="0">
                <a:latin typeface="+mn-lt"/>
              </a:rPr>
              <a:t>’ - 	register(), doLab() </a:t>
            </a:r>
          </a:p>
          <a:p>
            <a:pPr marL="684000" lvl="3" indent="-342900">
              <a:buSzPct val="115000"/>
            </a:pPr>
            <a:endParaRPr lang="en-IN" dirty="0">
              <a:latin typeface="+mn-lt"/>
            </a:endParaRPr>
          </a:p>
          <a:p>
            <a:pPr marL="684000" lvl="3" indent="-342900">
              <a:buSzPct val="115000"/>
            </a:pPr>
            <a:r>
              <a:rPr lang="en-IN" dirty="0">
                <a:latin typeface="+mn-lt"/>
              </a:rPr>
              <a:t>Are part of ‘</a:t>
            </a:r>
            <a:r>
              <a:rPr lang="en-IN" b="1" dirty="0">
                <a:latin typeface="+mn-lt"/>
              </a:rPr>
              <a:t>relationships</a:t>
            </a:r>
            <a:r>
              <a:rPr lang="en-IN" dirty="0">
                <a:latin typeface="+mn-lt"/>
              </a:rPr>
              <a:t>’</a:t>
            </a:r>
          </a:p>
          <a:p>
            <a:pPr marL="1026000" lvl="3" indent="-342900">
              <a:buSzPct val="115000"/>
            </a:pPr>
            <a:r>
              <a:rPr lang="en-IN" dirty="0">
                <a:latin typeface="+mn-lt"/>
              </a:rPr>
              <a:t>A student attends a course</a:t>
            </a:r>
          </a:p>
          <a:p>
            <a:pPr marL="1026000" lvl="3" indent="-342900">
              <a:buSzPct val="115000"/>
            </a:pPr>
            <a:r>
              <a:rPr lang="en-IN" dirty="0">
                <a:latin typeface="+mn-lt"/>
              </a:rPr>
              <a:t>A course ‘has’ many students</a:t>
            </a:r>
          </a:p>
          <a:p>
            <a:pPr marL="1026000" lvl="3" indent="-342900">
              <a:buSzPct val="115000"/>
            </a:pPr>
            <a:r>
              <a:rPr lang="en-IN" dirty="0">
                <a:latin typeface="+mn-lt"/>
              </a:rPr>
              <a:t>A Student can register on a course</a:t>
            </a:r>
            <a:br>
              <a:rPr lang="en-IN" dirty="0">
                <a:latin typeface="+mn-lt"/>
              </a:rPr>
            </a:br>
            <a:r>
              <a:rPr lang="en-IN" dirty="0">
                <a:latin typeface="+mn-lt"/>
              </a:rPr>
              <a:t>but doesn’t need to know how it's done</a:t>
            </a:r>
            <a:endParaRPr lang="en-GB" dirty="0">
              <a:latin typeface="+mn-lt"/>
            </a:endParaRPr>
          </a:p>
        </p:txBody>
      </p:sp>
      <p:sp>
        <p:nvSpPr>
          <p:cNvPr id="6" name="Speech Bubble: Rectangle with Corners Rounded 5">
            <a:extLst>
              <a:ext uri="{FF2B5EF4-FFF2-40B4-BE49-F238E27FC236}">
                <a16:creationId xmlns:a16="http://schemas.microsoft.com/office/drawing/2014/main" id="{786F58E1-B8ED-8A5F-4F6F-B9C48C8CFBA2}"/>
              </a:ext>
            </a:extLst>
          </p:cNvPr>
          <p:cNvSpPr/>
          <p:nvPr/>
        </p:nvSpPr>
        <p:spPr>
          <a:xfrm>
            <a:off x="8068680" y="5395634"/>
            <a:ext cx="1676400" cy="467360"/>
          </a:xfrm>
          <a:prstGeom prst="wedgeRoundRectCallout">
            <a:avLst>
              <a:gd name="adj1" fmla="val 31493"/>
              <a:gd name="adj2" fmla="val -74423"/>
              <a:gd name="adj3" fmla="val 16667"/>
            </a:avLst>
          </a:prstGeom>
          <a:solidFill>
            <a:schemeClr val="bg1">
              <a:lumMod val="9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600" b="1" dirty="0">
                <a:solidFill>
                  <a:schemeClr val="tx1"/>
                </a:solidFill>
              </a:rPr>
              <a:t>UML diagram</a:t>
            </a:r>
          </a:p>
        </p:txBody>
      </p:sp>
      <p:sp>
        <p:nvSpPr>
          <p:cNvPr id="7" name="TextBox 6">
            <a:extLst>
              <a:ext uri="{FF2B5EF4-FFF2-40B4-BE49-F238E27FC236}">
                <a16:creationId xmlns:a16="http://schemas.microsoft.com/office/drawing/2014/main" id="{8B958D44-9CF7-040E-1B2E-409FD16D72D7}"/>
              </a:ext>
            </a:extLst>
          </p:cNvPr>
          <p:cNvSpPr txBox="1"/>
          <p:nvPr/>
        </p:nvSpPr>
        <p:spPr>
          <a:xfrm>
            <a:off x="919480" y="5426560"/>
            <a:ext cx="5095241" cy="646331"/>
          </a:xfrm>
          <a:prstGeom prst="rect">
            <a:avLst/>
          </a:prstGeom>
          <a:solidFill>
            <a:schemeClr val="accent5">
              <a:lumMod val="20000"/>
              <a:lumOff val="80000"/>
            </a:schemeClr>
          </a:solidFill>
          <a:effectLst>
            <a:outerShdw blurRad="50800" dist="38100" algn="l" rotWithShape="0">
              <a:prstClr val="black">
                <a:alpha val="40000"/>
              </a:prstClr>
            </a:outerShdw>
          </a:effectLst>
        </p:spPr>
        <p:txBody>
          <a:bodyPr wrap="square">
            <a:spAutoFit/>
          </a:bodyPr>
          <a:lstStyle/>
          <a:p>
            <a:r>
              <a:rPr lang="en-GB" sz="1800" dirty="0">
                <a:solidFill>
                  <a:srgbClr val="0000FF"/>
                </a:solidFill>
                <a:latin typeface="Consolas" panose="020B0609020204030204" pitchFamily="49" charset="0"/>
              </a:rPr>
              <a:t>public</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void</a:t>
            </a:r>
            <a:r>
              <a:rPr lang="en-GB" sz="1800" dirty="0">
                <a:solidFill>
                  <a:srgbClr val="000000"/>
                </a:solidFill>
                <a:latin typeface="Consolas" panose="020B0609020204030204" pitchFamily="49" charset="0"/>
              </a:rPr>
              <a:t> register(Student student) {</a:t>
            </a:r>
          </a:p>
          <a:p>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 code</a:t>
            </a:r>
            <a:endParaRPr lang="en-GB" sz="1800" dirty="0">
              <a:solidFill>
                <a:srgbClr val="000000"/>
              </a:solidFill>
              <a:latin typeface="Consolas" panose="020B0609020204030204" pitchFamily="49" charset="0"/>
            </a:endParaRPr>
          </a:p>
        </p:txBody>
      </p:sp>
      <p:grpSp>
        <p:nvGrpSpPr>
          <p:cNvPr id="11" name="Group 10">
            <a:extLst>
              <a:ext uri="{FF2B5EF4-FFF2-40B4-BE49-F238E27FC236}">
                <a16:creationId xmlns:a16="http://schemas.microsoft.com/office/drawing/2014/main" id="{4B25E5E2-4CEE-6761-4719-20BD0DF048DC}"/>
              </a:ext>
            </a:extLst>
          </p:cNvPr>
          <p:cNvGrpSpPr/>
          <p:nvPr/>
        </p:nvGrpSpPr>
        <p:grpSpPr>
          <a:xfrm>
            <a:off x="6549072" y="2888733"/>
            <a:ext cx="5372100" cy="2438400"/>
            <a:chOff x="6444900" y="2659817"/>
            <a:chExt cx="5372100" cy="2438400"/>
          </a:xfrm>
        </p:grpSpPr>
        <p:pic>
          <p:nvPicPr>
            <p:cNvPr id="8" name="Picture 7">
              <a:extLst>
                <a:ext uri="{FF2B5EF4-FFF2-40B4-BE49-F238E27FC236}">
                  <a16:creationId xmlns:a16="http://schemas.microsoft.com/office/drawing/2014/main" id="{6CF43654-86AC-BCC1-18F7-3317A07EC245}"/>
                </a:ext>
              </a:extLst>
            </p:cNvPr>
            <p:cNvPicPr>
              <a:picLocks noChangeAspect="1"/>
            </p:cNvPicPr>
            <p:nvPr/>
          </p:nvPicPr>
          <p:blipFill>
            <a:blip r:embed="rId3"/>
            <a:stretch>
              <a:fillRect/>
            </a:stretch>
          </p:blipFill>
          <p:spPr>
            <a:xfrm>
              <a:off x="6444900" y="2659817"/>
              <a:ext cx="5372100" cy="2438400"/>
            </a:xfrm>
            <a:prstGeom prst="rect">
              <a:avLst/>
            </a:prstGeom>
            <a:ln>
              <a:noFill/>
            </a:ln>
            <a:effectLst>
              <a:softEdge rad="112500"/>
            </a:effectLst>
          </p:spPr>
        </p:pic>
        <p:sp>
          <p:nvSpPr>
            <p:cNvPr id="10" name="TextBox 9">
              <a:extLst>
                <a:ext uri="{FF2B5EF4-FFF2-40B4-BE49-F238E27FC236}">
                  <a16:creationId xmlns:a16="http://schemas.microsoft.com/office/drawing/2014/main" id="{6721AA7A-15FD-105F-AFFC-76938A7526AD}"/>
                </a:ext>
              </a:extLst>
            </p:cNvPr>
            <p:cNvSpPr txBox="1"/>
            <p:nvPr/>
          </p:nvSpPr>
          <p:spPr>
            <a:xfrm>
              <a:off x="9428069" y="3779634"/>
              <a:ext cx="357790" cy="523220"/>
            </a:xfrm>
            <a:prstGeom prst="rect">
              <a:avLst/>
            </a:prstGeom>
            <a:noFill/>
          </p:spPr>
          <p:txBody>
            <a:bodyPr wrap="none" rtlCol="0">
              <a:spAutoFit/>
            </a:bodyPr>
            <a:lstStyle/>
            <a:p>
              <a:r>
                <a:rPr lang="en-GB" sz="2800" dirty="0"/>
                <a:t>*</a:t>
              </a:r>
            </a:p>
          </p:txBody>
        </p:sp>
      </p:grpSp>
    </p:spTree>
    <p:extLst>
      <p:ext uri="{BB962C8B-B14F-4D97-AF65-F5344CB8AC3E}">
        <p14:creationId xmlns:p14="http://schemas.microsoft.com/office/powerpoint/2010/main" val="5137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B12A-4048-9E26-6647-1BBDC2E15A52}"/>
              </a:ext>
            </a:extLst>
          </p:cNvPr>
          <p:cNvSpPr>
            <a:spLocks noGrp="1"/>
          </p:cNvSpPr>
          <p:nvPr>
            <p:ph type="ctrTitle"/>
          </p:nvPr>
        </p:nvSpPr>
        <p:spPr/>
        <p:txBody>
          <a:bodyPr/>
          <a:lstStyle/>
          <a:p>
            <a:r>
              <a:rPr lang="en-IN" dirty="0"/>
              <a:t>OO fundamentals – Encapsulation</a:t>
            </a:r>
            <a:endParaRPr lang="en-GB" dirty="0"/>
          </a:p>
        </p:txBody>
      </p:sp>
      <p:sp>
        <p:nvSpPr>
          <p:cNvPr id="4" name="Slide Number Placeholder 3">
            <a:extLst>
              <a:ext uri="{FF2B5EF4-FFF2-40B4-BE49-F238E27FC236}">
                <a16:creationId xmlns:a16="http://schemas.microsoft.com/office/drawing/2014/main" id="{4AAC457B-63FA-EDE9-2FE3-A3580BA1D2C9}"/>
              </a:ext>
            </a:extLst>
          </p:cNvPr>
          <p:cNvSpPr>
            <a:spLocks noGrp="1"/>
          </p:cNvSpPr>
          <p:nvPr>
            <p:ph type="sldNum" sz="quarter" idx="12"/>
          </p:nvPr>
        </p:nvSpPr>
        <p:spPr/>
        <p:txBody>
          <a:bodyPr/>
          <a:lstStyle/>
          <a:p>
            <a:fld id="{F3469444-D02B-D446-9CF8-19DEDDE073D1}" type="slidenum">
              <a:rPr lang="en-US" smtClean="0"/>
              <a:pPr/>
              <a:t>5</a:t>
            </a:fld>
            <a:endParaRPr lang="en-US" dirty="0"/>
          </a:p>
        </p:txBody>
      </p:sp>
      <p:sp>
        <p:nvSpPr>
          <p:cNvPr id="5" name="Content Placeholder 2">
            <a:extLst>
              <a:ext uri="{FF2B5EF4-FFF2-40B4-BE49-F238E27FC236}">
                <a16:creationId xmlns:a16="http://schemas.microsoft.com/office/drawing/2014/main" id="{9B28AFAB-4BDA-4794-8F3A-C14009B774D5}"/>
              </a:ext>
            </a:extLst>
          </p:cNvPr>
          <p:cNvSpPr txBox="1">
            <a:spLocks/>
          </p:cNvSpPr>
          <p:nvPr/>
        </p:nvSpPr>
        <p:spPr>
          <a:xfrm>
            <a:off x="443922" y="1808626"/>
            <a:ext cx="11516239" cy="495535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pPr>
            <a:r>
              <a:rPr lang="en-IN" b="1" dirty="0"/>
              <a:t>Hiding object’s implementation, making it self-sufficient</a:t>
            </a:r>
          </a:p>
          <a:p>
            <a:pPr marL="342900" indent="-342900">
              <a:lnSpc>
                <a:spcPct val="100000"/>
              </a:lnSpc>
            </a:pPr>
            <a:endParaRPr lang="en-IN" b="1" dirty="0"/>
          </a:p>
          <a:p>
            <a:pPr marL="342900" indent="-342900">
              <a:lnSpc>
                <a:spcPct val="100000"/>
              </a:lnSpc>
            </a:pPr>
            <a:r>
              <a:rPr lang="en-IN" b="1" dirty="0"/>
              <a:t>Process of enclosing code needed to do one thing well</a:t>
            </a:r>
          </a:p>
          <a:p>
            <a:pPr marL="698500" lvl="1" indent="-342900">
              <a:lnSpc>
                <a:spcPct val="100000"/>
              </a:lnSpc>
              <a:spcBef>
                <a:spcPts val="1000"/>
              </a:spcBef>
            </a:pPr>
            <a:r>
              <a:rPr lang="en-GB" dirty="0"/>
              <a:t>Store necessary data in one object</a:t>
            </a:r>
          </a:p>
          <a:p>
            <a:pPr marL="698500" lvl="1" indent="-342900">
              <a:lnSpc>
                <a:spcPct val="100000"/>
              </a:lnSpc>
              <a:spcBef>
                <a:spcPts val="1000"/>
              </a:spcBef>
            </a:pPr>
            <a:r>
              <a:rPr lang="en-GB" dirty="0"/>
              <a:t>Build complexity from simple objects</a:t>
            </a:r>
          </a:p>
          <a:p>
            <a:pPr marL="698500" lvl="1" indent="-342900">
              <a:lnSpc>
                <a:spcPct val="100000"/>
              </a:lnSpc>
              <a:spcBef>
                <a:spcPts val="1000"/>
              </a:spcBef>
            </a:pPr>
            <a:r>
              <a:rPr lang="en-GB" dirty="0"/>
              <a:t>Hide internal details (e.g., lab performance)</a:t>
            </a:r>
          </a:p>
          <a:p>
            <a:pPr marL="698500" lvl="1" indent="-342900">
              <a:lnSpc>
                <a:spcPct val="100000"/>
              </a:lnSpc>
              <a:spcBef>
                <a:spcPts val="1000"/>
              </a:spcBef>
            </a:pPr>
            <a:r>
              <a:rPr lang="en-GB" dirty="0"/>
              <a:t>Users just need to know the inputs and outputs</a:t>
            </a:r>
          </a:p>
          <a:p>
            <a:pPr marL="698500" lvl="1" indent="-342900">
              <a:lnSpc>
                <a:spcPct val="100000"/>
              </a:lnSpc>
              <a:spcBef>
                <a:spcPts val="1000"/>
              </a:spcBef>
            </a:pPr>
            <a:r>
              <a:rPr lang="en-GB" dirty="0"/>
              <a:t>Improve reliability, maintainability, and reuse</a:t>
            </a:r>
          </a:p>
        </p:txBody>
      </p:sp>
      <p:pic>
        <p:nvPicPr>
          <p:cNvPr id="6" name="Picture 2" descr="Decorative image: A blue and yellow pill.">
            <a:extLst>
              <a:ext uri="{FF2B5EF4-FFF2-40B4-BE49-F238E27FC236}">
                <a16:creationId xmlns:a16="http://schemas.microsoft.com/office/drawing/2014/main" id="{7C4A0555-F4AD-20B6-04E9-C0FE64AC71AA}"/>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8540" y="1490239"/>
            <a:ext cx="858986" cy="85898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B266F8A-62A0-E67D-310E-56AC0CD6480C}"/>
              </a:ext>
            </a:extLst>
          </p:cNvPr>
          <p:cNvSpPr txBox="1"/>
          <p:nvPr/>
        </p:nvSpPr>
        <p:spPr>
          <a:xfrm>
            <a:off x="9530568" y="3587267"/>
            <a:ext cx="357790" cy="523220"/>
          </a:xfrm>
          <a:prstGeom prst="rect">
            <a:avLst/>
          </a:prstGeom>
          <a:noFill/>
        </p:spPr>
        <p:txBody>
          <a:bodyPr wrap="none" rtlCol="0">
            <a:spAutoFit/>
          </a:bodyPr>
          <a:lstStyle/>
          <a:p>
            <a:r>
              <a:rPr lang="en-GB" sz="2800" dirty="0"/>
              <a:t>*</a:t>
            </a:r>
          </a:p>
        </p:txBody>
      </p:sp>
      <p:grpSp>
        <p:nvGrpSpPr>
          <p:cNvPr id="7" name="Group 6">
            <a:extLst>
              <a:ext uri="{FF2B5EF4-FFF2-40B4-BE49-F238E27FC236}">
                <a16:creationId xmlns:a16="http://schemas.microsoft.com/office/drawing/2014/main" id="{612A63FB-2819-836F-885A-190084811C9C}"/>
              </a:ext>
            </a:extLst>
          </p:cNvPr>
          <p:cNvGrpSpPr/>
          <p:nvPr/>
        </p:nvGrpSpPr>
        <p:grpSpPr>
          <a:xfrm>
            <a:off x="6949275" y="3067315"/>
            <a:ext cx="5085162" cy="2300447"/>
            <a:chOff x="6444900" y="2659817"/>
            <a:chExt cx="5372100" cy="2438400"/>
          </a:xfrm>
        </p:grpSpPr>
        <p:pic>
          <p:nvPicPr>
            <p:cNvPr id="9" name="Picture 8">
              <a:extLst>
                <a:ext uri="{FF2B5EF4-FFF2-40B4-BE49-F238E27FC236}">
                  <a16:creationId xmlns:a16="http://schemas.microsoft.com/office/drawing/2014/main" id="{22576ED1-5FBF-36BE-2700-F1C8A96B8D49}"/>
                </a:ext>
              </a:extLst>
            </p:cNvPr>
            <p:cNvPicPr>
              <a:picLocks noChangeAspect="1"/>
            </p:cNvPicPr>
            <p:nvPr/>
          </p:nvPicPr>
          <p:blipFill>
            <a:blip r:embed="rId4"/>
            <a:stretch>
              <a:fillRect/>
            </a:stretch>
          </p:blipFill>
          <p:spPr>
            <a:xfrm>
              <a:off x="6444900" y="2659817"/>
              <a:ext cx="5372100" cy="2438400"/>
            </a:xfrm>
            <a:prstGeom prst="rect">
              <a:avLst/>
            </a:prstGeom>
            <a:ln>
              <a:noFill/>
            </a:ln>
            <a:effectLst>
              <a:softEdge rad="112500"/>
            </a:effectLst>
          </p:spPr>
        </p:pic>
        <p:sp>
          <p:nvSpPr>
            <p:cNvPr id="10" name="TextBox 9">
              <a:extLst>
                <a:ext uri="{FF2B5EF4-FFF2-40B4-BE49-F238E27FC236}">
                  <a16:creationId xmlns:a16="http://schemas.microsoft.com/office/drawing/2014/main" id="{77131F35-6F9F-FABF-2C03-18C097DD030E}"/>
                </a:ext>
              </a:extLst>
            </p:cNvPr>
            <p:cNvSpPr txBox="1"/>
            <p:nvPr/>
          </p:nvSpPr>
          <p:spPr>
            <a:xfrm>
              <a:off x="9428069" y="3779634"/>
              <a:ext cx="357790" cy="523220"/>
            </a:xfrm>
            <a:prstGeom prst="rect">
              <a:avLst/>
            </a:prstGeom>
            <a:noFill/>
          </p:spPr>
          <p:txBody>
            <a:bodyPr wrap="none" rtlCol="0">
              <a:spAutoFit/>
            </a:bodyPr>
            <a:lstStyle/>
            <a:p>
              <a:r>
                <a:rPr lang="en-GB" sz="2800" dirty="0"/>
                <a:t>*</a:t>
              </a:r>
            </a:p>
          </p:txBody>
        </p:sp>
      </p:grpSp>
    </p:spTree>
    <p:extLst>
      <p:ext uri="{BB962C8B-B14F-4D97-AF65-F5344CB8AC3E}">
        <p14:creationId xmlns:p14="http://schemas.microsoft.com/office/powerpoint/2010/main" val="1124759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7C6C8-C4F6-E115-FD5A-E8A22AA10FAA}"/>
              </a:ext>
            </a:extLst>
          </p:cNvPr>
          <p:cNvSpPr>
            <a:spLocks noGrp="1"/>
          </p:cNvSpPr>
          <p:nvPr>
            <p:ph type="ctrTitle"/>
          </p:nvPr>
        </p:nvSpPr>
        <p:spPr/>
        <p:txBody>
          <a:bodyPr/>
          <a:lstStyle/>
          <a:p>
            <a:r>
              <a:rPr lang="en-GB" dirty="0"/>
              <a:t>Inheritance</a:t>
            </a:r>
          </a:p>
        </p:txBody>
      </p:sp>
      <p:sp>
        <p:nvSpPr>
          <p:cNvPr id="4" name="Slide Number Placeholder 3">
            <a:extLst>
              <a:ext uri="{FF2B5EF4-FFF2-40B4-BE49-F238E27FC236}">
                <a16:creationId xmlns:a16="http://schemas.microsoft.com/office/drawing/2014/main" id="{923E49EF-6816-E407-1ED7-2DCDA48A8B3C}"/>
              </a:ext>
            </a:extLst>
          </p:cNvPr>
          <p:cNvSpPr>
            <a:spLocks noGrp="1"/>
          </p:cNvSpPr>
          <p:nvPr>
            <p:ph type="sldNum" sz="quarter" idx="12"/>
          </p:nvPr>
        </p:nvSpPr>
        <p:spPr/>
        <p:txBody>
          <a:bodyPr/>
          <a:lstStyle/>
          <a:p>
            <a:fld id="{F3469444-D02B-D446-9CF8-19DEDDE073D1}" type="slidenum">
              <a:rPr lang="en-US" smtClean="0"/>
              <a:pPr/>
              <a:t>6</a:t>
            </a:fld>
            <a:endParaRPr lang="en-US" dirty="0"/>
          </a:p>
        </p:txBody>
      </p:sp>
      <p:sp>
        <p:nvSpPr>
          <p:cNvPr id="5" name="TextBox 4">
            <a:extLst>
              <a:ext uri="{FF2B5EF4-FFF2-40B4-BE49-F238E27FC236}">
                <a16:creationId xmlns:a16="http://schemas.microsoft.com/office/drawing/2014/main" id="{3F4B5BA0-D600-5762-072F-50C9CFA1473B}"/>
              </a:ext>
            </a:extLst>
          </p:cNvPr>
          <p:cNvSpPr txBox="1"/>
          <p:nvPr/>
        </p:nvSpPr>
        <p:spPr>
          <a:xfrm>
            <a:off x="833718" y="1776765"/>
            <a:ext cx="11098306" cy="646331"/>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r>
              <a:rPr lang="en-GB" b="1" dirty="0">
                <a:solidFill>
                  <a:schemeClr val="tx1"/>
                </a:solidFill>
              </a:rPr>
              <a:t>Is an OOP concept where a subclass inherits properties and behaviour from a superclass.</a:t>
            </a:r>
            <a:br>
              <a:rPr lang="en-GB" b="1" dirty="0">
                <a:solidFill>
                  <a:schemeClr val="tx1"/>
                </a:solidFill>
              </a:rPr>
            </a:br>
            <a:r>
              <a:rPr lang="en-GB" dirty="0">
                <a:solidFill>
                  <a:schemeClr val="tx1"/>
                </a:solidFill>
              </a:rPr>
              <a:t>It promotes </a:t>
            </a:r>
            <a:r>
              <a:rPr lang="en-GB" b="1" dirty="0">
                <a:solidFill>
                  <a:schemeClr val="tx1"/>
                </a:solidFill>
              </a:rPr>
              <a:t>code reuse</a:t>
            </a:r>
            <a:r>
              <a:rPr lang="en-GB" dirty="0">
                <a:solidFill>
                  <a:schemeClr val="tx1"/>
                </a:solidFill>
              </a:rPr>
              <a:t> and enables </a:t>
            </a:r>
            <a:r>
              <a:rPr lang="en-GB" b="1" dirty="0">
                <a:solidFill>
                  <a:schemeClr val="tx1"/>
                </a:solidFill>
              </a:rPr>
              <a:t>polymorphism</a:t>
            </a:r>
            <a:r>
              <a:rPr lang="en-GB" dirty="0">
                <a:solidFill>
                  <a:schemeClr val="tx1"/>
                </a:solidFill>
              </a:rPr>
              <a:t>.</a:t>
            </a:r>
            <a:r>
              <a:rPr lang="en-GB" b="1" dirty="0">
                <a:solidFill>
                  <a:schemeClr val="tx1"/>
                </a:solidFill>
              </a:rPr>
              <a:t> </a:t>
            </a:r>
          </a:p>
        </p:txBody>
      </p:sp>
      <p:pic>
        <p:nvPicPr>
          <p:cNvPr id="8" name="Picture 7">
            <a:extLst>
              <a:ext uri="{FF2B5EF4-FFF2-40B4-BE49-F238E27FC236}">
                <a16:creationId xmlns:a16="http://schemas.microsoft.com/office/drawing/2014/main" id="{2D29E42C-8F58-DEAB-DEB9-1B12B022BA85}"/>
              </a:ext>
            </a:extLst>
          </p:cNvPr>
          <p:cNvPicPr>
            <a:picLocks noChangeAspect="1"/>
          </p:cNvPicPr>
          <p:nvPr/>
        </p:nvPicPr>
        <p:blipFill>
          <a:blip r:embed="rId3"/>
          <a:stretch>
            <a:fillRect/>
          </a:stretch>
        </p:blipFill>
        <p:spPr>
          <a:xfrm>
            <a:off x="1271297" y="3133794"/>
            <a:ext cx="9648825" cy="2724150"/>
          </a:xfrm>
          <a:prstGeom prst="rect">
            <a:avLst/>
          </a:prstGeom>
        </p:spPr>
      </p:pic>
      <p:sp>
        <p:nvSpPr>
          <p:cNvPr id="9" name="TextBox 8">
            <a:extLst>
              <a:ext uri="{FF2B5EF4-FFF2-40B4-BE49-F238E27FC236}">
                <a16:creationId xmlns:a16="http://schemas.microsoft.com/office/drawing/2014/main" id="{724B13B4-6266-3B7F-99EC-8C6F95F16BD5}"/>
              </a:ext>
            </a:extLst>
          </p:cNvPr>
          <p:cNvSpPr txBox="1"/>
          <p:nvPr/>
        </p:nvSpPr>
        <p:spPr>
          <a:xfrm>
            <a:off x="6753870" y="3586522"/>
            <a:ext cx="332142" cy="461665"/>
          </a:xfrm>
          <a:prstGeom prst="rect">
            <a:avLst/>
          </a:prstGeom>
          <a:noFill/>
        </p:spPr>
        <p:txBody>
          <a:bodyPr wrap="none" rtlCol="0">
            <a:spAutoFit/>
          </a:bodyPr>
          <a:lstStyle/>
          <a:p>
            <a:r>
              <a:rPr lang="en-GB" sz="2400" dirty="0"/>
              <a:t>*</a:t>
            </a:r>
          </a:p>
        </p:txBody>
      </p:sp>
    </p:spTree>
    <p:extLst>
      <p:ext uri="{BB962C8B-B14F-4D97-AF65-F5344CB8AC3E}">
        <p14:creationId xmlns:p14="http://schemas.microsoft.com/office/powerpoint/2010/main" val="2812086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2456-B81B-596E-F56E-5C5D7AAFECFE}"/>
              </a:ext>
            </a:extLst>
          </p:cNvPr>
          <p:cNvSpPr>
            <a:spLocks noGrp="1"/>
          </p:cNvSpPr>
          <p:nvPr>
            <p:ph type="ctrTitle"/>
          </p:nvPr>
        </p:nvSpPr>
        <p:spPr/>
        <p:txBody>
          <a:bodyPr/>
          <a:lstStyle/>
          <a:p>
            <a:r>
              <a:rPr lang="en-IN" dirty="0"/>
              <a:t>OO fundamentals – Objects communicate</a:t>
            </a:r>
            <a:endParaRPr lang="en-GB" dirty="0"/>
          </a:p>
        </p:txBody>
      </p:sp>
      <p:sp>
        <p:nvSpPr>
          <p:cNvPr id="4" name="Slide Number Placeholder 3">
            <a:extLst>
              <a:ext uri="{FF2B5EF4-FFF2-40B4-BE49-F238E27FC236}">
                <a16:creationId xmlns:a16="http://schemas.microsoft.com/office/drawing/2014/main" id="{3E4A49C5-CFE2-ABE8-DD59-FDF6CED27B1E}"/>
              </a:ext>
            </a:extLst>
          </p:cNvPr>
          <p:cNvSpPr>
            <a:spLocks noGrp="1"/>
          </p:cNvSpPr>
          <p:nvPr>
            <p:ph type="sldNum" sz="quarter" idx="12"/>
          </p:nvPr>
        </p:nvSpPr>
        <p:spPr/>
        <p:txBody>
          <a:bodyPr/>
          <a:lstStyle/>
          <a:p>
            <a:fld id="{F3469444-D02B-D446-9CF8-19DEDDE073D1}" type="slidenum">
              <a:rPr lang="en-US" smtClean="0"/>
              <a:pPr/>
              <a:t>7</a:t>
            </a:fld>
            <a:endParaRPr lang="en-US" dirty="0"/>
          </a:p>
        </p:txBody>
      </p:sp>
      <p:sp>
        <p:nvSpPr>
          <p:cNvPr id="5" name="Content Placeholder 2">
            <a:extLst>
              <a:ext uri="{FF2B5EF4-FFF2-40B4-BE49-F238E27FC236}">
                <a16:creationId xmlns:a16="http://schemas.microsoft.com/office/drawing/2014/main" id="{ADB4B60D-1CA8-9541-93C0-4F237D1C93EC}"/>
              </a:ext>
            </a:extLst>
          </p:cNvPr>
          <p:cNvSpPr txBox="1">
            <a:spLocks/>
          </p:cNvSpPr>
          <p:nvPr/>
        </p:nvSpPr>
        <p:spPr>
          <a:xfrm>
            <a:off x="454100" y="1793177"/>
            <a:ext cx="11506061" cy="495535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pPr>
            <a:r>
              <a:rPr lang="en-IN" b="1" dirty="0"/>
              <a:t>Objects communicate via messaging (method calls).</a:t>
            </a:r>
          </a:p>
          <a:p>
            <a:pPr marL="800100" lvl="1" indent="-342900">
              <a:lnSpc>
                <a:spcPct val="100000"/>
              </a:lnSpc>
              <a:spcBef>
                <a:spcPts val="1000"/>
              </a:spcBef>
            </a:pPr>
            <a:r>
              <a:rPr lang="en-IN" dirty="0"/>
              <a:t>Messages allow (receiving) object to determine implementation.</a:t>
            </a:r>
          </a:p>
          <a:p>
            <a:pPr marL="684000" lvl="1" indent="-342000">
              <a:lnSpc>
                <a:spcPct val="100000"/>
              </a:lnSpc>
              <a:spcBef>
                <a:spcPts val="1000"/>
              </a:spcBef>
              <a:buFont typeface="Arial" panose="020B0604020202020204" pitchFamily="34" charset="0"/>
              <a:buNone/>
            </a:pPr>
            <a:endParaRPr lang="en-US" dirty="0">
              <a:solidFill>
                <a:srgbClr val="F3622C"/>
              </a:solidFill>
              <a:latin typeface="Consolas" panose="020B0609020204030204" pitchFamily="49" charset="0"/>
            </a:endParaRPr>
          </a:p>
          <a:p>
            <a:pPr marL="684000" lvl="1" indent="-342000">
              <a:lnSpc>
                <a:spcPct val="100000"/>
              </a:lnSpc>
              <a:spcBef>
                <a:spcPts val="1000"/>
              </a:spcBef>
              <a:buFont typeface="Arial" panose="020B0604020202020204" pitchFamily="34" charset="0"/>
              <a:buNone/>
            </a:pPr>
            <a:endParaRPr lang="en-US" dirty="0">
              <a:solidFill>
                <a:srgbClr val="F3622C"/>
              </a:solidFill>
              <a:latin typeface="Consolas" panose="020B0609020204030204" pitchFamily="49" charset="0"/>
            </a:endParaRPr>
          </a:p>
          <a:p>
            <a:pPr marL="684000" lvl="1" indent="-342000">
              <a:lnSpc>
                <a:spcPct val="100000"/>
              </a:lnSpc>
              <a:spcBef>
                <a:spcPts val="1000"/>
              </a:spcBef>
              <a:buFont typeface="Arial" panose="020B0604020202020204" pitchFamily="34" charset="0"/>
              <a:buNone/>
            </a:pPr>
            <a:endParaRPr lang="en-US" dirty="0">
              <a:solidFill>
                <a:srgbClr val="F3622C"/>
              </a:solidFill>
              <a:latin typeface="Consolas" panose="020B0609020204030204" pitchFamily="49" charset="0"/>
            </a:endParaRPr>
          </a:p>
          <a:p>
            <a:pPr marL="684000" lvl="1" indent="-342000">
              <a:lnSpc>
                <a:spcPct val="100000"/>
              </a:lnSpc>
              <a:spcBef>
                <a:spcPts val="1000"/>
              </a:spcBef>
              <a:buFont typeface="Arial" panose="020B0604020202020204" pitchFamily="34" charset="0"/>
              <a:buNone/>
            </a:pPr>
            <a:r>
              <a:rPr lang="en-US" b="1" dirty="0">
                <a:solidFill>
                  <a:srgbClr val="0070C0"/>
                </a:solidFill>
                <a:latin typeface="Consolas" panose="020B0609020204030204" pitchFamily="49" charset="0"/>
              </a:rPr>
              <a:t>for</a:t>
            </a:r>
            <a:r>
              <a:rPr lang="en-US" b="1" dirty="0">
                <a:latin typeface="Consolas" panose="020B0609020204030204" pitchFamily="49" charset="0"/>
              </a:rPr>
              <a:t>(Student stu </a:t>
            </a:r>
            <a:r>
              <a:rPr lang="en-US" b="1" dirty="0">
                <a:solidFill>
                  <a:srgbClr val="F3622C"/>
                </a:solidFill>
                <a:latin typeface="Consolas" panose="020B0609020204030204" pitchFamily="49" charset="0"/>
              </a:rPr>
              <a:t>:</a:t>
            </a:r>
            <a:r>
              <a:rPr lang="en-US" b="1" dirty="0">
                <a:latin typeface="Consolas" panose="020B0609020204030204" pitchFamily="49" charset="0"/>
              </a:rPr>
              <a:t> students){ </a:t>
            </a:r>
          </a:p>
          <a:p>
            <a:pPr marL="684000" lvl="1" indent="-342000">
              <a:lnSpc>
                <a:spcPct val="100000"/>
              </a:lnSpc>
              <a:spcBef>
                <a:spcPts val="1000"/>
              </a:spcBef>
              <a:buFont typeface="Arial" panose="020B0604020202020204" pitchFamily="34" charset="0"/>
              <a:buNone/>
            </a:pPr>
            <a:r>
              <a:rPr lang="en-US" b="1" dirty="0">
                <a:latin typeface="Consolas" panose="020B0609020204030204" pitchFamily="49" charset="0"/>
              </a:rPr>
              <a:t>	</a:t>
            </a:r>
          </a:p>
          <a:p>
            <a:pPr marL="684000" lvl="1" indent="-342000">
              <a:lnSpc>
                <a:spcPct val="100000"/>
              </a:lnSpc>
              <a:spcBef>
                <a:spcPts val="1000"/>
              </a:spcBef>
              <a:buFont typeface="Arial" panose="020B0604020202020204" pitchFamily="34" charset="0"/>
              <a:buNone/>
            </a:pPr>
            <a:r>
              <a:rPr lang="en-US" b="1" dirty="0">
                <a:latin typeface="Consolas" panose="020B0609020204030204" pitchFamily="49" charset="0"/>
              </a:rPr>
              <a:t>	stu.doLab(2);</a:t>
            </a:r>
          </a:p>
          <a:p>
            <a:pPr marL="684000" lvl="1" indent="-342000">
              <a:lnSpc>
                <a:spcPct val="100000"/>
              </a:lnSpc>
              <a:spcBef>
                <a:spcPts val="1000"/>
              </a:spcBef>
              <a:buFont typeface="Arial" panose="020B0604020202020204" pitchFamily="34" charset="0"/>
              <a:buNone/>
            </a:pPr>
            <a:endParaRPr lang="en-US" b="1" dirty="0">
              <a:latin typeface="Consolas" panose="020B0609020204030204" pitchFamily="49" charset="0"/>
            </a:endParaRPr>
          </a:p>
          <a:p>
            <a:pPr marL="684000" lvl="1" indent="-342000">
              <a:lnSpc>
                <a:spcPct val="100000"/>
              </a:lnSpc>
              <a:spcBef>
                <a:spcPts val="1000"/>
              </a:spcBef>
              <a:buFont typeface="Arial" panose="020B0604020202020204" pitchFamily="34" charset="0"/>
              <a:buNone/>
            </a:pPr>
            <a:r>
              <a:rPr lang="en-US" b="1" dirty="0">
                <a:latin typeface="Consolas" panose="020B0609020204030204" pitchFamily="49" charset="0"/>
              </a:rPr>
              <a:t>}</a:t>
            </a:r>
          </a:p>
          <a:p>
            <a:pPr marL="684000" lvl="1" indent="-342000">
              <a:lnSpc>
                <a:spcPct val="100000"/>
              </a:lnSpc>
              <a:spcBef>
                <a:spcPts val="1000"/>
              </a:spcBef>
              <a:buFont typeface="Arial" panose="020B0604020202020204" pitchFamily="34" charset="0"/>
              <a:buNone/>
            </a:pPr>
            <a:endParaRPr lang="en-US" dirty="0">
              <a:latin typeface="Consolas" panose="020B0609020204030204" pitchFamily="49" charset="0"/>
            </a:endParaRPr>
          </a:p>
        </p:txBody>
      </p:sp>
      <p:pic>
        <p:nvPicPr>
          <p:cNvPr id="6" name="Picture 5" descr="Decorative image: Two people using sign language to communicate.">
            <a:extLst>
              <a:ext uri="{FF2B5EF4-FFF2-40B4-BE49-F238E27FC236}">
                <a16:creationId xmlns:a16="http://schemas.microsoft.com/office/drawing/2014/main" id="{9F093B51-A324-74D2-F9DD-2EAFBFFEDD8B}"/>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9685711" y="1707292"/>
            <a:ext cx="2052189" cy="1368256"/>
          </a:xfrm>
          <a:prstGeom prst="rect">
            <a:avLst/>
          </a:prstGeom>
          <a:ln>
            <a:noFill/>
          </a:ln>
          <a:effectLst>
            <a:softEdge rad="112500"/>
          </a:effectLst>
        </p:spPr>
      </p:pic>
      <p:pic>
        <p:nvPicPr>
          <p:cNvPr id="7" name="Picture 2" descr="Decorative image: A blue and white megaphone.">
            <a:extLst>
              <a:ext uri="{FF2B5EF4-FFF2-40B4-BE49-F238E27FC236}">
                <a16:creationId xmlns:a16="http://schemas.microsoft.com/office/drawing/2014/main" id="{9369C793-8EF5-B5B6-F0B2-616E1D5D9B73}"/>
              </a:ext>
              <a:ext uri="{C183D7F6-B498-43B3-948B-1728B52AA6E4}">
                <adec:decorative xmlns:adec="http://schemas.microsoft.com/office/drawing/2017/decorative" val="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5770" y="4417801"/>
            <a:ext cx="741680" cy="741680"/>
          </a:xfrm>
          <a:prstGeom prst="rect">
            <a:avLst/>
          </a:prstGeom>
          <a:noFill/>
          <a:extLst>
            <a:ext uri="{909E8E84-426E-40DD-AFC4-6F175D3DCCD1}">
              <a14:hiddenFill xmlns:a14="http://schemas.microsoft.com/office/drawing/2010/main">
                <a:solidFill>
                  <a:srgbClr val="FFFFFF"/>
                </a:solidFill>
              </a14:hiddenFill>
            </a:ext>
          </a:extLst>
        </p:spPr>
      </p:pic>
      <p:sp>
        <p:nvSpPr>
          <p:cNvPr id="8" name="Thought Bubble: Cloud 7">
            <a:extLst>
              <a:ext uri="{FF2B5EF4-FFF2-40B4-BE49-F238E27FC236}">
                <a16:creationId xmlns:a16="http://schemas.microsoft.com/office/drawing/2014/main" id="{DBFD8555-B178-2CE1-325C-377FD7D279E9}"/>
              </a:ext>
            </a:extLst>
          </p:cNvPr>
          <p:cNvSpPr/>
          <p:nvPr/>
        </p:nvSpPr>
        <p:spPr>
          <a:xfrm>
            <a:off x="4420650" y="4491376"/>
            <a:ext cx="1290320" cy="360850"/>
          </a:xfrm>
          <a:prstGeom prst="cloudCallout">
            <a:avLst>
              <a:gd name="adj1" fmla="val -58256"/>
              <a:gd name="adj2" fmla="val 29808"/>
            </a:avLst>
          </a:prstGeom>
          <a:solidFill>
            <a:schemeClr val="tx2">
              <a:lumMod val="20000"/>
              <a:lumOff val="80000"/>
            </a:schemeClr>
          </a:solidFill>
          <a:ln w="3175">
            <a:solidFill>
              <a:srgbClr val="004050"/>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b="1" dirty="0">
                <a:solidFill>
                  <a:schemeClr val="tx1"/>
                </a:solidFill>
              </a:rPr>
              <a:t>Do lab 2</a:t>
            </a:r>
            <a:endParaRPr lang="en-GB" sz="1600" b="1" dirty="0">
              <a:solidFill>
                <a:schemeClr val="tx1"/>
              </a:solidFill>
            </a:endParaRPr>
          </a:p>
        </p:txBody>
      </p:sp>
      <p:sp>
        <p:nvSpPr>
          <p:cNvPr id="10" name="TextBox 9">
            <a:extLst>
              <a:ext uri="{FF2B5EF4-FFF2-40B4-BE49-F238E27FC236}">
                <a16:creationId xmlns:a16="http://schemas.microsoft.com/office/drawing/2014/main" id="{1CA4D7D2-2BA4-820B-2513-C72C1D36195B}"/>
              </a:ext>
            </a:extLst>
          </p:cNvPr>
          <p:cNvSpPr txBox="1"/>
          <p:nvPr/>
        </p:nvSpPr>
        <p:spPr>
          <a:xfrm>
            <a:off x="9470648" y="4266690"/>
            <a:ext cx="357790" cy="523220"/>
          </a:xfrm>
          <a:prstGeom prst="rect">
            <a:avLst/>
          </a:prstGeom>
          <a:noFill/>
        </p:spPr>
        <p:txBody>
          <a:bodyPr wrap="none" rtlCol="0">
            <a:spAutoFit/>
          </a:bodyPr>
          <a:lstStyle/>
          <a:p>
            <a:r>
              <a:rPr lang="en-GB" sz="2800" dirty="0"/>
              <a:t>*</a:t>
            </a:r>
          </a:p>
        </p:txBody>
      </p:sp>
      <p:grpSp>
        <p:nvGrpSpPr>
          <p:cNvPr id="9" name="Group 8">
            <a:extLst>
              <a:ext uri="{FF2B5EF4-FFF2-40B4-BE49-F238E27FC236}">
                <a16:creationId xmlns:a16="http://schemas.microsoft.com/office/drawing/2014/main" id="{1C59BCD5-03EF-D377-5F53-4CF0A77DA609}"/>
              </a:ext>
            </a:extLst>
          </p:cNvPr>
          <p:cNvGrpSpPr/>
          <p:nvPr/>
        </p:nvGrpSpPr>
        <p:grpSpPr>
          <a:xfrm>
            <a:off x="6588061" y="3309100"/>
            <a:ext cx="5372100" cy="2438400"/>
            <a:chOff x="6444900" y="2659817"/>
            <a:chExt cx="5372100" cy="2438400"/>
          </a:xfrm>
        </p:grpSpPr>
        <p:pic>
          <p:nvPicPr>
            <p:cNvPr id="11" name="Picture 10">
              <a:extLst>
                <a:ext uri="{FF2B5EF4-FFF2-40B4-BE49-F238E27FC236}">
                  <a16:creationId xmlns:a16="http://schemas.microsoft.com/office/drawing/2014/main" id="{02572B28-F55D-87FE-E385-F7DCD2FC8FFF}"/>
                </a:ext>
              </a:extLst>
            </p:cNvPr>
            <p:cNvPicPr>
              <a:picLocks noChangeAspect="1"/>
            </p:cNvPicPr>
            <p:nvPr/>
          </p:nvPicPr>
          <p:blipFill>
            <a:blip r:embed="rId5"/>
            <a:stretch>
              <a:fillRect/>
            </a:stretch>
          </p:blipFill>
          <p:spPr>
            <a:xfrm>
              <a:off x="6444900" y="2659817"/>
              <a:ext cx="5372100" cy="2438400"/>
            </a:xfrm>
            <a:prstGeom prst="rect">
              <a:avLst/>
            </a:prstGeom>
            <a:ln>
              <a:noFill/>
            </a:ln>
            <a:effectLst>
              <a:softEdge rad="112500"/>
            </a:effectLst>
          </p:spPr>
        </p:pic>
        <p:sp>
          <p:nvSpPr>
            <p:cNvPr id="12" name="TextBox 11">
              <a:extLst>
                <a:ext uri="{FF2B5EF4-FFF2-40B4-BE49-F238E27FC236}">
                  <a16:creationId xmlns:a16="http://schemas.microsoft.com/office/drawing/2014/main" id="{0A4F15A3-4BCF-94E6-F15C-A780AAEA9F6A}"/>
                </a:ext>
              </a:extLst>
            </p:cNvPr>
            <p:cNvSpPr txBox="1"/>
            <p:nvPr/>
          </p:nvSpPr>
          <p:spPr>
            <a:xfrm>
              <a:off x="9428069" y="3779634"/>
              <a:ext cx="357790" cy="523220"/>
            </a:xfrm>
            <a:prstGeom prst="rect">
              <a:avLst/>
            </a:prstGeom>
            <a:noFill/>
          </p:spPr>
          <p:txBody>
            <a:bodyPr wrap="none" rtlCol="0">
              <a:spAutoFit/>
            </a:bodyPr>
            <a:lstStyle/>
            <a:p>
              <a:r>
                <a:rPr lang="en-GB" sz="2800" dirty="0"/>
                <a:t>*</a:t>
              </a:r>
            </a:p>
          </p:txBody>
        </p:sp>
      </p:grpSp>
    </p:spTree>
    <p:extLst>
      <p:ext uri="{BB962C8B-B14F-4D97-AF65-F5344CB8AC3E}">
        <p14:creationId xmlns:p14="http://schemas.microsoft.com/office/powerpoint/2010/main" val="1760919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36099-01CB-19CE-1DAB-FBD7773DC6A5}"/>
              </a:ext>
            </a:extLst>
          </p:cNvPr>
          <p:cNvSpPr>
            <a:spLocks noGrp="1"/>
          </p:cNvSpPr>
          <p:nvPr>
            <p:ph type="ctrTitle"/>
          </p:nvPr>
        </p:nvSpPr>
        <p:spPr/>
        <p:txBody>
          <a:bodyPr/>
          <a:lstStyle/>
          <a:p>
            <a:r>
              <a:rPr lang="en-GB" dirty="0"/>
              <a:t>What is an OO data type?</a:t>
            </a:r>
          </a:p>
        </p:txBody>
      </p:sp>
      <p:sp>
        <p:nvSpPr>
          <p:cNvPr id="4" name="Slide Number Placeholder 3">
            <a:extLst>
              <a:ext uri="{FF2B5EF4-FFF2-40B4-BE49-F238E27FC236}">
                <a16:creationId xmlns:a16="http://schemas.microsoft.com/office/drawing/2014/main" id="{27FD60CE-EA64-0AB7-4A9B-70AE47E70B51}"/>
              </a:ext>
            </a:extLst>
          </p:cNvPr>
          <p:cNvSpPr>
            <a:spLocks noGrp="1"/>
          </p:cNvSpPr>
          <p:nvPr>
            <p:ph type="sldNum" sz="quarter" idx="12"/>
          </p:nvPr>
        </p:nvSpPr>
        <p:spPr/>
        <p:txBody>
          <a:bodyPr/>
          <a:lstStyle/>
          <a:p>
            <a:fld id="{F3469444-D02B-D446-9CF8-19DEDDE073D1}" type="slidenum">
              <a:rPr lang="en-US" smtClean="0"/>
              <a:pPr/>
              <a:t>8</a:t>
            </a:fld>
            <a:endParaRPr lang="en-US" dirty="0"/>
          </a:p>
        </p:txBody>
      </p:sp>
      <p:sp>
        <p:nvSpPr>
          <p:cNvPr id="7" name="Rectangle 3">
            <a:extLst>
              <a:ext uri="{FF2B5EF4-FFF2-40B4-BE49-F238E27FC236}">
                <a16:creationId xmlns:a16="http://schemas.microsoft.com/office/drawing/2014/main" id="{EEAF50B6-53BC-21A6-0D4C-F2B886D8BCAB}"/>
              </a:ext>
            </a:extLst>
          </p:cNvPr>
          <p:cNvSpPr txBox="1">
            <a:spLocks noChangeArrowheads="1"/>
          </p:cNvSpPr>
          <p:nvPr/>
        </p:nvSpPr>
        <p:spPr>
          <a:xfrm>
            <a:off x="443922" y="1676211"/>
            <a:ext cx="11455978" cy="49553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2227263" algn="l"/>
                <a:tab pos="2519363" algn="l"/>
                <a:tab pos="5602288" algn="l"/>
                <a:tab pos="5943600" algn="l"/>
              </a:tabLst>
            </a:pPr>
            <a:r>
              <a:rPr lang="en-GB" b="1" dirty="0"/>
              <a:t>Class definition is a blueprint for making </a:t>
            </a:r>
            <a:r>
              <a:rPr lang="en-GB" b="1" i="1" dirty="0"/>
              <a:t>objects</a:t>
            </a:r>
          </a:p>
          <a:p>
            <a:pPr>
              <a:tabLst>
                <a:tab pos="2227263" algn="l"/>
                <a:tab pos="2519363" algn="l"/>
                <a:tab pos="5602288" algn="l"/>
                <a:tab pos="5943600" algn="l"/>
              </a:tabLst>
            </a:pPr>
            <a:r>
              <a:rPr lang="en-GB" b="1" dirty="0"/>
              <a:t>Fields</a:t>
            </a:r>
            <a:r>
              <a:rPr lang="en-GB" dirty="0"/>
              <a:t>	-	Constituent data parts, </a:t>
            </a:r>
            <a:r>
              <a:rPr lang="en-GB" b="1" dirty="0"/>
              <a:t>hold state</a:t>
            </a:r>
          </a:p>
          <a:p>
            <a:pPr>
              <a:tabLst>
                <a:tab pos="2227263" algn="l"/>
                <a:tab pos="2519363" algn="l"/>
                <a:tab pos="5602288" algn="l"/>
                <a:tab pos="5943600" algn="l"/>
              </a:tabLst>
            </a:pPr>
            <a:r>
              <a:rPr lang="en-GB" b="1" dirty="0"/>
              <a:t>Methods</a:t>
            </a:r>
            <a:r>
              <a:rPr lang="en-GB" dirty="0"/>
              <a:t>	- 	Methods that define </a:t>
            </a:r>
            <a:r>
              <a:rPr lang="en-GB" b="1" dirty="0"/>
              <a:t>behaviour		</a:t>
            </a:r>
          </a:p>
        </p:txBody>
      </p:sp>
      <p:sp>
        <p:nvSpPr>
          <p:cNvPr id="8" name="Rectangle 14">
            <a:extLst>
              <a:ext uri="{FF2B5EF4-FFF2-40B4-BE49-F238E27FC236}">
                <a16:creationId xmlns:a16="http://schemas.microsoft.com/office/drawing/2014/main" id="{6E2B3AD3-280B-7F2C-5CBD-756A84346EBF}"/>
              </a:ext>
            </a:extLst>
          </p:cNvPr>
          <p:cNvSpPr>
            <a:spLocks noChangeArrowheads="1"/>
          </p:cNvSpPr>
          <p:nvPr/>
        </p:nvSpPr>
        <p:spPr bwMode="auto">
          <a:xfrm>
            <a:off x="1697021" y="4972817"/>
            <a:ext cx="1200050" cy="335989"/>
          </a:xfrm>
          <a:prstGeom prst="rect">
            <a:avLst/>
          </a:prstGeom>
          <a:solidFill>
            <a:schemeClr val="bg1"/>
          </a:solidFill>
          <a:ln w="12700">
            <a:noFill/>
            <a:miter lim="800000"/>
            <a:headEnd/>
            <a:tailEnd/>
          </a:ln>
        </p:spPr>
        <p:txBody>
          <a:bodyPr lIns="90488" tIns="44450" rIns="90488" bIns="44450" anchor="ctr"/>
          <a:lstStyle/>
          <a:p>
            <a:pPr algn="r" defTabSz="739775" eaLnBrk="0" hangingPunct="0"/>
            <a:r>
              <a:rPr lang="en-GB" sz="1600" b="1" i="1" dirty="0"/>
              <a:t>Methods</a:t>
            </a:r>
          </a:p>
        </p:txBody>
      </p:sp>
      <p:sp>
        <p:nvSpPr>
          <p:cNvPr id="9" name="Rectangle 15">
            <a:extLst>
              <a:ext uri="{FF2B5EF4-FFF2-40B4-BE49-F238E27FC236}">
                <a16:creationId xmlns:a16="http://schemas.microsoft.com/office/drawing/2014/main" id="{0C7D4F03-7060-D13B-3BA8-CB01A7CEDB2F}"/>
              </a:ext>
            </a:extLst>
          </p:cNvPr>
          <p:cNvSpPr>
            <a:spLocks noChangeArrowheads="1"/>
          </p:cNvSpPr>
          <p:nvPr/>
        </p:nvSpPr>
        <p:spPr bwMode="auto">
          <a:xfrm>
            <a:off x="1909614" y="3587248"/>
            <a:ext cx="998846" cy="762000"/>
          </a:xfrm>
          <a:prstGeom prst="rect">
            <a:avLst/>
          </a:prstGeom>
          <a:solidFill>
            <a:schemeClr val="bg1"/>
          </a:solidFill>
          <a:ln w="12700">
            <a:noFill/>
            <a:miter lim="800000"/>
            <a:headEnd/>
            <a:tailEnd/>
          </a:ln>
        </p:spPr>
        <p:txBody>
          <a:bodyPr lIns="90488" tIns="44450" rIns="90488" bIns="44450" anchor="ctr"/>
          <a:lstStyle/>
          <a:p>
            <a:pPr algn="r" defTabSz="739775" eaLnBrk="0" hangingPunct="0"/>
            <a:r>
              <a:rPr lang="en-GB" sz="1600" b="1" i="1" dirty="0"/>
              <a:t>Fields</a:t>
            </a:r>
          </a:p>
        </p:txBody>
      </p:sp>
      <p:sp>
        <p:nvSpPr>
          <p:cNvPr id="10" name="Rectangle 18">
            <a:extLst>
              <a:ext uri="{FF2B5EF4-FFF2-40B4-BE49-F238E27FC236}">
                <a16:creationId xmlns:a16="http://schemas.microsoft.com/office/drawing/2014/main" id="{C080CF03-91DC-68CA-2C21-E66E380D7FFD}"/>
              </a:ext>
            </a:extLst>
          </p:cNvPr>
          <p:cNvSpPr>
            <a:spLocks noChangeArrowheads="1"/>
          </p:cNvSpPr>
          <p:nvPr/>
        </p:nvSpPr>
        <p:spPr bwMode="auto">
          <a:xfrm flipV="1">
            <a:off x="8540317" y="4543113"/>
            <a:ext cx="2434232" cy="582211"/>
          </a:xfrm>
          <a:prstGeom prst="rect">
            <a:avLst/>
          </a:prstGeom>
          <a:solidFill>
            <a:schemeClr val="bg1">
              <a:lumMod val="95000"/>
            </a:schemeClr>
          </a:solidFill>
          <a:ln>
            <a:headEnd/>
            <a:tailEnd/>
          </a:ln>
        </p:spPr>
        <p:style>
          <a:lnRef idx="3">
            <a:schemeClr val="lt1"/>
          </a:lnRef>
          <a:fillRef idx="1">
            <a:schemeClr val="accent6"/>
          </a:fillRef>
          <a:effectRef idx="1">
            <a:schemeClr val="accent6"/>
          </a:effectRef>
          <a:fontRef idx="minor">
            <a:schemeClr val="lt1"/>
          </a:fontRef>
        </p:style>
        <p:txBody>
          <a:bodyPr rot="10800000" wrap="square" lIns="84138" tIns="44450" rIns="84138" bIns="44450">
            <a:spAutoFit/>
          </a:bodyPr>
          <a:lstStyle/>
          <a:p>
            <a:pPr marL="266700" indent="-266700" defTabSz="709613" eaLnBrk="0" hangingPunct="0">
              <a:defRPr/>
            </a:pPr>
            <a:r>
              <a:rPr lang="en-GB" sz="1600" b="1" dirty="0">
                <a:solidFill>
                  <a:schemeClr val="tx1"/>
                </a:solidFill>
              </a:rPr>
              <a:t>Public members are</a:t>
            </a:r>
          </a:p>
          <a:p>
            <a:pPr marL="266700" indent="-266700" defTabSz="709613" eaLnBrk="0" hangingPunct="0">
              <a:defRPr/>
            </a:pPr>
            <a:r>
              <a:rPr lang="en-GB" sz="1600" b="1" dirty="0">
                <a:solidFill>
                  <a:schemeClr val="tx1"/>
                </a:solidFill>
              </a:rPr>
              <a:t>an object's interface </a:t>
            </a:r>
            <a:endParaRPr lang="en-US" sz="1600" b="1" dirty="0">
              <a:solidFill>
                <a:schemeClr val="tx1"/>
              </a:solidFill>
              <a:latin typeface="Courier New" pitchFamily="49" charset="0"/>
            </a:endParaRPr>
          </a:p>
        </p:txBody>
      </p:sp>
      <p:sp>
        <p:nvSpPr>
          <p:cNvPr id="11" name="TextBox 10">
            <a:extLst>
              <a:ext uri="{FF2B5EF4-FFF2-40B4-BE49-F238E27FC236}">
                <a16:creationId xmlns:a16="http://schemas.microsoft.com/office/drawing/2014/main" id="{546AD688-3B76-3922-D392-D80C3E9435D2}"/>
              </a:ext>
            </a:extLst>
          </p:cNvPr>
          <p:cNvSpPr txBox="1"/>
          <p:nvPr/>
        </p:nvSpPr>
        <p:spPr>
          <a:xfrm>
            <a:off x="3090389" y="3366175"/>
            <a:ext cx="5328873" cy="3139321"/>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txBody>
          <a:bodyPr wrap="square">
            <a:spAutoFit/>
          </a:bodyPr>
          <a:lstStyle/>
          <a:p>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class</a:t>
            </a:r>
            <a:r>
              <a:rPr lang="en-GB" sz="1800" b="1" dirty="0">
                <a:solidFill>
                  <a:srgbClr val="000000"/>
                </a:solidFill>
                <a:latin typeface="Consolas" panose="020B0609020204030204" pitchFamily="49" charset="0"/>
              </a:rPr>
              <a:t> </a:t>
            </a:r>
            <a:r>
              <a:rPr lang="en-GB" sz="1800" b="1" dirty="0">
                <a:solidFill>
                  <a:srgbClr val="2B91AF"/>
                </a:solidFill>
                <a:latin typeface="Consolas" panose="020B0609020204030204" pitchFamily="49" charset="0"/>
              </a:rPr>
              <a:t>Car</a:t>
            </a:r>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public </a:t>
            </a:r>
            <a:r>
              <a:rPr lang="en-GB" sz="1800" b="1" dirty="0">
                <a:solidFill>
                  <a:srgbClr val="0000FF"/>
                </a:solidFill>
                <a:latin typeface="Consolas" panose="020B0609020204030204" pitchFamily="49" charset="0"/>
              </a:rPr>
              <a:t>String</a:t>
            </a:r>
            <a:r>
              <a:rPr lang="en-GB" sz="1800" b="1" dirty="0">
                <a:solidFill>
                  <a:srgbClr val="000000"/>
                </a:solidFill>
                <a:latin typeface="Consolas" panose="020B0609020204030204" pitchFamily="49" charset="0"/>
              </a:rPr>
              <a:t> make;</a:t>
            </a:r>
          </a:p>
          <a:p>
            <a:r>
              <a:rPr lang="en-GB" sz="1800" b="1" dirty="0">
                <a:solidFill>
                  <a:srgbClr val="000000"/>
                </a:solidFill>
                <a:latin typeface="Consolas" panose="020B0609020204030204" pitchFamily="49" charset="0"/>
              </a:rPr>
              <a:t>    public </a:t>
            </a:r>
            <a:r>
              <a:rPr lang="en-GB" sz="1800" b="1" dirty="0">
                <a:solidFill>
                  <a:srgbClr val="0000FF"/>
                </a:solidFill>
                <a:latin typeface="Consolas" panose="020B0609020204030204" pitchFamily="49" charset="0"/>
              </a:rPr>
              <a:t>int</a:t>
            </a:r>
            <a:r>
              <a:rPr lang="en-GB" sz="1800" b="1" dirty="0">
                <a:solidFill>
                  <a:srgbClr val="000000"/>
                </a:solidFill>
                <a:latin typeface="Consolas" panose="020B0609020204030204" pitchFamily="49" charset="0"/>
              </a:rPr>
              <a:t> speed;</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void</a:t>
            </a:r>
            <a:r>
              <a:rPr lang="en-GB" sz="1800" b="1" dirty="0">
                <a:solidFill>
                  <a:srgbClr val="000000"/>
                </a:solidFill>
                <a:latin typeface="Consolas" panose="020B0609020204030204" pitchFamily="49" charset="0"/>
              </a:rPr>
              <a:t> start() {</a:t>
            </a:r>
          </a:p>
          <a:p>
            <a:r>
              <a:rPr lang="en-GB" sz="1800" b="1" dirty="0">
                <a:solidFill>
                  <a:srgbClr val="000000"/>
                </a:solidFill>
                <a:latin typeface="Consolas" panose="020B0609020204030204" pitchFamily="49" charset="0"/>
              </a:rPr>
              <a:t>        speed = 1;</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void</a:t>
            </a:r>
            <a:r>
              <a:rPr lang="en-GB" sz="1800" b="1" dirty="0">
                <a:solidFill>
                  <a:srgbClr val="000000"/>
                </a:solidFill>
                <a:latin typeface="Consolas" panose="020B0609020204030204" pitchFamily="49" charset="0"/>
              </a:rPr>
              <a:t> accelerate(</a:t>
            </a:r>
            <a:r>
              <a:rPr lang="en-GB" sz="1800" b="1" dirty="0">
                <a:solidFill>
                  <a:srgbClr val="0000FF"/>
                </a:solidFill>
                <a:latin typeface="Consolas" panose="020B0609020204030204" pitchFamily="49" charset="0"/>
              </a:rPr>
              <a:t>int</a:t>
            </a:r>
            <a:r>
              <a:rPr lang="en-GB" sz="1800" b="1" dirty="0">
                <a:solidFill>
                  <a:srgbClr val="000000"/>
                </a:solidFill>
                <a:latin typeface="Consolas" panose="020B0609020204030204" pitchFamily="49" charset="0"/>
              </a:rPr>
              <a:t> amount) {</a:t>
            </a:r>
          </a:p>
          <a:p>
            <a:r>
              <a:rPr lang="en-GB" sz="1800" b="1" dirty="0">
                <a:solidFill>
                  <a:srgbClr val="000000"/>
                </a:solidFill>
                <a:latin typeface="Consolas" panose="020B0609020204030204" pitchFamily="49" charset="0"/>
              </a:rPr>
              <a:t>        speed += amount;</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a:t>
            </a:r>
          </a:p>
        </p:txBody>
      </p:sp>
      <p:sp>
        <p:nvSpPr>
          <p:cNvPr id="12" name="Left Bracket 11">
            <a:extLst>
              <a:ext uri="{FF2B5EF4-FFF2-40B4-BE49-F238E27FC236}">
                <a16:creationId xmlns:a16="http://schemas.microsoft.com/office/drawing/2014/main" id="{15A1D313-D2D8-39F4-2931-B8B43891EAB1}"/>
              </a:ext>
            </a:extLst>
          </p:cNvPr>
          <p:cNvSpPr/>
          <p:nvPr/>
        </p:nvSpPr>
        <p:spPr>
          <a:xfrm>
            <a:off x="2948558" y="4662489"/>
            <a:ext cx="162560" cy="1320874"/>
          </a:xfrm>
          <a:prstGeom prst="leftBracket">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GB" b="1" dirty="0"/>
          </a:p>
        </p:txBody>
      </p:sp>
      <p:sp>
        <p:nvSpPr>
          <p:cNvPr id="13" name="Left Bracket 12">
            <a:extLst>
              <a:ext uri="{FF2B5EF4-FFF2-40B4-BE49-F238E27FC236}">
                <a16:creationId xmlns:a16="http://schemas.microsoft.com/office/drawing/2014/main" id="{BAB4ACEB-0284-B515-62B9-ADEA5E7E6E99}"/>
              </a:ext>
            </a:extLst>
          </p:cNvPr>
          <p:cNvSpPr/>
          <p:nvPr/>
        </p:nvSpPr>
        <p:spPr>
          <a:xfrm>
            <a:off x="2948558" y="3819209"/>
            <a:ext cx="123116" cy="634026"/>
          </a:xfrm>
          <a:prstGeom prst="leftBracket">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GB" b="1" dirty="0"/>
          </a:p>
        </p:txBody>
      </p:sp>
      <p:sp>
        <p:nvSpPr>
          <p:cNvPr id="14" name="Rectangle 17">
            <a:extLst>
              <a:ext uri="{FF2B5EF4-FFF2-40B4-BE49-F238E27FC236}">
                <a16:creationId xmlns:a16="http://schemas.microsoft.com/office/drawing/2014/main" id="{71BD2544-6DFB-33DE-8D3A-85EC4CBF9E0E}"/>
              </a:ext>
            </a:extLst>
          </p:cNvPr>
          <p:cNvSpPr>
            <a:spLocks noChangeArrowheads="1"/>
          </p:cNvSpPr>
          <p:nvPr/>
        </p:nvSpPr>
        <p:spPr bwMode="auto">
          <a:xfrm flipV="1">
            <a:off x="1714645" y="5336984"/>
            <a:ext cx="1200050" cy="305212"/>
          </a:xfrm>
          <a:prstGeom prst="rect">
            <a:avLst/>
          </a:prstGeom>
          <a:solidFill>
            <a:schemeClr val="bg1">
              <a:lumMod val="95000"/>
            </a:schemeClr>
          </a:solidFill>
          <a:ln>
            <a:headEnd/>
            <a:tailEnd/>
          </a:ln>
        </p:spPr>
        <p:style>
          <a:lnRef idx="0">
            <a:schemeClr val="accent6"/>
          </a:lnRef>
          <a:fillRef idx="3">
            <a:schemeClr val="accent6"/>
          </a:fillRef>
          <a:effectRef idx="3">
            <a:schemeClr val="accent6"/>
          </a:effectRef>
          <a:fontRef idx="minor">
            <a:schemeClr val="lt1"/>
          </a:fontRef>
        </p:style>
        <p:txBody>
          <a:bodyPr rot="10800000" wrap="square" lIns="84138" tIns="44450" rIns="84138" bIns="44450">
            <a:spAutoFit/>
          </a:bodyPr>
          <a:lstStyle/>
          <a:p>
            <a:pPr marL="266700" indent="-266700" defTabSz="709613" eaLnBrk="0" hangingPunct="0">
              <a:defRPr/>
            </a:pPr>
            <a:r>
              <a:rPr lang="en-GB" sz="1400" b="1" dirty="0">
                <a:solidFill>
                  <a:schemeClr val="tx1"/>
                </a:solidFill>
              </a:rPr>
              <a:t>Behaviour</a:t>
            </a:r>
            <a:endParaRPr lang="en-US" sz="1400" b="1" dirty="0">
              <a:solidFill>
                <a:schemeClr val="tx1"/>
              </a:solidFill>
              <a:latin typeface="Courier New" pitchFamily="49" charset="0"/>
            </a:endParaRPr>
          </a:p>
        </p:txBody>
      </p:sp>
      <p:sp>
        <p:nvSpPr>
          <p:cNvPr id="15" name="Rectangle 18">
            <a:extLst>
              <a:ext uri="{FF2B5EF4-FFF2-40B4-BE49-F238E27FC236}">
                <a16:creationId xmlns:a16="http://schemas.microsoft.com/office/drawing/2014/main" id="{AE2E40AF-21E4-159E-C3FE-C55808597B16}"/>
              </a:ext>
            </a:extLst>
          </p:cNvPr>
          <p:cNvSpPr>
            <a:spLocks noChangeArrowheads="1"/>
          </p:cNvSpPr>
          <p:nvPr/>
        </p:nvSpPr>
        <p:spPr bwMode="auto">
          <a:xfrm flipV="1">
            <a:off x="2029237" y="4093898"/>
            <a:ext cx="846485" cy="335989"/>
          </a:xfrm>
          <a:prstGeom prst="rect">
            <a:avLst/>
          </a:prstGeom>
          <a:solidFill>
            <a:schemeClr val="bg1">
              <a:lumMod val="95000"/>
            </a:schemeClr>
          </a:solidFill>
          <a:ln>
            <a:headEnd/>
            <a:tailEnd/>
          </a:ln>
        </p:spPr>
        <p:style>
          <a:lnRef idx="0">
            <a:schemeClr val="accent6"/>
          </a:lnRef>
          <a:fillRef idx="3">
            <a:schemeClr val="accent6"/>
          </a:fillRef>
          <a:effectRef idx="3">
            <a:schemeClr val="accent6"/>
          </a:effectRef>
          <a:fontRef idx="minor">
            <a:schemeClr val="lt1"/>
          </a:fontRef>
        </p:style>
        <p:txBody>
          <a:bodyPr rot="10800000" wrap="square" lIns="84138" tIns="44450" rIns="84138" bIns="44450">
            <a:spAutoFit/>
          </a:bodyPr>
          <a:lstStyle/>
          <a:p>
            <a:pPr marL="266700" indent="-266700" defTabSz="709613" eaLnBrk="0" hangingPunct="0">
              <a:defRPr/>
            </a:pPr>
            <a:r>
              <a:rPr lang="en-GB" sz="1600" b="1" dirty="0">
                <a:solidFill>
                  <a:schemeClr val="tx1"/>
                </a:solidFill>
              </a:rPr>
              <a:t>State</a:t>
            </a:r>
            <a:endParaRPr lang="en-US" sz="1600" b="1" dirty="0">
              <a:solidFill>
                <a:schemeClr val="tx1"/>
              </a:solidFill>
              <a:latin typeface="Courier New" pitchFamily="49" charset="0"/>
            </a:endParaRPr>
          </a:p>
        </p:txBody>
      </p:sp>
    </p:spTree>
    <p:extLst>
      <p:ext uri="{BB962C8B-B14F-4D97-AF65-F5344CB8AC3E}">
        <p14:creationId xmlns:p14="http://schemas.microsoft.com/office/powerpoint/2010/main" val="622526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CD7AE-8CF7-C70B-1108-AEF926BA7218}"/>
              </a:ext>
            </a:extLst>
          </p:cNvPr>
          <p:cNvSpPr>
            <a:spLocks noGrp="1"/>
          </p:cNvSpPr>
          <p:nvPr>
            <p:ph type="ctrTitle"/>
          </p:nvPr>
        </p:nvSpPr>
        <p:spPr/>
        <p:txBody>
          <a:bodyPr/>
          <a:lstStyle/>
          <a:p>
            <a:r>
              <a:rPr lang="en-GB" dirty="0"/>
              <a:t>Creating objects</a:t>
            </a:r>
          </a:p>
        </p:txBody>
      </p:sp>
      <p:sp>
        <p:nvSpPr>
          <p:cNvPr id="4" name="Slide Number Placeholder 3">
            <a:extLst>
              <a:ext uri="{FF2B5EF4-FFF2-40B4-BE49-F238E27FC236}">
                <a16:creationId xmlns:a16="http://schemas.microsoft.com/office/drawing/2014/main" id="{BEE5E967-97D7-EC7C-6BD1-80EAE664F825}"/>
              </a:ext>
            </a:extLst>
          </p:cNvPr>
          <p:cNvSpPr>
            <a:spLocks noGrp="1"/>
          </p:cNvSpPr>
          <p:nvPr>
            <p:ph type="sldNum" sz="quarter" idx="12"/>
          </p:nvPr>
        </p:nvSpPr>
        <p:spPr/>
        <p:txBody>
          <a:bodyPr/>
          <a:lstStyle/>
          <a:p>
            <a:fld id="{F3469444-D02B-D446-9CF8-19DEDDE073D1}" type="slidenum">
              <a:rPr lang="en-US" smtClean="0"/>
              <a:pPr/>
              <a:t>9</a:t>
            </a:fld>
            <a:endParaRPr lang="en-US" dirty="0"/>
          </a:p>
        </p:txBody>
      </p:sp>
      <p:sp>
        <p:nvSpPr>
          <p:cNvPr id="5" name="Rectangle 4">
            <a:extLst>
              <a:ext uri="{FF2B5EF4-FFF2-40B4-BE49-F238E27FC236}">
                <a16:creationId xmlns:a16="http://schemas.microsoft.com/office/drawing/2014/main" id="{912C9507-42C4-F54B-3C48-D3A05FA23D15}"/>
              </a:ext>
            </a:extLst>
          </p:cNvPr>
          <p:cNvSpPr/>
          <p:nvPr/>
        </p:nvSpPr>
        <p:spPr>
          <a:xfrm>
            <a:off x="6767471" y="2175211"/>
            <a:ext cx="4077749" cy="2800767"/>
          </a:xfrm>
          <a:prstGeom prst="rect">
            <a:avLst/>
          </a:prstGeom>
          <a:solidFill>
            <a:schemeClr val="bg2">
              <a:lumMod val="95000"/>
            </a:schemeClr>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dirty="0">
                <a:solidFill>
                  <a:srgbClr val="7F0055"/>
                </a:solidFill>
                <a:latin typeface="Consolas" panose="020B0609020204030204" pitchFamily="49" charset="0"/>
              </a:rPr>
              <a:t>public</a:t>
            </a:r>
            <a:r>
              <a:rPr lang="en-GB" sz="1600" dirty="0">
                <a:solidFill>
                  <a:srgbClr val="000000"/>
                </a:solidFill>
                <a:latin typeface="Consolas" panose="020B0609020204030204" pitchFamily="49" charset="0"/>
              </a:rPr>
              <a:t> </a:t>
            </a:r>
            <a:r>
              <a:rPr lang="en-GB" sz="1600" dirty="0">
                <a:solidFill>
                  <a:srgbClr val="7F0055"/>
                </a:solidFill>
                <a:latin typeface="Consolas" panose="020B0609020204030204" pitchFamily="49" charset="0"/>
              </a:rPr>
              <a:t>static</a:t>
            </a:r>
            <a:r>
              <a:rPr lang="en-GB" sz="1600" dirty="0">
                <a:solidFill>
                  <a:srgbClr val="000000"/>
                </a:solidFill>
                <a:latin typeface="Consolas" panose="020B0609020204030204" pitchFamily="49" charset="0"/>
              </a:rPr>
              <a:t> </a:t>
            </a:r>
            <a:r>
              <a:rPr lang="en-GB" sz="1600" dirty="0">
                <a:solidFill>
                  <a:srgbClr val="7F0055"/>
                </a:solidFill>
                <a:latin typeface="Consolas" panose="020B0609020204030204" pitchFamily="49" charset="0"/>
              </a:rPr>
              <a:t>void</a:t>
            </a:r>
            <a:r>
              <a:rPr lang="en-GB" sz="1600" dirty="0">
                <a:solidFill>
                  <a:srgbClr val="000000"/>
                </a:solidFill>
                <a:latin typeface="Consolas" panose="020B0609020204030204" pitchFamily="49" charset="0"/>
              </a:rPr>
              <a:t> Main(…) {</a:t>
            </a:r>
          </a:p>
          <a:p>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b="1" dirty="0">
                <a:solidFill>
                  <a:srgbClr val="000000"/>
                </a:solidFill>
                <a:latin typeface="Consolas" panose="020B0609020204030204" pitchFamily="49" charset="0"/>
              </a:rPr>
              <a:t>Car </a:t>
            </a:r>
            <a:r>
              <a:rPr lang="en-GB" sz="1600" b="1" dirty="0">
                <a:solidFill>
                  <a:srgbClr val="6A3E3E"/>
                </a:solidFill>
                <a:latin typeface="Consolas" panose="020B0609020204030204" pitchFamily="49" charset="0"/>
              </a:rPr>
              <a:t>car1</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p>
          <a:p>
            <a:r>
              <a:rPr lang="en-GB" sz="1600" b="1" dirty="0">
                <a:solidFill>
                  <a:srgbClr val="000000"/>
                </a:solidFill>
                <a:latin typeface="Consolas" panose="020B0609020204030204" pitchFamily="49" charset="0"/>
              </a:rPr>
              <a:t>   Car </a:t>
            </a:r>
            <a:r>
              <a:rPr lang="en-GB" sz="1600" b="1" dirty="0">
                <a:solidFill>
                  <a:srgbClr val="6A3E3E"/>
                </a:solidFill>
                <a:latin typeface="Consolas" panose="020B0609020204030204" pitchFamily="49" charset="0"/>
              </a:rPr>
              <a:t>car2</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p>
          <a:p>
            <a:endParaRPr lang="en-GB" sz="1600" dirty="0">
              <a:solidFill>
                <a:srgbClr val="6A3E3E"/>
              </a:solidFill>
              <a:latin typeface="Consolas" panose="020B0609020204030204" pitchFamily="49" charset="0"/>
            </a:endParaRPr>
          </a:p>
          <a:p>
            <a:r>
              <a:rPr lang="en-GB" sz="1600" dirty="0">
                <a:solidFill>
                  <a:srgbClr val="6A3E3E"/>
                </a:solidFill>
                <a:latin typeface="Consolas" panose="020B0609020204030204" pitchFamily="49" charset="0"/>
              </a:rPr>
              <a:t>   car1</a:t>
            </a:r>
            <a:r>
              <a:rPr lang="en-GB" sz="1600" dirty="0">
                <a:solidFill>
                  <a:srgbClr val="000000"/>
                </a:solidFill>
                <a:latin typeface="Consolas" panose="020B0609020204030204" pitchFamily="49" charset="0"/>
              </a:rPr>
              <a:t>.</a:t>
            </a:r>
            <a:r>
              <a:rPr lang="en-GB" sz="1600" dirty="0">
                <a:solidFill>
                  <a:srgbClr val="0000C0"/>
                </a:solidFill>
                <a:latin typeface="Consolas" panose="020B0609020204030204" pitchFamily="49" charset="0"/>
              </a:rPr>
              <a:t>make</a:t>
            </a:r>
            <a:r>
              <a:rPr lang="en-GB" sz="1600" dirty="0">
                <a:solidFill>
                  <a:srgbClr val="000000"/>
                </a:solidFill>
                <a:latin typeface="Consolas" panose="020B0609020204030204" pitchFamily="49" charset="0"/>
              </a:rPr>
              <a:t> = </a:t>
            </a:r>
            <a:r>
              <a:rPr lang="en-GB" sz="1600" dirty="0">
                <a:solidFill>
                  <a:srgbClr val="2A00FF"/>
                </a:solidFill>
                <a:latin typeface="Consolas" panose="020B0609020204030204" pitchFamily="49" charset="0"/>
              </a:rPr>
              <a:t>"</a:t>
            </a:r>
            <a:r>
              <a:rPr lang="en-GB" sz="1600" dirty="0">
                <a:solidFill>
                  <a:schemeClr val="tx1"/>
                </a:solidFill>
                <a:latin typeface="Consolas" panose="020B0609020204030204" pitchFamily="49" charset="0"/>
              </a:rPr>
              <a:t>Ford</a:t>
            </a:r>
            <a:r>
              <a:rPr lang="en-GB" sz="1600" dirty="0">
                <a:solidFill>
                  <a:srgbClr val="2A00FF"/>
                </a:solidFill>
                <a:latin typeface="Consolas" panose="020B0609020204030204" pitchFamily="49" charset="0"/>
              </a:rPr>
              <a:t>"</a:t>
            </a:r>
            <a:r>
              <a:rPr lang="en-GB" sz="1600" dirty="0">
                <a:solidFill>
                  <a:srgbClr val="000000"/>
                </a:solidFill>
                <a:latin typeface="Consolas" panose="020B0609020204030204" pitchFamily="49" charset="0"/>
              </a:rPr>
              <a:t>;</a:t>
            </a:r>
          </a:p>
          <a:p>
            <a:r>
              <a:rPr lang="en-GB" sz="1600" dirty="0">
                <a:solidFill>
                  <a:srgbClr val="6A3E3E"/>
                </a:solidFill>
                <a:latin typeface="Consolas" panose="020B0609020204030204" pitchFamily="49" charset="0"/>
              </a:rPr>
              <a:t>   car2</a:t>
            </a:r>
            <a:r>
              <a:rPr lang="en-GB" sz="1600" dirty="0">
                <a:solidFill>
                  <a:srgbClr val="000000"/>
                </a:solidFill>
                <a:latin typeface="Consolas" panose="020B0609020204030204" pitchFamily="49" charset="0"/>
              </a:rPr>
              <a:t>.</a:t>
            </a:r>
            <a:r>
              <a:rPr lang="en-GB" sz="1600" dirty="0">
                <a:solidFill>
                  <a:srgbClr val="0000C0"/>
                </a:solidFill>
                <a:latin typeface="Consolas" panose="020B0609020204030204" pitchFamily="49" charset="0"/>
              </a:rPr>
              <a:t>make</a:t>
            </a:r>
            <a:r>
              <a:rPr lang="en-GB" sz="1600" dirty="0">
                <a:solidFill>
                  <a:srgbClr val="000000"/>
                </a:solidFill>
                <a:latin typeface="Consolas" panose="020B0609020204030204" pitchFamily="49" charset="0"/>
              </a:rPr>
              <a:t> = </a:t>
            </a:r>
            <a:r>
              <a:rPr lang="en-GB" sz="1600" dirty="0">
                <a:solidFill>
                  <a:srgbClr val="2A00FF"/>
                </a:solidFill>
                <a:latin typeface="Consolas" panose="020B0609020204030204" pitchFamily="49" charset="0"/>
              </a:rPr>
              <a:t>"</a:t>
            </a:r>
            <a:r>
              <a:rPr lang="en-GB" sz="1600" dirty="0">
                <a:solidFill>
                  <a:schemeClr val="tx1"/>
                </a:solidFill>
                <a:latin typeface="Consolas" panose="020B0609020204030204" pitchFamily="49" charset="0"/>
              </a:rPr>
              <a:t>BMW</a:t>
            </a:r>
            <a:r>
              <a:rPr lang="en-GB" sz="1600" dirty="0">
                <a:solidFill>
                  <a:srgbClr val="2A00FF"/>
                </a:solidFill>
                <a:latin typeface="Consolas" panose="020B0609020204030204" pitchFamily="49" charset="0"/>
              </a:rPr>
              <a:t>"</a:t>
            </a:r>
            <a:r>
              <a:rPr lang="en-GB" sz="1600" dirty="0">
                <a:solidFill>
                  <a:srgbClr val="000000"/>
                </a:solidFill>
                <a:latin typeface="Consolas" panose="020B0609020204030204" pitchFamily="49" charset="0"/>
              </a:rPr>
              <a:t>;</a:t>
            </a:r>
          </a:p>
          <a:p>
            <a:endParaRPr lang="en-GB" sz="1600" dirty="0">
              <a:solidFill>
                <a:srgbClr val="000000"/>
              </a:solidFill>
              <a:latin typeface="Consolas" panose="020B0609020204030204" pitchFamily="49" charset="0"/>
            </a:endParaRPr>
          </a:p>
          <a:p>
            <a:r>
              <a:rPr lang="en-GB" sz="1600" dirty="0">
                <a:solidFill>
                  <a:srgbClr val="6A3E3E"/>
                </a:solidFill>
                <a:latin typeface="Consolas" panose="020B0609020204030204" pitchFamily="49" charset="0"/>
              </a:rPr>
              <a:t>   car1</a:t>
            </a:r>
            <a:r>
              <a:rPr lang="en-GB" sz="1600" dirty="0">
                <a:solidFill>
                  <a:srgbClr val="000000"/>
                </a:solidFill>
                <a:latin typeface="Consolas" panose="020B0609020204030204" pitchFamily="49" charset="0"/>
              </a:rPr>
              <a:t>.</a:t>
            </a:r>
            <a:r>
              <a:rPr lang="en-GB" sz="1600" dirty="0">
                <a:solidFill>
                  <a:srgbClr val="0000C0"/>
                </a:solidFill>
                <a:latin typeface="Consolas" panose="020B0609020204030204" pitchFamily="49" charset="0"/>
              </a:rPr>
              <a:t>accelerate</a:t>
            </a:r>
            <a:r>
              <a:rPr lang="en-GB" sz="1600" b="1" dirty="0">
                <a:solidFill>
                  <a:srgbClr val="000000"/>
                </a:solidFill>
                <a:latin typeface="Consolas" panose="020B0609020204030204" pitchFamily="49" charset="0"/>
              </a:rPr>
              <a:t>(1</a:t>
            </a:r>
            <a:r>
              <a:rPr lang="en-GB" sz="1600" dirty="0">
                <a:solidFill>
                  <a:srgbClr val="000000"/>
                </a:solidFill>
                <a:latin typeface="Consolas" panose="020B0609020204030204" pitchFamily="49" charset="0"/>
              </a:rPr>
              <a:t>0);</a:t>
            </a:r>
          </a:p>
          <a:p>
            <a:r>
              <a:rPr lang="en-GB" sz="1600" dirty="0">
                <a:solidFill>
                  <a:srgbClr val="6A3E3E"/>
                </a:solidFill>
                <a:latin typeface="Consolas" panose="020B0609020204030204" pitchFamily="49" charset="0"/>
              </a:rPr>
              <a:t>   car2</a:t>
            </a:r>
            <a:r>
              <a:rPr lang="en-GB" sz="1600" dirty="0">
                <a:solidFill>
                  <a:srgbClr val="000000"/>
                </a:solidFill>
                <a:latin typeface="Consolas" panose="020B0609020204030204" pitchFamily="49" charset="0"/>
              </a:rPr>
              <a:t>.</a:t>
            </a:r>
            <a:r>
              <a:rPr lang="en-GB" sz="1600" dirty="0">
                <a:solidFill>
                  <a:srgbClr val="0000C0"/>
                </a:solidFill>
                <a:latin typeface="Consolas" panose="020B0609020204030204" pitchFamily="49" charset="0"/>
              </a:rPr>
              <a:t>accelerate</a:t>
            </a:r>
            <a:r>
              <a:rPr lang="en-GB" sz="1600" b="1" dirty="0">
                <a:solidFill>
                  <a:srgbClr val="000000"/>
                </a:solidFill>
                <a:latin typeface="Consolas" panose="020B0609020204030204" pitchFamily="49" charset="0"/>
              </a:rPr>
              <a:t>(15</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sp>
        <p:nvSpPr>
          <p:cNvPr id="6" name="Rectangle 3">
            <a:extLst>
              <a:ext uri="{FF2B5EF4-FFF2-40B4-BE49-F238E27FC236}">
                <a16:creationId xmlns:a16="http://schemas.microsoft.com/office/drawing/2014/main" id="{36A6BD0F-1DC8-6E3C-67CA-6D4B8EA40319}"/>
              </a:ext>
            </a:extLst>
          </p:cNvPr>
          <p:cNvSpPr txBox="1">
            <a:spLocks noChangeArrowheads="1"/>
          </p:cNvSpPr>
          <p:nvPr/>
        </p:nvSpPr>
        <p:spPr>
          <a:xfrm>
            <a:off x="395773" y="1735826"/>
            <a:ext cx="8243928" cy="49553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Objects are unique instances of a class with their own </a:t>
            </a:r>
            <a:r>
              <a:rPr lang="en-GB" b="1" dirty="0">
                <a:solidFill>
                  <a:srgbClr val="0000C0"/>
                </a:solidFill>
                <a:latin typeface="Consolas" panose="020B0609020204030204" pitchFamily="49" charset="0"/>
              </a:rPr>
              <a:t>state</a:t>
            </a:r>
            <a:r>
              <a:rPr lang="en-GB" sz="1600" dirty="0">
                <a:solidFill>
                  <a:srgbClr val="0000C0"/>
                </a:solidFill>
                <a:latin typeface="Consolas" panose="020B0609020204030204" pitchFamily="49" charset="0"/>
              </a:rPr>
              <a:t>.</a:t>
            </a:r>
          </a:p>
        </p:txBody>
      </p:sp>
      <p:sp>
        <p:nvSpPr>
          <p:cNvPr id="7" name="AutoShape 4">
            <a:extLst>
              <a:ext uri="{FF2B5EF4-FFF2-40B4-BE49-F238E27FC236}">
                <a16:creationId xmlns:a16="http://schemas.microsoft.com/office/drawing/2014/main" id="{F9F58BCA-1199-F5DF-6A9D-72CD569C41BE}"/>
              </a:ext>
            </a:extLst>
          </p:cNvPr>
          <p:cNvSpPr>
            <a:spLocks noChangeArrowheads="1"/>
          </p:cNvSpPr>
          <p:nvPr/>
        </p:nvSpPr>
        <p:spPr bwMode="auto">
          <a:xfrm>
            <a:off x="7535254" y="5868764"/>
            <a:ext cx="2224088" cy="715962"/>
          </a:xfrm>
          <a:prstGeom prst="cube">
            <a:avLst>
              <a:gd name="adj" fmla="val 14116"/>
            </a:avLst>
          </a:prstGeom>
          <a:solidFill>
            <a:schemeClr val="accent2">
              <a:lumMod val="20000"/>
              <a:lumOff val="80000"/>
              <a:alpha val="50000"/>
            </a:schemeClr>
          </a:solidFill>
          <a:ln>
            <a:solidFill>
              <a:srgbClr val="004050"/>
            </a:solidFill>
          </a:ln>
        </p:spPr>
        <p:style>
          <a:lnRef idx="0">
            <a:scrgbClr r="0" g="0" b="0"/>
          </a:lnRef>
          <a:fillRef idx="0">
            <a:scrgbClr r="0" g="0" b="0"/>
          </a:fillRef>
          <a:effectRef idx="0">
            <a:scrgbClr r="0" g="0" b="0"/>
          </a:effectRef>
          <a:fontRef idx="minor">
            <a:schemeClr val="lt1"/>
          </a:fontRef>
        </p:style>
        <p:txBody>
          <a:bodyPr wrap="none"/>
          <a:lstStyle/>
          <a:p>
            <a:pPr eaLnBrk="0" hangingPunct="0"/>
            <a:r>
              <a:rPr lang="en-GB" sz="1600" dirty="0">
                <a:solidFill>
                  <a:srgbClr val="000000"/>
                </a:solidFill>
                <a:latin typeface="Consolas" panose="020B0609020204030204" pitchFamily="49" charset="0"/>
              </a:rPr>
              <a:t>make: "BMW"</a:t>
            </a:r>
            <a:br>
              <a:rPr lang="en-GB" sz="1600" dirty="0">
                <a:solidFill>
                  <a:srgbClr val="000000"/>
                </a:solidFill>
                <a:latin typeface="Consolas" panose="020B0609020204030204" pitchFamily="49" charset="0"/>
              </a:rPr>
            </a:br>
            <a:r>
              <a:rPr lang="en-GB" sz="1600" dirty="0">
                <a:solidFill>
                  <a:srgbClr val="000000"/>
                </a:solidFill>
                <a:latin typeface="Consolas" panose="020B0609020204030204" pitchFamily="49" charset="0"/>
              </a:rPr>
              <a:t>speed: 15</a:t>
            </a:r>
          </a:p>
        </p:txBody>
      </p:sp>
      <p:sp>
        <p:nvSpPr>
          <p:cNvPr id="8" name="AutoShape 5">
            <a:extLst>
              <a:ext uri="{FF2B5EF4-FFF2-40B4-BE49-F238E27FC236}">
                <a16:creationId xmlns:a16="http://schemas.microsoft.com/office/drawing/2014/main" id="{D7662F61-EA8D-7D32-572A-06447E75915C}"/>
              </a:ext>
            </a:extLst>
          </p:cNvPr>
          <p:cNvSpPr>
            <a:spLocks noChangeArrowheads="1"/>
          </p:cNvSpPr>
          <p:nvPr/>
        </p:nvSpPr>
        <p:spPr bwMode="auto">
          <a:xfrm>
            <a:off x="7535254" y="5140852"/>
            <a:ext cx="2224088" cy="715963"/>
          </a:xfrm>
          <a:prstGeom prst="cube">
            <a:avLst>
              <a:gd name="adj" fmla="val 14116"/>
            </a:avLst>
          </a:prstGeom>
          <a:solidFill>
            <a:schemeClr val="accent2">
              <a:lumMod val="20000"/>
              <a:lumOff val="80000"/>
              <a:alpha val="50000"/>
            </a:schemeClr>
          </a:solidFill>
          <a:ln>
            <a:solidFill>
              <a:srgbClr val="004050"/>
            </a:solidFill>
          </a:ln>
        </p:spPr>
        <p:style>
          <a:lnRef idx="0">
            <a:scrgbClr r="0" g="0" b="0"/>
          </a:lnRef>
          <a:fillRef idx="0">
            <a:scrgbClr r="0" g="0" b="0"/>
          </a:fillRef>
          <a:effectRef idx="0">
            <a:scrgbClr r="0" g="0" b="0"/>
          </a:effectRef>
          <a:fontRef idx="minor">
            <a:schemeClr val="lt1"/>
          </a:fontRef>
        </p:style>
        <p:txBody>
          <a:bodyPr wrap="none"/>
          <a:lstStyle/>
          <a:p>
            <a:pPr eaLnBrk="0" hangingPunct="0"/>
            <a:r>
              <a:rPr lang="en-GB" sz="1600" dirty="0">
                <a:solidFill>
                  <a:srgbClr val="000000"/>
                </a:solidFill>
                <a:latin typeface="Consolas" panose="020B0609020204030204" pitchFamily="49" charset="0"/>
              </a:rPr>
              <a:t>make: "Ford"</a:t>
            </a:r>
            <a:br>
              <a:rPr lang="en-GB" sz="1600" dirty="0">
                <a:solidFill>
                  <a:srgbClr val="000000"/>
                </a:solidFill>
                <a:latin typeface="Consolas" panose="020B0609020204030204" pitchFamily="49" charset="0"/>
              </a:rPr>
            </a:br>
            <a:r>
              <a:rPr lang="en-GB" sz="1600" dirty="0">
                <a:solidFill>
                  <a:srgbClr val="000000"/>
                </a:solidFill>
                <a:latin typeface="Consolas" panose="020B0609020204030204" pitchFamily="49" charset="0"/>
              </a:rPr>
              <a:t>speed: 10</a:t>
            </a:r>
          </a:p>
        </p:txBody>
      </p:sp>
      <p:sp>
        <p:nvSpPr>
          <p:cNvPr id="9" name="Right Brace 8">
            <a:extLst>
              <a:ext uri="{FF2B5EF4-FFF2-40B4-BE49-F238E27FC236}">
                <a16:creationId xmlns:a16="http://schemas.microsoft.com/office/drawing/2014/main" id="{EF7A8DC6-7AEB-3FBB-8CB1-715ABF1ABE89}"/>
              </a:ext>
            </a:extLst>
          </p:cNvPr>
          <p:cNvSpPr/>
          <p:nvPr/>
        </p:nvSpPr>
        <p:spPr>
          <a:xfrm>
            <a:off x="9870917" y="5456648"/>
            <a:ext cx="186267" cy="777333"/>
          </a:xfrm>
          <a:prstGeom prst="righ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GB" dirty="0"/>
          </a:p>
        </p:txBody>
      </p:sp>
      <p:sp>
        <p:nvSpPr>
          <p:cNvPr id="10" name="TextBox 9">
            <a:extLst>
              <a:ext uri="{FF2B5EF4-FFF2-40B4-BE49-F238E27FC236}">
                <a16:creationId xmlns:a16="http://schemas.microsoft.com/office/drawing/2014/main" id="{4E93BDE4-8CD4-EEE7-CD79-E3271B1622F3}"/>
              </a:ext>
            </a:extLst>
          </p:cNvPr>
          <p:cNvSpPr txBox="1"/>
          <p:nvPr/>
        </p:nvSpPr>
        <p:spPr>
          <a:xfrm>
            <a:off x="10124910" y="5662777"/>
            <a:ext cx="1828020" cy="307777"/>
          </a:xfrm>
          <a:prstGeom prst="rect">
            <a:avLst/>
          </a:prstGeom>
          <a:solidFill>
            <a:schemeClr val="bg1">
              <a:lumMod val="95000"/>
            </a:schemeClr>
          </a:solidFill>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GB" sz="1400" b="1" dirty="0">
                <a:solidFill>
                  <a:schemeClr val="tx1"/>
                </a:solidFill>
              </a:rPr>
              <a:t>Instances of Car</a:t>
            </a:r>
          </a:p>
        </p:txBody>
      </p:sp>
      <p:sp>
        <p:nvSpPr>
          <p:cNvPr id="11" name="TextBox 10">
            <a:extLst>
              <a:ext uri="{FF2B5EF4-FFF2-40B4-BE49-F238E27FC236}">
                <a16:creationId xmlns:a16="http://schemas.microsoft.com/office/drawing/2014/main" id="{6A9BA1A1-E1D0-097D-E6E9-7B6B372D5194}"/>
              </a:ext>
            </a:extLst>
          </p:cNvPr>
          <p:cNvSpPr txBox="1"/>
          <p:nvPr/>
        </p:nvSpPr>
        <p:spPr>
          <a:xfrm>
            <a:off x="5262995" y="2407623"/>
            <a:ext cx="1075419" cy="307777"/>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GB" sz="1400" dirty="0">
                <a:solidFill>
                  <a:schemeClr val="tx1"/>
                </a:solidFill>
                <a:cs typeface="Courier New" pitchFamily="49" charset="0"/>
              </a:rPr>
              <a:t>Blueprint</a:t>
            </a:r>
            <a:endParaRPr lang="en-GB" sz="2000" dirty="0">
              <a:solidFill>
                <a:schemeClr val="tx1"/>
              </a:solidFill>
              <a:cs typeface="Courier New" pitchFamily="49" charset="0"/>
            </a:endParaRPr>
          </a:p>
        </p:txBody>
      </p:sp>
      <p:sp>
        <p:nvSpPr>
          <p:cNvPr id="12" name="TextBox 11">
            <a:extLst>
              <a:ext uri="{FF2B5EF4-FFF2-40B4-BE49-F238E27FC236}">
                <a16:creationId xmlns:a16="http://schemas.microsoft.com/office/drawing/2014/main" id="{2E2D4B17-4821-3308-A048-86BB37837D1F}"/>
              </a:ext>
            </a:extLst>
          </p:cNvPr>
          <p:cNvSpPr txBox="1"/>
          <p:nvPr/>
        </p:nvSpPr>
        <p:spPr>
          <a:xfrm>
            <a:off x="1009541" y="2744597"/>
            <a:ext cx="5328873" cy="3139321"/>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txBody>
          <a:bodyPr wrap="square">
            <a:spAutoFit/>
          </a:bodyPr>
          <a:lstStyle/>
          <a:p>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class</a:t>
            </a:r>
            <a:r>
              <a:rPr lang="en-GB" sz="1800" b="1" dirty="0">
                <a:solidFill>
                  <a:srgbClr val="000000"/>
                </a:solidFill>
                <a:latin typeface="Consolas" panose="020B0609020204030204" pitchFamily="49" charset="0"/>
              </a:rPr>
              <a:t> </a:t>
            </a:r>
            <a:r>
              <a:rPr lang="en-GB" sz="1800" b="1" dirty="0">
                <a:solidFill>
                  <a:srgbClr val="2B91AF"/>
                </a:solidFill>
                <a:latin typeface="Consolas" panose="020B0609020204030204" pitchFamily="49" charset="0"/>
              </a:rPr>
              <a:t>Car</a:t>
            </a:r>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public </a:t>
            </a:r>
            <a:r>
              <a:rPr lang="en-GB" sz="1800" b="1" dirty="0">
                <a:solidFill>
                  <a:srgbClr val="0000FF"/>
                </a:solidFill>
                <a:latin typeface="Consolas" panose="020B0609020204030204" pitchFamily="49" charset="0"/>
              </a:rPr>
              <a:t>String</a:t>
            </a:r>
            <a:r>
              <a:rPr lang="en-GB" sz="1800" b="1" dirty="0">
                <a:solidFill>
                  <a:srgbClr val="000000"/>
                </a:solidFill>
                <a:latin typeface="Consolas" panose="020B0609020204030204" pitchFamily="49" charset="0"/>
              </a:rPr>
              <a:t> make;</a:t>
            </a:r>
          </a:p>
          <a:p>
            <a:r>
              <a:rPr lang="en-GB" b="1" dirty="0">
                <a:solidFill>
                  <a:srgbClr val="000000"/>
                </a:solidFill>
                <a:latin typeface="Consolas" panose="020B0609020204030204" pitchFamily="49" charset="0"/>
              </a:rPr>
              <a:t>    public </a:t>
            </a:r>
            <a:r>
              <a:rPr lang="en-GB" sz="1800" b="1" dirty="0">
                <a:solidFill>
                  <a:srgbClr val="0000FF"/>
                </a:solidFill>
                <a:latin typeface="Consolas" panose="020B0609020204030204" pitchFamily="49" charset="0"/>
              </a:rPr>
              <a:t>int</a:t>
            </a:r>
            <a:r>
              <a:rPr lang="en-GB" sz="1800" b="1" dirty="0">
                <a:solidFill>
                  <a:srgbClr val="000000"/>
                </a:solidFill>
                <a:latin typeface="Consolas" panose="020B0609020204030204" pitchFamily="49" charset="0"/>
              </a:rPr>
              <a:t> speed;</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void</a:t>
            </a:r>
            <a:r>
              <a:rPr lang="en-GB" sz="1800" b="1" dirty="0">
                <a:solidFill>
                  <a:srgbClr val="000000"/>
                </a:solidFill>
                <a:latin typeface="Consolas" panose="020B0609020204030204" pitchFamily="49" charset="0"/>
              </a:rPr>
              <a:t> start() {</a:t>
            </a:r>
          </a:p>
          <a:p>
            <a:r>
              <a:rPr lang="en-GB" sz="1800" b="1" dirty="0">
                <a:solidFill>
                  <a:srgbClr val="000000"/>
                </a:solidFill>
                <a:latin typeface="Consolas" panose="020B0609020204030204" pitchFamily="49" charset="0"/>
              </a:rPr>
              <a:t>        speed = 1;</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public</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void</a:t>
            </a:r>
            <a:r>
              <a:rPr lang="en-GB" sz="1800" b="1" dirty="0">
                <a:solidFill>
                  <a:srgbClr val="000000"/>
                </a:solidFill>
                <a:latin typeface="Consolas" panose="020B0609020204030204" pitchFamily="49" charset="0"/>
              </a:rPr>
              <a:t> accelerate(</a:t>
            </a:r>
            <a:r>
              <a:rPr lang="en-GB" sz="1800" b="1" dirty="0">
                <a:solidFill>
                  <a:srgbClr val="0000FF"/>
                </a:solidFill>
                <a:latin typeface="Consolas" panose="020B0609020204030204" pitchFamily="49" charset="0"/>
              </a:rPr>
              <a:t>int</a:t>
            </a:r>
            <a:r>
              <a:rPr lang="en-GB" sz="1800" b="1" dirty="0">
                <a:solidFill>
                  <a:srgbClr val="000000"/>
                </a:solidFill>
                <a:latin typeface="Consolas" panose="020B0609020204030204" pitchFamily="49" charset="0"/>
              </a:rPr>
              <a:t> amount) {</a:t>
            </a:r>
          </a:p>
          <a:p>
            <a:r>
              <a:rPr lang="en-GB" sz="1800" b="1" dirty="0">
                <a:solidFill>
                  <a:srgbClr val="000000"/>
                </a:solidFill>
                <a:latin typeface="Consolas" panose="020B0609020204030204" pitchFamily="49" charset="0"/>
              </a:rPr>
              <a:t>        speed += amount;</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889626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12C4A-FD26-40FB-A4FB-A0C1EDE1B409}"/>
              </a:ext>
            </a:extLst>
          </p:cNvPr>
          <p:cNvSpPr>
            <a:spLocks noGrp="1"/>
          </p:cNvSpPr>
          <p:nvPr>
            <p:ph type="ctrTitle"/>
          </p:nvPr>
        </p:nvSpPr>
        <p:spPr/>
        <p:txBody>
          <a:bodyPr/>
          <a:lstStyle/>
          <a:p>
            <a:r>
              <a:rPr lang="en-GB" dirty="0"/>
              <a:t>Getters and setters – Property procedures</a:t>
            </a:r>
          </a:p>
        </p:txBody>
      </p:sp>
      <p:sp>
        <p:nvSpPr>
          <p:cNvPr id="4" name="Slide Number Placeholder 3">
            <a:extLst>
              <a:ext uri="{FF2B5EF4-FFF2-40B4-BE49-F238E27FC236}">
                <a16:creationId xmlns:a16="http://schemas.microsoft.com/office/drawing/2014/main" id="{86A666B3-EDEA-3970-D758-B7ACCC56F049}"/>
              </a:ext>
            </a:extLst>
          </p:cNvPr>
          <p:cNvSpPr>
            <a:spLocks noGrp="1"/>
          </p:cNvSpPr>
          <p:nvPr>
            <p:ph type="sldNum" sz="quarter" idx="12"/>
          </p:nvPr>
        </p:nvSpPr>
        <p:spPr/>
        <p:txBody>
          <a:bodyPr/>
          <a:lstStyle/>
          <a:p>
            <a:fld id="{F3469444-D02B-D446-9CF8-19DEDDE073D1}" type="slidenum">
              <a:rPr lang="en-US" smtClean="0"/>
              <a:pPr/>
              <a:t>10</a:t>
            </a:fld>
            <a:endParaRPr lang="en-US" dirty="0"/>
          </a:p>
        </p:txBody>
      </p:sp>
      <p:sp>
        <p:nvSpPr>
          <p:cNvPr id="5" name="Rectangle 3">
            <a:extLst>
              <a:ext uri="{FF2B5EF4-FFF2-40B4-BE49-F238E27FC236}">
                <a16:creationId xmlns:a16="http://schemas.microsoft.com/office/drawing/2014/main" id="{B17A026A-3A10-14BB-639F-040D55F3287E}"/>
              </a:ext>
            </a:extLst>
          </p:cNvPr>
          <p:cNvSpPr txBox="1">
            <a:spLocks noChangeArrowheads="1"/>
          </p:cNvSpPr>
          <p:nvPr/>
        </p:nvSpPr>
        <p:spPr>
          <a:xfrm>
            <a:off x="443922" y="1735826"/>
            <a:ext cx="11410197" cy="49553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Do not expose state</a:t>
            </a:r>
          </a:p>
        </p:txBody>
      </p:sp>
      <p:pic>
        <p:nvPicPr>
          <p:cNvPr id="6" name="Picture 5" descr="Two people sitting at a table talking to each other.">
            <a:extLst>
              <a:ext uri="{FF2B5EF4-FFF2-40B4-BE49-F238E27FC236}">
                <a16:creationId xmlns:a16="http://schemas.microsoft.com/office/drawing/2014/main" id="{BA41F280-FD54-0B19-9A3B-4903737C3467}"/>
              </a:ext>
            </a:extLst>
          </p:cNvPr>
          <p:cNvPicPr>
            <a:picLocks noChangeAspect="1"/>
          </p:cNvPicPr>
          <p:nvPr/>
        </p:nvPicPr>
        <p:blipFill>
          <a:blip r:embed="rId3"/>
          <a:srcRect/>
          <a:stretch/>
        </p:blipFill>
        <p:spPr>
          <a:xfrm>
            <a:off x="3202579" y="2362496"/>
            <a:ext cx="5780057" cy="3368892"/>
          </a:xfrm>
          <a:prstGeom prst="rect">
            <a:avLst/>
          </a:prstGeom>
          <a:ln>
            <a:noFill/>
          </a:ln>
          <a:effectLst>
            <a:softEdge rad="112500"/>
          </a:effectLst>
        </p:spPr>
        <p:style>
          <a:lnRef idx="2">
            <a:schemeClr val="dk1"/>
          </a:lnRef>
          <a:fillRef idx="1">
            <a:schemeClr val="lt1"/>
          </a:fillRef>
          <a:effectRef idx="0">
            <a:schemeClr val="dk1"/>
          </a:effectRef>
          <a:fontRef idx="minor">
            <a:schemeClr val="dk1"/>
          </a:fontRef>
        </p:style>
      </p:pic>
      <p:sp>
        <p:nvSpPr>
          <p:cNvPr id="7" name="Speech Bubble: Oval 6">
            <a:extLst>
              <a:ext uri="{FF2B5EF4-FFF2-40B4-BE49-F238E27FC236}">
                <a16:creationId xmlns:a16="http://schemas.microsoft.com/office/drawing/2014/main" id="{B3D60BE5-503B-0CD5-F0CD-A6B799EF1E6D}"/>
              </a:ext>
            </a:extLst>
          </p:cNvPr>
          <p:cNvSpPr/>
          <p:nvPr/>
        </p:nvSpPr>
        <p:spPr>
          <a:xfrm>
            <a:off x="845693" y="2633211"/>
            <a:ext cx="2625301" cy="1413731"/>
          </a:xfrm>
          <a:prstGeom prst="wedgeEllipseCallout">
            <a:avLst>
              <a:gd name="adj1" fmla="val 52056"/>
              <a:gd name="adj2" fmla="val 38636"/>
            </a:avLst>
          </a:prstGeom>
          <a:ln>
            <a:noFill/>
          </a:ln>
          <a:effectLst>
            <a:outerShdw blurRad="50800" dist="38100" algn="l"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b="1" dirty="0">
                <a:solidFill>
                  <a:schemeClr val="tx1"/>
                </a:solidFill>
              </a:rPr>
              <a:t>What is your bank account number?</a:t>
            </a:r>
          </a:p>
        </p:txBody>
      </p:sp>
      <p:sp>
        <p:nvSpPr>
          <p:cNvPr id="8" name="Speech Bubble: Oval 7">
            <a:extLst>
              <a:ext uri="{FF2B5EF4-FFF2-40B4-BE49-F238E27FC236}">
                <a16:creationId xmlns:a16="http://schemas.microsoft.com/office/drawing/2014/main" id="{E9155C76-F299-7D5E-9578-C9FAA55AB122}"/>
              </a:ext>
            </a:extLst>
          </p:cNvPr>
          <p:cNvSpPr/>
          <p:nvPr/>
        </p:nvSpPr>
        <p:spPr>
          <a:xfrm>
            <a:off x="8489978" y="2466650"/>
            <a:ext cx="3143459" cy="1242835"/>
          </a:xfrm>
          <a:prstGeom prst="wedgeEllipseCallout">
            <a:avLst>
              <a:gd name="adj1" fmla="val -50360"/>
              <a:gd name="adj2" fmla="val 37760"/>
            </a:avLst>
          </a:prstGeom>
          <a:solidFill>
            <a:schemeClr val="bg1">
              <a:lumMod val="95000"/>
            </a:schemeClr>
          </a:solidFill>
          <a:ln>
            <a:noFill/>
          </a:ln>
          <a:effectLst>
            <a:outerShdw blurRad="50800" dist="38100" algn="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b="1" dirty="0">
                <a:solidFill>
                  <a:schemeClr val="tx1"/>
                </a:solidFill>
              </a:rPr>
              <a:t>My bank account number is private!</a:t>
            </a:r>
          </a:p>
        </p:txBody>
      </p:sp>
    </p:spTree>
    <p:extLst>
      <p:ext uri="{BB962C8B-B14F-4D97-AF65-F5344CB8AC3E}">
        <p14:creationId xmlns:p14="http://schemas.microsoft.com/office/powerpoint/2010/main" val="1017137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871EE-3B02-4D69-CDBB-8AFB1FF1F719}"/>
              </a:ext>
            </a:extLst>
          </p:cNvPr>
          <p:cNvSpPr>
            <a:spLocks noGrp="1"/>
          </p:cNvSpPr>
          <p:nvPr>
            <p:ph type="ctrTitle"/>
          </p:nvPr>
        </p:nvSpPr>
        <p:spPr/>
        <p:txBody>
          <a:bodyPr/>
          <a:lstStyle/>
          <a:p>
            <a:r>
              <a:rPr lang="en-GB" dirty="0"/>
              <a:t>Getters and setters</a:t>
            </a:r>
          </a:p>
        </p:txBody>
      </p:sp>
      <p:sp>
        <p:nvSpPr>
          <p:cNvPr id="4" name="Slide Number Placeholder 3">
            <a:extLst>
              <a:ext uri="{FF2B5EF4-FFF2-40B4-BE49-F238E27FC236}">
                <a16:creationId xmlns:a16="http://schemas.microsoft.com/office/drawing/2014/main" id="{787A6BBC-A7CC-54C6-E988-107F3866D405}"/>
              </a:ext>
            </a:extLst>
          </p:cNvPr>
          <p:cNvSpPr>
            <a:spLocks noGrp="1"/>
          </p:cNvSpPr>
          <p:nvPr>
            <p:ph type="sldNum" sz="quarter" idx="12"/>
          </p:nvPr>
        </p:nvSpPr>
        <p:spPr/>
        <p:txBody>
          <a:bodyPr/>
          <a:lstStyle/>
          <a:p>
            <a:fld id="{F3469444-D02B-D446-9CF8-19DEDDE073D1}" type="slidenum">
              <a:rPr lang="en-US" smtClean="0"/>
              <a:pPr/>
              <a:t>11</a:t>
            </a:fld>
            <a:endParaRPr lang="en-US" dirty="0"/>
          </a:p>
        </p:txBody>
      </p:sp>
      <p:sp>
        <p:nvSpPr>
          <p:cNvPr id="5" name="Rectangle 3">
            <a:extLst>
              <a:ext uri="{FF2B5EF4-FFF2-40B4-BE49-F238E27FC236}">
                <a16:creationId xmlns:a16="http://schemas.microsoft.com/office/drawing/2014/main" id="{9015EA84-13BF-CDF3-F3C4-9F451255C608}"/>
              </a:ext>
            </a:extLst>
          </p:cNvPr>
          <p:cNvSpPr txBox="1">
            <a:spLocks noChangeArrowheads="1"/>
          </p:cNvSpPr>
          <p:nvPr/>
        </p:nvSpPr>
        <p:spPr>
          <a:xfrm>
            <a:off x="443922" y="1799233"/>
            <a:ext cx="11455978" cy="49553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Do not expose state</a:t>
            </a:r>
          </a:p>
        </p:txBody>
      </p:sp>
      <p:sp>
        <p:nvSpPr>
          <p:cNvPr id="6" name="Rectangle 5">
            <a:extLst>
              <a:ext uri="{FF2B5EF4-FFF2-40B4-BE49-F238E27FC236}">
                <a16:creationId xmlns:a16="http://schemas.microsoft.com/office/drawing/2014/main" id="{D7F7ABC4-A520-699D-C1A9-CDEB626E28E0}"/>
              </a:ext>
            </a:extLst>
          </p:cNvPr>
          <p:cNvSpPr/>
          <p:nvPr/>
        </p:nvSpPr>
        <p:spPr>
          <a:xfrm>
            <a:off x="6077506" y="2582741"/>
            <a:ext cx="4660873" cy="2062103"/>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 {</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Student stu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p>
          <a:p>
            <a:endParaRPr lang="en-GB" sz="1600" b="1" dirty="0">
              <a:solidFill>
                <a:srgbClr val="000000"/>
              </a:solidFill>
              <a:latin typeface="Consolas" panose="020B0609020204030204" pitchFamily="49" charset="0"/>
            </a:endParaRPr>
          </a:p>
          <a:p>
            <a:r>
              <a:rPr lang="en-GB" sz="1600" b="1" dirty="0">
                <a:solidFill>
                  <a:srgbClr val="6A3E3E"/>
                </a:solidFill>
                <a:latin typeface="Consolas" panose="020B0609020204030204" pitchFamily="49" charset="0"/>
              </a:rPr>
              <a:t>   stu</a:t>
            </a:r>
            <a:r>
              <a:rPr lang="en-GB" sz="1600" b="1" dirty="0">
                <a:solidFill>
                  <a:srgbClr val="000000"/>
                </a:solidFill>
                <a:latin typeface="Consolas" panose="020B0609020204030204" pitchFamily="49" charset="0"/>
              </a:rPr>
              <a:t>.</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 = </a:t>
            </a:r>
            <a:r>
              <a:rPr lang="en-GB" sz="1600" b="1" dirty="0">
                <a:solidFill>
                  <a:srgbClr val="2A00FF"/>
                </a:solidFill>
                <a:latin typeface="Consolas" panose="020B0609020204030204" pitchFamily="49" charset="0"/>
              </a:rPr>
              <a:t>"</a:t>
            </a:r>
            <a:r>
              <a:rPr lang="en-GB" sz="1600" b="1" dirty="0">
                <a:solidFill>
                  <a:schemeClr val="tx1"/>
                </a:solidFill>
                <a:latin typeface="Consolas" panose="020B0609020204030204" pitchFamily="49" charset="0"/>
              </a:rPr>
              <a:t>Bob</a:t>
            </a:r>
            <a:r>
              <a:rPr lang="en-GB" sz="1600" b="1" dirty="0">
                <a:solidFill>
                  <a:srgbClr val="2A00FF"/>
                </a:solidFill>
                <a:latin typeface="Consolas" panose="020B0609020204030204" pitchFamily="49" charset="0"/>
              </a:rPr>
              <a:t>"</a:t>
            </a:r>
            <a:r>
              <a:rPr lang="en-GB" sz="1600" b="1" dirty="0">
                <a:solidFill>
                  <a:srgbClr val="000000"/>
                </a:solidFill>
                <a:latin typeface="Consolas" panose="020B0609020204030204" pitchFamily="49" charset="0"/>
              </a:rPr>
              <a:t>; </a:t>
            </a:r>
            <a:r>
              <a:rPr lang="en-GB" sz="1600" b="1" dirty="0">
                <a:solidFill>
                  <a:srgbClr val="C00000"/>
                </a:solidFill>
                <a:latin typeface="Consolas" panose="020B0609020204030204" pitchFamily="49" charset="0"/>
                <a:sym typeface="Wingdings" panose="05000000000000000000" pitchFamily="2" charset="2"/>
              </a:rPr>
              <a:t></a:t>
            </a:r>
            <a:endParaRPr lang="en-GB" sz="1600" b="1" dirty="0">
              <a:solidFill>
                <a:srgbClr val="C00000"/>
              </a:solidFill>
              <a:latin typeface="Consolas" panose="020B0609020204030204" pitchFamily="49" charset="0"/>
            </a:endParaRPr>
          </a:p>
          <a:p>
            <a:r>
              <a:rPr lang="en-GB" sz="1600" b="1" dirty="0">
                <a:solidFill>
                  <a:srgbClr val="6A3E3E"/>
                </a:solidFill>
                <a:latin typeface="Consolas" panose="020B0609020204030204" pitchFamily="49" charset="0"/>
              </a:rPr>
              <a:t>   stu</a:t>
            </a:r>
            <a:r>
              <a:rPr lang="en-GB" sz="1600" b="1" dirty="0">
                <a:solidFill>
                  <a:srgbClr val="000000"/>
                </a:solidFill>
                <a:latin typeface="Consolas" panose="020B0609020204030204" pitchFamily="49" charset="0"/>
              </a:rPr>
              <a:t>.</a:t>
            </a:r>
            <a:r>
              <a:rPr lang="en-GB" sz="1600" b="1" dirty="0">
                <a:solidFill>
                  <a:srgbClr val="0000C0"/>
                </a:solidFill>
                <a:latin typeface="Consolas" panose="020B0609020204030204" pitchFamily="49" charset="0"/>
              </a:rPr>
              <a:t>age</a:t>
            </a:r>
            <a:r>
              <a:rPr lang="en-GB" sz="1600" b="1" dirty="0">
                <a:solidFill>
                  <a:srgbClr val="000000"/>
                </a:solidFill>
                <a:latin typeface="Consolas" panose="020B0609020204030204" pitchFamily="49" charset="0"/>
              </a:rPr>
              <a:t> = 25; </a:t>
            </a:r>
            <a:r>
              <a:rPr lang="en-GB" sz="1600" b="1" dirty="0">
                <a:solidFill>
                  <a:srgbClr val="C00000"/>
                </a:solidFill>
                <a:latin typeface="Consolas" panose="020B0609020204030204" pitchFamily="49" charset="0"/>
                <a:sym typeface="Wingdings" panose="05000000000000000000" pitchFamily="2" charset="2"/>
              </a:rPr>
              <a:t></a:t>
            </a:r>
            <a:endParaRPr lang="en-GB" sz="1600" b="1" dirty="0">
              <a:solidFill>
                <a:srgbClr val="000000"/>
              </a:solidFill>
              <a:latin typeface="Consolas" panose="020B0609020204030204" pitchFamily="49" charset="0"/>
            </a:endParaRPr>
          </a:p>
          <a:p>
            <a:endParaRPr lang="en-GB" sz="1600" b="1" dirty="0">
              <a:solidFill>
                <a:srgbClr val="6A3E3E"/>
              </a:solidFill>
              <a:latin typeface="Consolas" panose="020B0609020204030204" pitchFamily="49" charset="0"/>
            </a:endParaRPr>
          </a:p>
          <a:p>
            <a:r>
              <a:rPr lang="en-GB" sz="1600" b="1" dirty="0">
                <a:solidFill>
                  <a:srgbClr val="000000"/>
                </a:solidFill>
                <a:latin typeface="Consolas" panose="020B0609020204030204" pitchFamily="49" charset="0"/>
              </a:rPr>
              <a:t>}</a:t>
            </a:r>
          </a:p>
        </p:txBody>
      </p:sp>
      <p:sp>
        <p:nvSpPr>
          <p:cNvPr id="7" name="Rectangle 6">
            <a:extLst>
              <a:ext uri="{FF2B5EF4-FFF2-40B4-BE49-F238E27FC236}">
                <a16:creationId xmlns:a16="http://schemas.microsoft.com/office/drawing/2014/main" id="{BD8AB663-4241-4BD3-F7D5-E573AD7931CB}"/>
              </a:ext>
            </a:extLst>
          </p:cNvPr>
          <p:cNvSpPr/>
          <p:nvPr/>
        </p:nvSpPr>
        <p:spPr>
          <a:xfrm>
            <a:off x="1186720" y="2587396"/>
            <a:ext cx="4073178" cy="1569660"/>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defTabSz="936000"/>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Student {</a:t>
            </a:r>
          </a:p>
          <a:p>
            <a:pPr defTabSz="936000"/>
            <a:endParaRPr lang="en-GB" sz="1600" b="1" dirty="0">
              <a:solidFill>
                <a:srgbClr val="000000"/>
              </a:solidFill>
              <a:latin typeface="Consolas" panose="020B0609020204030204" pitchFamily="49" charset="0"/>
            </a:endParaRPr>
          </a:p>
          <a:p>
            <a:pPr defTabSz="936000"/>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a:t>
            </a:r>
          </a:p>
          <a:p>
            <a:pPr defTabSz="936000"/>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0000C0"/>
                </a:solidFill>
                <a:highlight>
                  <a:srgbClr val="F0D8A8"/>
                </a:highlight>
                <a:latin typeface="Consolas" panose="020B0609020204030204" pitchFamily="49" charset="0"/>
              </a:rPr>
              <a:t>age</a:t>
            </a:r>
            <a:r>
              <a:rPr lang="en-GB" sz="1600" b="1" dirty="0">
                <a:solidFill>
                  <a:srgbClr val="000000"/>
                </a:solidFill>
                <a:highlight>
                  <a:srgbClr val="F0D8A8"/>
                </a:highlight>
                <a:latin typeface="Consolas" panose="020B0609020204030204" pitchFamily="49" charset="0"/>
              </a:rPr>
              <a:t>;</a:t>
            </a:r>
          </a:p>
          <a:p>
            <a:pPr defTabSz="936000"/>
            <a:endParaRPr lang="en-GB" sz="1600" b="1" dirty="0">
              <a:solidFill>
                <a:srgbClr val="000000"/>
              </a:solidFill>
              <a:latin typeface="Consolas" panose="020B0609020204030204" pitchFamily="49" charset="0"/>
            </a:endParaRPr>
          </a:p>
          <a:p>
            <a:pPr defTabSz="936000"/>
            <a:r>
              <a:rPr lang="en-GB" sz="16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625065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dirty="0"/>
              <a:t>Exposing state through Property methods</a:t>
            </a:r>
          </a:p>
        </p:txBody>
      </p:sp>
      <p:sp>
        <p:nvSpPr>
          <p:cNvPr id="4" name="Rectangle 3"/>
          <p:cNvSpPr/>
          <p:nvPr/>
        </p:nvSpPr>
        <p:spPr>
          <a:xfrm>
            <a:off x="6373302" y="1654031"/>
            <a:ext cx="4530244" cy="2800767"/>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dirty="0">
                <a:solidFill>
                  <a:srgbClr val="7F0055"/>
                </a:solidFill>
                <a:latin typeface="Lucida Console" panose="020B0609040504020204" pitchFamily="49" charset="0"/>
              </a:rPr>
              <a:t>public</a:t>
            </a:r>
            <a:r>
              <a:rPr lang="en-GB" sz="1600" dirty="0">
                <a:solidFill>
                  <a:srgbClr val="000000"/>
                </a:solidFill>
                <a:latin typeface="Lucida Console" panose="020B0609040504020204" pitchFamily="49" charset="0"/>
              </a:rPr>
              <a:t> </a:t>
            </a:r>
            <a:r>
              <a:rPr lang="en-GB" sz="1600" dirty="0">
                <a:solidFill>
                  <a:srgbClr val="7F0055"/>
                </a:solidFill>
                <a:latin typeface="Lucida Console" panose="020B0609040504020204" pitchFamily="49" charset="0"/>
              </a:rPr>
              <a:t>static</a:t>
            </a:r>
            <a:r>
              <a:rPr lang="en-GB" sz="1600" dirty="0">
                <a:solidFill>
                  <a:srgbClr val="000000"/>
                </a:solidFill>
                <a:latin typeface="Lucida Console" panose="020B0609040504020204" pitchFamily="49" charset="0"/>
              </a:rPr>
              <a:t> </a:t>
            </a:r>
            <a:r>
              <a:rPr lang="en-GB" sz="1600" dirty="0">
                <a:solidFill>
                  <a:srgbClr val="7F0055"/>
                </a:solidFill>
                <a:latin typeface="Lucida Console" panose="020B0609040504020204" pitchFamily="49" charset="0"/>
              </a:rPr>
              <a:t>void</a:t>
            </a:r>
            <a:r>
              <a:rPr lang="en-GB" sz="1600" dirty="0">
                <a:solidFill>
                  <a:srgbClr val="000000"/>
                </a:solidFill>
                <a:latin typeface="Lucida Console" panose="020B0609040504020204" pitchFamily="49" charset="0"/>
              </a:rPr>
              <a:t> Main(…) {</a:t>
            </a:r>
          </a:p>
          <a:p>
            <a:endParaRPr lang="en-GB" sz="1600" dirty="0">
              <a:solidFill>
                <a:srgbClr val="000000"/>
              </a:solidFill>
              <a:latin typeface="Lucida Console" panose="020B0609040504020204" pitchFamily="49" charset="0"/>
            </a:endParaRPr>
          </a:p>
          <a:p>
            <a:r>
              <a:rPr lang="en-GB" sz="1600" dirty="0">
                <a:solidFill>
                  <a:srgbClr val="000000"/>
                </a:solidFill>
                <a:latin typeface="Lucida Console" panose="020B0609040504020204" pitchFamily="49" charset="0"/>
              </a:rPr>
              <a:t>   Student </a:t>
            </a:r>
            <a:r>
              <a:rPr lang="en-GB" sz="1600" dirty="0" err="1">
                <a:solidFill>
                  <a:srgbClr val="000000"/>
                </a:solidFill>
                <a:latin typeface="Lucida Console" panose="020B0609040504020204" pitchFamily="49" charset="0"/>
              </a:rPr>
              <a:t>stu</a:t>
            </a:r>
            <a:r>
              <a:rPr lang="en-GB" sz="1600" dirty="0">
                <a:solidFill>
                  <a:srgbClr val="000000"/>
                </a:solidFill>
                <a:latin typeface="Lucida Console" panose="020B0609040504020204" pitchFamily="49" charset="0"/>
              </a:rPr>
              <a:t> = </a:t>
            </a:r>
            <a:r>
              <a:rPr lang="en-GB" sz="1600" dirty="0">
                <a:solidFill>
                  <a:srgbClr val="7F0055"/>
                </a:solidFill>
                <a:latin typeface="Lucida Console" panose="020B0609040504020204" pitchFamily="49" charset="0"/>
              </a:rPr>
              <a:t>new</a:t>
            </a:r>
            <a:r>
              <a:rPr lang="en-GB" sz="1600" dirty="0">
                <a:solidFill>
                  <a:srgbClr val="000000"/>
                </a:solidFill>
                <a:latin typeface="Lucida Console" panose="020B0609040504020204" pitchFamily="49" charset="0"/>
              </a:rPr>
              <a:t> Student();</a:t>
            </a:r>
          </a:p>
          <a:p>
            <a:endParaRPr lang="en-GB" sz="1600" dirty="0">
              <a:solidFill>
                <a:srgbClr val="000000"/>
              </a:solidFill>
              <a:latin typeface="Lucida Console" panose="020B0609040504020204" pitchFamily="49" charset="0"/>
            </a:endParaRPr>
          </a:p>
          <a:p>
            <a:r>
              <a:rPr lang="en-GB" sz="1600" dirty="0">
                <a:solidFill>
                  <a:srgbClr val="6A3E3E"/>
                </a:solidFill>
                <a:latin typeface="Lucida Console" panose="020B0609040504020204" pitchFamily="49" charset="0"/>
              </a:rPr>
              <a:t>   stu</a:t>
            </a:r>
            <a:r>
              <a:rPr lang="en-GB" sz="1600" dirty="0">
                <a:solidFill>
                  <a:srgbClr val="000000"/>
                </a:solidFill>
                <a:latin typeface="Lucida Console" panose="020B0609040504020204" pitchFamily="49" charset="0"/>
              </a:rPr>
              <a:t>.</a:t>
            </a:r>
            <a:r>
              <a:rPr lang="en-GB" sz="1600" dirty="0">
                <a:solidFill>
                  <a:srgbClr val="0000C0"/>
                </a:solidFill>
                <a:latin typeface="Lucida Console" panose="020B0609040504020204" pitchFamily="49" charset="0"/>
              </a:rPr>
              <a:t>name</a:t>
            </a:r>
            <a:r>
              <a:rPr lang="en-GB" sz="1600" dirty="0">
                <a:solidFill>
                  <a:srgbClr val="000000"/>
                </a:solidFill>
                <a:latin typeface="Lucida Console" panose="020B0609040504020204" pitchFamily="49" charset="0"/>
              </a:rPr>
              <a:t> = </a:t>
            </a:r>
            <a:r>
              <a:rPr lang="en-GB" sz="1600" dirty="0">
                <a:solidFill>
                  <a:srgbClr val="2A00FF"/>
                </a:solidFill>
                <a:latin typeface="Lucida Console" panose="020B0609040504020204" pitchFamily="49" charset="0"/>
              </a:rPr>
              <a:t>"</a:t>
            </a:r>
            <a:r>
              <a:rPr lang="en-GB" sz="1600" dirty="0">
                <a:solidFill>
                  <a:schemeClr val="tx1"/>
                </a:solidFill>
                <a:latin typeface="Lucida Console" panose="020B0609040504020204" pitchFamily="49" charset="0"/>
              </a:rPr>
              <a:t>Bob</a:t>
            </a:r>
            <a:r>
              <a:rPr lang="en-GB" sz="1600" dirty="0">
                <a:solidFill>
                  <a:srgbClr val="2A00FF"/>
                </a:solidFill>
                <a:latin typeface="Lucida Console" panose="020B0609040504020204" pitchFamily="49" charset="0"/>
              </a:rPr>
              <a:t>"</a:t>
            </a:r>
            <a:r>
              <a:rPr lang="en-GB" sz="1600" dirty="0">
                <a:solidFill>
                  <a:srgbClr val="000000"/>
                </a:solidFill>
                <a:latin typeface="Lucida Console" panose="020B0609040504020204" pitchFamily="49" charset="0"/>
              </a:rPr>
              <a:t>; </a:t>
            </a:r>
            <a:r>
              <a:rPr lang="en-GB" sz="1600" dirty="0">
                <a:solidFill>
                  <a:srgbClr val="C00000"/>
                </a:solidFill>
                <a:latin typeface="Lucida Console" panose="020B0609040504020204" pitchFamily="49" charset="0"/>
                <a:sym typeface="Wingdings" panose="05000000000000000000" pitchFamily="2" charset="2"/>
              </a:rPr>
              <a:t></a:t>
            </a:r>
            <a:endParaRPr lang="en-GB" sz="1600" dirty="0">
              <a:solidFill>
                <a:srgbClr val="C00000"/>
              </a:solidFill>
              <a:latin typeface="Lucida Console" panose="020B0609040504020204" pitchFamily="49" charset="0"/>
            </a:endParaRPr>
          </a:p>
          <a:p>
            <a:r>
              <a:rPr lang="en-GB" sz="1600" dirty="0">
                <a:solidFill>
                  <a:srgbClr val="6A3E3E"/>
                </a:solidFill>
                <a:latin typeface="Lucida Console" panose="020B0609040504020204" pitchFamily="49" charset="0"/>
              </a:rPr>
              <a:t>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age</a:t>
            </a:r>
            <a:r>
              <a:rPr lang="en-GB" sz="1600" dirty="0">
                <a:solidFill>
                  <a:srgbClr val="000000"/>
                </a:solidFill>
                <a:latin typeface="Lucida Console" panose="020B0609040504020204" pitchFamily="49" charset="0"/>
              </a:rPr>
              <a:t> = 25; </a:t>
            </a:r>
            <a:r>
              <a:rPr lang="en-GB" sz="1600" dirty="0">
                <a:solidFill>
                  <a:srgbClr val="C00000"/>
                </a:solidFill>
                <a:latin typeface="Lucida Console" panose="020B0609040504020204" pitchFamily="49" charset="0"/>
                <a:sym typeface="Wingdings" panose="05000000000000000000" pitchFamily="2" charset="2"/>
              </a:rPr>
              <a:t></a:t>
            </a:r>
            <a:endParaRPr lang="en-GB" sz="1600" dirty="0">
              <a:solidFill>
                <a:srgbClr val="000000"/>
              </a:solidFill>
              <a:latin typeface="Lucida Console" panose="020B0609040504020204" pitchFamily="49" charset="0"/>
            </a:endParaRPr>
          </a:p>
          <a:p>
            <a:endParaRPr lang="en-GB" sz="1600" dirty="0">
              <a:solidFill>
                <a:srgbClr val="6A3E3E"/>
              </a:solidFill>
              <a:latin typeface="Lucida Console" panose="020B0609040504020204" pitchFamily="49" charset="0"/>
            </a:endParaRPr>
          </a:p>
          <a:p>
            <a:r>
              <a:rPr lang="en-GB" sz="1600" dirty="0">
                <a:solidFill>
                  <a:srgbClr val="6A3E3E"/>
                </a:solidFill>
                <a:latin typeface="Lucida Console" panose="020B0609040504020204" pitchFamily="49" charset="0"/>
              </a:rPr>
              <a:t>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Name</a:t>
            </a:r>
            <a:r>
              <a:rPr lang="en-GB" sz="1600" dirty="0">
                <a:solidFill>
                  <a:srgbClr val="0000C0"/>
                </a:solidFill>
                <a:latin typeface="Lucida Console" panose="020B0609040504020204" pitchFamily="49" charset="0"/>
              </a:rPr>
              <a:t> </a:t>
            </a:r>
            <a:r>
              <a:rPr lang="en-GB" sz="1600" dirty="0">
                <a:solidFill>
                  <a:srgbClr val="004050"/>
                </a:solidFill>
                <a:latin typeface="Lucida Console" panose="020B0609040504020204" pitchFamily="49" charset="0"/>
              </a:rPr>
              <a:t>=</a:t>
            </a:r>
            <a:r>
              <a:rPr lang="en-GB" sz="1600" dirty="0">
                <a:solidFill>
                  <a:srgbClr val="0000C0"/>
                </a:solidFill>
                <a:latin typeface="Lucida Console" panose="020B0609040504020204" pitchFamily="49" charset="0"/>
              </a:rPr>
              <a:t> </a:t>
            </a:r>
            <a:r>
              <a:rPr lang="en-GB" sz="1600" dirty="0">
                <a:solidFill>
                  <a:schemeClr val="tx1"/>
                </a:solidFill>
                <a:latin typeface="Lucida Console" panose="020B0609040504020204" pitchFamily="49" charset="0"/>
              </a:rPr>
              <a:t>"Bob"</a:t>
            </a:r>
            <a:r>
              <a:rPr lang="en-GB" sz="1600" dirty="0">
                <a:solidFill>
                  <a:srgbClr val="000000"/>
                </a:solidFill>
                <a:latin typeface="Lucida Console" panose="020B0609040504020204" pitchFamily="49" charset="0"/>
              </a:rPr>
              <a:t>; </a:t>
            </a: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a:t>
            </a:r>
            <a:endParaRPr lang="en-GB" sz="1600" b="1" dirty="0">
              <a:solidFill>
                <a:schemeClr val="accent1">
                  <a:lumMod val="75000"/>
                  <a:lumOff val="25000"/>
                </a:schemeClr>
              </a:solidFill>
              <a:latin typeface="Lucida Console" panose="020B0609040504020204" pitchFamily="49" charset="0"/>
            </a:endParaRPr>
          </a:p>
          <a:p>
            <a:endParaRPr lang="en-GB" sz="1600" dirty="0">
              <a:solidFill>
                <a:srgbClr val="6A3E3E"/>
              </a:solidFill>
              <a:latin typeface="Lucida Console" panose="020B0609040504020204" pitchFamily="49" charset="0"/>
            </a:endParaRPr>
          </a:p>
          <a:p>
            <a:r>
              <a:rPr lang="en-GB" sz="1600" dirty="0">
                <a:solidFill>
                  <a:srgbClr val="6A3E3E"/>
                </a:solidFill>
                <a:latin typeface="Lucida Console" panose="020B0609040504020204" pitchFamily="49" charset="0"/>
              </a:rPr>
              <a:t>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Age</a:t>
            </a:r>
            <a:r>
              <a:rPr lang="en-GB" sz="1600" dirty="0">
                <a:solidFill>
                  <a:srgbClr val="0000C0"/>
                </a:solidFill>
                <a:latin typeface="Lucida Console" panose="020B0609040504020204" pitchFamily="49" charset="0"/>
              </a:rPr>
              <a:t> </a:t>
            </a:r>
            <a:r>
              <a:rPr lang="en-GB" sz="1600" dirty="0">
                <a:solidFill>
                  <a:schemeClr val="tx1"/>
                </a:solidFill>
                <a:latin typeface="Lucida Console" panose="020B0609040504020204" pitchFamily="49" charset="0"/>
              </a:rPr>
              <a:t>= 25</a:t>
            </a:r>
            <a:r>
              <a:rPr lang="en-GB" sz="1600" dirty="0">
                <a:solidFill>
                  <a:srgbClr val="000000"/>
                </a:solidFill>
                <a:latin typeface="Lucida Console" panose="020B0609040504020204" pitchFamily="49" charset="0"/>
              </a:rPr>
              <a:t>;</a:t>
            </a:r>
            <a:r>
              <a:rPr lang="en-GB" sz="1600" dirty="0">
                <a:solidFill>
                  <a:srgbClr val="6A3E3E"/>
                </a:solidFill>
                <a:latin typeface="Lucida Console" panose="020B0609040504020204" pitchFamily="49" charset="0"/>
              </a:rPr>
              <a:t> </a:t>
            </a: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a:t>
            </a:r>
            <a:endParaRPr lang="en-GB" sz="1600" dirty="0">
              <a:solidFill>
                <a:srgbClr val="6A3E3E"/>
              </a:solidFill>
              <a:latin typeface="Lucida Console" panose="020B0609040504020204" pitchFamily="49" charset="0"/>
            </a:endParaRPr>
          </a:p>
          <a:p>
            <a:r>
              <a:rPr lang="en-GB" sz="1600" dirty="0">
                <a:solidFill>
                  <a:srgbClr val="000000"/>
                </a:solidFill>
                <a:latin typeface="Lucida Console" panose="020B0609040504020204" pitchFamily="49" charset="0"/>
              </a:rPr>
              <a:t>}</a:t>
            </a:r>
          </a:p>
        </p:txBody>
      </p:sp>
      <p:sp>
        <p:nvSpPr>
          <p:cNvPr id="2" name="Rectangle 1"/>
          <p:cNvSpPr/>
          <p:nvPr/>
        </p:nvSpPr>
        <p:spPr>
          <a:xfrm>
            <a:off x="565228" y="1643616"/>
            <a:ext cx="5646118" cy="5016758"/>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7F0055"/>
                </a:solidFill>
                <a:latin typeface="Lucida Console" panose="020B0609040504020204" pitchFamily="49" charset="0"/>
              </a:rPr>
              <a:t>public</a:t>
            </a:r>
            <a:r>
              <a:rPr lang="en-GB" sz="1600" dirty="0">
                <a:solidFill>
                  <a:srgbClr val="000000"/>
                </a:solidFill>
                <a:latin typeface="Lucida Console" panose="020B0609040504020204" pitchFamily="49" charset="0"/>
              </a:rPr>
              <a:t> </a:t>
            </a:r>
            <a:r>
              <a:rPr lang="en-GB" sz="1600" dirty="0">
                <a:solidFill>
                  <a:srgbClr val="7F0055"/>
                </a:solidFill>
                <a:latin typeface="Lucida Console" panose="020B0609040504020204" pitchFamily="49" charset="0"/>
              </a:rPr>
              <a:t>class</a:t>
            </a:r>
            <a:r>
              <a:rPr lang="en-GB" sz="1600" dirty="0">
                <a:solidFill>
                  <a:srgbClr val="000000"/>
                </a:solidFill>
                <a:latin typeface="Lucida Console" panose="020B0609040504020204" pitchFamily="49" charset="0"/>
              </a:rPr>
              <a:t> Student {</a:t>
            </a:r>
          </a:p>
          <a:p>
            <a:pPr lvl="1"/>
            <a:r>
              <a:rPr lang="en-GB" sz="1600" dirty="0">
                <a:solidFill>
                  <a:srgbClr val="0000FF"/>
                </a:solidFill>
                <a:latin typeface="Cascadia Mono" panose="020B0609020000020004" pitchFamily="49" charset="0"/>
              </a:rPr>
              <a:t>private</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age;</a:t>
            </a:r>
          </a:p>
          <a:p>
            <a:pPr lvl="1"/>
            <a:r>
              <a:rPr lang="en-GB" sz="1600" dirty="0">
                <a:solidFill>
                  <a:srgbClr val="0000FF"/>
                </a:solidFill>
                <a:latin typeface="Cascadia Mono" panose="020B0609020000020004" pitchFamily="49" charset="0"/>
              </a:rPr>
              <a:t>private</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name;</a:t>
            </a:r>
          </a:p>
          <a:p>
            <a:pPr lvl="1"/>
            <a:endParaRPr lang="en-GB" sz="1600" dirty="0">
              <a:solidFill>
                <a:srgbClr val="000000"/>
              </a:solidFill>
              <a:latin typeface="Cascadia Mono" panose="020B0609020000020004" pitchFamily="49" charset="0"/>
            </a:endParaRPr>
          </a:p>
          <a:p>
            <a:pPr lvl="1"/>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Name</a:t>
            </a:r>
          </a:p>
          <a:p>
            <a:pPr lvl="1"/>
            <a:r>
              <a:rPr lang="en-GB" sz="1600" dirty="0">
                <a:solidFill>
                  <a:srgbClr val="000000"/>
                </a:solidFill>
                <a:latin typeface="Cascadia Mono" panose="020B0609020000020004" pitchFamily="49" charset="0"/>
              </a:rPr>
              <a:t>{</a:t>
            </a:r>
          </a:p>
          <a:p>
            <a:pPr lvl="2"/>
            <a:r>
              <a:rPr lang="en-GB" sz="1600" dirty="0">
                <a:solidFill>
                  <a:srgbClr val="0000FF"/>
                </a:solidFill>
                <a:latin typeface="Cascadia Mono" panose="020B0609020000020004" pitchFamily="49" charset="0"/>
              </a:rPr>
              <a:t>get</a:t>
            </a:r>
            <a:r>
              <a:rPr lang="en-GB" sz="1600" dirty="0">
                <a:solidFill>
                  <a:srgbClr val="000000"/>
                </a:solidFill>
                <a:latin typeface="Cascadia Mono" panose="020B0609020000020004" pitchFamily="49" charset="0"/>
              </a:rPr>
              <a:t> { </a:t>
            </a:r>
            <a:r>
              <a:rPr lang="en-GB" sz="1600" dirty="0">
                <a:solidFill>
                  <a:srgbClr val="0000FF"/>
                </a:solidFill>
                <a:latin typeface="Cascadia Mono" panose="020B0609020000020004" pitchFamily="49" charset="0"/>
              </a:rPr>
              <a:t>return</a:t>
            </a:r>
            <a:r>
              <a:rPr lang="en-GB" sz="1600" dirty="0">
                <a:solidFill>
                  <a:srgbClr val="000000"/>
                </a:solidFill>
                <a:latin typeface="Cascadia Mono" panose="020B0609020000020004" pitchFamily="49" charset="0"/>
              </a:rPr>
              <a:t> name; }</a:t>
            </a:r>
          </a:p>
          <a:p>
            <a:pPr lvl="2"/>
            <a:r>
              <a:rPr lang="en-GB" sz="1600" dirty="0">
                <a:solidFill>
                  <a:srgbClr val="0000FF"/>
                </a:solidFill>
                <a:latin typeface="Cascadia Mono" panose="020B0609020000020004" pitchFamily="49" charset="0"/>
              </a:rPr>
              <a:t>set</a:t>
            </a:r>
            <a:r>
              <a:rPr lang="en-GB" sz="1600" dirty="0">
                <a:solidFill>
                  <a:srgbClr val="000000"/>
                </a:solidFill>
                <a:latin typeface="Cascadia Mono" panose="020B0609020000020004" pitchFamily="49" charset="0"/>
              </a:rPr>
              <a:t> { name = value; }</a:t>
            </a:r>
          </a:p>
          <a:p>
            <a:pPr lvl="1"/>
            <a:r>
              <a:rPr lang="en-GB" sz="1600" dirty="0">
                <a:solidFill>
                  <a:srgbClr val="000000"/>
                </a:solidFill>
                <a:latin typeface="Cascadia Mono" panose="020B0609020000020004" pitchFamily="49" charset="0"/>
              </a:rPr>
              <a:t>}</a:t>
            </a:r>
          </a:p>
          <a:p>
            <a:pPr lvl="1"/>
            <a:endParaRPr lang="en-GB" sz="1600" dirty="0">
              <a:solidFill>
                <a:srgbClr val="000000"/>
              </a:solidFill>
              <a:latin typeface="Cascadia Mono" panose="020B0609020000020004" pitchFamily="49" charset="0"/>
            </a:endParaRPr>
          </a:p>
          <a:p>
            <a:pPr lvl="1"/>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Age</a:t>
            </a:r>
          </a:p>
          <a:p>
            <a:pPr lvl="1"/>
            <a:r>
              <a:rPr lang="en-GB" sz="1600" dirty="0">
                <a:solidFill>
                  <a:srgbClr val="000000"/>
                </a:solidFill>
                <a:latin typeface="Cascadia Mono" panose="020B0609020000020004" pitchFamily="49" charset="0"/>
              </a:rPr>
              <a:t>{</a:t>
            </a:r>
          </a:p>
          <a:p>
            <a:pPr lvl="2"/>
            <a:r>
              <a:rPr lang="en-GB" sz="1600" dirty="0">
                <a:solidFill>
                  <a:srgbClr val="0000FF"/>
                </a:solidFill>
                <a:latin typeface="Cascadia Mono" panose="020B0609020000020004" pitchFamily="49" charset="0"/>
              </a:rPr>
              <a:t>get</a:t>
            </a:r>
            <a:r>
              <a:rPr lang="en-GB" sz="1600" dirty="0">
                <a:solidFill>
                  <a:srgbClr val="000000"/>
                </a:solidFill>
                <a:latin typeface="Cascadia Mono" panose="020B0609020000020004" pitchFamily="49" charset="0"/>
              </a:rPr>
              <a:t> { </a:t>
            </a:r>
            <a:r>
              <a:rPr lang="en-GB" sz="1600" dirty="0">
                <a:solidFill>
                  <a:srgbClr val="0000FF"/>
                </a:solidFill>
                <a:latin typeface="Cascadia Mono" panose="020B0609020000020004" pitchFamily="49" charset="0"/>
              </a:rPr>
              <a:t>return</a:t>
            </a:r>
            <a:r>
              <a:rPr lang="en-GB" sz="1600" dirty="0">
                <a:solidFill>
                  <a:srgbClr val="000000"/>
                </a:solidFill>
                <a:latin typeface="Cascadia Mono" panose="020B0609020000020004" pitchFamily="49" charset="0"/>
              </a:rPr>
              <a:t> age; }</a:t>
            </a:r>
          </a:p>
          <a:p>
            <a:pPr lvl="2"/>
            <a:endParaRPr lang="en-GB" sz="1600" dirty="0">
              <a:solidFill>
                <a:srgbClr val="0000FF"/>
              </a:solidFill>
              <a:latin typeface="Cascadia Mono" panose="020B0609020000020004" pitchFamily="49" charset="0"/>
            </a:endParaRPr>
          </a:p>
          <a:p>
            <a:pPr lvl="2"/>
            <a:r>
              <a:rPr lang="en-GB" sz="1600" dirty="0">
                <a:solidFill>
                  <a:srgbClr val="0000FF"/>
                </a:solidFill>
                <a:latin typeface="Cascadia Mono" panose="020B0609020000020004" pitchFamily="49" charset="0"/>
              </a:rPr>
              <a:t>set</a:t>
            </a:r>
            <a:r>
              <a:rPr lang="en-GB" sz="1600" dirty="0">
                <a:solidFill>
                  <a:srgbClr val="000000"/>
                </a:solidFill>
                <a:latin typeface="Cascadia Mono" panose="020B0609020000020004" pitchFamily="49" charset="0"/>
              </a:rPr>
              <a:t> { </a:t>
            </a:r>
          </a:p>
          <a:p>
            <a:pPr lvl="2"/>
            <a:r>
              <a:rPr lang="en-GB" sz="1600" dirty="0">
                <a:solidFill>
                  <a:srgbClr val="000000"/>
                </a:solidFill>
                <a:latin typeface="Cascadia Mono" panose="020B0609020000020004" pitchFamily="49" charset="0"/>
              </a:rPr>
              <a:t>	if( value &gt; 0)</a:t>
            </a:r>
          </a:p>
          <a:p>
            <a:pPr lvl="2"/>
            <a:r>
              <a:rPr lang="en-GB" sz="1600" dirty="0">
                <a:solidFill>
                  <a:srgbClr val="000000"/>
                </a:solidFill>
                <a:latin typeface="Cascadia Mono" panose="020B0609020000020004" pitchFamily="49" charset="0"/>
              </a:rPr>
              <a:t>		age = value; </a:t>
            </a:r>
          </a:p>
          <a:p>
            <a:pPr lvl="2"/>
            <a:r>
              <a:rPr lang="en-GB" sz="1600" dirty="0">
                <a:solidFill>
                  <a:srgbClr val="000000"/>
                </a:solidFill>
                <a:latin typeface="Cascadia Mono" panose="020B0609020000020004" pitchFamily="49" charset="0"/>
              </a:rPr>
              <a:t>}</a:t>
            </a:r>
          </a:p>
          <a:p>
            <a:pPr lvl="1"/>
            <a:r>
              <a:rPr lang="en-GB" sz="1600" dirty="0">
                <a:solidFill>
                  <a:srgbClr val="000000"/>
                </a:solidFill>
                <a:latin typeface="Cascadia Mono" panose="020B0609020000020004" pitchFamily="49" charset="0"/>
              </a:rPr>
              <a:t>}</a:t>
            </a:r>
          </a:p>
          <a:p>
            <a:r>
              <a:rPr lang="en-GB" sz="1600" dirty="0">
                <a:solidFill>
                  <a:srgbClr val="000000"/>
                </a:solidFill>
                <a:latin typeface="Lucida Console" panose="020B0609040504020204" pitchFamily="49" charset="0"/>
              </a:rPr>
              <a:t>}</a:t>
            </a:r>
          </a:p>
        </p:txBody>
      </p:sp>
      <p:sp>
        <p:nvSpPr>
          <p:cNvPr id="3" name="Speech Bubble: Rectangle with Corners Rounded 2">
            <a:extLst>
              <a:ext uri="{FF2B5EF4-FFF2-40B4-BE49-F238E27FC236}">
                <a16:creationId xmlns:a16="http://schemas.microsoft.com/office/drawing/2014/main" id="{C752C2ED-2AC1-4F45-BFAA-EEDA3B29F648}"/>
              </a:ext>
            </a:extLst>
          </p:cNvPr>
          <p:cNvSpPr/>
          <p:nvPr/>
        </p:nvSpPr>
        <p:spPr>
          <a:xfrm>
            <a:off x="9523433" y="3870175"/>
            <a:ext cx="2333474" cy="318977"/>
          </a:xfrm>
          <a:prstGeom prst="wedgeRoundRectCallout">
            <a:avLst>
              <a:gd name="adj1" fmla="val -55673"/>
              <a:gd name="adj2" fmla="val -7439"/>
              <a:gd name="adj3" fmla="val 16667"/>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200" b="1" dirty="0">
                <a:solidFill>
                  <a:srgbClr val="004050"/>
                </a:solidFill>
                <a:cs typeface="Arial" pitchFamily="34" charset="0"/>
              </a:rPr>
              <a:t>But name is not changed</a:t>
            </a:r>
          </a:p>
        </p:txBody>
      </p:sp>
      <p:sp>
        <p:nvSpPr>
          <p:cNvPr id="8" name="Speech Bubble: Rectangle with Corners Rounded 7">
            <a:extLst>
              <a:ext uri="{FF2B5EF4-FFF2-40B4-BE49-F238E27FC236}">
                <a16:creationId xmlns:a16="http://schemas.microsoft.com/office/drawing/2014/main" id="{5E97139D-7306-48CB-9EF5-296AFB897F93}"/>
              </a:ext>
            </a:extLst>
          </p:cNvPr>
          <p:cNvSpPr/>
          <p:nvPr/>
        </p:nvSpPr>
        <p:spPr>
          <a:xfrm>
            <a:off x="9523433" y="2762103"/>
            <a:ext cx="2333474" cy="318977"/>
          </a:xfrm>
          <a:prstGeom prst="wedgeRoundRectCallout">
            <a:avLst>
              <a:gd name="adj1" fmla="val -55673"/>
              <a:gd name="adj2" fmla="val -7439"/>
              <a:gd name="adj3" fmla="val 16667"/>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200" b="1" dirty="0">
                <a:solidFill>
                  <a:srgbClr val="004050"/>
                </a:solidFill>
                <a:cs typeface="Arial" pitchFamily="34" charset="0"/>
              </a:rPr>
              <a:t>Name and age are private</a:t>
            </a:r>
          </a:p>
        </p:txBody>
      </p:sp>
      <p:sp>
        <p:nvSpPr>
          <p:cNvPr id="11" name="Rectangle 10">
            <a:extLst>
              <a:ext uri="{FF2B5EF4-FFF2-40B4-BE49-F238E27FC236}">
                <a16:creationId xmlns:a16="http://schemas.microsoft.com/office/drawing/2014/main" id="{3C92B2D6-4941-8F57-6E0E-C1B595175467}"/>
              </a:ext>
            </a:extLst>
          </p:cNvPr>
          <p:cNvSpPr/>
          <p:nvPr/>
        </p:nvSpPr>
        <p:spPr>
          <a:xfrm>
            <a:off x="1359574" y="5029200"/>
            <a:ext cx="3615838" cy="894080"/>
          </a:xfrm>
          <a:prstGeom prst="rect">
            <a:avLst/>
          </a:prstGeom>
          <a:noFill/>
          <a:ln w="19050">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791772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dirty="0"/>
              <a:t>Exposing state through Auto implemented Properties</a:t>
            </a:r>
          </a:p>
        </p:txBody>
      </p:sp>
      <p:sp>
        <p:nvSpPr>
          <p:cNvPr id="4" name="Rectangle 3"/>
          <p:cNvSpPr/>
          <p:nvPr/>
        </p:nvSpPr>
        <p:spPr>
          <a:xfrm>
            <a:off x="6373302" y="1654031"/>
            <a:ext cx="4530244" cy="3170099"/>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dirty="0">
                <a:solidFill>
                  <a:srgbClr val="7F0055"/>
                </a:solidFill>
                <a:latin typeface="Lucida Console" panose="020B0609040504020204" pitchFamily="49" charset="0"/>
              </a:rPr>
              <a:t>public</a:t>
            </a:r>
            <a:r>
              <a:rPr lang="en-GB" sz="1600" dirty="0">
                <a:solidFill>
                  <a:srgbClr val="000000"/>
                </a:solidFill>
                <a:latin typeface="Lucida Console" panose="020B0609040504020204" pitchFamily="49" charset="0"/>
              </a:rPr>
              <a:t> </a:t>
            </a:r>
            <a:r>
              <a:rPr lang="en-GB" sz="1600" dirty="0">
                <a:solidFill>
                  <a:srgbClr val="7F0055"/>
                </a:solidFill>
                <a:latin typeface="Lucida Console" panose="020B0609040504020204" pitchFamily="49" charset="0"/>
              </a:rPr>
              <a:t>static</a:t>
            </a:r>
            <a:r>
              <a:rPr lang="en-GB" sz="1600" dirty="0">
                <a:solidFill>
                  <a:srgbClr val="000000"/>
                </a:solidFill>
                <a:latin typeface="Lucida Console" panose="020B0609040504020204" pitchFamily="49" charset="0"/>
              </a:rPr>
              <a:t> </a:t>
            </a:r>
            <a:r>
              <a:rPr lang="en-GB" sz="1600" dirty="0">
                <a:solidFill>
                  <a:srgbClr val="7F0055"/>
                </a:solidFill>
                <a:latin typeface="Lucida Console" panose="020B0609040504020204" pitchFamily="49" charset="0"/>
              </a:rPr>
              <a:t>void</a:t>
            </a:r>
            <a:r>
              <a:rPr lang="en-GB" sz="1600" dirty="0">
                <a:solidFill>
                  <a:srgbClr val="000000"/>
                </a:solidFill>
                <a:latin typeface="Lucida Console" panose="020B0609040504020204" pitchFamily="49" charset="0"/>
              </a:rPr>
              <a:t> Main(…) {</a:t>
            </a:r>
          </a:p>
          <a:p>
            <a:endParaRPr lang="en-GB" sz="1600" dirty="0">
              <a:solidFill>
                <a:srgbClr val="000000"/>
              </a:solidFill>
              <a:latin typeface="Lucida Console" panose="020B0609040504020204" pitchFamily="49" charset="0"/>
            </a:endParaRPr>
          </a:p>
          <a:p>
            <a:r>
              <a:rPr lang="en-GB" sz="1600" dirty="0">
                <a:solidFill>
                  <a:srgbClr val="000000"/>
                </a:solidFill>
                <a:latin typeface="Lucida Console" panose="020B0609040504020204" pitchFamily="49" charset="0"/>
              </a:rPr>
              <a:t>   Student </a:t>
            </a:r>
            <a:r>
              <a:rPr lang="en-GB" sz="1600" dirty="0" err="1">
                <a:solidFill>
                  <a:srgbClr val="000000"/>
                </a:solidFill>
                <a:latin typeface="Lucida Console" panose="020B0609040504020204" pitchFamily="49" charset="0"/>
              </a:rPr>
              <a:t>stu</a:t>
            </a:r>
            <a:r>
              <a:rPr lang="en-GB" sz="1600" dirty="0">
                <a:solidFill>
                  <a:srgbClr val="000000"/>
                </a:solidFill>
                <a:latin typeface="Lucida Console" panose="020B0609040504020204" pitchFamily="49" charset="0"/>
              </a:rPr>
              <a:t> = </a:t>
            </a:r>
            <a:r>
              <a:rPr lang="en-GB" sz="1600" dirty="0">
                <a:solidFill>
                  <a:srgbClr val="7F0055"/>
                </a:solidFill>
                <a:latin typeface="Lucida Console" panose="020B0609040504020204" pitchFamily="49" charset="0"/>
              </a:rPr>
              <a:t>new</a:t>
            </a:r>
            <a:r>
              <a:rPr lang="en-GB" sz="1600" dirty="0">
                <a:solidFill>
                  <a:srgbClr val="000000"/>
                </a:solidFill>
                <a:latin typeface="Lucida Console" panose="020B0609040504020204" pitchFamily="49" charset="0"/>
              </a:rPr>
              <a:t> Student();</a:t>
            </a:r>
          </a:p>
          <a:p>
            <a:endParaRPr lang="en-GB" sz="1600" dirty="0">
              <a:solidFill>
                <a:srgbClr val="000000"/>
              </a:solidFill>
              <a:latin typeface="Lucida Console" panose="020B0609040504020204" pitchFamily="49" charset="0"/>
            </a:endParaRPr>
          </a:p>
          <a:p>
            <a:r>
              <a:rPr lang="en-GB" sz="1600" dirty="0">
                <a:solidFill>
                  <a:srgbClr val="6A3E3E"/>
                </a:solidFill>
                <a:latin typeface="Lucida Console" panose="020B0609040504020204" pitchFamily="49" charset="0"/>
              </a:rPr>
              <a:t>   int </a:t>
            </a:r>
            <a:r>
              <a:rPr lang="en-GB" sz="1600" dirty="0">
                <a:solidFill>
                  <a:schemeClr val="tx1"/>
                </a:solidFill>
                <a:latin typeface="Lucida Console" panose="020B0609040504020204" pitchFamily="49" charset="0"/>
              </a:rPr>
              <a:t>name</a:t>
            </a:r>
            <a:r>
              <a:rPr lang="en-GB" sz="1600" dirty="0">
                <a:solidFill>
                  <a:srgbClr val="6A3E3E"/>
                </a:solidFill>
                <a:latin typeface="Lucida Console" panose="020B0609040504020204" pitchFamily="49" charset="0"/>
              </a:rPr>
              <a:t> =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Name</a:t>
            </a:r>
            <a:r>
              <a:rPr lang="en-GB" sz="1600" dirty="0">
                <a:solidFill>
                  <a:srgbClr val="000000"/>
                </a:solidFill>
                <a:latin typeface="Lucida Console" panose="020B0609040504020204" pitchFamily="49" charset="0"/>
              </a:rPr>
              <a:t>; </a:t>
            </a: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a:t>
            </a:r>
          </a:p>
          <a:p>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   </a:t>
            </a:r>
            <a:b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b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Name</a:t>
            </a:r>
            <a:r>
              <a:rPr lang="en-GB" sz="1600" dirty="0">
                <a:solidFill>
                  <a:srgbClr val="0000C0"/>
                </a:solidFill>
                <a:latin typeface="Lucida Console" panose="020B0609040504020204" pitchFamily="49" charset="0"/>
              </a:rPr>
              <a:t> = </a:t>
            </a:r>
            <a:r>
              <a:rPr lang="en-GB" sz="1600" dirty="0">
                <a:solidFill>
                  <a:schemeClr val="tx1"/>
                </a:solidFill>
                <a:latin typeface="Lucida Console" panose="020B0609040504020204" pitchFamily="49" charset="0"/>
              </a:rPr>
              <a:t>"Bob"; </a:t>
            </a:r>
            <a:r>
              <a:rPr lang="en-GB" sz="2400" dirty="0">
                <a:solidFill>
                  <a:srgbClr val="C00000"/>
                </a:solidFill>
                <a:latin typeface="Lucida Console" panose="020B0609040504020204" pitchFamily="49" charset="0"/>
                <a:sym typeface="Wingdings" panose="05000000000000000000" pitchFamily="2" charset="2"/>
              </a:rPr>
              <a:t></a:t>
            </a:r>
            <a:endParaRPr lang="en-GB" sz="1600" b="1" dirty="0">
              <a:solidFill>
                <a:schemeClr val="tx1"/>
              </a:solidFill>
              <a:latin typeface="Lucida Console" panose="020B0609040504020204" pitchFamily="49" charset="0"/>
            </a:endParaRPr>
          </a:p>
          <a:p>
            <a:endParaRPr lang="en-GB" sz="1600" dirty="0">
              <a:solidFill>
                <a:srgbClr val="6A3E3E"/>
              </a:solidFill>
              <a:latin typeface="Lucida Console" panose="020B0609040504020204" pitchFamily="49" charset="0"/>
            </a:endParaRPr>
          </a:p>
          <a:p>
            <a:r>
              <a:rPr lang="en-GB" sz="1600" dirty="0">
                <a:solidFill>
                  <a:srgbClr val="6A3E3E"/>
                </a:solidFill>
                <a:latin typeface="Lucida Console" panose="020B0609040504020204" pitchFamily="49" charset="0"/>
              </a:rPr>
              <a:t>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Age</a:t>
            </a:r>
            <a:r>
              <a:rPr lang="en-GB" sz="1600" dirty="0">
                <a:solidFill>
                  <a:srgbClr val="0000C0"/>
                </a:solidFill>
                <a:latin typeface="Lucida Console" panose="020B0609040504020204" pitchFamily="49" charset="0"/>
              </a:rPr>
              <a:t> </a:t>
            </a:r>
            <a:r>
              <a:rPr lang="en-GB" sz="1600" dirty="0">
                <a:solidFill>
                  <a:schemeClr val="tx1"/>
                </a:solidFill>
                <a:latin typeface="Lucida Console" panose="020B0609040504020204" pitchFamily="49" charset="0"/>
              </a:rPr>
              <a:t>= 25</a:t>
            </a:r>
            <a:r>
              <a:rPr lang="en-GB" sz="1600" dirty="0">
                <a:solidFill>
                  <a:srgbClr val="000000"/>
                </a:solidFill>
                <a:latin typeface="Lucida Console" panose="020B0609040504020204" pitchFamily="49" charset="0"/>
              </a:rPr>
              <a:t>;</a:t>
            </a:r>
            <a:r>
              <a:rPr lang="en-GB" sz="1600" dirty="0">
                <a:solidFill>
                  <a:srgbClr val="6A3E3E"/>
                </a:solidFill>
                <a:latin typeface="Lucida Console" panose="020B0609040504020204" pitchFamily="49" charset="0"/>
              </a:rPr>
              <a:t> </a:t>
            </a: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a:t>
            </a:r>
          </a:p>
          <a:p>
            <a:endParaRPr lang="en-GB" sz="1600" b="1" dirty="0">
              <a:solidFill>
                <a:schemeClr val="accent1">
                  <a:lumMod val="75000"/>
                  <a:lumOff val="25000"/>
                </a:schemeClr>
              </a:solidFill>
              <a:latin typeface="Lucida Console" panose="020B0609040504020204" pitchFamily="49" charset="0"/>
              <a:sym typeface="Wingdings" panose="05000000000000000000" pitchFamily="2" charset="2"/>
            </a:endParaRPr>
          </a:p>
          <a:p>
            <a:r>
              <a:rPr lang="en-GB" sz="1600" dirty="0">
                <a:solidFill>
                  <a:srgbClr val="6A3E3E"/>
                </a:solidFill>
                <a:latin typeface="Lucida Console" panose="020B0609040504020204" pitchFamily="49" charset="0"/>
              </a:rPr>
              <a:t>   int </a:t>
            </a:r>
            <a:r>
              <a:rPr lang="en-GB" sz="1600" dirty="0">
                <a:solidFill>
                  <a:schemeClr val="tx1"/>
                </a:solidFill>
                <a:latin typeface="Lucida Console" panose="020B0609040504020204" pitchFamily="49" charset="0"/>
              </a:rPr>
              <a:t>age</a:t>
            </a:r>
            <a:r>
              <a:rPr lang="en-GB" sz="1600" dirty="0">
                <a:solidFill>
                  <a:srgbClr val="6A3E3E"/>
                </a:solidFill>
                <a:latin typeface="Lucida Console" panose="020B0609040504020204" pitchFamily="49" charset="0"/>
              </a:rPr>
              <a:t> = </a:t>
            </a:r>
            <a:r>
              <a:rPr lang="en-GB" sz="1600" dirty="0" err="1">
                <a:solidFill>
                  <a:srgbClr val="6A3E3E"/>
                </a:solidFill>
                <a:latin typeface="Lucida Console" panose="020B0609040504020204" pitchFamily="49" charset="0"/>
              </a:rPr>
              <a:t>stu</a:t>
            </a:r>
            <a:r>
              <a:rPr lang="en-GB" sz="1600" dirty="0" err="1">
                <a:solidFill>
                  <a:srgbClr val="000000"/>
                </a:solidFill>
                <a:latin typeface="Lucida Console" panose="020B0609040504020204" pitchFamily="49" charset="0"/>
              </a:rPr>
              <a:t>.</a:t>
            </a:r>
            <a:r>
              <a:rPr lang="en-GB" sz="1600" dirty="0" err="1">
                <a:solidFill>
                  <a:srgbClr val="0000C0"/>
                </a:solidFill>
                <a:latin typeface="Lucida Console" panose="020B0609040504020204" pitchFamily="49" charset="0"/>
              </a:rPr>
              <a:t>Age</a:t>
            </a:r>
            <a:r>
              <a:rPr lang="en-GB" sz="1600" dirty="0">
                <a:solidFill>
                  <a:srgbClr val="000000"/>
                </a:solidFill>
                <a:latin typeface="Lucida Console" panose="020B0609040504020204" pitchFamily="49" charset="0"/>
              </a:rPr>
              <a:t>; </a:t>
            </a: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a:t>
            </a:r>
            <a:endParaRPr lang="en-GB" sz="1600" dirty="0">
              <a:solidFill>
                <a:srgbClr val="6A3E3E"/>
              </a:solidFill>
              <a:latin typeface="Lucida Console" panose="020B0609040504020204" pitchFamily="49" charset="0"/>
            </a:endParaRPr>
          </a:p>
          <a:p>
            <a:r>
              <a:rPr lang="en-GB" sz="1600" dirty="0">
                <a:solidFill>
                  <a:srgbClr val="000000"/>
                </a:solidFill>
                <a:latin typeface="Lucida Console" panose="020B0609040504020204" pitchFamily="49" charset="0"/>
              </a:rPr>
              <a:t>}</a:t>
            </a:r>
          </a:p>
        </p:txBody>
      </p:sp>
      <p:sp>
        <p:nvSpPr>
          <p:cNvPr id="2" name="Rectangle 1"/>
          <p:cNvSpPr/>
          <p:nvPr/>
        </p:nvSpPr>
        <p:spPr>
          <a:xfrm>
            <a:off x="565228" y="1643616"/>
            <a:ext cx="5646118" cy="329320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7F0055"/>
                </a:solidFill>
                <a:latin typeface="Lucida Console" panose="020B0609040504020204" pitchFamily="49" charset="0"/>
              </a:rPr>
              <a:t>public</a:t>
            </a:r>
            <a:r>
              <a:rPr lang="en-GB" sz="1600" dirty="0">
                <a:solidFill>
                  <a:srgbClr val="000000"/>
                </a:solidFill>
                <a:latin typeface="Lucida Console" panose="020B0609040504020204" pitchFamily="49" charset="0"/>
              </a:rPr>
              <a:t> </a:t>
            </a:r>
            <a:r>
              <a:rPr lang="en-GB" sz="1600" dirty="0">
                <a:solidFill>
                  <a:srgbClr val="7F0055"/>
                </a:solidFill>
                <a:latin typeface="Lucida Console" panose="020B0609040504020204" pitchFamily="49" charset="0"/>
              </a:rPr>
              <a:t>class</a:t>
            </a:r>
            <a:r>
              <a:rPr lang="en-GB" sz="1600" dirty="0">
                <a:solidFill>
                  <a:srgbClr val="000000"/>
                </a:solidFill>
                <a:latin typeface="Lucida Console" panose="020B0609040504020204" pitchFamily="49" charset="0"/>
              </a:rPr>
              <a:t> Student {</a:t>
            </a:r>
          </a:p>
          <a:p>
            <a:endParaRPr lang="en-GB" sz="1600" dirty="0">
              <a:solidFill>
                <a:srgbClr val="000000"/>
              </a:solidFill>
              <a:latin typeface="Lucida Console" panose="020B0609040504020204" pitchFamily="49" charset="0"/>
            </a:endParaRPr>
          </a:p>
          <a:p>
            <a:r>
              <a:rPr lang="en-GB" sz="1600" dirty="0">
                <a:solidFill>
                  <a:srgbClr val="000000"/>
                </a:solidFill>
                <a:latin typeface="Lucida Console" panose="020B06090405040202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Age { </a:t>
            </a:r>
            <a:r>
              <a:rPr lang="en-GB" sz="1600" dirty="0">
                <a:solidFill>
                  <a:srgbClr val="0000FF"/>
                </a:solidFill>
                <a:latin typeface="Cascadia Mono" panose="020B0609020000020004" pitchFamily="49" charset="0"/>
              </a:rPr>
              <a:t>get</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set</a:t>
            </a:r>
            <a:r>
              <a:rPr lang="en-GB" sz="1600" dirty="0">
                <a:solidFill>
                  <a:srgbClr val="000000"/>
                </a:solidFill>
                <a:latin typeface="Cascadia Mono" panose="020B0609020000020004" pitchFamily="49" charset="0"/>
              </a:rPr>
              <a:t>; }</a:t>
            </a:r>
          </a:p>
          <a:p>
            <a:endParaRPr lang="en-GB" sz="1600" dirty="0">
              <a:solidFill>
                <a:srgbClr val="000000"/>
              </a:solidFill>
              <a:latin typeface="Cascadia Mono" panose="020B0609020000020004" pitchFamily="49" charset="0"/>
            </a:endParaRPr>
          </a:p>
          <a:p>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Name { </a:t>
            </a:r>
            <a:r>
              <a:rPr lang="en-GB" sz="1600" dirty="0">
                <a:solidFill>
                  <a:srgbClr val="0000FF"/>
                </a:solidFill>
                <a:latin typeface="Cascadia Mono" panose="020B0609020000020004" pitchFamily="49" charset="0"/>
              </a:rPr>
              <a:t>get</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private</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set</a:t>
            </a:r>
            <a:r>
              <a:rPr lang="en-GB" sz="1600" dirty="0">
                <a:solidFill>
                  <a:srgbClr val="000000"/>
                </a:solidFill>
                <a:latin typeface="Cascadia Mono" panose="020B0609020000020004" pitchFamily="49" charset="0"/>
              </a:rPr>
              <a:t>; }</a:t>
            </a:r>
          </a:p>
          <a:p>
            <a:endParaRPr lang="en-GB" sz="1600" dirty="0">
              <a:solidFill>
                <a:srgbClr val="000000"/>
              </a:solidFill>
              <a:latin typeface="Cascadia Mono" panose="020B0609020000020004" pitchFamily="49" charset="0"/>
            </a:endParaRPr>
          </a:p>
          <a:p>
            <a:endParaRPr lang="en-GB" sz="1600" dirty="0">
              <a:solidFill>
                <a:srgbClr val="000000"/>
              </a:solidFill>
              <a:latin typeface="Cascadia Mono" panose="020B0609020000020004" pitchFamily="49" charset="0"/>
            </a:endParaRPr>
          </a:p>
          <a:p>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void </a:t>
            </a:r>
            <a:r>
              <a:rPr lang="en-GB" sz="1600" dirty="0">
                <a:solidFill>
                  <a:schemeClr val="tx1"/>
                </a:solidFill>
                <a:latin typeface="Cascadia Mono" panose="020B0609020000020004" pitchFamily="49" charset="0"/>
              </a:rPr>
              <a:t>Register() {</a:t>
            </a:r>
          </a:p>
          <a:p>
            <a:br>
              <a:rPr lang="en-GB" sz="1600" dirty="0">
                <a:solidFill>
                  <a:schemeClr val="tx1"/>
                </a:solidFill>
                <a:latin typeface="Cascadia Mono" panose="020B0609020000020004" pitchFamily="49" charset="0"/>
              </a:rPr>
            </a:br>
            <a:r>
              <a:rPr lang="en-GB" sz="1600" dirty="0">
                <a:solidFill>
                  <a:schemeClr val="tx1"/>
                </a:solidFill>
                <a:latin typeface="Cascadia Mono" panose="020B0609020000020004" pitchFamily="49" charset="0"/>
              </a:rPr>
              <a:t>	Name = "Bob"; </a:t>
            </a:r>
            <a:r>
              <a:rPr lang="en-GB" sz="1600" b="1" dirty="0">
                <a:solidFill>
                  <a:schemeClr val="accent1">
                    <a:lumMod val="75000"/>
                    <a:lumOff val="25000"/>
                  </a:schemeClr>
                </a:solidFill>
                <a:latin typeface="Lucida Console" panose="020B0609040504020204" pitchFamily="49" charset="0"/>
                <a:sym typeface="Wingdings" panose="05000000000000000000" pitchFamily="2" charset="2"/>
              </a:rPr>
              <a:t></a:t>
            </a:r>
            <a:endParaRPr lang="en-GB" sz="1600" dirty="0">
              <a:solidFill>
                <a:schemeClr val="tx1"/>
              </a:solidFill>
              <a:latin typeface="Cascadia Mono" panose="020B0609020000020004" pitchFamily="49" charset="0"/>
            </a:endParaRPr>
          </a:p>
          <a:p>
            <a:endParaRPr lang="en-GB" sz="1600" dirty="0">
              <a:solidFill>
                <a:schemeClr val="tx1"/>
              </a:solidFill>
              <a:latin typeface="Cascadia Mono" panose="020B0609020000020004" pitchFamily="49" charset="0"/>
            </a:endParaRPr>
          </a:p>
          <a:p>
            <a:r>
              <a:rPr lang="en-GB" sz="1600" dirty="0">
                <a:solidFill>
                  <a:schemeClr val="tx1"/>
                </a:solidFill>
                <a:latin typeface="Cascadia Mono" panose="020B0609020000020004" pitchFamily="49" charset="0"/>
              </a:rPr>
              <a:t>   }</a:t>
            </a:r>
          </a:p>
          <a:p>
            <a:r>
              <a:rPr lang="en-GB" sz="1600" dirty="0">
                <a:solidFill>
                  <a:srgbClr val="000000"/>
                </a:solidFill>
                <a:latin typeface="Lucida Console" panose="020B0609040504020204" pitchFamily="49" charset="0"/>
              </a:rPr>
              <a:t>}</a:t>
            </a:r>
          </a:p>
        </p:txBody>
      </p:sp>
      <p:sp>
        <p:nvSpPr>
          <p:cNvPr id="5" name="Rectangle: Rounded Corners 4">
            <a:extLst>
              <a:ext uri="{FF2B5EF4-FFF2-40B4-BE49-F238E27FC236}">
                <a16:creationId xmlns:a16="http://schemas.microsoft.com/office/drawing/2014/main" id="{88F58A2B-E48A-CC43-ABA4-CD10E8F78074}"/>
              </a:ext>
            </a:extLst>
          </p:cNvPr>
          <p:cNvSpPr/>
          <p:nvPr/>
        </p:nvSpPr>
        <p:spPr>
          <a:xfrm>
            <a:off x="1574800" y="5557398"/>
            <a:ext cx="8412480" cy="792480"/>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b="1" dirty="0"/>
              <a:t>Parts of .NET libraries do not consider state unless exposed using getters and setters</a:t>
            </a:r>
          </a:p>
        </p:txBody>
      </p:sp>
      <p:sp>
        <p:nvSpPr>
          <p:cNvPr id="11" name="Rectangle 10">
            <a:extLst>
              <a:ext uri="{FF2B5EF4-FFF2-40B4-BE49-F238E27FC236}">
                <a16:creationId xmlns:a16="http://schemas.microsoft.com/office/drawing/2014/main" id="{3C92B2D6-4941-8F57-6E0E-C1B595175467}"/>
              </a:ext>
            </a:extLst>
          </p:cNvPr>
          <p:cNvSpPr/>
          <p:nvPr/>
        </p:nvSpPr>
        <p:spPr>
          <a:xfrm>
            <a:off x="4062134" y="2651760"/>
            <a:ext cx="1515706" cy="284480"/>
          </a:xfrm>
          <a:prstGeom prst="rect">
            <a:avLst/>
          </a:prstGeom>
          <a:noFill/>
          <a:ln w="19050">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3984471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dirty="0"/>
              <a:t>Object Construction</a:t>
            </a:r>
          </a:p>
        </p:txBody>
      </p:sp>
      <p:sp>
        <p:nvSpPr>
          <p:cNvPr id="15363" name="Rectangle 3"/>
          <p:cNvSpPr>
            <a:spLocks noGrp="1" noChangeArrowheads="1"/>
          </p:cNvSpPr>
          <p:nvPr>
            <p:ph type="body" idx="1"/>
          </p:nvPr>
        </p:nvSpPr>
        <p:spPr/>
        <p:txBody>
          <a:bodyPr/>
          <a:lstStyle/>
          <a:p>
            <a:pPr marL="342900" indent="-342900">
              <a:buFont typeface="Arial" panose="020B0604020202020204" pitchFamily="34" charset="0"/>
              <a:buChar char="•"/>
            </a:pPr>
            <a:r>
              <a:rPr lang="en-GB" b="1" dirty="0"/>
              <a:t>Let's consider two classes and the two instances created</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832516" name="Rectangle 4"/>
          <p:cNvSpPr>
            <a:spLocks noChangeArrowheads="1"/>
          </p:cNvSpPr>
          <p:nvPr/>
        </p:nvSpPr>
        <p:spPr bwMode="auto">
          <a:xfrm>
            <a:off x="1795984" y="2129288"/>
            <a:ext cx="3454627" cy="107465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a:t>
            </a:r>
            <a:r>
              <a:rPr lang="en-GB" sz="1600" dirty="0">
                <a:solidFill>
                  <a:srgbClr val="FA3200"/>
                </a:solidFill>
                <a:latin typeface="Lucida Console" pitchFamily="49" charset="0"/>
              </a:rPr>
              <a:t>Car</a:t>
            </a:r>
            <a:r>
              <a:rPr lang="en-GB" sz="1600"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C8"/>
                </a:solidFill>
                <a:latin typeface="Lucida Console" pitchFamily="49" charset="0"/>
              </a:rPr>
              <a:t> speed;</a:t>
            </a:r>
            <a:br>
              <a:rPr lang="en-GB" sz="1600" dirty="0">
                <a:solidFill>
                  <a:srgbClr val="0000C8"/>
                </a:solidFill>
                <a:latin typeface="Lucida Console" pitchFamily="49" charset="0"/>
              </a:rPr>
            </a:br>
            <a:r>
              <a:rPr lang="en-GB" sz="1600" dirty="0">
                <a:solidFill>
                  <a:srgbClr val="0000C8"/>
                </a:solidFill>
                <a:latin typeface="Lucida Console" pitchFamily="49" charset="0"/>
              </a:rPr>
              <a:t>  private </a:t>
            </a:r>
            <a:r>
              <a:rPr lang="en-GB" sz="1600" dirty="0">
                <a:latin typeface="Lucida Console" pitchFamily="49" charset="0"/>
              </a:rPr>
              <a:t>String</a:t>
            </a:r>
            <a:r>
              <a:rPr lang="en-GB" sz="1600" dirty="0">
                <a:solidFill>
                  <a:srgbClr val="000000"/>
                </a:solidFill>
                <a:latin typeface="Lucida Console" pitchFamily="49" charset="0"/>
              </a:rPr>
              <a:t> make;</a:t>
            </a:r>
            <a:br>
              <a:rPr lang="en-GB" sz="1600" dirty="0">
                <a:solidFill>
                  <a:srgbClr val="000000"/>
                </a:solidFill>
                <a:latin typeface="Lucida Console" pitchFamily="49" charset="0"/>
              </a:rPr>
            </a:br>
            <a:r>
              <a:rPr lang="en-GB" sz="1600" dirty="0">
                <a:solidFill>
                  <a:srgbClr val="000000"/>
                </a:solidFill>
                <a:latin typeface="Lucida Console" pitchFamily="49" charset="0"/>
              </a:rPr>
              <a:t>}</a:t>
            </a:r>
          </a:p>
        </p:txBody>
      </p:sp>
      <p:sp>
        <p:nvSpPr>
          <p:cNvPr id="832517" name="Rectangle 5"/>
          <p:cNvSpPr>
            <a:spLocks noChangeArrowheads="1"/>
          </p:cNvSpPr>
          <p:nvPr/>
        </p:nvSpPr>
        <p:spPr bwMode="auto">
          <a:xfrm>
            <a:off x="1795984" y="3572737"/>
            <a:ext cx="3454628" cy="335989"/>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Car </a:t>
            </a:r>
            <a:r>
              <a:rPr lang="en-GB" sz="1600" dirty="0" err="1">
                <a:solidFill>
                  <a:srgbClr val="000000"/>
                </a:solidFill>
                <a:latin typeface="Lucida Console" pitchFamily="49" charset="0"/>
              </a:rPr>
              <a:t>myCar</a:t>
            </a:r>
            <a:r>
              <a:rPr lang="en-GB" sz="1600" dirty="0">
                <a:solidFill>
                  <a:srgbClr val="000000"/>
                </a:solidFill>
                <a:latin typeface="Lucida Console" pitchFamily="49" charset="0"/>
              </a:rPr>
              <a:t> = </a:t>
            </a:r>
            <a:r>
              <a:rPr lang="en-GB" sz="1600" dirty="0">
                <a:solidFill>
                  <a:srgbClr val="FA3200"/>
                </a:solidFill>
                <a:latin typeface="Lucida Console" pitchFamily="49" charset="0"/>
              </a:rPr>
              <a:t>new </a:t>
            </a:r>
            <a:r>
              <a:rPr lang="en-GB" sz="1600" dirty="0">
                <a:solidFill>
                  <a:srgbClr val="000000"/>
                </a:solidFill>
                <a:latin typeface="Lucida Console" pitchFamily="49" charset="0"/>
              </a:rPr>
              <a:t>Car();</a:t>
            </a:r>
            <a:endParaRPr lang="en-GB" sz="1600" dirty="0">
              <a:solidFill>
                <a:srgbClr val="008000"/>
              </a:solidFill>
              <a:latin typeface="Lucida Console" pitchFamily="49" charset="0"/>
            </a:endParaRPr>
          </a:p>
        </p:txBody>
      </p:sp>
      <p:sp>
        <p:nvSpPr>
          <p:cNvPr id="9" name="Rectangle 4"/>
          <p:cNvSpPr>
            <a:spLocks noChangeArrowheads="1"/>
          </p:cNvSpPr>
          <p:nvPr/>
        </p:nvSpPr>
        <p:spPr bwMode="auto">
          <a:xfrm>
            <a:off x="7186181" y="1937555"/>
            <a:ext cx="3597470" cy="107465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a:t>
            </a:r>
            <a:r>
              <a:rPr lang="en-GB" sz="1600" dirty="0">
                <a:solidFill>
                  <a:srgbClr val="FA3200"/>
                </a:solidFill>
                <a:latin typeface="Lucida Console" pitchFamily="49" charset="0"/>
              </a:rPr>
              <a:t>Account</a:t>
            </a:r>
            <a:r>
              <a:rPr lang="en-GB" sz="1600"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C8"/>
                </a:solidFill>
                <a:latin typeface="Lucida Console" pitchFamily="49" charset="0"/>
              </a:rPr>
              <a:t> id;</a:t>
            </a:r>
            <a:br>
              <a:rPr lang="en-GB" sz="1600" dirty="0">
                <a:solidFill>
                  <a:srgbClr val="0000C8"/>
                </a:solidFill>
                <a:latin typeface="Lucida Console" pitchFamily="49" charset="0"/>
              </a:rPr>
            </a:br>
            <a:r>
              <a:rPr lang="en-GB" sz="1600" dirty="0">
                <a:solidFill>
                  <a:srgbClr val="0000C8"/>
                </a:solidFill>
                <a:latin typeface="Lucida Console" pitchFamily="49" charset="0"/>
              </a:rPr>
              <a:t>  private </a:t>
            </a:r>
            <a:r>
              <a:rPr lang="en-GB" sz="1600" dirty="0">
                <a:latin typeface="Lucida Console" pitchFamily="49" charset="0"/>
              </a:rPr>
              <a:t>String</a:t>
            </a:r>
            <a:r>
              <a:rPr lang="en-GB" sz="1600" dirty="0">
                <a:solidFill>
                  <a:srgbClr val="000000"/>
                </a:solidFill>
                <a:latin typeface="Lucida Console" pitchFamily="49" charset="0"/>
              </a:rPr>
              <a:t> owner;</a:t>
            </a:r>
            <a:br>
              <a:rPr lang="en-GB" sz="1600" dirty="0">
                <a:solidFill>
                  <a:srgbClr val="000000"/>
                </a:solidFill>
                <a:latin typeface="Lucida Console" pitchFamily="49" charset="0"/>
              </a:rPr>
            </a:br>
            <a:r>
              <a:rPr lang="en-GB" sz="1600" dirty="0">
                <a:solidFill>
                  <a:srgbClr val="000000"/>
                </a:solidFill>
                <a:latin typeface="Lucida Console" pitchFamily="49" charset="0"/>
              </a:rPr>
              <a:t>}</a:t>
            </a:r>
          </a:p>
        </p:txBody>
      </p:sp>
      <p:sp>
        <p:nvSpPr>
          <p:cNvPr id="10" name="Rectangle 5"/>
          <p:cNvSpPr>
            <a:spLocks noChangeArrowheads="1"/>
          </p:cNvSpPr>
          <p:nvPr/>
        </p:nvSpPr>
        <p:spPr bwMode="auto">
          <a:xfrm>
            <a:off x="6172028" y="3581506"/>
            <a:ext cx="4345107" cy="335989"/>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Account </a:t>
            </a:r>
            <a:r>
              <a:rPr lang="en-GB" sz="1600" dirty="0" err="1">
                <a:solidFill>
                  <a:srgbClr val="000000"/>
                </a:solidFill>
                <a:latin typeface="Lucida Console" pitchFamily="49" charset="0"/>
              </a:rPr>
              <a:t>myAccount</a:t>
            </a:r>
            <a:r>
              <a:rPr lang="en-GB" sz="1600" dirty="0">
                <a:solidFill>
                  <a:srgbClr val="000000"/>
                </a:solidFill>
                <a:latin typeface="Lucida Console" pitchFamily="49" charset="0"/>
              </a:rPr>
              <a:t> = </a:t>
            </a:r>
            <a:r>
              <a:rPr lang="en-GB" sz="1600" dirty="0">
                <a:solidFill>
                  <a:srgbClr val="FA3200"/>
                </a:solidFill>
                <a:latin typeface="Lucida Console" pitchFamily="49" charset="0"/>
              </a:rPr>
              <a:t>new </a:t>
            </a:r>
            <a:r>
              <a:rPr lang="en-GB" sz="1600" dirty="0">
                <a:solidFill>
                  <a:srgbClr val="000000"/>
                </a:solidFill>
                <a:latin typeface="Lucida Console" pitchFamily="49" charset="0"/>
              </a:rPr>
              <a:t>Account();</a:t>
            </a:r>
            <a:endParaRPr lang="en-GB" sz="1600" dirty="0">
              <a:solidFill>
                <a:srgbClr val="008000"/>
              </a:solidFill>
              <a:latin typeface="Lucida Console" pitchFamily="49" charset="0"/>
            </a:endParaRPr>
          </a:p>
        </p:txBody>
      </p:sp>
      <p:sp>
        <p:nvSpPr>
          <p:cNvPr id="2" name="Rounded Rectangular Callout 1"/>
          <p:cNvSpPr/>
          <p:nvPr/>
        </p:nvSpPr>
        <p:spPr>
          <a:xfrm>
            <a:off x="1795984" y="4213776"/>
            <a:ext cx="3512641" cy="621102"/>
          </a:xfrm>
          <a:prstGeom prst="wedgeRoundRectCallout">
            <a:avLst>
              <a:gd name="adj1" fmla="val -26373"/>
              <a:gd name="adj2" fmla="val -76535"/>
              <a:gd name="adj3" fmla="val 16667"/>
            </a:avLst>
          </a:prstGeom>
          <a:solidFill>
            <a:schemeClr val="tx1">
              <a:lumMod val="10000"/>
              <a:lumOff val="9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cs typeface="Arial" pitchFamily="34" charset="0"/>
              </a:rPr>
              <a:t>What make is this?</a:t>
            </a:r>
          </a:p>
          <a:p>
            <a:pPr algn="ctr"/>
            <a:r>
              <a:rPr lang="en-GB" sz="1400" dirty="0">
                <a:solidFill>
                  <a:schemeClr val="tx1"/>
                </a:solidFill>
                <a:cs typeface="Arial" pitchFamily="34" charset="0"/>
              </a:rPr>
              <a:t>What is its speed?</a:t>
            </a:r>
          </a:p>
        </p:txBody>
      </p:sp>
      <p:sp>
        <p:nvSpPr>
          <p:cNvPr id="11" name="Rounded Rectangular Callout 10"/>
          <p:cNvSpPr/>
          <p:nvPr/>
        </p:nvSpPr>
        <p:spPr>
          <a:xfrm>
            <a:off x="6172028" y="4215072"/>
            <a:ext cx="3512641" cy="623979"/>
          </a:xfrm>
          <a:prstGeom prst="wedgeRoundRectCallout">
            <a:avLst>
              <a:gd name="adj1" fmla="val -24214"/>
              <a:gd name="adj2" fmla="val -72294"/>
              <a:gd name="adj3" fmla="val 16667"/>
            </a:avLst>
          </a:prstGeom>
          <a:solidFill>
            <a:schemeClr val="tx1">
              <a:lumMod val="10000"/>
              <a:lumOff val="9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cs typeface="Arial" pitchFamily="34" charset="0"/>
              </a:rPr>
              <a:t>What is the id of this account?</a:t>
            </a:r>
          </a:p>
          <a:p>
            <a:pPr algn="ctr"/>
            <a:r>
              <a:rPr lang="en-GB" sz="1400" dirty="0">
                <a:solidFill>
                  <a:schemeClr val="tx1"/>
                </a:solidFill>
                <a:cs typeface="Arial" pitchFamily="34" charset="0"/>
              </a:rPr>
              <a:t>Who owns it?</a:t>
            </a:r>
          </a:p>
        </p:txBody>
      </p:sp>
      <p:sp>
        <p:nvSpPr>
          <p:cNvPr id="3" name="TextBox 2"/>
          <p:cNvSpPr txBox="1"/>
          <p:nvPr/>
        </p:nvSpPr>
        <p:spPr>
          <a:xfrm>
            <a:off x="4704081" y="5481070"/>
            <a:ext cx="2700572" cy="338554"/>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GB" sz="1600" dirty="0">
                <a:cs typeface="Courier New" pitchFamily="49" charset="0"/>
              </a:rPr>
              <a:t>We need a constructor</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1570" y="5013542"/>
            <a:ext cx="1274144" cy="1665548"/>
          </a:xfrm>
          <a:prstGeom prst="rect">
            <a:avLst/>
          </a:prstGeom>
        </p:spPr>
      </p:pic>
    </p:spTree>
    <p:extLst>
      <p:ext uri="{BB962C8B-B14F-4D97-AF65-F5344CB8AC3E}">
        <p14:creationId xmlns:p14="http://schemas.microsoft.com/office/powerpoint/2010/main" val="326246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Constructor</a:t>
            </a:r>
          </a:p>
        </p:txBody>
      </p:sp>
      <p:sp>
        <p:nvSpPr>
          <p:cNvPr id="4" name="Rectangle 4"/>
          <p:cNvSpPr>
            <a:spLocks noChangeArrowheads="1"/>
          </p:cNvSpPr>
          <p:nvPr/>
        </p:nvSpPr>
        <p:spPr bwMode="auto">
          <a:xfrm>
            <a:off x="2227861" y="1377975"/>
            <a:ext cx="6563013" cy="2305759"/>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a:t>
            </a:r>
            <a:r>
              <a:rPr lang="en-GB" sz="1600" dirty="0">
                <a:solidFill>
                  <a:srgbClr val="FA3200"/>
                </a:solidFill>
                <a:latin typeface="Lucida Console" pitchFamily="49" charset="0"/>
              </a:rPr>
              <a:t>Account</a:t>
            </a:r>
            <a:r>
              <a:rPr lang="en-GB" sz="1600"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C8"/>
                </a:solidFill>
                <a:latin typeface="Lucida Console" pitchFamily="49" charset="0"/>
              </a:rPr>
              <a:t> id;</a:t>
            </a:r>
          </a:p>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  private </a:t>
            </a:r>
            <a:r>
              <a:rPr lang="en-GB" sz="1600" dirty="0">
                <a:latin typeface="Lucida Console" pitchFamily="49" charset="0"/>
              </a:rPr>
              <a:t>String</a:t>
            </a:r>
            <a:r>
              <a:rPr lang="en-GB" sz="1600" dirty="0">
                <a:solidFill>
                  <a:srgbClr val="000000"/>
                </a:solidFill>
                <a:latin typeface="Lucida Console" pitchFamily="49" charset="0"/>
              </a:rPr>
              <a:t> owner;</a:t>
            </a:r>
            <a:br>
              <a:rPr lang="en-GB" sz="1600" dirty="0">
                <a:solidFill>
                  <a:srgbClr val="000000"/>
                </a:solidFill>
                <a:latin typeface="Lucida Console" pitchFamily="49" charset="0"/>
              </a:rPr>
            </a:b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a:t>
            </a:r>
            <a:r>
              <a:rPr lang="en-GB" sz="1600" dirty="0">
                <a:solidFill>
                  <a:srgbClr val="FA3200"/>
                </a:solidFill>
                <a:latin typeface="Lucida Console" pitchFamily="49" charset="0"/>
              </a:rPr>
              <a:t>Account</a:t>
            </a:r>
            <a:r>
              <a:rPr lang="en-GB" sz="1600" dirty="0">
                <a:solidFill>
                  <a:srgbClr val="000000"/>
                </a:solidFill>
                <a:latin typeface="Lucida Console" pitchFamily="49" charset="0"/>
              </a:rPr>
              <a:t> (int id, string owner)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this.id = id;</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err="1">
                <a:solidFill>
                  <a:srgbClr val="000000"/>
                </a:solidFill>
                <a:latin typeface="Lucida Console" pitchFamily="49" charset="0"/>
              </a:rPr>
              <a:t>this.owner</a:t>
            </a:r>
            <a:r>
              <a:rPr lang="en-GB" sz="1600" dirty="0">
                <a:solidFill>
                  <a:srgbClr val="000000"/>
                </a:solidFill>
                <a:latin typeface="Lucida Console" pitchFamily="49" charset="0"/>
              </a:rPr>
              <a:t> = owner;</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br>
              <a:rPr lang="en-GB" sz="1600" dirty="0">
                <a:solidFill>
                  <a:srgbClr val="000000"/>
                </a:solidFill>
                <a:latin typeface="Lucida Console" pitchFamily="49" charset="0"/>
              </a:rPr>
            </a:br>
            <a:r>
              <a:rPr lang="en-GB" sz="1600" dirty="0">
                <a:solidFill>
                  <a:srgbClr val="000000"/>
                </a:solidFill>
                <a:latin typeface="Lucida Console" pitchFamily="49" charset="0"/>
              </a:rPr>
              <a:t>}</a:t>
            </a:r>
          </a:p>
        </p:txBody>
      </p:sp>
      <p:sp>
        <p:nvSpPr>
          <p:cNvPr id="5" name="Rectangle 5"/>
          <p:cNvSpPr>
            <a:spLocks noChangeArrowheads="1"/>
          </p:cNvSpPr>
          <p:nvPr/>
        </p:nvSpPr>
        <p:spPr bwMode="auto">
          <a:xfrm>
            <a:off x="2227862" y="4515895"/>
            <a:ext cx="6563011" cy="335989"/>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Account </a:t>
            </a:r>
            <a:r>
              <a:rPr lang="en-GB" sz="1600" dirty="0" err="1">
                <a:solidFill>
                  <a:srgbClr val="000000"/>
                </a:solidFill>
                <a:latin typeface="Lucida Console" pitchFamily="49" charset="0"/>
              </a:rPr>
              <a:t>myAccount</a:t>
            </a:r>
            <a:r>
              <a:rPr lang="en-GB" sz="1600" dirty="0">
                <a:solidFill>
                  <a:srgbClr val="000000"/>
                </a:solidFill>
                <a:latin typeface="Lucida Console" pitchFamily="49" charset="0"/>
              </a:rPr>
              <a:t> = </a:t>
            </a:r>
            <a:r>
              <a:rPr lang="en-GB" sz="1600" dirty="0">
                <a:solidFill>
                  <a:srgbClr val="FA3200"/>
                </a:solidFill>
                <a:latin typeface="Lucida Console" pitchFamily="49" charset="0"/>
              </a:rPr>
              <a:t>new </a:t>
            </a:r>
            <a:r>
              <a:rPr lang="en-GB" sz="1600" dirty="0">
                <a:solidFill>
                  <a:srgbClr val="000000"/>
                </a:solidFill>
                <a:latin typeface="Lucida Console" pitchFamily="49" charset="0"/>
              </a:rPr>
              <a:t>Account();              ❌</a:t>
            </a:r>
            <a:endParaRPr lang="en-GB" sz="1600" dirty="0">
              <a:solidFill>
                <a:srgbClr val="008000"/>
              </a:solidFill>
              <a:latin typeface="Lucida Console" pitchFamily="49" charset="0"/>
            </a:endParaRPr>
          </a:p>
        </p:txBody>
      </p:sp>
      <p:sp>
        <p:nvSpPr>
          <p:cNvPr id="6" name="Rectangle 5"/>
          <p:cNvSpPr>
            <a:spLocks noChangeArrowheads="1"/>
          </p:cNvSpPr>
          <p:nvPr/>
        </p:nvSpPr>
        <p:spPr bwMode="auto">
          <a:xfrm>
            <a:off x="2227862" y="3936865"/>
            <a:ext cx="6573329" cy="335989"/>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Account </a:t>
            </a:r>
            <a:r>
              <a:rPr lang="en-GB" sz="1600" dirty="0" err="1">
                <a:solidFill>
                  <a:srgbClr val="000000"/>
                </a:solidFill>
                <a:latin typeface="Lucida Console" pitchFamily="49" charset="0"/>
              </a:rPr>
              <a:t>myAccount</a:t>
            </a:r>
            <a:r>
              <a:rPr lang="en-GB" sz="1600" dirty="0">
                <a:solidFill>
                  <a:srgbClr val="000000"/>
                </a:solidFill>
                <a:latin typeface="Lucida Console" pitchFamily="49" charset="0"/>
              </a:rPr>
              <a:t> = </a:t>
            </a:r>
            <a:r>
              <a:rPr lang="en-GB" sz="1600" dirty="0">
                <a:solidFill>
                  <a:srgbClr val="FA3200"/>
                </a:solidFill>
                <a:latin typeface="Lucida Console" pitchFamily="49" charset="0"/>
              </a:rPr>
              <a:t>new </a:t>
            </a:r>
            <a:r>
              <a:rPr lang="en-GB" sz="1600" dirty="0">
                <a:solidFill>
                  <a:srgbClr val="000000"/>
                </a:solidFill>
                <a:latin typeface="Lucida Console" pitchFamily="49" charset="0"/>
              </a:rPr>
              <a:t>Account(123, "Bob");    ✔️</a:t>
            </a:r>
            <a:endParaRPr lang="en-GB" sz="1600" dirty="0">
              <a:solidFill>
                <a:srgbClr val="008000"/>
              </a:solidFill>
              <a:latin typeface="Lucida Console" pitchFamily="49" charset="0"/>
            </a:endParaRPr>
          </a:p>
        </p:txBody>
      </p:sp>
      <p:sp>
        <p:nvSpPr>
          <p:cNvPr id="10" name="Rounded Rectangular Callout 9"/>
          <p:cNvSpPr/>
          <p:nvPr/>
        </p:nvSpPr>
        <p:spPr>
          <a:xfrm>
            <a:off x="2991966" y="5182465"/>
            <a:ext cx="4405427" cy="763631"/>
          </a:xfrm>
          <a:prstGeom prst="wedgeRoundRectCallout">
            <a:avLst>
              <a:gd name="adj1" fmla="val 7871"/>
              <a:gd name="adj2" fmla="val -72881"/>
              <a:gd name="adj3" fmla="val 16667"/>
            </a:avLst>
          </a:prstGeom>
          <a:solidFill>
            <a:schemeClr val="accent6">
              <a:lumMod val="20000"/>
              <a:lumOff val="80000"/>
            </a:schemeClr>
          </a:solidFill>
          <a:ln w="28575">
            <a:noFill/>
          </a:ln>
          <a:effectLst>
            <a:outerShdw blurRad="50800" dist="38100" algn="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p>
            <a:pPr algn="ctr"/>
            <a:r>
              <a:rPr lang="en-GB" sz="1400" b="1" dirty="0">
                <a:solidFill>
                  <a:srgbClr val="004050"/>
                </a:solidFill>
                <a:cs typeface="Arial" pitchFamily="34" charset="0"/>
              </a:rPr>
              <a:t>No default constructor. </a:t>
            </a:r>
            <a:br>
              <a:rPr lang="en-GB" sz="1400" b="1" dirty="0">
                <a:solidFill>
                  <a:srgbClr val="004050"/>
                </a:solidFill>
                <a:cs typeface="Arial" pitchFamily="34" charset="0"/>
              </a:rPr>
            </a:br>
            <a:r>
              <a:rPr lang="en-GB" sz="1400" b="1" dirty="0">
                <a:solidFill>
                  <a:srgbClr val="004050"/>
                </a:solidFill>
                <a:cs typeface="Arial" pitchFamily="34" charset="0"/>
              </a:rPr>
              <a:t>must provide the owner's ID and the name</a:t>
            </a:r>
          </a:p>
        </p:txBody>
      </p:sp>
      <p:sp>
        <p:nvSpPr>
          <p:cNvPr id="11" name="Rounded Rectangular Callout 10"/>
          <p:cNvSpPr/>
          <p:nvPr/>
        </p:nvSpPr>
        <p:spPr>
          <a:xfrm>
            <a:off x="7852630" y="2280805"/>
            <a:ext cx="3120169" cy="472669"/>
          </a:xfrm>
          <a:prstGeom prst="wedgeRoundRectCallout">
            <a:avLst>
              <a:gd name="adj1" fmla="val -63371"/>
              <a:gd name="adj2" fmla="val -16095"/>
              <a:gd name="adj3" fmla="val 16667"/>
            </a:avLst>
          </a:prstGeom>
          <a:solidFill>
            <a:schemeClr val="bg1">
              <a:lumMod val="95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004050"/>
                </a:solidFill>
                <a:cs typeface="Arial" pitchFamily="34" charset="0"/>
              </a:rPr>
              <a:t>The same name as the class.</a:t>
            </a:r>
            <a:br>
              <a:rPr lang="en-GB" sz="1400" b="1" dirty="0">
                <a:solidFill>
                  <a:srgbClr val="004050"/>
                </a:solidFill>
                <a:cs typeface="Arial" pitchFamily="34" charset="0"/>
              </a:rPr>
            </a:br>
            <a:r>
              <a:rPr lang="en-GB" sz="1400" b="1" dirty="0">
                <a:solidFill>
                  <a:srgbClr val="004050"/>
                </a:solidFill>
                <a:cs typeface="Arial" pitchFamily="34" charset="0"/>
              </a:rPr>
              <a:t>No return value. Not even void</a:t>
            </a:r>
          </a:p>
        </p:txBody>
      </p:sp>
    </p:spTree>
    <p:extLst>
      <p:ext uri="{BB962C8B-B14F-4D97-AF65-F5344CB8AC3E}">
        <p14:creationId xmlns:p14="http://schemas.microsoft.com/office/powerpoint/2010/main" val="4169223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dirty="0"/>
              <a:t>Object Construction - Overloading</a:t>
            </a:r>
          </a:p>
        </p:txBody>
      </p:sp>
      <p:sp>
        <p:nvSpPr>
          <p:cNvPr id="15363" name="Rectangle 3"/>
          <p:cNvSpPr>
            <a:spLocks noGrp="1" noChangeArrowheads="1"/>
          </p:cNvSpPr>
          <p:nvPr>
            <p:ph idx="1"/>
          </p:nvPr>
        </p:nvSpPr>
        <p:spPr>
          <a:xfrm>
            <a:off x="341272" y="1368256"/>
            <a:ext cx="11516239" cy="321999"/>
          </a:xfrm>
        </p:spPr>
        <p:txBody>
          <a:bodyPr/>
          <a:lstStyle/>
          <a:p>
            <a:pPr marL="342900" indent="-342900">
              <a:buFont typeface="Arial" panose="020B0604020202020204" pitchFamily="34" charset="0"/>
              <a:buChar char="•"/>
            </a:pPr>
            <a:r>
              <a:rPr lang="en-GB" b="1" dirty="0"/>
              <a:t>Overloading provides alternative ways for creating an instance</a:t>
            </a:r>
          </a:p>
        </p:txBody>
      </p:sp>
      <p:sp>
        <p:nvSpPr>
          <p:cNvPr id="9" name="Rectangle 4"/>
          <p:cNvSpPr>
            <a:spLocks noChangeArrowheads="1"/>
          </p:cNvSpPr>
          <p:nvPr/>
        </p:nvSpPr>
        <p:spPr bwMode="auto">
          <a:xfrm>
            <a:off x="1807826" y="1849836"/>
            <a:ext cx="6563013" cy="3536866"/>
          </a:xfrm>
          <a:prstGeom prst="rect">
            <a:avLst/>
          </a:prstGeom>
          <a:solidFill>
            <a:schemeClr val="accent5">
              <a:lumMod val="20000"/>
              <a:lumOff val="80000"/>
            </a:schemeClr>
          </a:solidFill>
          <a:ln w="3175">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a:t>
            </a:r>
            <a:r>
              <a:rPr lang="en-GB" sz="1600" dirty="0">
                <a:solidFill>
                  <a:srgbClr val="FA3200"/>
                </a:solidFill>
                <a:latin typeface="Lucida Console" pitchFamily="49" charset="0"/>
              </a:rPr>
              <a:t>Account</a:t>
            </a:r>
            <a:r>
              <a:rPr lang="en-GB" sz="1600"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C8"/>
                </a:solidFill>
                <a:latin typeface="Lucida Console" pitchFamily="49" charset="0"/>
              </a:rPr>
              <a:t> id;</a:t>
            </a:r>
          </a:p>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  </a:t>
            </a:r>
            <a:r>
              <a:rPr lang="en-GB" sz="1600" dirty="0">
                <a:latin typeface="Lucida Console" pitchFamily="49" charset="0"/>
              </a:rPr>
              <a:t>String</a:t>
            </a:r>
            <a:r>
              <a:rPr lang="en-GB" sz="1600" dirty="0">
                <a:solidFill>
                  <a:srgbClr val="000000"/>
                </a:solidFill>
                <a:latin typeface="Lucida Console" pitchFamily="49" charset="0"/>
              </a:rPr>
              <a:t> owner;</a:t>
            </a:r>
            <a:br>
              <a:rPr lang="en-GB" sz="1600" dirty="0">
                <a:solidFill>
                  <a:srgbClr val="000000"/>
                </a:solidFill>
                <a:latin typeface="Lucida Console" pitchFamily="49" charset="0"/>
              </a:rPr>
            </a:b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a:t>
            </a:r>
            <a:r>
              <a:rPr lang="en-GB" sz="1600" dirty="0">
                <a:solidFill>
                  <a:srgbClr val="FA3200"/>
                </a:solidFill>
                <a:latin typeface="Lucida Console" pitchFamily="49" charset="0"/>
              </a:rPr>
              <a:t>Account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int</a:t>
            </a:r>
            <a:r>
              <a:rPr lang="en-GB" sz="1600" dirty="0">
                <a:solidFill>
                  <a:srgbClr val="000000"/>
                </a:solidFill>
                <a:latin typeface="Lucida Console" pitchFamily="49" charset="0"/>
              </a:rPr>
              <a:t> id, String owner)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this.id = id;</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err="1">
                <a:solidFill>
                  <a:srgbClr val="000000"/>
                </a:solidFill>
                <a:latin typeface="Lucida Console" pitchFamily="49" charset="0"/>
              </a:rPr>
              <a:t>this.owner</a:t>
            </a:r>
            <a:r>
              <a:rPr lang="en-GB" sz="1600" dirty="0">
                <a:solidFill>
                  <a:srgbClr val="000000"/>
                </a:solidFill>
                <a:latin typeface="Lucida Console" pitchFamily="49" charset="0"/>
              </a:rPr>
              <a:t> = owner;</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br>
              <a:rPr lang="en-GB" sz="1600" dirty="0">
                <a:solidFill>
                  <a:srgbClr val="000000"/>
                </a:solidFill>
                <a:latin typeface="Lucida Console" pitchFamily="49" charset="0"/>
              </a:rPr>
            </a:br>
            <a:endParaRPr lang="en-GB" sz="1600"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a:t>
            </a:r>
            <a:r>
              <a:rPr lang="en-GB" sz="1600" dirty="0">
                <a:solidFill>
                  <a:srgbClr val="FA3200"/>
                </a:solidFill>
                <a:latin typeface="Lucida Console" pitchFamily="49" charset="0"/>
              </a:rPr>
              <a:t>Account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int</a:t>
            </a:r>
            <a:r>
              <a:rPr lang="en-GB" sz="1600" dirty="0">
                <a:solidFill>
                  <a:srgbClr val="000000"/>
                </a:solidFill>
                <a:latin typeface="Lucida Console" pitchFamily="49" charset="0"/>
              </a:rPr>
              <a:t> id)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this.id = id;</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err="1">
                <a:solidFill>
                  <a:srgbClr val="000000"/>
                </a:solidFill>
                <a:latin typeface="Lucida Console" pitchFamily="49" charset="0"/>
              </a:rPr>
              <a:t>this.owner</a:t>
            </a:r>
            <a:r>
              <a:rPr lang="en-GB" sz="1600" dirty="0">
                <a:solidFill>
                  <a:srgbClr val="000000"/>
                </a:solidFill>
                <a:latin typeface="Lucida Console" pitchFamily="49" charset="0"/>
              </a:rPr>
              <a:t> = </a:t>
            </a:r>
            <a:r>
              <a:rPr lang="en-GB" sz="1600" dirty="0" err="1">
                <a:solidFill>
                  <a:srgbClr val="000000"/>
                </a:solidFill>
                <a:latin typeface="Lucida Console" pitchFamily="49" charset="0"/>
              </a:rPr>
              <a:t>getOwnerById</a:t>
            </a:r>
            <a:r>
              <a:rPr lang="en-GB" sz="1600" dirty="0">
                <a:solidFill>
                  <a:srgbClr val="000000"/>
                </a:solidFill>
                <a:latin typeface="Lucida Console" pitchFamily="49" charset="0"/>
              </a:rPr>
              <a:t>(id);</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br>
              <a:rPr lang="en-GB" sz="1600" dirty="0">
                <a:solidFill>
                  <a:srgbClr val="000000"/>
                </a:solidFill>
                <a:latin typeface="Lucida Console" pitchFamily="49" charset="0"/>
              </a:rPr>
            </a:br>
            <a:r>
              <a:rPr lang="en-GB" sz="1600" dirty="0">
                <a:solidFill>
                  <a:srgbClr val="000000"/>
                </a:solidFill>
                <a:latin typeface="Lucida Console" pitchFamily="49" charset="0"/>
              </a:rPr>
              <a:t>}</a:t>
            </a:r>
          </a:p>
        </p:txBody>
      </p:sp>
      <p:sp>
        <p:nvSpPr>
          <p:cNvPr id="3" name="Freeform 2"/>
          <p:cNvSpPr/>
          <p:nvPr/>
        </p:nvSpPr>
        <p:spPr>
          <a:xfrm>
            <a:off x="6218451" y="4194311"/>
            <a:ext cx="1035789" cy="565147"/>
          </a:xfrm>
          <a:custGeom>
            <a:avLst/>
            <a:gdLst>
              <a:gd name="connsiteX0" fmla="*/ 0 w 1570008"/>
              <a:gd name="connsiteY0" fmla="*/ 534838 h 565147"/>
              <a:gd name="connsiteX1" fmla="*/ 517585 w 1570008"/>
              <a:gd name="connsiteY1" fmla="*/ 517585 h 565147"/>
              <a:gd name="connsiteX2" fmla="*/ 931653 w 1570008"/>
              <a:gd name="connsiteY2" fmla="*/ 86264 h 565147"/>
              <a:gd name="connsiteX3" fmla="*/ 1570008 w 1570008"/>
              <a:gd name="connsiteY3" fmla="*/ 0 h 565147"/>
            </a:gdLst>
            <a:ahLst/>
            <a:cxnLst>
              <a:cxn ang="0">
                <a:pos x="connsiteX0" y="connsiteY0"/>
              </a:cxn>
              <a:cxn ang="0">
                <a:pos x="connsiteX1" y="connsiteY1"/>
              </a:cxn>
              <a:cxn ang="0">
                <a:pos x="connsiteX2" y="connsiteY2"/>
              </a:cxn>
              <a:cxn ang="0">
                <a:pos x="connsiteX3" y="connsiteY3"/>
              </a:cxn>
            </a:cxnLst>
            <a:rect l="l" t="t" r="r" b="b"/>
            <a:pathLst>
              <a:path w="1570008" h="565147">
                <a:moveTo>
                  <a:pt x="0" y="534838"/>
                </a:moveTo>
                <a:cubicBezTo>
                  <a:pt x="181155" y="563592"/>
                  <a:pt x="362310" y="592347"/>
                  <a:pt x="517585" y="517585"/>
                </a:cubicBezTo>
                <a:cubicBezTo>
                  <a:pt x="672860" y="442823"/>
                  <a:pt x="756249" y="172528"/>
                  <a:pt x="931653" y="86264"/>
                </a:cubicBezTo>
                <a:cubicBezTo>
                  <a:pt x="1107057" y="0"/>
                  <a:pt x="1338532" y="0"/>
                  <a:pt x="1570008" y="0"/>
                </a:cubicBezTo>
              </a:path>
            </a:pathLst>
          </a:custGeom>
          <a:ln>
            <a:solidFill>
              <a:srgbClr val="F3622C"/>
            </a:solidFill>
            <a:headEnd type="none" w="med" len="med"/>
            <a:tailEnd type="triangle"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11" name="Rectangle 10"/>
          <p:cNvSpPr>
            <a:spLocks noChangeArrowheads="1"/>
          </p:cNvSpPr>
          <p:nvPr/>
        </p:nvSpPr>
        <p:spPr bwMode="auto">
          <a:xfrm>
            <a:off x="1807827" y="5548615"/>
            <a:ext cx="6563012" cy="335989"/>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Account </a:t>
            </a:r>
            <a:r>
              <a:rPr lang="en-GB" sz="1600" dirty="0" err="1">
                <a:solidFill>
                  <a:srgbClr val="000000"/>
                </a:solidFill>
                <a:latin typeface="Lucida Console" pitchFamily="49" charset="0"/>
              </a:rPr>
              <a:t>myAccount</a:t>
            </a:r>
            <a:r>
              <a:rPr lang="en-GB" sz="1600" dirty="0">
                <a:solidFill>
                  <a:srgbClr val="000000"/>
                </a:solidFill>
                <a:latin typeface="Lucida Console" pitchFamily="49" charset="0"/>
              </a:rPr>
              <a:t> = </a:t>
            </a:r>
            <a:r>
              <a:rPr lang="en-GB" sz="1600" dirty="0">
                <a:solidFill>
                  <a:srgbClr val="FA3200"/>
                </a:solidFill>
                <a:latin typeface="Lucida Console" pitchFamily="49" charset="0"/>
              </a:rPr>
              <a:t>new </a:t>
            </a:r>
            <a:r>
              <a:rPr lang="en-GB" sz="1600" dirty="0">
                <a:solidFill>
                  <a:srgbClr val="000000"/>
                </a:solidFill>
                <a:latin typeface="Lucida Console" pitchFamily="49" charset="0"/>
              </a:rPr>
              <a:t>Account(123, "Bob");</a:t>
            </a:r>
            <a:endParaRPr lang="en-GB" sz="1600" dirty="0">
              <a:solidFill>
                <a:srgbClr val="008000"/>
              </a:solidFill>
              <a:latin typeface="Lucida Console" pitchFamily="49" charset="0"/>
            </a:endParaRPr>
          </a:p>
        </p:txBody>
      </p:sp>
      <p:sp>
        <p:nvSpPr>
          <p:cNvPr id="12" name="Rectangle 11"/>
          <p:cNvSpPr>
            <a:spLocks noChangeArrowheads="1"/>
          </p:cNvSpPr>
          <p:nvPr/>
        </p:nvSpPr>
        <p:spPr bwMode="auto">
          <a:xfrm>
            <a:off x="1807825" y="6049434"/>
            <a:ext cx="6563014" cy="335989"/>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Account </a:t>
            </a:r>
            <a:r>
              <a:rPr lang="en-GB" sz="1600" dirty="0" err="1">
                <a:solidFill>
                  <a:srgbClr val="000000"/>
                </a:solidFill>
                <a:latin typeface="Lucida Console" pitchFamily="49" charset="0"/>
              </a:rPr>
              <a:t>myAccount</a:t>
            </a:r>
            <a:r>
              <a:rPr lang="en-GB" sz="1600" dirty="0">
                <a:solidFill>
                  <a:srgbClr val="000000"/>
                </a:solidFill>
                <a:latin typeface="Lucida Console" pitchFamily="49" charset="0"/>
              </a:rPr>
              <a:t> = </a:t>
            </a:r>
            <a:r>
              <a:rPr lang="en-GB" sz="1600" dirty="0">
                <a:solidFill>
                  <a:srgbClr val="FA3200"/>
                </a:solidFill>
                <a:latin typeface="Lucida Console" pitchFamily="49" charset="0"/>
              </a:rPr>
              <a:t>new </a:t>
            </a:r>
            <a:r>
              <a:rPr lang="en-GB" sz="1600" dirty="0">
                <a:solidFill>
                  <a:srgbClr val="000000"/>
                </a:solidFill>
                <a:latin typeface="Lucida Console" pitchFamily="49" charset="0"/>
              </a:rPr>
              <a:t>Account(123);</a:t>
            </a:r>
            <a:endParaRPr lang="en-GB" sz="1600" dirty="0">
              <a:solidFill>
                <a:srgbClr val="008000"/>
              </a:solidFill>
              <a:latin typeface="Lucida Console" pitchFamily="49" charset="0"/>
            </a:endParaRPr>
          </a:p>
        </p:txBody>
      </p:sp>
      <p:pic>
        <p:nvPicPr>
          <p:cNvPr id="5" name="Graphic 4" descr="Database with solid fill">
            <a:extLst>
              <a:ext uri="{FF2B5EF4-FFF2-40B4-BE49-F238E27FC236}">
                <a16:creationId xmlns:a16="http://schemas.microsoft.com/office/drawing/2014/main" id="{28CA695D-F8F3-16CC-4AC0-D442EA6101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73832" y="3454400"/>
            <a:ext cx="1570010" cy="1570010"/>
          </a:xfrm>
          <a:prstGeom prst="rect">
            <a:avLst/>
          </a:prstGeom>
        </p:spPr>
      </p:pic>
    </p:spTree>
    <p:extLst>
      <p:ext uri="{BB962C8B-B14F-4D97-AF65-F5344CB8AC3E}">
        <p14:creationId xmlns:p14="http://schemas.microsoft.com/office/powerpoint/2010/main" val="3231662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dirty="0"/>
              <a:t>Constructor Chaining Example</a:t>
            </a:r>
          </a:p>
        </p:txBody>
      </p:sp>
      <p:sp>
        <p:nvSpPr>
          <p:cNvPr id="834563" name="Rectangle 3"/>
          <p:cNvSpPr>
            <a:spLocks noChangeArrowheads="1"/>
          </p:cNvSpPr>
          <p:nvPr/>
        </p:nvSpPr>
        <p:spPr bwMode="auto">
          <a:xfrm>
            <a:off x="1807228" y="1674366"/>
            <a:ext cx="7418052" cy="329064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Car {</a:t>
            </a:r>
          </a:p>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  private </a:t>
            </a:r>
            <a:r>
              <a:rPr lang="en-GB" sz="1600" dirty="0">
                <a:latin typeface="Lucida Console" pitchFamily="49" charset="0"/>
              </a:rPr>
              <a:t>String</a:t>
            </a:r>
            <a:r>
              <a:rPr lang="en-GB" sz="1600" dirty="0">
                <a:solidFill>
                  <a:srgbClr val="000000"/>
                </a:solidFill>
                <a:latin typeface="Lucida Console" pitchFamily="49" charset="0"/>
              </a:rPr>
              <a:t> make;</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numdoors</a:t>
            </a:r>
            <a:r>
              <a:rPr lang="en-GB" sz="1600" dirty="0">
                <a:solidFill>
                  <a:srgbClr val="000000"/>
                </a:solidFill>
                <a:latin typeface="Lucida Console" pitchFamily="49" charset="0"/>
              </a:rPr>
              <a:t>;</a:t>
            </a:r>
          </a:p>
          <a:p>
            <a:pPr defTabSz="739775" eaLnBrk="0" hangingPunct="0">
              <a:tabLst>
                <a:tab pos="341313" algn="l"/>
                <a:tab pos="690563" algn="l"/>
                <a:tab pos="1030288" algn="l"/>
                <a:tab pos="1371600" algn="l"/>
              </a:tabLst>
              <a:defRPr/>
            </a:pPr>
            <a:endParaRPr lang="en-GB" sz="1600"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public</a:t>
            </a:r>
            <a:r>
              <a:rPr lang="en-GB" sz="1600" dirty="0">
                <a:solidFill>
                  <a:srgbClr val="000000"/>
                </a:solidFill>
                <a:latin typeface="Lucida Console" pitchFamily="49" charset="0"/>
              </a:rPr>
              <a:t> Car(</a:t>
            </a:r>
            <a:r>
              <a:rPr lang="en-GB" sz="1600" dirty="0">
                <a:latin typeface="Lucida Console" pitchFamily="49" charset="0"/>
              </a:rPr>
              <a:t>String</a:t>
            </a:r>
            <a:r>
              <a:rPr lang="en-GB" sz="1600" dirty="0">
                <a:solidFill>
                  <a:srgbClr val="000000"/>
                </a:solidFill>
                <a:latin typeface="Lucida Console" pitchFamily="49" charset="0"/>
              </a:rPr>
              <a:t> make,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nd</a:t>
            </a:r>
            <a:r>
              <a:rPr lang="en-GB" sz="1600" dirty="0">
                <a:solidFill>
                  <a:srgbClr val="000000"/>
                </a:solidFill>
                <a:latin typeface="Lucida Console" pitchFamily="49" charset="0"/>
              </a:rPr>
              <a:t> )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err="1">
                <a:solidFill>
                  <a:srgbClr val="0000C8"/>
                </a:solidFill>
                <a:latin typeface="Lucida Console" pitchFamily="49" charset="0"/>
              </a:rPr>
              <a:t>this</a:t>
            </a:r>
            <a:r>
              <a:rPr lang="en-GB" sz="1600" dirty="0" err="1">
                <a:solidFill>
                  <a:srgbClr val="000000"/>
                </a:solidFill>
                <a:latin typeface="Lucida Console" pitchFamily="49" charset="0"/>
              </a:rPr>
              <a:t>.make</a:t>
            </a:r>
            <a:r>
              <a:rPr lang="en-GB" sz="1600" dirty="0">
                <a:solidFill>
                  <a:srgbClr val="000000"/>
                </a:solidFill>
                <a:latin typeface="Lucida Console" pitchFamily="49" charset="0"/>
              </a:rPr>
              <a:t> = make;</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err="1">
                <a:solidFill>
                  <a:srgbClr val="0000C8"/>
                </a:solidFill>
                <a:latin typeface="Lucida Console" pitchFamily="49" charset="0"/>
              </a:rPr>
              <a:t>this</a:t>
            </a:r>
            <a:r>
              <a:rPr lang="en-GB" sz="1600" dirty="0" err="1">
                <a:solidFill>
                  <a:srgbClr val="000000"/>
                </a:solidFill>
                <a:latin typeface="Lucida Console" pitchFamily="49" charset="0"/>
              </a:rPr>
              <a:t>.numdoors</a:t>
            </a:r>
            <a:r>
              <a:rPr lang="en-GB" sz="1600" dirty="0">
                <a:solidFill>
                  <a:srgbClr val="000000"/>
                </a:solidFill>
                <a:latin typeface="Lucida Console" pitchFamily="49" charset="0"/>
              </a:rPr>
              <a:t> = </a:t>
            </a:r>
            <a:r>
              <a:rPr lang="en-GB" sz="1600" dirty="0" err="1">
                <a:solidFill>
                  <a:srgbClr val="000000"/>
                </a:solidFill>
                <a:latin typeface="Lucida Console" pitchFamily="49" charset="0"/>
              </a:rPr>
              <a:t>nd</a:t>
            </a:r>
            <a:r>
              <a:rPr lang="en-GB" sz="1600" dirty="0">
                <a:solidFill>
                  <a:srgbClr val="000000"/>
                </a:solidFill>
                <a:latin typeface="Lucida Console" pitchFamily="49" charset="0"/>
              </a:rPr>
              <a:t>;</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r>
              <a:rPr lang="en-GB" sz="1600" dirty="0">
                <a:solidFill>
                  <a:srgbClr val="008000"/>
                </a:solidFill>
                <a:latin typeface="Lucida Console" pitchFamily="49" charset="0"/>
              </a:rPr>
              <a:t>// common code can sit here</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endParaRPr lang="en-GB" sz="1600"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  public </a:t>
            </a:r>
            <a:r>
              <a:rPr lang="en-GB" sz="1600" dirty="0">
                <a:solidFill>
                  <a:srgbClr val="000000"/>
                </a:solidFill>
                <a:latin typeface="Lucida Console" pitchFamily="49" charset="0"/>
              </a:rPr>
              <a:t>Car(</a:t>
            </a:r>
            <a:r>
              <a:rPr lang="en-GB" sz="1600" dirty="0">
                <a:latin typeface="Lucida Console" pitchFamily="49" charset="0"/>
              </a:rPr>
              <a:t>String</a:t>
            </a:r>
            <a:r>
              <a:rPr lang="en-GB" sz="1600" dirty="0">
                <a:solidFill>
                  <a:srgbClr val="000000"/>
                </a:solidFill>
                <a:latin typeface="Lucida Console" pitchFamily="49" charset="0"/>
              </a:rPr>
              <a:t> make) : </a:t>
            </a:r>
            <a:r>
              <a:rPr lang="en-GB" sz="1600" dirty="0">
                <a:solidFill>
                  <a:srgbClr val="FF0000"/>
                </a:solidFill>
                <a:latin typeface="Lucida Console" pitchFamily="49" charset="0"/>
              </a:rPr>
              <a:t>this</a:t>
            </a:r>
            <a:r>
              <a:rPr lang="en-GB" sz="1600" dirty="0">
                <a:solidFill>
                  <a:srgbClr val="000000"/>
                </a:solidFill>
                <a:latin typeface="Lucida Console" pitchFamily="49" charset="0"/>
              </a:rPr>
              <a:t>(make, 4) {</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a:t>
            </a:r>
          </a:p>
        </p:txBody>
      </p:sp>
      <p:sp>
        <p:nvSpPr>
          <p:cNvPr id="834566" name="Oval 6"/>
          <p:cNvSpPr>
            <a:spLocks noChangeArrowheads="1"/>
          </p:cNvSpPr>
          <p:nvPr/>
        </p:nvSpPr>
        <p:spPr bwMode="auto">
          <a:xfrm>
            <a:off x="1676029" y="2671074"/>
            <a:ext cx="287338" cy="287338"/>
          </a:xfrm>
          <a:prstGeom prst="ellipse">
            <a:avLst/>
          </a:prstGeom>
          <a:solidFill>
            <a:srgbClr val="FFCCFF"/>
          </a:solidFill>
          <a:ln w="19050">
            <a:solidFill>
              <a:schemeClr val="tx1"/>
            </a:solidFill>
            <a:round/>
            <a:headEnd/>
            <a:tailEnd/>
          </a:ln>
          <a:effectLst/>
        </p:spPr>
        <p:txBody>
          <a:bodyPr wrap="none" anchor="ctr"/>
          <a:lstStyle/>
          <a:p>
            <a:pPr algn="ctr" eaLnBrk="0" hangingPunct="0">
              <a:defRPr/>
            </a:pPr>
            <a:r>
              <a:rPr lang="en-GB" b="1" dirty="0"/>
              <a:t>1</a:t>
            </a:r>
          </a:p>
        </p:txBody>
      </p:sp>
      <p:sp>
        <p:nvSpPr>
          <p:cNvPr id="834567" name="Oval 7"/>
          <p:cNvSpPr>
            <a:spLocks noChangeArrowheads="1"/>
          </p:cNvSpPr>
          <p:nvPr/>
        </p:nvSpPr>
        <p:spPr bwMode="auto">
          <a:xfrm>
            <a:off x="1671347" y="4145706"/>
            <a:ext cx="287337" cy="287338"/>
          </a:xfrm>
          <a:prstGeom prst="ellipse">
            <a:avLst/>
          </a:prstGeom>
          <a:solidFill>
            <a:srgbClr val="FFCCFF"/>
          </a:solidFill>
          <a:ln w="19050">
            <a:solidFill>
              <a:schemeClr val="tx1"/>
            </a:solidFill>
            <a:round/>
            <a:headEnd/>
            <a:tailEnd/>
          </a:ln>
          <a:effectLst/>
        </p:spPr>
        <p:txBody>
          <a:bodyPr wrap="none" anchor="ctr"/>
          <a:lstStyle/>
          <a:p>
            <a:pPr algn="ctr" eaLnBrk="0" hangingPunct="0">
              <a:defRPr/>
            </a:pPr>
            <a:r>
              <a:rPr lang="en-GB" b="1" dirty="0"/>
              <a:t>2</a:t>
            </a:r>
          </a:p>
        </p:txBody>
      </p:sp>
      <p:sp>
        <p:nvSpPr>
          <p:cNvPr id="16398" name="Line 20"/>
          <p:cNvSpPr>
            <a:spLocks noChangeShapeType="1"/>
          </p:cNvSpPr>
          <p:nvPr/>
        </p:nvSpPr>
        <p:spPr bwMode="auto">
          <a:xfrm flipV="1">
            <a:off x="2767253" y="4636969"/>
            <a:ext cx="0" cy="305212"/>
          </a:xfrm>
          <a:prstGeom prst="line">
            <a:avLst/>
          </a:prstGeom>
          <a:noFill/>
          <a:ln w="19050">
            <a:solidFill>
              <a:srgbClr val="004050"/>
            </a:solidFill>
            <a:round/>
            <a:headEnd/>
            <a:tailEnd type="triangle" w="med" len="med"/>
          </a:ln>
        </p:spPr>
        <p:txBody>
          <a:bodyPr wrap="square">
            <a:spAutoFit/>
          </a:bodyPr>
          <a:lstStyle/>
          <a:p>
            <a:endParaRPr lang="en-GB"/>
          </a:p>
        </p:txBody>
      </p:sp>
      <p:sp>
        <p:nvSpPr>
          <p:cNvPr id="834581" name="Rectangle 21"/>
          <p:cNvSpPr>
            <a:spLocks noChangeArrowheads="1"/>
          </p:cNvSpPr>
          <p:nvPr/>
        </p:nvSpPr>
        <p:spPr bwMode="auto">
          <a:xfrm>
            <a:off x="10693963" y="3127471"/>
            <a:ext cx="476250" cy="698500"/>
          </a:xfrm>
          <a:prstGeom prst="rect">
            <a:avLst/>
          </a:prstGeom>
          <a:noFill/>
          <a:ln w="12700">
            <a:noFill/>
            <a:miter lim="800000"/>
            <a:headEnd/>
            <a:tailEnd/>
          </a:ln>
          <a:effectLst/>
        </p:spPr>
        <p:txBody>
          <a:bodyPr wrap="square" lIns="90488" tIns="44450" rIns="90488" bIns="44450">
            <a:spAutoFit/>
          </a:bodyPr>
          <a:lstStyle/>
          <a:p>
            <a:pPr defTabSz="739775" eaLnBrk="0" hangingPunct="0">
              <a:defRPr/>
            </a:pPr>
            <a:r>
              <a:rPr lang="en-US" sz="4000" dirty="0">
                <a:solidFill>
                  <a:srgbClr val="FF3300"/>
                </a:solidFill>
                <a:latin typeface="Wingdings" pitchFamily="2" charset="2"/>
              </a:rPr>
              <a:t></a:t>
            </a:r>
          </a:p>
        </p:txBody>
      </p:sp>
      <p:sp>
        <p:nvSpPr>
          <p:cNvPr id="834578" name="Rectangle 18"/>
          <p:cNvSpPr>
            <a:spLocks noChangeArrowheads="1"/>
          </p:cNvSpPr>
          <p:nvPr/>
        </p:nvSpPr>
        <p:spPr bwMode="auto">
          <a:xfrm flipV="1">
            <a:off x="2557447" y="4871481"/>
            <a:ext cx="3394170" cy="305212"/>
          </a:xfrm>
          <a:prstGeom prst="rect">
            <a:avLst/>
          </a:prstGeom>
          <a:solidFill>
            <a:schemeClr val="accent2">
              <a:lumMod val="20000"/>
              <a:lumOff val="80000"/>
            </a:schemeClr>
          </a:solidFill>
          <a:ln w="19050">
            <a:noFill/>
            <a:miter lim="800000"/>
            <a:headEnd/>
            <a:tailEnd/>
          </a:ln>
          <a:effectLst>
            <a:outerShdw blurRad="50800" dist="38100" algn="l" rotWithShape="0">
              <a:prstClr val="black">
                <a:alpha val="40000"/>
              </a:prstClr>
            </a:outerShdw>
          </a:effectLst>
        </p:spPr>
        <p:txBody>
          <a:bodyPr rot="10800000" wrap="square" lIns="84138" tIns="44450" rIns="84138" bIns="44450">
            <a:spAutoFit/>
          </a:bodyPr>
          <a:lstStyle/>
          <a:p>
            <a:pPr marL="266700" indent="-266700" algn="ctr" defTabSz="709613" eaLnBrk="0" hangingPunct="0">
              <a:lnSpc>
                <a:spcPts val="1700"/>
              </a:lnSpc>
              <a:defRPr/>
            </a:pPr>
            <a:r>
              <a:rPr lang="en-GB" sz="1400" dirty="0">
                <a:solidFill>
                  <a:srgbClr val="004050"/>
                </a:solidFill>
              </a:rPr>
              <a:t>Chaining, using special syntax</a:t>
            </a:r>
            <a:endParaRPr lang="en-US" sz="1400" dirty="0">
              <a:solidFill>
                <a:srgbClr val="004050"/>
              </a:solidFill>
              <a:latin typeface="Courier New" pitchFamily="49" charset="0"/>
            </a:endParaRPr>
          </a:p>
        </p:txBody>
      </p:sp>
      <p:cxnSp>
        <p:nvCxnSpPr>
          <p:cNvPr id="13" name="Straight Arrow Connector 12"/>
          <p:cNvCxnSpPr>
            <a:cxnSpLocks/>
          </p:cNvCxnSpPr>
          <p:nvPr/>
        </p:nvCxnSpPr>
        <p:spPr>
          <a:xfrm flipH="1">
            <a:off x="6736080" y="2772358"/>
            <a:ext cx="1276472" cy="40107"/>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H="1">
            <a:off x="6616051" y="3240642"/>
            <a:ext cx="1396501" cy="823358"/>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
        <p:nvSpPr>
          <p:cNvPr id="834564" name="Rectangle 4"/>
          <p:cNvSpPr>
            <a:spLocks noChangeArrowheads="1"/>
          </p:cNvSpPr>
          <p:nvPr/>
        </p:nvSpPr>
        <p:spPr bwMode="auto">
          <a:xfrm>
            <a:off x="8012552" y="2580205"/>
            <a:ext cx="3661288" cy="1320874"/>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Car car1 = </a:t>
            </a:r>
            <a:r>
              <a:rPr lang="en-GB" sz="1600" dirty="0">
                <a:solidFill>
                  <a:srgbClr val="0000C8"/>
                </a:solidFill>
                <a:latin typeface="Lucida Console" pitchFamily="49" charset="0"/>
              </a:rPr>
              <a:t>new </a:t>
            </a:r>
            <a:r>
              <a:rPr lang="en-GB" sz="1600" dirty="0">
                <a:solidFill>
                  <a:srgbClr val="000000"/>
                </a:solidFill>
                <a:latin typeface="Lucida Console" pitchFamily="49" charset="0"/>
              </a:rPr>
              <a:t>Car("BMW",5);</a:t>
            </a:r>
            <a:br>
              <a:rPr lang="en-GB" sz="1600" dirty="0">
                <a:solidFill>
                  <a:srgbClr val="000000"/>
                </a:solidFill>
                <a:latin typeface="Lucida Console" pitchFamily="49" charset="0"/>
              </a:rPr>
            </a:br>
            <a:endParaRPr lang="en-GB" sz="1600" dirty="0">
              <a:solidFill>
                <a:srgbClr val="000000"/>
              </a:solidFill>
              <a:latin typeface="Lucida Console" pitchFamily="49" charset="0"/>
            </a:endParaRPr>
          </a:p>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Car car2 = </a:t>
            </a:r>
            <a:r>
              <a:rPr lang="en-GB" sz="1600" dirty="0">
                <a:solidFill>
                  <a:srgbClr val="0000C8"/>
                </a:solidFill>
                <a:latin typeface="Lucida Console" pitchFamily="49" charset="0"/>
              </a:rPr>
              <a:t>new</a:t>
            </a:r>
            <a:r>
              <a:rPr lang="en-GB" sz="1600" dirty="0">
                <a:solidFill>
                  <a:srgbClr val="000000"/>
                </a:solidFill>
                <a:latin typeface="Lucida Console" pitchFamily="49" charset="0"/>
              </a:rPr>
              <a:t> Car("BMW");</a:t>
            </a:r>
          </a:p>
          <a:p>
            <a:pPr defTabSz="739775" eaLnBrk="0" hangingPunct="0">
              <a:tabLst>
                <a:tab pos="341313" algn="l"/>
                <a:tab pos="690563" algn="l"/>
                <a:tab pos="1030288" algn="l"/>
                <a:tab pos="1371600" algn="l"/>
              </a:tabLst>
              <a:defRPr/>
            </a:pPr>
            <a:br>
              <a:rPr lang="en-GB" sz="1600" dirty="0">
                <a:solidFill>
                  <a:srgbClr val="000000"/>
                </a:solidFill>
                <a:latin typeface="Lucida Console" pitchFamily="49" charset="0"/>
              </a:rPr>
            </a:br>
            <a:r>
              <a:rPr lang="en-GB" sz="1600" dirty="0">
                <a:solidFill>
                  <a:srgbClr val="000000"/>
                </a:solidFill>
                <a:latin typeface="Lucida Console" pitchFamily="49" charset="0"/>
              </a:rPr>
              <a:t>Car car3 = </a:t>
            </a:r>
            <a:r>
              <a:rPr lang="en-GB" sz="1600" dirty="0">
                <a:solidFill>
                  <a:srgbClr val="0000C8"/>
                </a:solidFill>
                <a:latin typeface="Lucida Console" pitchFamily="49" charset="0"/>
              </a:rPr>
              <a:t>new</a:t>
            </a:r>
            <a:r>
              <a:rPr lang="en-GB" sz="1600" dirty="0">
                <a:solidFill>
                  <a:srgbClr val="000000"/>
                </a:solidFill>
                <a:latin typeface="Lucida Console" pitchFamily="49" charset="0"/>
              </a:rPr>
              <a:t> Car(); </a:t>
            </a:r>
            <a:endParaRPr lang="en-GB" sz="1600" dirty="0">
              <a:solidFill>
                <a:srgbClr val="008000"/>
              </a:solidFill>
              <a:latin typeface="Lucida Console" pitchFamily="49" charset="0"/>
            </a:endParaRPr>
          </a:p>
        </p:txBody>
      </p:sp>
    </p:spTree>
    <p:extLst>
      <p:ext uri="{BB962C8B-B14F-4D97-AF65-F5344CB8AC3E}">
        <p14:creationId xmlns:p14="http://schemas.microsoft.com/office/powerpoint/2010/main" val="2096432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A6DE54ED-704B-0735-C5EA-342A5A2612CB}"/>
              </a:ext>
            </a:extLst>
          </p:cNvPr>
          <p:cNvSpPr>
            <a:spLocks noChangeArrowheads="1"/>
          </p:cNvSpPr>
          <p:nvPr/>
        </p:nvSpPr>
        <p:spPr bwMode="auto">
          <a:xfrm>
            <a:off x="762923" y="1478135"/>
            <a:ext cx="7131397" cy="2305759"/>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r>
              <a:rPr lang="en-GB" sz="1600" b="1" dirty="0">
                <a:solidFill>
                  <a:srgbClr val="7F0055"/>
                </a:solidFill>
                <a:latin typeface="Lucida Console" panose="020B0609040504020204" pitchFamily="49" charset="0"/>
              </a:rPr>
              <a:t>public</a:t>
            </a:r>
            <a:r>
              <a:rPr lang="en-GB" sz="1600" b="1" dirty="0">
                <a:solidFill>
                  <a:srgbClr val="000000"/>
                </a:solidFill>
                <a:latin typeface="Lucida Console" panose="020B0609040504020204" pitchFamily="49" charset="0"/>
              </a:rPr>
              <a:t> Car </a:t>
            </a:r>
            <a:r>
              <a:rPr lang="en-GB" sz="1600" b="1" dirty="0" err="1">
                <a:solidFill>
                  <a:srgbClr val="000000"/>
                </a:solidFill>
                <a:latin typeface="Lucida Console" panose="020B0609040504020204" pitchFamily="49" charset="0"/>
              </a:rPr>
              <a:t>getPoolCar</a:t>
            </a:r>
            <a:r>
              <a:rPr lang="en-GB" sz="1600" b="1" dirty="0">
                <a:solidFill>
                  <a:srgbClr val="000000"/>
                </a:solidFill>
                <a:latin typeface="Lucida Console" panose="020B0609040504020204" pitchFamily="49" charset="0"/>
              </a:rPr>
              <a:t>() {</a:t>
            </a:r>
          </a:p>
          <a:p>
            <a:r>
              <a:rPr lang="en-GB" sz="1600" b="1" dirty="0">
                <a:solidFill>
                  <a:srgbClr val="000000"/>
                </a:solidFill>
                <a:latin typeface="Lucida Console" panose="020B0609040504020204" pitchFamily="49" charset="0"/>
              </a:rPr>
              <a:t>	Car </a:t>
            </a:r>
            <a:r>
              <a:rPr lang="en-GB" sz="1600" b="1" dirty="0" err="1">
                <a:solidFill>
                  <a:srgbClr val="6A3E3E"/>
                </a:solidFill>
                <a:latin typeface="Lucida Console" panose="020B0609040504020204" pitchFamily="49" charset="0"/>
              </a:rPr>
              <a:t>aCar</a:t>
            </a:r>
            <a:r>
              <a:rPr lang="en-GB" sz="1600" b="1" dirty="0">
                <a:solidFill>
                  <a:srgbClr val="000000"/>
                </a:solidFill>
                <a:latin typeface="Lucida Console" panose="020B0609040504020204" pitchFamily="49" charset="0"/>
              </a:rPr>
              <a:t> = </a:t>
            </a:r>
            <a:r>
              <a:rPr lang="en-GB" sz="1600" b="1" dirty="0">
                <a:solidFill>
                  <a:srgbClr val="7F0055"/>
                </a:solidFill>
                <a:latin typeface="Lucida Console" panose="020B0609040504020204" pitchFamily="49" charset="0"/>
              </a:rPr>
              <a:t>null</a:t>
            </a:r>
            <a:r>
              <a:rPr lang="en-GB" sz="1600" b="1" dirty="0">
                <a:solidFill>
                  <a:srgbClr val="000000"/>
                </a:solidFill>
                <a:latin typeface="Lucida Console" panose="020B0609040504020204" pitchFamily="49" charset="0"/>
              </a:rPr>
              <a:t>;</a:t>
            </a:r>
          </a:p>
          <a:p>
            <a:br>
              <a:rPr lang="en-GB" sz="1600" b="1" dirty="0">
                <a:solidFill>
                  <a:srgbClr val="3F7F5F"/>
                </a:solidFill>
                <a:latin typeface="Lucida Console" panose="020B0609040504020204" pitchFamily="49" charset="0"/>
              </a:rPr>
            </a:br>
            <a:r>
              <a:rPr lang="en-GB" sz="1600" b="1" dirty="0">
                <a:solidFill>
                  <a:srgbClr val="3F7F5F"/>
                </a:solidFill>
                <a:latin typeface="Lucida Console" panose="020B0609040504020204" pitchFamily="49" charset="0"/>
              </a:rPr>
              <a:t>	// attempt to get a Car </a:t>
            </a:r>
            <a:br>
              <a:rPr lang="en-GB" sz="1600" b="1" dirty="0">
                <a:solidFill>
                  <a:srgbClr val="3F7F5F"/>
                </a:solidFill>
                <a:latin typeface="Lucida Console" panose="020B0609040504020204" pitchFamily="49" charset="0"/>
              </a:rPr>
            </a:br>
            <a:r>
              <a:rPr lang="en-GB" sz="1600" b="1" dirty="0">
                <a:solidFill>
                  <a:srgbClr val="3F7F5F"/>
                </a:solidFill>
                <a:latin typeface="Lucida Console" panose="020B0609040504020204" pitchFamily="49" charset="0"/>
              </a:rPr>
              <a:t>	   from a pool of cars</a:t>
            </a:r>
            <a:br>
              <a:rPr lang="en-GB" sz="1600" b="1" dirty="0">
                <a:solidFill>
                  <a:srgbClr val="3F7F5F"/>
                </a:solidFill>
                <a:latin typeface="Lucida Console" panose="020B0609040504020204" pitchFamily="49" charset="0"/>
              </a:rPr>
            </a:br>
            <a:endParaRPr lang="en-GB" sz="1600" b="1" dirty="0">
              <a:solidFill>
                <a:srgbClr val="3F7F5F"/>
              </a:solidFill>
              <a:latin typeface="Lucida Console" panose="020B0609040504020204" pitchFamily="49" charset="0"/>
            </a:endParaRPr>
          </a:p>
          <a:p>
            <a:endParaRPr lang="en-GB" sz="1600" b="1" dirty="0">
              <a:solidFill>
                <a:srgbClr val="7F0055"/>
              </a:solidFill>
              <a:latin typeface="Lucida Console" panose="020B0609040504020204" pitchFamily="49" charset="0"/>
            </a:endParaRPr>
          </a:p>
          <a:p>
            <a:r>
              <a:rPr lang="en-GB" sz="1600" b="1" dirty="0">
                <a:solidFill>
                  <a:srgbClr val="7F0055"/>
                </a:solidFill>
                <a:latin typeface="Lucida Console" panose="020B0609040504020204" pitchFamily="49" charset="0"/>
              </a:rPr>
              <a:t>	</a:t>
            </a:r>
            <a:r>
              <a:rPr lang="en-GB" sz="1600" b="1" dirty="0">
                <a:latin typeface="Lucida Console" panose="020B0609040504020204" pitchFamily="49" charset="0"/>
              </a:rPr>
              <a:t>return</a:t>
            </a:r>
            <a:r>
              <a:rPr lang="en-GB" sz="1600" b="1" dirty="0">
                <a:solidFill>
                  <a:srgbClr val="000000"/>
                </a:solidFill>
                <a:latin typeface="Lucida Console" panose="020B0609040504020204" pitchFamily="49" charset="0"/>
              </a:rPr>
              <a:t> </a:t>
            </a:r>
            <a:r>
              <a:rPr lang="en-GB" sz="1600" b="1" dirty="0" err="1">
                <a:solidFill>
                  <a:srgbClr val="6A3E3E"/>
                </a:solidFill>
                <a:latin typeface="Lucida Console" panose="020B0609040504020204" pitchFamily="49" charset="0"/>
              </a:rPr>
              <a:t>aCar</a:t>
            </a:r>
            <a:r>
              <a:rPr lang="en-GB" sz="1600" b="1" dirty="0">
                <a:solidFill>
                  <a:srgbClr val="000000"/>
                </a:solidFill>
                <a:latin typeface="Lucida Console" panose="020B0609040504020204" pitchFamily="49" charset="0"/>
              </a:rPr>
              <a:t>;</a:t>
            </a:r>
          </a:p>
          <a:p>
            <a:r>
              <a:rPr lang="en-GB" sz="1600" b="1" dirty="0">
                <a:solidFill>
                  <a:srgbClr val="000000"/>
                </a:solidFill>
                <a:latin typeface="Lucida Console" panose="020B0609040504020204" pitchFamily="49" charset="0"/>
              </a:rPr>
              <a:t>}</a:t>
            </a:r>
            <a:endParaRPr lang="en-GB" sz="1600" b="1" dirty="0">
              <a:latin typeface="Lucida Console" panose="020B0609040504020204" pitchFamily="49" charset="0"/>
            </a:endParaRPr>
          </a:p>
        </p:txBody>
      </p:sp>
      <p:sp>
        <p:nvSpPr>
          <p:cNvPr id="17" name="Rectangle 3">
            <a:extLst>
              <a:ext uri="{FF2B5EF4-FFF2-40B4-BE49-F238E27FC236}">
                <a16:creationId xmlns:a16="http://schemas.microsoft.com/office/drawing/2014/main" id="{7FF5654E-F863-139F-59F4-325D822163F2}"/>
              </a:ext>
            </a:extLst>
          </p:cNvPr>
          <p:cNvSpPr>
            <a:spLocks noGrp="1" noChangeArrowheads="1"/>
          </p:cNvSpPr>
          <p:nvPr>
            <p:ph type="title"/>
          </p:nvPr>
        </p:nvSpPr>
        <p:spPr>
          <a:xfrm>
            <a:off x="339971" y="562058"/>
            <a:ext cx="11677858" cy="805001"/>
          </a:xfrm>
        </p:spPr>
        <p:txBody>
          <a:bodyPr/>
          <a:lstStyle/>
          <a:p>
            <a:pPr eaLnBrk="1" hangingPunct="1"/>
            <a:r>
              <a:rPr lang="en-GB" dirty="0"/>
              <a:t>The null Reference</a:t>
            </a:r>
          </a:p>
        </p:txBody>
      </p:sp>
      <p:sp>
        <p:nvSpPr>
          <p:cNvPr id="18" name="Rectangle 17">
            <a:extLst>
              <a:ext uri="{FF2B5EF4-FFF2-40B4-BE49-F238E27FC236}">
                <a16:creationId xmlns:a16="http://schemas.microsoft.com/office/drawing/2014/main" id="{E036D0EB-9EE2-2028-08F2-40B75F6FD654}"/>
              </a:ext>
            </a:extLst>
          </p:cNvPr>
          <p:cNvSpPr/>
          <p:nvPr/>
        </p:nvSpPr>
        <p:spPr>
          <a:xfrm>
            <a:off x="762923" y="3794011"/>
            <a:ext cx="7131397" cy="2554545"/>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endParaRPr lang="en-GB" sz="1600" b="1" dirty="0">
              <a:solidFill>
                <a:srgbClr val="7F0055"/>
              </a:solidFill>
              <a:latin typeface="Lucida Console" panose="020B0609040504020204" pitchFamily="49" charset="0"/>
            </a:endParaRPr>
          </a:p>
          <a:p>
            <a:r>
              <a:rPr lang="en-GB" sz="1600" b="1" dirty="0">
                <a:solidFill>
                  <a:srgbClr val="7F0055"/>
                </a:solidFill>
                <a:latin typeface="Lucida Console" panose="020B0609040504020204" pitchFamily="49" charset="0"/>
              </a:rPr>
              <a:t>public</a:t>
            </a:r>
            <a:r>
              <a:rPr lang="en-GB" sz="1600" b="1" dirty="0">
                <a:solidFill>
                  <a:srgbClr val="000000"/>
                </a:solidFill>
                <a:latin typeface="Lucida Console" panose="020B0609040504020204" pitchFamily="49" charset="0"/>
              </a:rPr>
              <a:t> </a:t>
            </a:r>
            <a:r>
              <a:rPr lang="en-GB" sz="1600" b="1" dirty="0">
                <a:solidFill>
                  <a:srgbClr val="7F0055"/>
                </a:solidFill>
                <a:latin typeface="Lucida Console" panose="020B0609040504020204" pitchFamily="49" charset="0"/>
              </a:rPr>
              <a:t>void</a:t>
            </a:r>
            <a:r>
              <a:rPr lang="en-GB" sz="1600" b="1" dirty="0">
                <a:solidFill>
                  <a:srgbClr val="000000"/>
                </a:solidFill>
                <a:latin typeface="Lucida Console" panose="020B0609040504020204" pitchFamily="49" charset="0"/>
              </a:rPr>
              <a:t> </a:t>
            </a:r>
            <a:r>
              <a:rPr lang="en-GB" sz="1600" b="1" dirty="0" err="1">
                <a:solidFill>
                  <a:srgbClr val="000000"/>
                </a:solidFill>
                <a:latin typeface="Lucida Console" panose="020B0609040504020204" pitchFamily="49" charset="0"/>
              </a:rPr>
              <a:t>hireCar</a:t>
            </a:r>
            <a:r>
              <a:rPr lang="en-GB" sz="1600" b="1" dirty="0">
                <a:solidFill>
                  <a:srgbClr val="000000"/>
                </a:solidFill>
                <a:latin typeface="Lucida Console" panose="020B0609040504020204" pitchFamily="49" charset="0"/>
              </a:rPr>
              <a:t>() {</a:t>
            </a:r>
          </a:p>
          <a:p>
            <a:r>
              <a:rPr lang="en-GB" sz="1600" b="1" dirty="0">
                <a:solidFill>
                  <a:srgbClr val="000000"/>
                </a:solidFill>
                <a:latin typeface="Lucida Console" panose="020B0609040504020204" pitchFamily="49" charset="0"/>
              </a:rPr>
              <a:t>	Car </a:t>
            </a:r>
            <a:r>
              <a:rPr lang="en-GB" sz="1600" b="1" dirty="0" err="1">
                <a:solidFill>
                  <a:srgbClr val="6A3E3E"/>
                </a:solidFill>
                <a:latin typeface="Lucida Console" panose="020B0609040504020204" pitchFamily="49" charset="0"/>
              </a:rPr>
              <a:t>myCar</a:t>
            </a:r>
            <a:r>
              <a:rPr lang="en-GB" sz="1600" b="1" dirty="0">
                <a:solidFill>
                  <a:srgbClr val="000000"/>
                </a:solidFill>
                <a:latin typeface="Lucida Console" panose="020B0609040504020204" pitchFamily="49" charset="0"/>
              </a:rPr>
              <a:t> = </a:t>
            </a:r>
            <a:r>
              <a:rPr lang="en-GB" sz="1600" b="1" dirty="0" err="1">
                <a:solidFill>
                  <a:srgbClr val="000000"/>
                </a:solidFill>
                <a:latin typeface="Lucida Console" panose="020B0609040504020204" pitchFamily="49" charset="0"/>
              </a:rPr>
              <a:t>getPoolCar</a:t>
            </a:r>
            <a:r>
              <a:rPr lang="en-GB" sz="1600" b="1" dirty="0">
                <a:solidFill>
                  <a:srgbClr val="000000"/>
                </a:solidFill>
                <a:latin typeface="Lucida Console" panose="020B0609040504020204" pitchFamily="49" charset="0"/>
              </a:rPr>
              <a:t>();</a:t>
            </a:r>
          </a:p>
          <a:p>
            <a:endParaRPr lang="en-GB" sz="1600" b="1" dirty="0">
              <a:latin typeface="Lucida Console" panose="020B0609040504020204" pitchFamily="49" charset="0"/>
            </a:endParaRPr>
          </a:p>
          <a:p>
            <a:r>
              <a:rPr lang="en-GB" sz="1600" b="1" dirty="0">
                <a:solidFill>
                  <a:srgbClr val="7F0055"/>
                </a:solidFill>
                <a:latin typeface="Lucida Console" panose="020B0609040504020204" pitchFamily="49" charset="0"/>
              </a:rPr>
              <a:t>	if</a:t>
            </a:r>
            <a:r>
              <a:rPr lang="en-GB" sz="1600" b="1" dirty="0">
                <a:solidFill>
                  <a:srgbClr val="000000"/>
                </a:solidFill>
                <a:latin typeface="Lucida Console" panose="020B0609040504020204" pitchFamily="49" charset="0"/>
              </a:rPr>
              <a:t> (</a:t>
            </a:r>
            <a:r>
              <a:rPr lang="en-GB" sz="1600" b="1" dirty="0" err="1">
                <a:solidFill>
                  <a:srgbClr val="6A3E3E"/>
                </a:solidFill>
                <a:latin typeface="Lucida Console" panose="020B0609040504020204" pitchFamily="49" charset="0"/>
              </a:rPr>
              <a:t>myCar</a:t>
            </a:r>
            <a:r>
              <a:rPr lang="en-GB" sz="1600" b="1" dirty="0">
                <a:solidFill>
                  <a:srgbClr val="000000"/>
                </a:solidFill>
                <a:latin typeface="Lucida Console" panose="020B0609040504020204" pitchFamily="49" charset="0"/>
              </a:rPr>
              <a:t> != </a:t>
            </a:r>
            <a:r>
              <a:rPr lang="en-GB" sz="1600" b="1" dirty="0">
                <a:solidFill>
                  <a:srgbClr val="7F0055"/>
                </a:solidFill>
                <a:latin typeface="Lucida Console" panose="020B0609040504020204" pitchFamily="49" charset="0"/>
              </a:rPr>
              <a:t>null</a:t>
            </a:r>
            <a:r>
              <a:rPr lang="en-GB" sz="1600" b="1" dirty="0">
                <a:solidFill>
                  <a:srgbClr val="000000"/>
                </a:solidFill>
                <a:latin typeface="Lucida Console" panose="020B0609040504020204" pitchFamily="49" charset="0"/>
              </a:rPr>
              <a:t>) {</a:t>
            </a:r>
          </a:p>
          <a:p>
            <a:r>
              <a:rPr lang="en-GB" sz="1600" b="1" dirty="0">
                <a:solidFill>
                  <a:srgbClr val="3F7F5F"/>
                </a:solidFill>
                <a:latin typeface="Lucida Console" panose="020B0609040504020204" pitchFamily="49" charset="0"/>
              </a:rPr>
              <a:t>		// Drive the car away</a:t>
            </a:r>
          </a:p>
          <a:p>
            <a:r>
              <a:rPr lang="en-GB" sz="1600" b="1" dirty="0">
                <a:solidFill>
                  <a:srgbClr val="000000"/>
                </a:solidFill>
                <a:latin typeface="Lucida Console" panose="020B0609040504020204" pitchFamily="49" charset="0"/>
              </a:rPr>
              <a:t>	} </a:t>
            </a:r>
            <a:r>
              <a:rPr lang="en-GB" sz="1600" b="1" dirty="0">
                <a:solidFill>
                  <a:srgbClr val="7F0055"/>
                </a:solidFill>
                <a:latin typeface="Lucida Console" panose="020B0609040504020204" pitchFamily="49" charset="0"/>
              </a:rPr>
              <a:t>else</a:t>
            </a:r>
            <a:r>
              <a:rPr lang="en-GB" sz="1600" b="1" dirty="0">
                <a:solidFill>
                  <a:srgbClr val="000000"/>
                </a:solidFill>
                <a:latin typeface="Lucida Console" panose="020B0609040504020204" pitchFamily="49" charset="0"/>
              </a:rPr>
              <a:t> {</a:t>
            </a:r>
          </a:p>
          <a:p>
            <a:r>
              <a:rPr lang="en-GB" sz="1600" b="1" dirty="0">
                <a:solidFill>
                  <a:srgbClr val="000000"/>
                </a:solidFill>
                <a:latin typeface="Lucida Console" panose="020B0609040504020204" pitchFamily="49" charset="0"/>
              </a:rPr>
              <a:t>		</a:t>
            </a:r>
            <a:r>
              <a:rPr lang="en-GB" sz="1600" b="1" dirty="0">
                <a:solidFill>
                  <a:srgbClr val="3F7F5F"/>
                </a:solidFill>
                <a:latin typeface="Lucida Console" panose="020B0609040504020204" pitchFamily="49" charset="0"/>
              </a:rPr>
              <a:t>// No car available</a:t>
            </a:r>
          </a:p>
          <a:p>
            <a:r>
              <a:rPr lang="en-GB" sz="1600" b="1" dirty="0">
                <a:solidFill>
                  <a:srgbClr val="000000"/>
                </a:solidFill>
                <a:latin typeface="Lucida Console" panose="020B0609040504020204" pitchFamily="49" charset="0"/>
              </a:rPr>
              <a:t>	}</a:t>
            </a:r>
          </a:p>
          <a:p>
            <a:r>
              <a:rPr lang="en-GB" sz="1600" b="1" dirty="0">
                <a:solidFill>
                  <a:srgbClr val="000000"/>
                </a:solidFill>
                <a:latin typeface="Lucida Console" panose="020B0609040504020204" pitchFamily="49" charset="0"/>
              </a:rPr>
              <a:t>}</a:t>
            </a:r>
            <a:endParaRPr lang="en-GB" sz="1600" b="1" dirty="0">
              <a:latin typeface="Lucida Console" panose="020B0609040504020204" pitchFamily="49" charset="0"/>
            </a:endParaRPr>
          </a:p>
        </p:txBody>
      </p:sp>
      <p:sp>
        <p:nvSpPr>
          <p:cNvPr id="19" name="Rounded Rectangular Callout 1">
            <a:extLst>
              <a:ext uri="{FF2B5EF4-FFF2-40B4-BE49-F238E27FC236}">
                <a16:creationId xmlns:a16="http://schemas.microsoft.com/office/drawing/2014/main" id="{BAF00444-E115-C35D-C2F3-15EEE58D98A6}"/>
              </a:ext>
            </a:extLst>
          </p:cNvPr>
          <p:cNvSpPr/>
          <p:nvPr/>
        </p:nvSpPr>
        <p:spPr>
          <a:xfrm>
            <a:off x="8046209" y="4373145"/>
            <a:ext cx="3027268" cy="888275"/>
          </a:xfrm>
          <a:prstGeom prst="wedgeRoundRectCallout">
            <a:avLst>
              <a:gd name="adj1" fmla="val -55134"/>
              <a:gd name="adj2" fmla="val -1416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olidFill>
                  <a:schemeClr val="bg1"/>
                </a:solidFill>
              </a:rPr>
              <a:t>Can compare an object reference with null</a:t>
            </a:r>
          </a:p>
        </p:txBody>
      </p:sp>
      <p:sp>
        <p:nvSpPr>
          <p:cNvPr id="20" name="Rounded Rectangular Callout 3">
            <a:extLst>
              <a:ext uri="{FF2B5EF4-FFF2-40B4-BE49-F238E27FC236}">
                <a16:creationId xmlns:a16="http://schemas.microsoft.com/office/drawing/2014/main" id="{894AA547-8DE5-D079-C130-B8589275DA44}"/>
              </a:ext>
            </a:extLst>
          </p:cNvPr>
          <p:cNvSpPr/>
          <p:nvPr/>
        </p:nvSpPr>
        <p:spPr>
          <a:xfrm>
            <a:off x="8127489" y="2192486"/>
            <a:ext cx="2945988" cy="805001"/>
          </a:xfrm>
          <a:prstGeom prst="wedgeRoundRectCallout">
            <a:avLst>
              <a:gd name="adj1" fmla="val -57580"/>
              <a:gd name="adj2" fmla="val -15763"/>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err="1">
                <a:solidFill>
                  <a:schemeClr val="bg1"/>
                </a:solidFill>
              </a:rPr>
              <a:t>aCar</a:t>
            </a:r>
            <a:r>
              <a:rPr lang="en-GB" sz="1600" dirty="0"/>
              <a:t> </a:t>
            </a:r>
            <a:r>
              <a:rPr lang="en-GB" sz="1600" b="1" dirty="0"/>
              <a:t>may not reference an object</a:t>
            </a:r>
          </a:p>
        </p:txBody>
      </p:sp>
      <p:grpSp>
        <p:nvGrpSpPr>
          <p:cNvPr id="26" name="Group 25">
            <a:extLst>
              <a:ext uri="{FF2B5EF4-FFF2-40B4-BE49-F238E27FC236}">
                <a16:creationId xmlns:a16="http://schemas.microsoft.com/office/drawing/2014/main" id="{CD6C07AC-05D9-269A-7379-4AD549FCAF05}"/>
              </a:ext>
            </a:extLst>
          </p:cNvPr>
          <p:cNvGrpSpPr/>
          <p:nvPr/>
        </p:nvGrpSpPr>
        <p:grpSpPr>
          <a:xfrm>
            <a:off x="4843663" y="2136698"/>
            <a:ext cx="2883862" cy="721501"/>
            <a:chOff x="4081663" y="2309418"/>
            <a:chExt cx="2883862" cy="721501"/>
          </a:xfrm>
        </p:grpSpPr>
        <p:pic>
          <p:nvPicPr>
            <p:cNvPr id="21" name="Graphic 20" descr="Car outline">
              <a:extLst>
                <a:ext uri="{FF2B5EF4-FFF2-40B4-BE49-F238E27FC236}">
                  <a16:creationId xmlns:a16="http://schemas.microsoft.com/office/drawing/2014/main" id="{2A040DAA-2FA8-FFF2-3869-6CFB483552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6666" y="2377174"/>
              <a:ext cx="718859" cy="653745"/>
            </a:xfrm>
            <a:prstGeom prst="rect">
              <a:avLst/>
            </a:prstGeom>
          </p:spPr>
        </p:pic>
        <p:pic>
          <p:nvPicPr>
            <p:cNvPr id="22" name="Graphic 21" descr="Convertible with solid fill">
              <a:extLst>
                <a:ext uri="{FF2B5EF4-FFF2-40B4-BE49-F238E27FC236}">
                  <a16:creationId xmlns:a16="http://schemas.microsoft.com/office/drawing/2014/main" id="{1B86493F-2C8E-1FBC-1996-9716CD2B8D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1663" y="2309418"/>
              <a:ext cx="718859" cy="653745"/>
            </a:xfrm>
            <a:prstGeom prst="rect">
              <a:avLst/>
            </a:prstGeom>
          </p:spPr>
        </p:pic>
        <p:pic>
          <p:nvPicPr>
            <p:cNvPr id="23" name="Graphic 22" descr="Car with solid fill">
              <a:extLst>
                <a:ext uri="{FF2B5EF4-FFF2-40B4-BE49-F238E27FC236}">
                  <a16:creationId xmlns:a16="http://schemas.microsoft.com/office/drawing/2014/main" id="{1CC29098-CC5D-47EA-6FEC-6359014C2C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7807" y="2363775"/>
              <a:ext cx="718859" cy="653745"/>
            </a:xfrm>
            <a:prstGeom prst="rect">
              <a:avLst/>
            </a:prstGeom>
          </p:spPr>
        </p:pic>
        <p:pic>
          <p:nvPicPr>
            <p:cNvPr id="24" name="Graphic 23" descr="Electric car with solid fill">
              <a:extLst>
                <a:ext uri="{FF2B5EF4-FFF2-40B4-BE49-F238E27FC236}">
                  <a16:creationId xmlns:a16="http://schemas.microsoft.com/office/drawing/2014/main" id="{138FBEDE-276F-9205-BC65-8E0452CAA3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83099" y="2309418"/>
              <a:ext cx="718859" cy="653745"/>
            </a:xfrm>
            <a:prstGeom prst="rect">
              <a:avLst/>
            </a:prstGeom>
          </p:spPr>
        </p:pic>
      </p:grpSp>
    </p:spTree>
    <p:extLst>
      <p:ext uri="{BB962C8B-B14F-4D97-AF65-F5344CB8AC3E}">
        <p14:creationId xmlns:p14="http://schemas.microsoft.com/office/powerpoint/2010/main" val="226235873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 </a:t>
            </a:r>
            <a:r>
              <a:rPr lang="en-GB" dirty="0">
                <a:solidFill>
                  <a:schemeClr val="accent1">
                    <a:lumMod val="75000"/>
                    <a:lumOff val="25000"/>
                  </a:schemeClr>
                </a:solidFill>
              </a:rPr>
              <a:t>struct</a:t>
            </a:r>
            <a:r>
              <a:rPr lang="en-GB" dirty="0"/>
              <a:t> ?</a:t>
            </a:r>
            <a:endParaRPr lang="en-GB" dirty="0">
              <a:solidFill>
                <a:schemeClr val="accent1">
                  <a:lumMod val="75000"/>
                  <a:lumOff val="25000"/>
                </a:schemeClr>
              </a:solidFill>
            </a:endParaRPr>
          </a:p>
        </p:txBody>
      </p:sp>
      <p:sp>
        <p:nvSpPr>
          <p:cNvPr id="3" name="Content Placeholder 2"/>
          <p:cNvSpPr>
            <a:spLocks noGrp="1"/>
          </p:cNvSpPr>
          <p:nvPr>
            <p:ph idx="1"/>
          </p:nvPr>
        </p:nvSpPr>
        <p:spPr/>
        <p:txBody>
          <a:bodyPr vert="horz" lIns="0" tIns="0" rIns="0" bIns="0" rtlCol="0" anchor="t" anchorCtr="0">
            <a:noAutofit/>
          </a:bodyPr>
          <a:lstStyle/>
          <a:p>
            <a:r>
              <a:rPr lang="en-GB" sz="1600" b="1" dirty="0"/>
              <a:t>A struct is mainly used to package small number of other </a:t>
            </a:r>
            <a:r>
              <a:rPr lang="en-GB" sz="1600" b="1" dirty="0">
                <a:solidFill>
                  <a:schemeClr val="tx1">
                    <a:lumMod val="75000"/>
                    <a:lumOff val="25000"/>
                  </a:schemeClr>
                </a:solidFill>
              </a:rPr>
              <a:t>Value types </a:t>
            </a:r>
            <a:r>
              <a:rPr lang="en-GB" sz="1600" b="1" dirty="0"/>
              <a:t>together</a:t>
            </a:r>
            <a:endParaRPr lang="en-GB" sz="1600" dirty="0"/>
          </a:p>
          <a:p>
            <a:pPr marL="342900" indent="-342900">
              <a:lnSpc>
                <a:spcPct val="150000"/>
              </a:lnSpc>
              <a:buFont typeface="Arial" panose="020B0604020202020204" pitchFamily="34" charset="0"/>
              <a:buChar char="•"/>
            </a:pPr>
            <a:r>
              <a:rPr lang="en-GB" sz="1600" dirty="0"/>
              <a:t>Can be instantiated without using the </a:t>
            </a:r>
            <a:r>
              <a:rPr lang="en-GB" sz="1600" b="1" dirty="0">
                <a:solidFill>
                  <a:schemeClr val="accent1">
                    <a:lumMod val="75000"/>
                    <a:lumOff val="25000"/>
                  </a:schemeClr>
                </a:solidFill>
              </a:rPr>
              <a:t>new </a:t>
            </a:r>
            <a:r>
              <a:rPr lang="en-GB" sz="1600" dirty="0"/>
              <a:t>keyword. </a:t>
            </a:r>
          </a:p>
          <a:p>
            <a:pPr marL="342900" indent="-342900">
              <a:lnSpc>
                <a:spcPct val="150000"/>
              </a:lnSpc>
              <a:buFont typeface="Arial" panose="020B0604020202020204" pitchFamily="34" charset="0"/>
              <a:buChar char="•"/>
            </a:pPr>
            <a:r>
              <a:rPr lang="en-GB" sz="1600" dirty="0"/>
              <a:t>Can declare </a:t>
            </a:r>
            <a:r>
              <a:rPr lang="en-GB" sz="1600" b="1" dirty="0"/>
              <a:t>constructors</a:t>
            </a:r>
            <a:r>
              <a:rPr lang="en-GB" sz="1600" dirty="0"/>
              <a:t> with parameters but the </a:t>
            </a:r>
            <a:r>
              <a:rPr lang="en-GB" sz="1600" b="1" dirty="0"/>
              <a:t>default one will always remain</a:t>
            </a:r>
            <a:r>
              <a:rPr lang="en-GB" sz="1600" dirty="0"/>
              <a:t>!</a:t>
            </a:r>
          </a:p>
          <a:p>
            <a:pPr marL="342900" indent="-342900">
              <a:lnSpc>
                <a:spcPct val="150000"/>
              </a:lnSpc>
              <a:buFont typeface="Arial" panose="020B0604020202020204" pitchFamily="34" charset="0"/>
              <a:buChar char="•"/>
            </a:pPr>
            <a:r>
              <a:rPr lang="en-GB" sz="1600" dirty="0"/>
              <a:t>Can have fields, properties and methods just like classes</a:t>
            </a:r>
          </a:p>
          <a:p>
            <a:pPr marL="342900" indent="-342900">
              <a:lnSpc>
                <a:spcPct val="150000"/>
              </a:lnSpc>
              <a:buFont typeface="Arial" panose="020B0604020202020204" pitchFamily="34" charset="0"/>
              <a:buChar char="•"/>
            </a:pPr>
            <a:r>
              <a:rPr lang="en-GB" sz="1600" dirty="0"/>
              <a:t>Cannot inherit from another</a:t>
            </a:r>
            <a:r>
              <a:rPr lang="en-GB" sz="1600" b="1" dirty="0"/>
              <a:t> struct</a:t>
            </a:r>
            <a:r>
              <a:rPr lang="en-GB" sz="1600" dirty="0"/>
              <a:t> or class (</a:t>
            </a:r>
            <a:r>
              <a:rPr lang="en-GB" sz="1600" b="1" dirty="0"/>
              <a:t>no OO</a:t>
            </a:r>
            <a:r>
              <a:rPr lang="en-GB" sz="1600" dirty="0"/>
              <a:t>!)</a:t>
            </a:r>
          </a:p>
          <a:p>
            <a:pPr marL="342900" indent="-342900">
              <a:buFont typeface="Arial" panose="020B0604020202020204" pitchFamily="34" charset="0"/>
              <a:buChar char="•"/>
            </a:pPr>
            <a:endParaRPr lang="en-GB" sz="1600" dirty="0"/>
          </a:p>
        </p:txBody>
      </p:sp>
    </p:spTree>
    <p:extLst>
      <p:ext uri="{BB962C8B-B14F-4D97-AF65-F5344CB8AC3E}">
        <p14:creationId xmlns:p14="http://schemas.microsoft.com/office/powerpoint/2010/main" val="2125226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DF644-6C82-0D8D-3BAC-F0C43A5F5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A55DB-8763-BF6D-8A97-A618461BBD24}"/>
              </a:ext>
            </a:extLst>
          </p:cNvPr>
          <p:cNvSpPr>
            <a:spLocks noGrp="1"/>
          </p:cNvSpPr>
          <p:nvPr>
            <p:ph type="title"/>
          </p:nvPr>
        </p:nvSpPr>
        <p:spPr/>
        <p:txBody>
          <a:bodyPr/>
          <a:lstStyle/>
          <a:p>
            <a:r>
              <a:rPr lang="en-GB" dirty="0"/>
              <a:t>What is a </a:t>
            </a:r>
            <a:r>
              <a:rPr lang="en-GB" dirty="0">
                <a:solidFill>
                  <a:schemeClr val="accent1">
                    <a:lumMod val="75000"/>
                    <a:lumOff val="25000"/>
                  </a:schemeClr>
                </a:solidFill>
              </a:rPr>
              <a:t>struct</a:t>
            </a:r>
            <a:r>
              <a:rPr lang="en-GB" dirty="0"/>
              <a:t> ?</a:t>
            </a:r>
            <a:endParaRPr lang="en-GB" dirty="0">
              <a:solidFill>
                <a:schemeClr val="accent1">
                  <a:lumMod val="75000"/>
                  <a:lumOff val="25000"/>
                </a:schemeClr>
              </a:solidFill>
            </a:endParaRPr>
          </a:p>
        </p:txBody>
      </p:sp>
      <p:sp>
        <p:nvSpPr>
          <p:cNvPr id="3" name="Content Placeholder 2">
            <a:extLst>
              <a:ext uri="{FF2B5EF4-FFF2-40B4-BE49-F238E27FC236}">
                <a16:creationId xmlns:a16="http://schemas.microsoft.com/office/drawing/2014/main" id="{30373970-2076-7378-A2F3-3AC553493F49}"/>
              </a:ext>
            </a:extLst>
          </p:cNvPr>
          <p:cNvSpPr>
            <a:spLocks noGrp="1"/>
          </p:cNvSpPr>
          <p:nvPr>
            <p:ph idx="1"/>
          </p:nvPr>
        </p:nvSpPr>
        <p:spPr/>
        <p:txBody>
          <a:bodyPr vert="horz" lIns="0" tIns="0" rIns="0" bIns="0" rtlCol="0" anchor="t" anchorCtr="0">
            <a:noAutofit/>
          </a:bodyPr>
          <a:lstStyle/>
          <a:p>
            <a:pPr marL="342900" indent="-342900">
              <a:buFont typeface="Arial" panose="020B0604020202020204" pitchFamily="34" charset="0"/>
              <a:buChar char="•"/>
            </a:pPr>
            <a:r>
              <a:rPr lang="en-GB" sz="1600" dirty="0"/>
              <a:t>Microsoft has defined many structs such as </a:t>
            </a:r>
            <a:r>
              <a:rPr lang="en-GB" sz="1600" b="1" dirty="0"/>
              <a:t>int </a:t>
            </a:r>
            <a:r>
              <a:rPr lang="en-GB" sz="1600" dirty="0"/>
              <a:t>and </a:t>
            </a:r>
            <a:r>
              <a:rPr lang="en-GB" sz="1600" b="1" dirty="0"/>
              <a:t>double </a:t>
            </a:r>
            <a:r>
              <a:rPr lang="en-GB" sz="1600" dirty="0"/>
              <a:t>which you've used already!</a:t>
            </a:r>
          </a:p>
          <a:p>
            <a:pPr marL="698500" lvl="1" indent="-342900">
              <a:lnSpc>
                <a:spcPct val="150000"/>
              </a:lnSpc>
            </a:pPr>
            <a:r>
              <a:rPr lang="en-GB" sz="1600" dirty="0"/>
              <a:t>It has many more, like </a:t>
            </a:r>
            <a:r>
              <a:rPr lang="en-GB" sz="1600" b="1" i="1" dirty="0"/>
              <a:t>Rectangle</a:t>
            </a:r>
            <a:r>
              <a:rPr lang="en-GB" sz="1600" i="1" dirty="0"/>
              <a:t>, </a:t>
            </a:r>
            <a:r>
              <a:rPr lang="en-GB" sz="1600" b="1" i="1" dirty="0"/>
              <a:t>Point</a:t>
            </a:r>
            <a:r>
              <a:rPr lang="en-GB" sz="1600" i="1" dirty="0"/>
              <a:t>, </a:t>
            </a:r>
            <a:r>
              <a:rPr lang="en-GB" sz="1600" b="1" i="1" dirty="0"/>
              <a:t>Size</a:t>
            </a:r>
            <a:r>
              <a:rPr lang="en-GB" sz="1600" i="1" dirty="0"/>
              <a:t>,…</a:t>
            </a:r>
          </a:p>
          <a:p>
            <a:pPr marL="698500" lvl="1" indent="-342900">
              <a:lnSpc>
                <a:spcPct val="150000"/>
              </a:lnSpc>
            </a:pPr>
            <a:r>
              <a:rPr lang="en-GB" sz="1600" b="1" dirty="0"/>
              <a:t>struct </a:t>
            </a:r>
            <a:r>
              <a:rPr lang="en-GB" sz="1600" dirty="0"/>
              <a:t>types can be passed </a:t>
            </a:r>
            <a:r>
              <a:rPr lang="en-GB" sz="1600" b="1" dirty="0"/>
              <a:t>by Value </a:t>
            </a:r>
            <a:r>
              <a:rPr lang="en-GB" sz="1600" dirty="0"/>
              <a:t>(by copy) from one method to another</a:t>
            </a:r>
          </a:p>
          <a:p>
            <a:pPr marL="698500" lvl="1" indent="-342900"/>
            <a:endParaRPr lang="en-GB" sz="1600" dirty="0"/>
          </a:p>
          <a:p>
            <a:pPr marL="342900" indent="-342900">
              <a:buFont typeface="Arial" panose="020B0604020202020204" pitchFamily="34" charset="0"/>
              <a:buChar char="•"/>
            </a:pPr>
            <a:r>
              <a:rPr lang="en-GB" sz="1600" b="1" dirty="0"/>
              <a:t>structs live on the Stack </a:t>
            </a:r>
            <a:r>
              <a:rPr lang="en-GB" sz="1600" dirty="0"/>
              <a:t>not the Heap and are more efficient than reference types, but…</a:t>
            </a:r>
          </a:p>
          <a:p>
            <a:pPr marL="812800" lvl="1" indent="-457200">
              <a:lnSpc>
                <a:spcPct val="150000"/>
              </a:lnSpc>
            </a:pPr>
            <a:r>
              <a:rPr lang="en-GB" sz="1600" dirty="0"/>
              <a:t>Do not define </a:t>
            </a:r>
            <a:r>
              <a:rPr lang="en-GB" sz="1600" b="1" dirty="0"/>
              <a:t>fields that are reference </a:t>
            </a:r>
            <a:r>
              <a:rPr lang="en-GB" sz="1600" dirty="0"/>
              <a:t>types (like string, array, List, or any other object)</a:t>
            </a:r>
          </a:p>
          <a:p>
            <a:pPr marL="812800" lvl="1" indent="-457200">
              <a:lnSpc>
                <a:spcPct val="150000"/>
              </a:lnSpc>
            </a:pPr>
            <a:r>
              <a:rPr lang="en-GB" sz="1600" dirty="0"/>
              <a:t>Keep the overall </a:t>
            </a:r>
            <a:r>
              <a:rPr lang="en-GB" sz="1600" b="1" dirty="0"/>
              <a:t>size</a:t>
            </a:r>
            <a:r>
              <a:rPr lang="en-GB" sz="1600" dirty="0"/>
              <a:t> of the fields small</a:t>
            </a:r>
          </a:p>
          <a:p>
            <a:pPr marL="457200" indent="-457200">
              <a:buFont typeface="Arial" panose="020B0604020202020204" pitchFamily="34" charset="0"/>
              <a:buChar char="•"/>
            </a:pPr>
            <a:endParaRPr lang="en-GB" sz="1800" dirty="0"/>
          </a:p>
          <a:p>
            <a:pPr marL="457200" indent="-457200">
              <a:buFont typeface="Arial" panose="020B0604020202020204" pitchFamily="34" charset="0"/>
              <a:buChar char="•"/>
            </a:pPr>
            <a:r>
              <a:rPr lang="en-GB" sz="1800" dirty="0"/>
              <a:t>There aren't many instances in real life to create a struct but they do show up!</a:t>
            </a:r>
          </a:p>
          <a:p>
            <a:endParaRPr lang="en-GB" b="1" dirty="0"/>
          </a:p>
          <a:p>
            <a:pPr marL="698500" lvl="1" indent="-342900"/>
            <a:endParaRPr lang="en-GB" sz="1600" dirty="0"/>
          </a:p>
          <a:p>
            <a:endParaRPr lang="en-GB" sz="1600" dirty="0"/>
          </a:p>
        </p:txBody>
      </p:sp>
    </p:spTree>
    <p:extLst>
      <p:ext uri="{BB962C8B-B14F-4D97-AF65-F5344CB8AC3E}">
        <p14:creationId xmlns:p14="http://schemas.microsoft.com/office/powerpoint/2010/main" val="2782589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example of a </a:t>
            </a:r>
            <a:r>
              <a:rPr lang="en-GB" dirty="0">
                <a:solidFill>
                  <a:schemeClr val="accent1">
                    <a:lumMod val="75000"/>
                    <a:lumOff val="25000"/>
                  </a:schemeClr>
                </a:solidFill>
              </a:rPr>
              <a:t>struct</a:t>
            </a:r>
          </a:p>
        </p:txBody>
      </p:sp>
      <p:sp>
        <p:nvSpPr>
          <p:cNvPr id="7" name="TextBox 6">
            <a:extLst>
              <a:ext uri="{FF2B5EF4-FFF2-40B4-BE49-F238E27FC236}">
                <a16:creationId xmlns:a16="http://schemas.microsoft.com/office/drawing/2014/main" id="{6F73BE05-A241-F6C7-1FE4-C4F9D814CCE9}"/>
              </a:ext>
            </a:extLst>
          </p:cNvPr>
          <p:cNvSpPr txBox="1"/>
          <p:nvPr/>
        </p:nvSpPr>
        <p:spPr>
          <a:xfrm>
            <a:off x="501033" y="1552119"/>
            <a:ext cx="6583878" cy="3539430"/>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struct</a:t>
            </a:r>
            <a:r>
              <a:rPr lang="en-GB" sz="1600" dirty="0">
                <a:solidFill>
                  <a:srgbClr val="000000"/>
                </a:solidFill>
                <a:latin typeface="Cascadia Mono" panose="020B0609020000020004" pitchFamily="49" charset="0"/>
              </a:rPr>
              <a:t> </a:t>
            </a:r>
            <a:r>
              <a:rPr lang="en-GB" sz="1600" dirty="0">
                <a:solidFill>
                  <a:srgbClr val="2B91AF"/>
                </a:solidFill>
                <a:latin typeface="Cascadia Mono" panose="020B0609020000020004" pitchFamily="49" charset="0"/>
              </a:rPr>
              <a:t>Bound</a:t>
            </a:r>
            <a:endParaRPr lang="en-GB" sz="1600" dirty="0">
              <a:solidFill>
                <a:srgbClr val="000000"/>
              </a:solidFill>
              <a:latin typeface="Cascadia Mono" panose="020B0609020000020004" pitchFamily="49" charset="0"/>
            </a:endParaRPr>
          </a:p>
          <a:p>
            <a:r>
              <a:rPr lang="en-GB"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err="1">
                <a:solidFill>
                  <a:srgbClr val="0000FF"/>
                </a:solidFill>
                <a:latin typeface="Cascadia Mono" panose="020B0609020000020004" pitchFamily="49" charset="0"/>
              </a:rPr>
              <a:t>int</a:t>
            </a:r>
            <a:r>
              <a:rPr lang="fr-FR" sz="1600" dirty="0">
                <a:solidFill>
                  <a:srgbClr val="000000"/>
                </a:solidFill>
                <a:latin typeface="Cascadia Mono" panose="020B0609020000020004" pitchFamily="49" charset="0"/>
              </a:rPr>
              <a:t> X, Y, W, H;</a:t>
            </a:r>
          </a:p>
          <a:p>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2B91AF"/>
                </a:solidFill>
                <a:latin typeface="Cascadia Mono" panose="020B0609020000020004" pitchFamily="49" charset="0"/>
              </a:rPr>
              <a:t>Bound</a:t>
            </a:r>
            <a:r>
              <a:rPr lang="en-GB" sz="1600" dirty="0">
                <a:solidFill>
                  <a:srgbClr val="000000"/>
                </a:solidFill>
                <a:latin typeface="Cascadia Mono" panose="020B0609020000020004" pitchFamily="49" charset="0"/>
              </a:rPr>
              <a:t>(</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x,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y,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w,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h)</a:t>
            </a:r>
          </a:p>
          <a:p>
            <a:r>
              <a:rPr lang="en-GB" sz="1600" dirty="0">
                <a:solidFill>
                  <a:srgbClr val="000000"/>
                </a:solidFill>
                <a:latin typeface="Cascadia Mono" panose="020B0609020000020004" pitchFamily="49" charset="0"/>
              </a:rPr>
              <a:t>    {</a:t>
            </a:r>
          </a:p>
          <a:p>
            <a:r>
              <a:rPr lang="pl-PL" sz="1600" dirty="0">
                <a:solidFill>
                  <a:srgbClr val="000000"/>
                </a:solidFill>
                <a:latin typeface="Cascadia Mono" panose="020B0609020000020004" pitchFamily="49" charset="0"/>
              </a:rPr>
              <a:t>        X = x; Y = y; W = w; H = h;</a:t>
            </a:r>
          </a:p>
          <a:p>
            <a:r>
              <a:rPr lang="en-GB" sz="1600" dirty="0">
                <a:solidFill>
                  <a:srgbClr val="000000"/>
                </a:solidFill>
                <a:latin typeface="Cascadia Mono" panose="020B0609020000020004" pitchFamily="49" charset="0"/>
              </a:rPr>
              <a:t>    }</a:t>
            </a:r>
          </a:p>
          <a:p>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Right { </a:t>
            </a:r>
            <a:r>
              <a:rPr lang="en-GB" sz="1600" dirty="0">
                <a:solidFill>
                  <a:srgbClr val="0000FF"/>
                </a:solidFill>
                <a:latin typeface="Cascadia Mono" panose="020B0609020000020004" pitchFamily="49" charset="0"/>
              </a:rPr>
              <a:t>get</a:t>
            </a:r>
            <a:r>
              <a:rPr lang="en-GB" sz="1600" dirty="0">
                <a:solidFill>
                  <a:srgbClr val="000000"/>
                </a:solidFill>
                <a:latin typeface="Cascadia Mono" panose="020B0609020000020004" pitchFamily="49" charset="0"/>
              </a:rPr>
              <a:t> { </a:t>
            </a:r>
            <a:r>
              <a:rPr lang="en-GB" sz="1600" dirty="0">
                <a:solidFill>
                  <a:srgbClr val="0000FF"/>
                </a:solidFill>
                <a:latin typeface="Cascadia Mono" panose="020B0609020000020004" pitchFamily="49" charset="0"/>
              </a:rPr>
              <a:t>return</a:t>
            </a:r>
            <a:r>
              <a:rPr lang="en-GB" sz="1600" dirty="0">
                <a:solidFill>
                  <a:srgbClr val="000000"/>
                </a:solidFill>
                <a:latin typeface="Cascadia Mono" panose="020B0609020000020004" pitchFamily="49" charset="0"/>
              </a:rPr>
              <a:t> X + W; } }</a:t>
            </a:r>
          </a:p>
          <a:p>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Bottom { </a:t>
            </a:r>
            <a:r>
              <a:rPr lang="en-GB" sz="1600" dirty="0">
                <a:solidFill>
                  <a:srgbClr val="0000FF"/>
                </a:solidFill>
                <a:latin typeface="Cascadia Mono" panose="020B0609020000020004" pitchFamily="49" charset="0"/>
              </a:rPr>
              <a:t>get</a:t>
            </a:r>
            <a:r>
              <a:rPr lang="en-GB" sz="1600" dirty="0">
                <a:solidFill>
                  <a:srgbClr val="000000"/>
                </a:solidFill>
                <a:latin typeface="Cascadia Mono" panose="020B0609020000020004" pitchFamily="49" charset="0"/>
              </a:rPr>
              <a:t> { </a:t>
            </a:r>
            <a:r>
              <a:rPr lang="en-GB" sz="1600" dirty="0">
                <a:solidFill>
                  <a:srgbClr val="0000FF"/>
                </a:solidFill>
                <a:latin typeface="Cascadia Mono" panose="020B0609020000020004" pitchFamily="49" charset="0"/>
              </a:rPr>
              <a:t>return</a:t>
            </a:r>
            <a:r>
              <a:rPr lang="en-GB" sz="1600" dirty="0">
                <a:solidFill>
                  <a:srgbClr val="000000"/>
                </a:solidFill>
                <a:latin typeface="Cascadia Mono" panose="020B0609020000020004" pitchFamily="49" charset="0"/>
              </a:rPr>
              <a:t> Y + H; } }</a:t>
            </a:r>
          </a:p>
          <a:p>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public</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void</a:t>
            </a:r>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MoveBy</a:t>
            </a:r>
            <a:r>
              <a:rPr lang="en-GB" sz="1600" dirty="0">
                <a:solidFill>
                  <a:srgbClr val="000000"/>
                </a:solidFill>
                <a:latin typeface="Cascadia Mono" panose="020B0609020000020004" pitchFamily="49" charset="0"/>
              </a:rPr>
              <a:t>(</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dx, </a:t>
            </a:r>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dy</a:t>
            </a:r>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    {</a:t>
            </a:r>
          </a:p>
          <a:p>
            <a:r>
              <a:rPr lang="en-GB" sz="1600" dirty="0">
                <a:solidFill>
                  <a:srgbClr val="000000"/>
                </a:solidFill>
                <a:latin typeface="Cascadia Mono" panose="020B0609020000020004" pitchFamily="49" charset="0"/>
              </a:rPr>
              <a:t>        X += dx; Y += </a:t>
            </a:r>
            <a:r>
              <a:rPr lang="en-GB" sz="1600" dirty="0" err="1">
                <a:solidFill>
                  <a:srgbClr val="000000"/>
                </a:solidFill>
                <a:latin typeface="Cascadia Mono" panose="020B0609020000020004" pitchFamily="49" charset="0"/>
              </a:rPr>
              <a:t>dy</a:t>
            </a:r>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    }</a:t>
            </a:r>
          </a:p>
          <a:p>
            <a:r>
              <a:rPr lang="en-GB" sz="1600" dirty="0">
                <a:solidFill>
                  <a:srgbClr val="000000"/>
                </a:solidFill>
                <a:latin typeface="Cascadia Mono" panose="020B0609020000020004" pitchFamily="49" charset="0"/>
              </a:rPr>
              <a:t>}</a:t>
            </a:r>
          </a:p>
        </p:txBody>
      </p:sp>
      <p:sp>
        <p:nvSpPr>
          <p:cNvPr id="5" name="Rectangle 4"/>
          <p:cNvSpPr/>
          <p:nvPr/>
        </p:nvSpPr>
        <p:spPr>
          <a:xfrm>
            <a:off x="7224155" y="1881624"/>
            <a:ext cx="3972166" cy="1323439"/>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2B91AF"/>
                </a:solidFill>
                <a:latin typeface="Cascadia Mono" panose="020B0609020000020004" pitchFamily="49" charset="0"/>
              </a:rPr>
              <a:t>Bound</a:t>
            </a:r>
            <a:r>
              <a:rPr lang="en-GB" sz="1600" b="1" dirty="0">
                <a:solidFill>
                  <a:srgbClr val="000000"/>
                </a:solidFill>
                <a:latin typeface="Consolas" panose="020B0609020204030204" pitchFamily="49" charset="0"/>
              </a:rPr>
              <a:t> b = </a:t>
            </a:r>
            <a:r>
              <a:rPr lang="en-GB" sz="1600" b="1" dirty="0">
                <a:solidFill>
                  <a:srgbClr val="0000FF"/>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a:solidFill>
                  <a:srgbClr val="2B91AF"/>
                </a:solidFill>
                <a:latin typeface="Cascadia Mono" panose="020B0609020000020004" pitchFamily="49" charset="0"/>
              </a:rPr>
              <a:t>Bound</a:t>
            </a:r>
            <a:r>
              <a:rPr lang="en-GB" sz="1600" b="1" dirty="0">
                <a:solidFill>
                  <a:srgbClr val="000000"/>
                </a:solidFill>
                <a:latin typeface="Consolas" panose="020B0609020204030204" pitchFamily="49" charset="0"/>
              </a:rPr>
              <a:t>(1,2,5,9);</a:t>
            </a:r>
          </a:p>
          <a:p>
            <a:endParaRPr lang="en-GB" sz="1600" b="1" dirty="0">
              <a:solidFill>
                <a:srgbClr val="000000"/>
              </a:solidFill>
              <a:latin typeface="Consolas" panose="020B0609020204030204" pitchFamily="49" charset="0"/>
            </a:endParaRPr>
          </a:p>
          <a:p>
            <a:r>
              <a:rPr lang="en-GB" sz="1600" b="1" dirty="0" err="1">
                <a:solidFill>
                  <a:srgbClr val="000000"/>
                </a:solidFill>
                <a:latin typeface="Consolas" panose="020B0609020204030204" pitchFamily="49" charset="0"/>
              </a:rPr>
              <a:t>b.MoveBy</a:t>
            </a:r>
            <a:r>
              <a:rPr lang="en-GB" sz="1600" b="1" dirty="0">
                <a:solidFill>
                  <a:srgbClr val="000000"/>
                </a:solidFill>
                <a:latin typeface="Consolas" panose="020B0609020204030204" pitchFamily="49" charset="0"/>
              </a:rPr>
              <a:t>(2,3)</a:t>
            </a:r>
          </a:p>
          <a:p>
            <a:endParaRPr lang="en-GB" sz="1600" b="1" dirty="0">
              <a:solidFill>
                <a:srgbClr val="000000"/>
              </a:solidFill>
              <a:latin typeface="Consolas" panose="020B0609020204030204" pitchFamily="49" charset="0"/>
            </a:endParaRPr>
          </a:p>
          <a:p>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000000"/>
                </a:solidFill>
                <a:latin typeface="Consolas" panose="020B0609020204030204" pitchFamily="49" charset="0"/>
              </a:rPr>
              <a:t>b.Right</a:t>
            </a:r>
            <a:r>
              <a:rPr lang="en-GB" sz="1600" b="1" dirty="0">
                <a:solidFill>
                  <a:srgbClr val="000000"/>
                </a:solidFill>
                <a:latin typeface="Consolas" panose="020B0609020204030204" pitchFamily="49" charset="0"/>
              </a:rPr>
              <a:t>);</a:t>
            </a:r>
          </a:p>
        </p:txBody>
      </p:sp>
      <p:sp>
        <p:nvSpPr>
          <p:cNvPr id="9" name="Rectangle 8">
            <a:extLst>
              <a:ext uri="{FF2B5EF4-FFF2-40B4-BE49-F238E27FC236}">
                <a16:creationId xmlns:a16="http://schemas.microsoft.com/office/drawing/2014/main" id="{2F3DE15C-81FC-60E1-AAB7-2A4C657E4024}"/>
              </a:ext>
            </a:extLst>
          </p:cNvPr>
          <p:cNvSpPr/>
          <p:nvPr/>
        </p:nvSpPr>
        <p:spPr>
          <a:xfrm>
            <a:off x="7224155" y="3729054"/>
            <a:ext cx="3972166" cy="1815882"/>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2B91AF"/>
                </a:solidFill>
                <a:latin typeface="Cascadia Mono" panose="020B0609020000020004" pitchFamily="49" charset="0"/>
              </a:rPr>
              <a:t>Bound</a:t>
            </a:r>
            <a:r>
              <a:rPr lang="en-GB" sz="1600" b="1" dirty="0">
                <a:solidFill>
                  <a:srgbClr val="000000"/>
                </a:solidFill>
                <a:latin typeface="Consolas" panose="020B0609020204030204" pitchFamily="49" charset="0"/>
              </a:rPr>
              <a:t> b;</a:t>
            </a:r>
          </a:p>
          <a:p>
            <a:r>
              <a:rPr lang="en-GB" sz="1600" b="1" dirty="0" err="1">
                <a:solidFill>
                  <a:srgbClr val="000000"/>
                </a:solidFill>
                <a:latin typeface="Consolas" panose="020B0609020204030204" pitchFamily="49" charset="0"/>
              </a:rPr>
              <a:t>b.X</a:t>
            </a:r>
            <a:r>
              <a:rPr lang="en-GB" sz="1600" b="1" dirty="0">
                <a:solidFill>
                  <a:srgbClr val="000000"/>
                </a:solidFill>
                <a:latin typeface="Consolas" panose="020B0609020204030204" pitchFamily="49" charset="0"/>
              </a:rPr>
              <a:t> = 1;</a:t>
            </a:r>
          </a:p>
          <a:p>
            <a:r>
              <a:rPr lang="en-GB" sz="1600" b="1" dirty="0" err="1">
                <a:solidFill>
                  <a:srgbClr val="000000"/>
                </a:solidFill>
                <a:latin typeface="Consolas" panose="020B0609020204030204" pitchFamily="49" charset="0"/>
              </a:rPr>
              <a:t>b.Y</a:t>
            </a:r>
            <a:r>
              <a:rPr lang="en-GB" sz="1600" b="1" dirty="0">
                <a:solidFill>
                  <a:srgbClr val="000000"/>
                </a:solidFill>
                <a:latin typeface="Consolas" panose="020B0609020204030204" pitchFamily="49" charset="0"/>
              </a:rPr>
              <a:t> = 2;</a:t>
            </a:r>
          </a:p>
          <a:p>
            <a:r>
              <a:rPr lang="en-GB" sz="1600" b="1" dirty="0" err="1">
                <a:solidFill>
                  <a:srgbClr val="000000"/>
                </a:solidFill>
                <a:latin typeface="Consolas" panose="020B0609020204030204" pitchFamily="49" charset="0"/>
              </a:rPr>
              <a:t>b.W</a:t>
            </a:r>
            <a:r>
              <a:rPr lang="en-GB" sz="1600" b="1" dirty="0">
                <a:solidFill>
                  <a:srgbClr val="000000"/>
                </a:solidFill>
                <a:latin typeface="Consolas" panose="020B0609020204030204" pitchFamily="49" charset="0"/>
              </a:rPr>
              <a:t> = 5;</a:t>
            </a:r>
          </a:p>
          <a:p>
            <a:r>
              <a:rPr lang="en-GB" sz="1600" b="1" dirty="0" err="1">
                <a:solidFill>
                  <a:srgbClr val="000000"/>
                </a:solidFill>
                <a:latin typeface="Consolas" panose="020B0609020204030204" pitchFamily="49" charset="0"/>
              </a:rPr>
              <a:t>b.H</a:t>
            </a:r>
            <a:r>
              <a:rPr lang="en-GB" sz="1600" b="1" dirty="0">
                <a:solidFill>
                  <a:srgbClr val="000000"/>
                </a:solidFill>
                <a:latin typeface="Consolas" panose="020B0609020204030204" pitchFamily="49" charset="0"/>
              </a:rPr>
              <a:t> = 9; </a:t>
            </a:r>
          </a:p>
          <a:p>
            <a:endParaRPr lang="en-GB" sz="1600" b="1" dirty="0">
              <a:solidFill>
                <a:srgbClr val="000000"/>
              </a:solidFill>
              <a:latin typeface="Consolas" panose="020B0609020204030204" pitchFamily="49" charset="0"/>
            </a:endParaRPr>
          </a:p>
          <a:p>
            <a:r>
              <a:rPr lang="en-GB" sz="1600" b="1" dirty="0" err="1">
                <a:solidFill>
                  <a:srgbClr val="000000"/>
                </a:solidFill>
                <a:latin typeface="Consolas" panose="020B0609020204030204" pitchFamily="49" charset="0"/>
              </a:rPr>
              <a:t>Console.WriteLine</a:t>
            </a:r>
            <a:r>
              <a:rPr lang="en-GB" sz="1600" b="1" dirty="0">
                <a:solidFill>
                  <a:srgbClr val="000000"/>
                </a:solidFill>
                <a:latin typeface="Consolas" panose="020B0609020204030204" pitchFamily="49" charset="0"/>
              </a:rPr>
              <a:t>(</a:t>
            </a:r>
            <a:r>
              <a:rPr lang="en-GB" sz="1600" b="1" dirty="0" err="1">
                <a:solidFill>
                  <a:srgbClr val="000000"/>
                </a:solidFill>
                <a:latin typeface="Consolas" panose="020B0609020204030204" pitchFamily="49" charset="0"/>
              </a:rPr>
              <a:t>b.Bottom</a:t>
            </a:r>
            <a:r>
              <a:rPr lang="en-GB" sz="1600" b="1" dirty="0">
                <a:solidFill>
                  <a:srgbClr val="000000"/>
                </a:solidFill>
                <a:latin typeface="Consolas" panose="020B0609020204030204" pitchFamily="49" charset="0"/>
              </a:rPr>
              <a:t>);</a:t>
            </a:r>
          </a:p>
        </p:txBody>
      </p:sp>
      <p:sp>
        <p:nvSpPr>
          <p:cNvPr id="10" name="Speech Bubble: Rectangle with Corners Rounded 9">
            <a:extLst>
              <a:ext uri="{FF2B5EF4-FFF2-40B4-BE49-F238E27FC236}">
                <a16:creationId xmlns:a16="http://schemas.microsoft.com/office/drawing/2014/main" id="{A3C1E5AA-EB83-2A92-DC5F-06ECAE5ADA1C}"/>
              </a:ext>
            </a:extLst>
          </p:cNvPr>
          <p:cNvSpPr/>
          <p:nvPr/>
        </p:nvSpPr>
        <p:spPr>
          <a:xfrm>
            <a:off x="8676640" y="4439920"/>
            <a:ext cx="2103120" cy="345440"/>
          </a:xfrm>
          <a:prstGeom prst="wedgeRoundRectCallout">
            <a:avLst>
              <a:gd name="adj1" fmla="val -63595"/>
              <a:gd name="adj2" fmla="val -32107"/>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200" b="1" dirty="0"/>
              <a:t>Every field must be set</a:t>
            </a:r>
          </a:p>
        </p:txBody>
      </p:sp>
    </p:spTree>
    <p:extLst>
      <p:ext uri="{BB962C8B-B14F-4D97-AF65-F5344CB8AC3E}">
        <p14:creationId xmlns:p14="http://schemas.microsoft.com/office/powerpoint/2010/main" val="362373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EFE51D-E154-4227-811A-B5517A36AAC1}"/>
              </a:ext>
            </a:extLst>
          </p:cNvPr>
          <p:cNvSpPr>
            <a:spLocks noGrp="1"/>
          </p:cNvSpPr>
          <p:nvPr>
            <p:ph type="body" sz="quarter" idx="11"/>
          </p:nvPr>
        </p:nvSpPr>
        <p:spPr/>
        <p:txBody>
          <a:bodyPr/>
          <a:lstStyle/>
          <a:p>
            <a:pPr marL="342900" indent="-342900">
              <a:buFont typeface="Arial" panose="020B0604020202020204" pitchFamily="34" charset="0"/>
              <a:buChar char="•"/>
            </a:pPr>
            <a:r>
              <a:rPr lang="en-GB" b="1" dirty="0"/>
              <a:t>OO concept </a:t>
            </a:r>
          </a:p>
          <a:p>
            <a:pPr marL="522900" lvl="1" indent="-342900"/>
            <a:r>
              <a:rPr lang="en-GB" b="1" dirty="0">
                <a:solidFill>
                  <a:srgbClr val="0070C0"/>
                </a:solidFill>
              </a:rPr>
              <a:t>Abstraction</a:t>
            </a:r>
            <a:r>
              <a:rPr lang="en-GB" b="1" dirty="0"/>
              <a:t> and </a:t>
            </a:r>
            <a:r>
              <a:rPr lang="en-GB" b="1" dirty="0">
                <a:solidFill>
                  <a:srgbClr val="0070C0"/>
                </a:solidFill>
              </a:rPr>
              <a:t>Encapsulation</a:t>
            </a:r>
            <a:br>
              <a:rPr lang="en-GB" b="1" dirty="0"/>
            </a:br>
            <a:endParaRPr lang="en-GB" b="1" dirty="0"/>
          </a:p>
          <a:p>
            <a:pPr marL="342900" indent="-342900">
              <a:buFont typeface="Arial" panose="020B0604020202020204" pitchFamily="34" charset="0"/>
              <a:buChar char="•"/>
            </a:pPr>
            <a:r>
              <a:rPr lang="en-GB" b="1" dirty="0"/>
              <a:t>Defining types using the class keyword</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Constructors</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Getters and Setters</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Methods and object communication</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Handling Null reference</a:t>
            </a:r>
          </a:p>
          <a:p>
            <a:pPr marL="342900" indent="-342900">
              <a:buFont typeface="Arial" panose="020B0604020202020204" pitchFamily="34" charset="0"/>
              <a:buChar char="•"/>
            </a:pPr>
            <a:endParaRPr lang="en-GB" b="1" dirty="0"/>
          </a:p>
          <a:p>
            <a:endParaRPr lang="en-IN" dirty="0"/>
          </a:p>
        </p:txBody>
      </p:sp>
      <p:pic>
        <p:nvPicPr>
          <p:cNvPr id="5" name="Picture 2" descr="Reviews - Web Sites: Recommended - Research Guides at Thrift Library">
            <a:extLst>
              <a:ext uri="{FF2B5EF4-FFF2-40B4-BE49-F238E27FC236}">
                <a16:creationId xmlns:a16="http://schemas.microsoft.com/office/drawing/2014/main" id="{8B577550-D691-3BC0-4C6C-B9C4A2779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218981"/>
            <a:ext cx="2816938" cy="2816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38BE8C6-930C-0A18-8836-12F64BB967D1}"/>
              </a:ext>
            </a:extLst>
          </p:cNvPr>
          <p:cNvSpPr>
            <a:spLocks noGrp="1"/>
          </p:cNvSpPr>
          <p:nvPr>
            <p:ph type="body" sz="quarter" idx="16"/>
          </p:nvPr>
        </p:nvSpPr>
        <p:spPr/>
        <p:txBody>
          <a:bodyPr/>
          <a:lstStyle/>
          <a:p>
            <a:r>
              <a:rPr lang="en-GB" dirty="0"/>
              <a:t>Lab</a:t>
            </a:r>
          </a:p>
        </p:txBody>
      </p:sp>
      <p:sp>
        <p:nvSpPr>
          <p:cNvPr id="25602" name="Rectangle 2"/>
          <p:cNvSpPr>
            <a:spLocks noGrp="1" noChangeArrowheads="1"/>
          </p:cNvSpPr>
          <p:nvPr>
            <p:ph type="ctrTitle" idx="4294967295"/>
          </p:nvPr>
        </p:nvSpPr>
        <p:spPr>
          <a:xfrm>
            <a:off x="0" y="1914525"/>
            <a:ext cx="3590925" cy="2276475"/>
          </a:xfrm>
        </p:spPr>
        <p:txBody>
          <a:bodyPr/>
          <a:lstStyle/>
          <a:p>
            <a:pPr eaLnBrk="1" hangingPunct="1"/>
            <a:r>
              <a:rPr lang="en-GB" dirty="0"/>
              <a:t>Lab</a:t>
            </a:r>
          </a:p>
        </p:txBody>
      </p:sp>
      <p:graphicFrame>
        <p:nvGraphicFramePr>
          <p:cNvPr id="6" name="Text Placeholder 1">
            <a:extLst>
              <a:ext uri="{FF2B5EF4-FFF2-40B4-BE49-F238E27FC236}">
                <a16:creationId xmlns:a16="http://schemas.microsoft.com/office/drawing/2014/main" id="{5DAE212E-5188-CB9A-6025-62DFB474DD50}"/>
              </a:ext>
            </a:extLst>
          </p:cNvPr>
          <p:cNvGraphicFramePr/>
          <p:nvPr>
            <p:extLst>
              <p:ext uri="{D42A27DB-BD31-4B8C-83A1-F6EECF244321}">
                <p14:modId xmlns:p14="http://schemas.microsoft.com/office/powerpoint/2010/main" val="3098849972"/>
              </p:ext>
            </p:extLst>
          </p:nvPr>
        </p:nvGraphicFramePr>
        <p:xfrm>
          <a:off x="5090712" y="1581616"/>
          <a:ext cx="5770328" cy="2898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B06E99-7B7A-4264-935E-0D074237E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B84FEBE-94F6-4AED-A494-5DF030D33ECA}">
  <ds:schemaRefs>
    <ds:schemaRef ds:uri="http://schemas.microsoft.com/office/2006/metadata/properties"/>
    <ds:schemaRef ds:uri="http://schemas.microsoft.com/office/infopath/2007/PartnerControls"/>
    <ds:schemaRef ds:uri="6794D9DE-4FDF-4DC0-8B2C-5438320C69D5"/>
  </ds:schemaRefs>
</ds:datastoreItem>
</file>

<file path=customXml/itemProps3.xml><?xml version="1.0" encoding="utf-8"?>
<ds:datastoreItem xmlns:ds="http://schemas.openxmlformats.org/officeDocument/2006/customXml" ds:itemID="{D839F13A-2840-491B-A04C-FDCD542FA1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2911</Words>
  <Application>Microsoft Office PowerPoint</Application>
  <PresentationFormat>Widescreen</PresentationFormat>
  <Paragraphs>389</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Cascadia Mono</vt:lpstr>
      <vt:lpstr>Consolas</vt:lpstr>
      <vt:lpstr>Courier New</vt:lpstr>
      <vt:lpstr>Krana Fat B</vt:lpstr>
      <vt:lpstr>Lucida Console</vt:lpstr>
      <vt:lpstr>Montserrat</vt:lpstr>
      <vt:lpstr>Wingdings</vt:lpstr>
      <vt:lpstr>Master</vt:lpstr>
      <vt:lpstr>Object Oriented programming</vt:lpstr>
      <vt:lpstr>Contents</vt:lpstr>
      <vt:lpstr>OO fundamentals – Abstraction</vt:lpstr>
      <vt:lpstr>An example of using abstraction</vt:lpstr>
      <vt:lpstr>OO fundamentals – Encapsulation</vt:lpstr>
      <vt:lpstr>Inheritance</vt:lpstr>
      <vt:lpstr>OO fundamentals – Objects communicate</vt:lpstr>
      <vt:lpstr>What is an OO data type?</vt:lpstr>
      <vt:lpstr>Creating objects</vt:lpstr>
      <vt:lpstr>Getters and setters – Property procedures</vt:lpstr>
      <vt:lpstr>Getters and setters</vt:lpstr>
      <vt:lpstr>Exposing state through Property methods</vt:lpstr>
      <vt:lpstr>Exposing state through Auto implemented Properties</vt:lpstr>
      <vt:lpstr>Object Construction</vt:lpstr>
      <vt:lpstr>Constructor</vt:lpstr>
      <vt:lpstr>Object Construction - Overloading</vt:lpstr>
      <vt:lpstr>Constructor Chaining Example</vt:lpstr>
      <vt:lpstr>The null Reference</vt:lpstr>
      <vt:lpstr>What is a struct ?</vt:lpstr>
      <vt:lpstr>What is a struct ?</vt:lpstr>
      <vt:lpstr>An example of a struct</vt:lpstr>
      <vt:lpstr>PowerPoint Presentation</vt:lpstr>
      <vt:lpstr>Lab</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1061</cp:revision>
  <cp:lastPrinted>2019-07-03T09:46:41Z</cp:lastPrinted>
  <dcterms:created xsi:type="dcterms:W3CDTF">2019-09-05T08:17:12Z</dcterms:created>
  <dcterms:modified xsi:type="dcterms:W3CDTF">2026-08-04T10:46:01Z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1000</vt:r8>
  </property>
  <property fmtid="{D5CDD505-2E9C-101B-9397-08002B2CF9AE}" pid="3" name="Chapter">
    <vt:lpwstr>1</vt:lpwstr>
  </property>
  <property fmtid="{D5CDD505-2E9C-101B-9397-08002B2CF9AE}" pid="4" name="ContentTypeId">
    <vt:lpwstr>0x010100F0967B7CEE8D417F966757887D9466FB00B3EF5B1D149FDF49B1880C030D548140</vt:lpwstr>
  </property>
  <property fmtid="{D5CDD505-2E9C-101B-9397-08002B2CF9AE}" pid="5" name="BookType">
    <vt:lpwstr>7</vt:lpwstr>
  </property>
</Properties>
</file>