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9" r:id="rId5"/>
    <p:sldId id="1562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70" r:id="rId14"/>
    <p:sldId id="789" r:id="rId15"/>
  </p:sldIdLst>
  <p:sldSz cx="12192000" cy="6858000"/>
  <p:notesSz cx="9775825" cy="664527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  <p:cmAuthor id="3" name="Sterne, Symon" initials="SS" lastIdx="71" clrIdx="2">
    <p:extLst>
      <p:ext uri="{19B8F6BF-5375-455C-9EA6-DF929625EA0E}">
        <p15:presenceInfo xmlns:p15="http://schemas.microsoft.com/office/powerpoint/2012/main" userId="S-1-5-21-3476036342-1731177862-1559577602-528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4050"/>
    <a:srgbClr val="F3622C"/>
    <a:srgbClr val="F7916D"/>
    <a:srgbClr val="28CFF9"/>
    <a:srgbClr val="000000"/>
    <a:srgbClr val="09EDB8"/>
    <a:srgbClr val="7E007C"/>
    <a:srgbClr val="BE7FBD"/>
    <a:srgbClr val="E5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744" autoAdjust="0"/>
  </p:normalViewPr>
  <p:slideViewPr>
    <p:cSldViewPr snapToGrid="0" snapToObjects="1" showGuides="1">
      <p:cViewPr varScale="1">
        <p:scale>
          <a:sx n="71" d="100"/>
          <a:sy n="71" d="100"/>
        </p:scale>
        <p:origin x="414" y="288"/>
      </p:cViewPr>
      <p:guideLst>
        <p:guide pos="3840"/>
        <p:guide orient="horz" pos="377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33" d="100"/>
          <a:sy n="133" d="100"/>
        </p:scale>
        <p:origin x="2016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2A72D3-E135-4843-BE9E-BB1E07D6FDFE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D34B3C9-910A-40E0-9A2A-E3E23E4AD0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dirty="0"/>
            <a:t>Objectives</a:t>
          </a:r>
          <a:endParaRPr lang="en-US" dirty="0"/>
        </a:p>
      </dgm:t>
    </dgm:pt>
    <dgm:pt modelId="{B89495C8-60F8-4C84-A33E-993839734F29}" type="parTrans" cxnId="{D3EF7098-958D-406A-994A-AC32EC4816FF}">
      <dgm:prSet/>
      <dgm:spPr/>
      <dgm:t>
        <a:bodyPr/>
        <a:lstStyle/>
        <a:p>
          <a:endParaRPr lang="en-US"/>
        </a:p>
      </dgm:t>
    </dgm:pt>
    <dgm:pt modelId="{E490D328-8B64-4C33-AC4D-163D7A091206}" type="sibTrans" cxnId="{D3EF7098-958D-406A-994A-AC32EC4816FF}">
      <dgm:prSet/>
      <dgm:spPr/>
      <dgm:t>
        <a:bodyPr/>
        <a:lstStyle/>
        <a:p>
          <a:endParaRPr lang="en-US"/>
        </a:p>
      </dgm:t>
    </dgm:pt>
    <dgm:pt modelId="{46C36F30-39D6-495F-AE95-32B182023C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To introduce C# Lamda Expressions and Techniques </a:t>
          </a:r>
          <a:br>
            <a:rPr lang="en-GB" dirty="0"/>
          </a:br>
          <a:endParaRPr lang="en-US" dirty="0"/>
        </a:p>
      </dgm:t>
    </dgm:pt>
    <dgm:pt modelId="{D3578D36-77FE-47EA-855D-A873D82C3509}" type="parTrans" cxnId="{09F07E53-4A77-433D-9FA6-7B8ADF2D6CFA}">
      <dgm:prSet/>
      <dgm:spPr/>
      <dgm:t>
        <a:bodyPr/>
        <a:lstStyle/>
        <a:p>
          <a:endParaRPr lang="en-US"/>
        </a:p>
      </dgm:t>
    </dgm:pt>
    <dgm:pt modelId="{A22E0485-BEE7-4CD5-A5A8-DEE0E0294DA3}" type="sibTrans" cxnId="{09F07E53-4A77-433D-9FA6-7B8ADF2D6CFA}">
      <dgm:prSet/>
      <dgm:spPr/>
      <dgm:t>
        <a:bodyPr/>
        <a:lstStyle/>
        <a:p>
          <a:endParaRPr lang="en-US"/>
        </a:p>
      </dgm:t>
    </dgm:pt>
    <dgm:pt modelId="{9F063B2E-7B37-47E9-8AF3-BF9C5BF7E75A}" type="pres">
      <dgm:prSet presAssocID="{B02A72D3-E135-4843-BE9E-BB1E07D6FDFE}" presName="root" presStyleCnt="0">
        <dgm:presLayoutVars>
          <dgm:dir/>
          <dgm:resizeHandles val="exact"/>
        </dgm:presLayoutVars>
      </dgm:prSet>
      <dgm:spPr/>
    </dgm:pt>
    <dgm:pt modelId="{213F3386-6752-4CC6-A554-A95862FBC6EC}" type="pres">
      <dgm:prSet presAssocID="{1D34B3C9-910A-40E0-9A2A-E3E23E4AD09F}" presName="compNode" presStyleCnt="0"/>
      <dgm:spPr/>
    </dgm:pt>
    <dgm:pt modelId="{B135C750-C66E-4273-B300-55DA555424DC}" type="pres">
      <dgm:prSet presAssocID="{1D34B3C9-910A-40E0-9A2A-E3E23E4AD09F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5C22ABB-B4AA-486C-A4DE-758D3E4F0C4B}" type="pres">
      <dgm:prSet presAssocID="{1D34B3C9-910A-40E0-9A2A-E3E23E4AD09F}" presName="iconSpace" presStyleCnt="0"/>
      <dgm:spPr/>
    </dgm:pt>
    <dgm:pt modelId="{06E1A8C7-CDF2-41A5-A2B1-0BE10F197A86}" type="pres">
      <dgm:prSet presAssocID="{1D34B3C9-910A-40E0-9A2A-E3E23E4AD09F}" presName="parTx" presStyleLbl="revTx" presStyleIdx="0" presStyleCnt="2">
        <dgm:presLayoutVars>
          <dgm:chMax val="0"/>
          <dgm:chPref val="0"/>
        </dgm:presLayoutVars>
      </dgm:prSet>
      <dgm:spPr/>
    </dgm:pt>
    <dgm:pt modelId="{07A058C8-8BC8-4025-85B0-D447527DAE41}" type="pres">
      <dgm:prSet presAssocID="{1D34B3C9-910A-40E0-9A2A-E3E23E4AD09F}" presName="txSpace" presStyleCnt="0"/>
      <dgm:spPr/>
    </dgm:pt>
    <dgm:pt modelId="{89F72C44-C33E-4983-B52E-9362153F2F12}" type="pres">
      <dgm:prSet presAssocID="{1D34B3C9-910A-40E0-9A2A-E3E23E4AD09F}" presName="desTx" presStyleLbl="revTx" presStyleIdx="1" presStyleCnt="2">
        <dgm:presLayoutVars/>
      </dgm:prSet>
      <dgm:spPr/>
    </dgm:pt>
  </dgm:ptLst>
  <dgm:cxnLst>
    <dgm:cxn modelId="{09F07E53-4A77-433D-9FA6-7B8ADF2D6CFA}" srcId="{1D34B3C9-910A-40E0-9A2A-E3E23E4AD09F}" destId="{46C36F30-39D6-495F-AE95-32B182023CE3}" srcOrd="0" destOrd="0" parTransId="{D3578D36-77FE-47EA-855D-A873D82C3509}" sibTransId="{A22E0485-BEE7-4CD5-A5A8-DEE0E0294DA3}"/>
    <dgm:cxn modelId="{6DE62456-6EB1-468A-8F7B-6654746DB699}" type="presOf" srcId="{46C36F30-39D6-495F-AE95-32B182023CE3}" destId="{89F72C44-C33E-4983-B52E-9362153F2F12}" srcOrd="0" destOrd="0" presId="urn:microsoft.com/office/officeart/2018/2/layout/IconLabelDescriptionList"/>
    <dgm:cxn modelId="{9E8A4195-F0D2-4D1C-B71A-9ABF43D3C66F}" type="presOf" srcId="{1D34B3C9-910A-40E0-9A2A-E3E23E4AD09F}" destId="{06E1A8C7-CDF2-41A5-A2B1-0BE10F197A86}" srcOrd="0" destOrd="0" presId="urn:microsoft.com/office/officeart/2018/2/layout/IconLabelDescriptionList"/>
    <dgm:cxn modelId="{D3EF7098-958D-406A-994A-AC32EC4816FF}" srcId="{B02A72D3-E135-4843-BE9E-BB1E07D6FDFE}" destId="{1D34B3C9-910A-40E0-9A2A-E3E23E4AD09F}" srcOrd="0" destOrd="0" parTransId="{B89495C8-60F8-4C84-A33E-993839734F29}" sibTransId="{E490D328-8B64-4C33-AC4D-163D7A091206}"/>
    <dgm:cxn modelId="{FAB1EEC3-CA20-41EE-8804-C89AAA7E1828}" type="presOf" srcId="{B02A72D3-E135-4843-BE9E-BB1E07D6FDFE}" destId="{9F063B2E-7B37-47E9-8AF3-BF9C5BF7E75A}" srcOrd="0" destOrd="0" presId="urn:microsoft.com/office/officeart/2018/2/layout/IconLabelDescriptionList"/>
    <dgm:cxn modelId="{CA64C75A-28A6-4E42-A4D1-47B39A20BAC8}" type="presParOf" srcId="{9F063B2E-7B37-47E9-8AF3-BF9C5BF7E75A}" destId="{213F3386-6752-4CC6-A554-A95862FBC6EC}" srcOrd="0" destOrd="0" presId="urn:microsoft.com/office/officeart/2018/2/layout/IconLabelDescriptionList"/>
    <dgm:cxn modelId="{CB7B37B5-A15A-4B2C-80BC-75E78378C438}" type="presParOf" srcId="{213F3386-6752-4CC6-A554-A95862FBC6EC}" destId="{B135C750-C66E-4273-B300-55DA555424DC}" srcOrd="0" destOrd="0" presId="urn:microsoft.com/office/officeart/2018/2/layout/IconLabelDescriptionList"/>
    <dgm:cxn modelId="{014F81A1-2BEB-4296-B383-969D2D268F65}" type="presParOf" srcId="{213F3386-6752-4CC6-A554-A95862FBC6EC}" destId="{E5C22ABB-B4AA-486C-A4DE-758D3E4F0C4B}" srcOrd="1" destOrd="0" presId="urn:microsoft.com/office/officeart/2018/2/layout/IconLabelDescriptionList"/>
    <dgm:cxn modelId="{F0CE779E-D890-4150-B8D9-8D0B7A0A1148}" type="presParOf" srcId="{213F3386-6752-4CC6-A554-A95862FBC6EC}" destId="{06E1A8C7-CDF2-41A5-A2B1-0BE10F197A86}" srcOrd="2" destOrd="0" presId="urn:microsoft.com/office/officeart/2018/2/layout/IconLabelDescriptionList"/>
    <dgm:cxn modelId="{87B37634-20DE-4241-97F6-8D9357AE6B92}" type="presParOf" srcId="{213F3386-6752-4CC6-A554-A95862FBC6EC}" destId="{07A058C8-8BC8-4025-85B0-D447527DAE41}" srcOrd="3" destOrd="0" presId="urn:microsoft.com/office/officeart/2018/2/layout/IconLabelDescriptionList"/>
    <dgm:cxn modelId="{AFEF902C-72E5-4DB4-B479-C7C5DF1C4F73}" type="presParOf" srcId="{213F3386-6752-4CC6-A554-A95862FBC6EC}" destId="{89F72C44-C33E-4983-B52E-9362153F2F1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5C750-C66E-4273-B300-55DA555424DC}">
      <dsp:nvSpPr>
        <dsp:cNvPr id="0" name=""/>
        <dsp:cNvSpPr/>
      </dsp:nvSpPr>
      <dsp:spPr>
        <a:xfrm>
          <a:off x="3598119" y="90106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1A8C7-CDF2-41A5-A2B1-0BE10F197A86}">
      <dsp:nvSpPr>
        <dsp:cNvPr id="0" name=""/>
        <dsp:cNvSpPr/>
      </dsp:nvSpPr>
      <dsp:spPr>
        <a:xfrm>
          <a:off x="3598119" y="254865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 dirty="0"/>
            <a:t>Objectives</a:t>
          </a:r>
          <a:endParaRPr lang="en-US" sz="3600" kern="1200" dirty="0"/>
        </a:p>
      </dsp:txBody>
      <dsp:txXfrm>
        <a:off x="3598119" y="2548650"/>
        <a:ext cx="4320000" cy="648000"/>
      </dsp:txXfrm>
    </dsp:sp>
    <dsp:sp modelId="{89F72C44-C33E-4983-B52E-9362153F2F12}">
      <dsp:nvSpPr>
        <dsp:cNvPr id="0" name=""/>
        <dsp:cNvSpPr/>
      </dsp:nvSpPr>
      <dsp:spPr>
        <a:xfrm>
          <a:off x="3598119" y="3259715"/>
          <a:ext cx="4320000" cy="794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introduce C# Lamda Expressions and Techniques </a:t>
          </a:r>
          <a:br>
            <a:rPr lang="en-GB" sz="1700" kern="1200" dirty="0"/>
          </a:br>
          <a:endParaRPr lang="en-US" sz="1700" kern="1200" dirty="0"/>
        </a:p>
      </dsp:txBody>
      <dsp:txXfrm>
        <a:off x="3598119" y="3259715"/>
        <a:ext cx="4320000" cy="794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144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144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372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66C6-1E92-0F4E-A300-9D4ED1F0C23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830263"/>
            <a:ext cx="3987800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583" y="3198039"/>
            <a:ext cx="7820660" cy="26165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372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901C6-1DA1-FB44-ABEE-06A0FEB773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93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9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IsOdd</a:t>
            </a:r>
            <a:r>
              <a:rPr lang="en-GB" dirty="0"/>
              <a:t>(..) has the correct signature to produce a </a:t>
            </a:r>
            <a:r>
              <a:rPr lang="en-GB" dirty="0" err="1"/>
              <a:t>Func</a:t>
            </a:r>
            <a:r>
              <a:rPr lang="en-GB" dirty="0"/>
              <a:t>&lt;</a:t>
            </a:r>
            <a:r>
              <a:rPr lang="en-GB" dirty="0" err="1"/>
              <a:t>int,bool</a:t>
            </a:r>
            <a:r>
              <a:rPr lang="en-GB" dirty="0"/>
              <a:t>&gt; delegate which is what must be</a:t>
            </a:r>
            <a:r>
              <a:rPr lang="en-GB" baseline="0" dirty="0"/>
              <a:t> passed to the Where method when it is used on an </a:t>
            </a:r>
            <a:r>
              <a:rPr lang="en-GB" baseline="0" dirty="0" err="1"/>
              <a:t>IEnumerable</a:t>
            </a:r>
            <a:r>
              <a:rPr lang="en-GB" baseline="0" dirty="0"/>
              <a:t>&lt;</a:t>
            </a:r>
            <a:r>
              <a:rPr lang="en-GB" baseline="0" dirty="0" err="1"/>
              <a:t>int</a:t>
            </a:r>
            <a:r>
              <a:rPr lang="en-GB" baseline="0" dirty="0"/>
              <a:t>&gt; collection (which is what ‘numbers’ is).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4971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the method is written on the fly ‘in situ’, its parameter is ‘n’ and it is implicitly an </a:t>
            </a:r>
            <a:r>
              <a:rPr lang="en-GB" dirty="0" err="1"/>
              <a:t>int</a:t>
            </a:r>
            <a:r>
              <a:rPr lang="en-GB" dirty="0"/>
              <a:t> the bool it returns is the result of ‘n % 2 == 1’.</a:t>
            </a:r>
          </a:p>
          <a:p>
            <a:r>
              <a:rPr lang="en-GB" dirty="0"/>
              <a:t>You have still produced a </a:t>
            </a:r>
            <a:r>
              <a:rPr lang="en-GB" dirty="0" err="1"/>
              <a:t>Func</a:t>
            </a:r>
            <a:r>
              <a:rPr lang="en-GB" dirty="0"/>
              <a:t>&lt;</a:t>
            </a:r>
            <a:r>
              <a:rPr lang="en-GB" dirty="0" err="1"/>
              <a:t>int,bool</a:t>
            </a:r>
            <a:r>
              <a:rPr lang="en-GB" dirty="0"/>
              <a:t>&gt; delegate but via an anonymous (name known only to the compiler that generates it under the covers) method</a:t>
            </a:r>
            <a:r>
              <a:rPr lang="en-GB" baseline="0" dirty="0"/>
              <a:t> authored via a lambda expression.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227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940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OrderBy</a:t>
            </a:r>
            <a:r>
              <a:rPr lang="en-GB" baseline="0" dirty="0"/>
              <a:t> method takes a </a:t>
            </a:r>
            <a:r>
              <a:rPr lang="en-GB" baseline="0" dirty="0" err="1"/>
              <a:t>Func</a:t>
            </a:r>
            <a:r>
              <a:rPr lang="en-GB" baseline="0" dirty="0"/>
              <a:t>&lt;</a:t>
            </a:r>
            <a:r>
              <a:rPr lang="en-GB" baseline="0" dirty="0" err="1"/>
              <a:t>TSource</a:t>
            </a:r>
            <a:r>
              <a:rPr lang="en-GB" baseline="0" dirty="0"/>
              <a:t>, </a:t>
            </a:r>
            <a:r>
              <a:rPr lang="en-GB" baseline="0" dirty="0" err="1"/>
              <a:t>TKey</a:t>
            </a:r>
            <a:r>
              <a:rPr lang="en-GB" baseline="0" dirty="0"/>
              <a:t>&gt;.</a:t>
            </a:r>
          </a:p>
          <a:p>
            <a:r>
              <a:rPr lang="en-GB" baseline="0" dirty="0" err="1"/>
              <a:t>TSource</a:t>
            </a:r>
            <a:r>
              <a:rPr lang="en-GB" baseline="0" dirty="0"/>
              <a:t> is the type of the source collection – so Student in this case</a:t>
            </a:r>
          </a:p>
          <a:p>
            <a:r>
              <a:rPr lang="en-GB" baseline="0" dirty="0" err="1"/>
              <a:t>TKey</a:t>
            </a:r>
            <a:r>
              <a:rPr lang="en-GB" baseline="0" dirty="0"/>
              <a:t> is what part of that source is being used as a sort key for each (Student) – the Name in this case </a:t>
            </a:r>
          </a:p>
          <a:p>
            <a:r>
              <a:rPr lang="en-GB" baseline="0" dirty="0"/>
              <a:t>So the 2</a:t>
            </a:r>
            <a:r>
              <a:rPr lang="en-GB" baseline="30000" dirty="0"/>
              <a:t>nd</a:t>
            </a:r>
            <a:r>
              <a:rPr lang="en-GB" baseline="0" dirty="0"/>
              <a:t> lambda produces a </a:t>
            </a:r>
            <a:r>
              <a:rPr lang="en-GB" baseline="0" dirty="0" err="1"/>
              <a:t>Func</a:t>
            </a:r>
            <a:r>
              <a:rPr lang="en-GB" baseline="0" dirty="0"/>
              <a:t>&lt;</a:t>
            </a:r>
            <a:r>
              <a:rPr lang="en-GB" baseline="0" dirty="0" err="1"/>
              <a:t>Student,string</a:t>
            </a:r>
            <a:r>
              <a:rPr lang="en-GB" baseline="0" dirty="0"/>
              <a:t>&gt; delegate</a:t>
            </a:r>
          </a:p>
          <a:p>
            <a:r>
              <a:rPr lang="en-GB" baseline="0" dirty="0"/>
              <a:t>Basically from each Student (the datatype of ‘</a:t>
            </a:r>
            <a:r>
              <a:rPr lang="en-GB" baseline="0" dirty="0" err="1"/>
              <a:t>stu</a:t>
            </a:r>
            <a:r>
              <a:rPr lang="en-GB" baseline="0" dirty="0"/>
              <a:t>’) extract the Name to be used for an ascending sort.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371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These sorts of methods are exactly that, methods, and are only available as method calls using dot notation.</a:t>
            </a:r>
          </a:p>
          <a:p>
            <a:r>
              <a:rPr lang="en-GB" dirty="0"/>
              <a:t>They are immediately executed.</a:t>
            </a:r>
          </a:p>
          <a:p>
            <a:r>
              <a:rPr lang="en-GB" dirty="0"/>
              <a:t>There are for example 20 overloads of Sum.</a:t>
            </a:r>
          </a:p>
          <a:p>
            <a:r>
              <a:rPr lang="en-GB" dirty="0"/>
              <a:t>One for each of </a:t>
            </a:r>
            <a:r>
              <a:rPr lang="en-GB" dirty="0" err="1"/>
              <a:t>int</a:t>
            </a:r>
            <a:r>
              <a:rPr lang="en-GB" dirty="0"/>
              <a:t>, long, decimal, double, float</a:t>
            </a:r>
          </a:p>
          <a:p>
            <a:r>
              <a:rPr lang="en-GB" dirty="0"/>
              <a:t>Plus one for each of their </a:t>
            </a:r>
            <a:r>
              <a:rPr lang="en-GB" dirty="0" err="1"/>
              <a:t>nullable</a:t>
            </a:r>
            <a:r>
              <a:rPr lang="en-GB" dirty="0"/>
              <a:t> versions. </a:t>
            </a:r>
            <a:r>
              <a:rPr lang="en-GB" dirty="0" err="1"/>
              <a:t>i.e</a:t>
            </a:r>
            <a:r>
              <a:rPr lang="en-GB" dirty="0"/>
              <a:t> Sum(</a:t>
            </a:r>
            <a:r>
              <a:rPr lang="en-GB" dirty="0" err="1"/>
              <a:t>IEnumerable</a:t>
            </a:r>
            <a:r>
              <a:rPr lang="en-GB" dirty="0"/>
              <a:t>&lt;</a:t>
            </a:r>
            <a:r>
              <a:rPr lang="en-GB" dirty="0" err="1"/>
              <a:t>int</a:t>
            </a:r>
            <a:r>
              <a:rPr lang="en-GB" dirty="0"/>
              <a:t>?&gt; source)</a:t>
            </a:r>
          </a:p>
          <a:p>
            <a:r>
              <a:rPr lang="en-GB" dirty="0"/>
              <a:t>For these 10 different datatypes there is one version that does not require a </a:t>
            </a:r>
            <a:r>
              <a:rPr lang="en-GB" dirty="0" err="1"/>
              <a:t>Func</a:t>
            </a:r>
            <a:r>
              <a:rPr lang="en-GB" dirty="0"/>
              <a:t>&lt;,&gt; and one that does.</a:t>
            </a:r>
          </a:p>
          <a:p>
            <a:r>
              <a:rPr lang="en-GB" dirty="0"/>
              <a:t>In the 1st example above we are invoking .Sum() which simply sums all the elements of the underlying </a:t>
            </a:r>
            <a:r>
              <a:rPr lang="en-GB" dirty="0" err="1"/>
              <a:t>int</a:t>
            </a:r>
            <a:r>
              <a:rPr lang="en-GB" dirty="0"/>
              <a:t>[] source</a:t>
            </a:r>
          </a:p>
          <a:p>
            <a:r>
              <a:rPr lang="en-GB" dirty="0"/>
              <a:t>In the 2nd example we are supplying a </a:t>
            </a:r>
            <a:r>
              <a:rPr lang="en-GB" dirty="0" err="1"/>
              <a:t>Func</a:t>
            </a:r>
            <a:r>
              <a:rPr lang="en-GB" dirty="0"/>
              <a:t> delegate via a lambda expression to project the string into a (numeric) </a:t>
            </a:r>
            <a:r>
              <a:rPr lang="en-GB" dirty="0" err="1"/>
              <a:t>int</a:t>
            </a:r>
            <a:r>
              <a:rPr lang="en-GB" dirty="0"/>
              <a:t> so that it can be </a:t>
            </a:r>
            <a:r>
              <a:rPr lang="en-GB" dirty="0" err="1"/>
              <a:t>Sum’med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0644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 are occasions when you</a:t>
            </a:r>
            <a:r>
              <a:rPr lang="en-GB" baseline="0" dirty="0"/>
              <a:t> wish to return more than one property of an object instead of returning the entire object. </a:t>
            </a:r>
          </a:p>
          <a:p>
            <a:r>
              <a:rPr lang="en-GB" baseline="0" dirty="0"/>
              <a:t>The slide example shows a typical usage of an anonymous object in a Lambda expression. </a:t>
            </a:r>
            <a:br>
              <a:rPr lang="en-GB" baseline="0" dirty="0"/>
            </a:br>
            <a:r>
              <a:rPr lang="en-GB" baseline="0" dirty="0"/>
              <a:t>Usually when you create an object using the "new" keyword, you would mention the name of a class. Please note the absence of a type name after the "new" keyword which is why the object returned is of a type known only to the compiler and hence ‘</a:t>
            </a:r>
            <a:r>
              <a:rPr lang="en-GB" baseline="0" dirty="0" err="1"/>
              <a:t>var</a:t>
            </a:r>
            <a:r>
              <a:rPr lang="en-GB" baseline="0" dirty="0"/>
              <a:t>’ has to be used to refer to an instance of it in the </a:t>
            </a:r>
            <a:r>
              <a:rPr lang="en-GB" baseline="0" dirty="0" err="1"/>
              <a:t>foreach</a:t>
            </a:r>
            <a:r>
              <a:rPr lang="en-GB" baseline="0" dirty="0"/>
              <a:t> that follows.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153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61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&amp;A/what's next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FF004C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2098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-6057" y="3264823"/>
            <a:ext cx="5967455" cy="28592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rgbClr val="004050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28CFF9"/>
          </a:solidFill>
        </p:grpSpPr>
        <p:sp>
          <p:nvSpPr>
            <p:cNvPr id="12" name="Rectangle 11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1786"/>
            <a:ext cx="8212667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5471"/>
            <a:ext cx="8146316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203017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F3622C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 userDrawn="1"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7E007C"/>
          </a:solidFill>
        </p:grpSpPr>
        <p:sp>
          <p:nvSpPr>
            <p:cNvPr id="16" name="Rectangle 15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2pPr marL="355600" indent="-266700">
              <a:buFont typeface="Arial" panose="020B0604020202020204" pitchFamily="34" charset="0"/>
              <a:buChar char="•"/>
              <a:defRPr/>
            </a:lvl2pPr>
            <a:lvl3pPr marL="355600" indent="-266700">
              <a:buFont typeface="Arial" panose="020B0604020202020204" pitchFamily="34" charset="0"/>
              <a:buChar char="•"/>
              <a:defRPr/>
            </a:lvl3pPr>
            <a:lvl4pPr marL="355600" indent="-266700">
              <a:buFont typeface="Arial" panose="020B0604020202020204" pitchFamily="34" charset="0"/>
              <a:buChar char="•"/>
              <a:defRPr/>
            </a:lvl4pPr>
            <a:lvl5pPr marL="355600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Third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Fourth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-1" y="3516594"/>
            <a:ext cx="7016814" cy="2396903"/>
            <a:chOff x="623461" y="4580698"/>
            <a:chExt cx="4009018" cy="1370734"/>
          </a:xfrm>
          <a:solidFill>
            <a:srgbClr val="004050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623462" y="5031740"/>
              <a:ext cx="19306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623461" y="5373431"/>
              <a:ext cx="1930689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8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902" r:id="rId2"/>
    <p:sldLayoutId id="2147483812" r:id="rId3"/>
    <p:sldLayoutId id="2147483813" r:id="rId4"/>
    <p:sldLayoutId id="2147483798" r:id="rId5"/>
    <p:sldLayoutId id="2147483806" r:id="rId6"/>
    <p:sldLayoutId id="2147483709" r:id="rId7"/>
    <p:sldLayoutId id="2147483822" r:id="rId8"/>
    <p:sldLayoutId id="2147483802" r:id="rId9"/>
    <p:sldLayoutId id="2147483792" r:id="rId10"/>
    <p:sldLayoutId id="2147483810" r:id="rId11"/>
    <p:sldLayoutId id="2147483804" r:id="rId12"/>
    <p:sldLayoutId id="2147483821" r:id="rId13"/>
    <p:sldLayoutId id="2147483824" r:id="rId14"/>
    <p:sldLayoutId id="2147483828" r:id="rId15"/>
    <p:sldLayoutId id="2147483853" r:id="rId16"/>
    <p:sldLayoutId id="2147483899" r:id="rId17"/>
    <p:sldLayoutId id="2147483832" r:id="rId18"/>
    <p:sldLayoutId id="2147483833" r:id="rId19"/>
    <p:sldLayoutId id="2147483836" r:id="rId20"/>
    <p:sldLayoutId id="2147483852" r:id="rId21"/>
    <p:sldLayoutId id="2147483900" r:id="rId22"/>
    <p:sldLayoutId id="2147483820" r:id="rId23"/>
    <p:sldLayoutId id="2147483842" r:id="rId24"/>
    <p:sldLayoutId id="2147483845" r:id="rId25"/>
    <p:sldLayoutId id="2147483851" r:id="rId26"/>
    <p:sldLayoutId id="2147483901" r:id="rId27"/>
    <p:sldLayoutId id="2147483650" r:id="rId28"/>
    <p:sldLayoutId id="2147483734" r:id="rId29"/>
    <p:sldLayoutId id="2147483796" r:id="rId30"/>
    <p:sldLayoutId id="2147483719" r:id="rId31"/>
    <p:sldLayoutId id="2147483721" r:id="rId32"/>
    <p:sldLayoutId id="2147483724" r:id="rId33"/>
    <p:sldLayoutId id="2147483797" r:id="rId34"/>
    <p:sldLayoutId id="2147483814" r:id="rId35"/>
    <p:sldLayoutId id="2147483904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10A2E5-A3AA-7BE3-7C87-983A58C15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br>
              <a:rPr lang="en-GB" dirty="0"/>
            </a:br>
            <a:r>
              <a:rPr lang="en-GB" dirty="0"/>
              <a:t>C# Lambda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34D79-CFC0-C4F4-AD12-F13DBCAB1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9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 anchor="t">
            <a:normAutofit/>
          </a:bodyPr>
          <a:lstStyle/>
          <a:p>
            <a:r>
              <a:rPr lang="en-GB" dirty="0"/>
              <a:t>Contents</a:t>
            </a:r>
            <a:endParaRPr lang="en-IN" dirty="0"/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C5918587-8AC2-7D79-92C1-D96241E20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130952"/>
              </p:ext>
            </p:extLst>
          </p:nvPr>
        </p:nvGraphicFramePr>
        <p:xfrm>
          <a:off x="341272" y="1368256"/>
          <a:ext cx="11516239" cy="495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624853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Lets create the function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a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2060" y="2064016"/>
            <a:ext cx="83065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numbers = { 1, 1, 2, 3, 5, 8, 13, 21, 34 };</a:t>
            </a:r>
          </a:p>
          <a:p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 query 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GB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numbers.Where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IsOdd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1CD3B3-C734-FC0A-9FC7-6891C55A9AFD}"/>
              </a:ext>
            </a:extLst>
          </p:cNvPr>
          <p:cNvSpPr/>
          <p:nvPr/>
        </p:nvSpPr>
        <p:spPr>
          <a:xfrm>
            <a:off x="2043953" y="4293104"/>
            <a:ext cx="4867835" cy="2030506"/>
          </a:xfrm>
          <a:prstGeom prst="round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bool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IsOdd(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n)</a:t>
            </a:r>
            <a:b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 % 2 == 1);</a:t>
            </a:r>
            <a:b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DC7B739-D27D-FB62-4709-313A28B82AB2}"/>
              </a:ext>
            </a:extLst>
          </p:cNvPr>
          <p:cNvSpPr/>
          <p:nvPr/>
        </p:nvSpPr>
        <p:spPr>
          <a:xfrm>
            <a:off x="3186954" y="2933701"/>
            <a:ext cx="6279776" cy="752690"/>
          </a:xfrm>
          <a:prstGeom prst="wedgeRoundRectCallout">
            <a:avLst>
              <a:gd name="adj1" fmla="val -9001"/>
              <a:gd name="adj2" fmla="val -67514"/>
              <a:gd name="adj3" fmla="val 16667"/>
            </a:avLst>
          </a:prstGeom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Calls </a:t>
            </a:r>
            <a:r>
              <a:rPr lang="en-GB" b="1" dirty="0" err="1">
                <a:solidFill>
                  <a:srgbClr val="0070C0"/>
                </a:solidFill>
              </a:rPr>
              <a:t>IsOdd</a:t>
            </a:r>
            <a:r>
              <a:rPr lang="en-GB" b="1" dirty="0">
                <a:solidFill>
                  <a:srgbClr val="0070C0"/>
                </a:solidFill>
              </a:rPr>
              <a:t>()</a:t>
            </a:r>
            <a:r>
              <a:rPr lang="en-GB" dirty="0"/>
              <a:t>  passing each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 </a:t>
            </a:r>
            <a:r>
              <a:rPr lang="en-GB" dirty="0"/>
              <a:t>in </a:t>
            </a:r>
            <a:r>
              <a:rPr lang="en-GB" i="1" dirty="0"/>
              <a:t>numbers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and only returns those which are odd (return is </a:t>
            </a:r>
            <a:r>
              <a:rPr lang="en-GB" b="1" i="1" dirty="0">
                <a:solidFill>
                  <a:srgbClr val="0070C0"/>
                </a:solidFill>
              </a:rPr>
              <a:t>true</a:t>
            </a:r>
            <a:r>
              <a:rPr lang="en-GB" dirty="0"/>
              <a:t>)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445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Lambda – Towards a more compact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Even simpler, use a lambda expression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7381" y="1962106"/>
            <a:ext cx="81428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numbers = { 1, 1, 2, 3, 5, 8, 13, 21, 34 };</a:t>
            </a:r>
          </a:p>
          <a:p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numbers.Where(</a:t>
            </a:r>
            <a:r>
              <a:rPr lang="en-GB" sz="2000" dirty="0"/>
              <a:t>n =&gt; </a:t>
            </a:r>
            <a:r>
              <a:rPr lang="en-GB" sz="2000" b="1" dirty="0"/>
              <a:t>n % 2 == 1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GB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43531D0-74A6-9F54-588A-15F12726D543}"/>
              </a:ext>
            </a:extLst>
          </p:cNvPr>
          <p:cNvSpPr/>
          <p:nvPr/>
        </p:nvSpPr>
        <p:spPr>
          <a:xfrm>
            <a:off x="3832412" y="2864569"/>
            <a:ext cx="7120145" cy="1015663"/>
          </a:xfrm>
          <a:prstGeom prst="wedgeRoundRectCallout">
            <a:avLst>
              <a:gd name="adj1" fmla="val -9001"/>
              <a:gd name="adj2" fmla="val -67514"/>
              <a:gd name="adj3" fmla="val 16667"/>
            </a:avLst>
          </a:prstGeom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Passes each </a:t>
            </a:r>
            <a:r>
              <a:rPr lang="en-GB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chemeClr val="tx1"/>
                </a:solidFill>
              </a:rPr>
              <a:t> into the (n % 2 == 1) </a:t>
            </a:r>
            <a:r>
              <a:rPr lang="en-GB" b="1" dirty="0">
                <a:solidFill>
                  <a:schemeClr val="tx1"/>
                </a:solidFill>
              </a:rPr>
              <a:t>code</a:t>
            </a:r>
            <a:r>
              <a:rPr lang="en-GB" dirty="0">
                <a:solidFill>
                  <a:schemeClr val="tx1"/>
                </a:solidFill>
              </a:rPr>
              <a:t> and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returns only those which return </a:t>
            </a:r>
            <a:r>
              <a:rPr lang="en-GB" b="1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3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query the Lambda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6869" y="2018353"/>
            <a:ext cx="8746746" cy="2402324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numbers = { 1, 9, 2, 8, 3, 7, 4, 6, 5 };</a:t>
            </a: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 =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=&gt;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3 &amp;&amp;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% 2 == 0);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query) {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(n);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42" y="3823984"/>
            <a:ext cx="4080773" cy="1530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94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more complex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73707" y="1472938"/>
            <a:ext cx="9999093" cy="351032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names =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{ </a:t>
            </a:r>
          </a:p>
          <a:p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"Azzie"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"Mariana"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"Nancie"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"Bob"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it-IT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"Anna"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it-IT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"Freddie"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it-IT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"Donna"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it-IT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"Lenna"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it-IT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"David"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b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};</a:t>
            </a: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 =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names.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(name=&gt;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name.Length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4 &amp;&amp;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name.EndsWith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</a:t>
            </a:r>
            <a:r>
              <a:rPr lang="en-GB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 </a:t>
            </a: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query) {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(n);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4" y="4558075"/>
            <a:ext cx="4116630" cy="1611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060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Ordering the result –  </a:t>
            </a:r>
            <a:r>
              <a:rPr lang="en-GB" dirty="0" err="1"/>
              <a:t>orderby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335745" y="1367059"/>
            <a:ext cx="8843679" cy="3622979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students =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{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{Age=18,Name=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"Sam"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},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{Age=20,Name=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"Mike"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},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{Age=19,Name=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"Bob"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},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(){Age=21,Name=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"Jonathan"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endParaRPr lang="en-GB" sz="1600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 =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students.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=&gt;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stu.Age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17).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OrderBy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=&gt;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stu.Name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GB" sz="1600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query) {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stu.Name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613" y="4320063"/>
            <a:ext cx="2057402" cy="1814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33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LINQ – Aggregation Operators</a:t>
            </a:r>
          </a:p>
        </p:txBody>
      </p:sp>
      <p:sp>
        <p:nvSpPr>
          <p:cNvPr id="25605" name="Rectangle 7"/>
          <p:cNvSpPr>
            <a:spLocks noGrp="1" noChangeArrowheads="1"/>
          </p:cNvSpPr>
          <p:nvPr>
            <p:ph idx="1"/>
          </p:nvPr>
        </p:nvSpPr>
        <p:spPr>
          <a:xfrm>
            <a:off x="1631950" y="1504858"/>
            <a:ext cx="8928100" cy="13018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General purpose </a:t>
            </a:r>
            <a:r>
              <a:rPr lang="en-US" sz="2400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Count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operator (useful with Grouping)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4 common numerical aggregation methods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Sum, Min, Max, Average</a:t>
            </a: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14282" y="2972663"/>
            <a:ext cx="6598920" cy="2638094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numbers = { 3, 5, 7, 9 };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names = {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"Paul"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"Steve"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"Peter"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"Laurence"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b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totalOfNumbers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totalLengthOfNames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names.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 =&gt;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s.Length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1149443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List&lt;&gt; </a:t>
            </a:r>
            <a:r>
              <a:rPr lang="en-GB" dirty="0" err="1"/>
              <a:t>FindAll</a:t>
            </a:r>
            <a:r>
              <a:rPr lang="en-GB"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See if you can figure out what these statements do: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6128" y="1938658"/>
            <a:ext cx="8477590" cy="132343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numbers = </a:t>
            </a:r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&gt;{ 1, 1, 2, 3, 5, 8};</a:t>
            </a:r>
          </a:p>
          <a:p>
            <a:endParaRPr lang="en-GB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GB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oddOnes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numbers.FindAll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 =&gt; n % 2 == 1);</a:t>
            </a:r>
            <a:endParaRPr lang="en-GB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955176" y="3786260"/>
            <a:ext cx="8519493" cy="1938992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avg1 =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numbers.FindAll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 =&gt; n % 2 == 1).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Average()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GB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avg2 = </a:t>
            </a:r>
          </a:p>
          <a:p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numbers.FindAll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 =&gt; n % 2 == 1).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Distinct()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Average()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GB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7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9378" y="1395690"/>
            <a:ext cx="9386904" cy="453092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students =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Age = 18, Name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"Sam"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Subject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"C#"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},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Age = 20, Name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"Mike"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Subject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"Java"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},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Age = 19, Name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Subject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"Networking"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},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Age = 21, Name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"Jonathan"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Subject =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"Marketing"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 =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students.Select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=&gt;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stu.Name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stu.Subject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});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sv-S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sv-S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sv-S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sv-S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stu </a:t>
            </a:r>
            <a:r>
              <a:rPr lang="sv-S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sv-S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query) 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$"Name: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stu.Name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Subject: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stu.Subject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Returning selected attributes - using anonymous type</a:t>
            </a:r>
          </a:p>
        </p:txBody>
      </p:sp>
    </p:spTree>
    <p:extLst>
      <p:ext uri="{BB962C8B-B14F-4D97-AF65-F5344CB8AC3E}">
        <p14:creationId xmlns:p14="http://schemas.microsoft.com/office/powerpoint/2010/main" val="35871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884C13-0F83-D8C6-1982-817AA25AEFBA}"/>
              </a:ext>
            </a:extLst>
          </p:cNvPr>
          <p:cNvSpPr txBox="1"/>
          <p:nvPr/>
        </p:nvSpPr>
        <p:spPr>
          <a:xfrm>
            <a:off x="5734696" y="825843"/>
            <a:ext cx="6099242" cy="129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In this chapter we reviewed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endParaRPr lang="en-GB" dirty="0"/>
          </a:p>
          <a:p>
            <a:r>
              <a:rPr lang="en-GB" dirty="0" err="1"/>
              <a:t>Hto</a:t>
            </a:r>
            <a:r>
              <a:rPr lang="en-GB" dirty="0"/>
              <a:t> use Lambda expressions using C#</a:t>
            </a:r>
            <a:endParaRPr lang="en-US" dirty="0"/>
          </a:p>
          <a:p>
            <a:pPr marL="684000" lvl="1" indent="-342900">
              <a:spcAft>
                <a:spcPts val="650"/>
              </a:spcAft>
              <a:buSzPct val="115000"/>
            </a:pPr>
            <a:endParaRPr lang="en-GB" b="1" dirty="0"/>
          </a:p>
        </p:txBody>
      </p:sp>
      <p:pic>
        <p:nvPicPr>
          <p:cNvPr id="8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F4E84CE7-03B3-5F0A-155B-623B8AD33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2" y="218981"/>
            <a:ext cx="2251845" cy="225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71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B3EF5B1D149FDF49B1880C030D548140" ma:contentTypeVersion="0" ma:contentTypeDescription="Base content type which represents courseware documents" ma:contentTypeScope="" ma:versionID="ab0d7ca79e0ea5a537b031f986da336c">
  <xsd:schema xmlns:xsd="http://www.w3.org/2001/XMLSchema" xmlns:xs="http://www.w3.org/2001/XMLSchema" xmlns:p="http://schemas.microsoft.com/office/2006/metadata/properties" xmlns:ns2="6794D9DE-4FDF-4DC0-8B2C-5438320C69D5" targetNamespace="http://schemas.microsoft.com/office/2006/metadata/properties" ma:root="true" ma:fieldsID="7ff8e7c62cc10108c036e94c947d8fb9" ns2:_="">
    <xsd:import namespace="6794D9DE-4FDF-4DC0-8B2C-5438320C69D5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4D9DE-4FDF-4DC0-8B2C-5438320C69D5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quenceNumber xmlns="6794D9DE-4FDF-4DC0-8B2C-5438320C69D5" xsi:nil="true"/>
    <IsBuildFile xmlns="6794D9DE-4FDF-4DC0-8B2C-5438320C69D5" xsi:nil="true"/>
    <BookTypeField0 xmlns="6794D9DE-4FDF-4DC0-8B2C-5438320C69D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A14162-CCCA-4690-8872-03DEB9832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94D9DE-4FDF-4DC0-8B2C-5438320C69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8F143C-5F8F-4F12-A25E-E0CFB4EDDD8F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794D9DE-4FDF-4DC0-8B2C-5438320C69D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72A4E4C-4430-4993-B430-D45066C780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1226</Words>
  <Application>Microsoft Office PowerPoint</Application>
  <PresentationFormat>Widescreen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Krana Fat B</vt:lpstr>
      <vt:lpstr>Montserrat</vt:lpstr>
      <vt:lpstr>Times New Roman</vt:lpstr>
      <vt:lpstr>Master</vt:lpstr>
      <vt:lpstr>Introduction  C# Lambda</vt:lpstr>
      <vt:lpstr>Contents</vt:lpstr>
      <vt:lpstr>Using a Function</vt:lpstr>
      <vt:lpstr>Lambda – Towards a more compact code</vt:lpstr>
      <vt:lpstr>Simple query the Lambda way</vt:lpstr>
      <vt:lpstr>A more complex filter</vt:lpstr>
      <vt:lpstr>Ordering the result –  orderby</vt:lpstr>
      <vt:lpstr>LINQ – Aggregation Operators</vt:lpstr>
      <vt:lpstr>List&lt;&gt; FindAll method</vt:lpstr>
      <vt:lpstr>Returning selected attributes - using anonymous type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1028</cp:revision>
  <cp:lastPrinted>2019-07-03T09:46:41Z</cp:lastPrinted>
  <dcterms:created xsi:type="dcterms:W3CDTF">2019-09-05T08:17:12Z</dcterms:created>
  <dcterms:modified xsi:type="dcterms:W3CDTF">2025-12-09T15:46:29Z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300</vt:r8>
  </property>
  <property fmtid="{D5CDD505-2E9C-101B-9397-08002B2CF9AE}" pid="3" name="Chapter">
    <vt:lpwstr>1</vt:lpwstr>
  </property>
  <property fmtid="{D5CDD505-2E9C-101B-9397-08002B2CF9AE}" pid="4" name="ContentTypeId">
    <vt:lpwstr>0x010100F0967B7CEE8D417F966757887D9466FB00B3EF5B1D149FDF49B1880C030D548140</vt:lpwstr>
  </property>
  <property fmtid="{D5CDD505-2E9C-101B-9397-08002B2CF9AE}" pid="5" name="BookType">
    <vt:lpwstr>7</vt:lpwstr>
  </property>
</Properties>
</file>