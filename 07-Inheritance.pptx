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2"/>
  </p:notesMasterIdLst>
  <p:handoutMasterIdLst>
    <p:handoutMasterId r:id="rId23"/>
  </p:handoutMasterIdLst>
  <p:sldIdLst>
    <p:sldId id="1560" r:id="rId5"/>
    <p:sldId id="778" r:id="rId6"/>
    <p:sldId id="378" r:id="rId7"/>
    <p:sldId id="379" r:id="rId8"/>
    <p:sldId id="380" r:id="rId9"/>
    <p:sldId id="381" r:id="rId10"/>
    <p:sldId id="382" r:id="rId11"/>
    <p:sldId id="383" r:id="rId12"/>
    <p:sldId id="788" r:id="rId13"/>
    <p:sldId id="789" r:id="rId14"/>
    <p:sldId id="825" r:id="rId15"/>
    <p:sldId id="826" r:id="rId16"/>
    <p:sldId id="827" r:id="rId17"/>
    <p:sldId id="792" r:id="rId18"/>
    <p:sldId id="793" r:id="rId19"/>
    <p:sldId id="786" r:id="rId20"/>
    <p:sldId id="785" r:id="rId21"/>
  </p:sldIdLst>
  <p:sldSz cx="12192000" cy="6858000"/>
  <p:notesSz cx="6645275" cy="9775825"/>
  <p:custDataLst>
    <p:tags r:id="rId2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slide" id="{DE8BF54A-1323-4403-83F8-D7B5510C9D53}">
          <p14:sldIdLst>
            <p14:sldId id="1560"/>
            <p14:sldId id="778"/>
            <p14:sldId id="378"/>
            <p14:sldId id="379"/>
            <p14:sldId id="380"/>
            <p14:sldId id="381"/>
            <p14:sldId id="382"/>
            <p14:sldId id="383"/>
            <p14:sldId id="788"/>
            <p14:sldId id="789"/>
            <p14:sldId id="825"/>
            <p14:sldId id="826"/>
            <p14:sldId id="827"/>
            <p14:sldId id="792"/>
            <p14:sldId id="793"/>
            <p14:sldId id="786"/>
            <p14:sldId id="785"/>
          </p14:sldIdLst>
        </p14:section>
      </p14:sectionLst>
    </p:ext>
    <p:ext uri="{EFAFB233-063F-42B5-8137-9DF3F51BA10A}">
      <p15:sldGuideLst xmlns:p15="http://schemas.microsoft.com/office/powerpoint/2012/main">
        <p15:guide id="1" pos="3840" userDrawn="1">
          <p15:clr>
            <a:srgbClr val="A4A3A4"/>
          </p15:clr>
        </p15:guide>
        <p15:guide id="2" orient="horz" pos="377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rrow, Joshua" initials="BJ" lastIdx="30" clrIdx="0">
    <p:extLst>
      <p:ext uri="{19B8F6BF-5375-455C-9EA6-DF929625EA0E}">
        <p15:presenceInfo xmlns:p15="http://schemas.microsoft.com/office/powerpoint/2012/main" userId="S-1-5-21-3476036342-1731177862-1559577602-51474" providerId="AD"/>
      </p:ext>
    </p:extLst>
  </p:cmAuthor>
  <p:cmAuthor id="2" name="Singh, Vaishali" initials="SV" lastIdx="7" clrIdx="1">
    <p:extLst>
      <p:ext uri="{19B8F6BF-5375-455C-9EA6-DF929625EA0E}">
        <p15:presenceInfo xmlns:p15="http://schemas.microsoft.com/office/powerpoint/2012/main" userId="S-1-5-21-3476036342-1731177862-1559577602-1552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050"/>
    <a:srgbClr val="28CFF9"/>
    <a:srgbClr val="F91258"/>
    <a:srgbClr val="7E007C"/>
    <a:srgbClr val="F3622C"/>
    <a:srgbClr val="09EDB8"/>
    <a:srgbClr val="31D3AE"/>
    <a:srgbClr val="F3F3F3"/>
    <a:srgbClr val="F4F4F4"/>
    <a:srgbClr val="3D6E7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656" autoAdjust="0"/>
    <p:restoredTop sz="77100" autoAdjust="0"/>
  </p:normalViewPr>
  <p:slideViewPr>
    <p:cSldViewPr snapToGrid="0" snapToObjects="1" showGuides="1">
      <p:cViewPr varScale="1">
        <p:scale>
          <a:sx n="64" d="100"/>
          <a:sy n="64" d="100"/>
        </p:scale>
        <p:origin x="216" y="66"/>
      </p:cViewPr>
      <p:guideLst>
        <p:guide pos="3840"/>
        <p:guide orient="horz" pos="377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65" d="100"/>
          <a:sy n="65" d="100"/>
        </p:scale>
        <p:origin x="2652"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gs" Target="tags/tag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viewProps" Target="viewProps.xml"/></Relationships>
</file>

<file path=ppt/diagrams/_rels/data1.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image" Target="../media/image19.svg"/></Relationships>
</file>

<file path=ppt/diagrams/_rels/drawing1.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image" Target="../media/image19.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5FA7BE4-2A98-4B02-9510-7EFAF39B32EC}"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20414C31-A7F2-410B-A8A2-2074AACF2012}">
      <dgm:prSet custT="1"/>
      <dgm:spPr/>
      <dgm:t>
        <a:bodyPr/>
        <a:lstStyle/>
        <a:p>
          <a:r>
            <a:rPr lang="en-GB" sz="2000" b="1" dirty="0"/>
            <a:t>    Working with inheritance</a:t>
          </a:r>
          <a:endParaRPr lang="en-US" sz="1600" b="1" dirty="0"/>
        </a:p>
      </dgm:t>
    </dgm:pt>
    <dgm:pt modelId="{A5537179-FFE8-4D37-888A-AAD3C607B1BB}" type="parTrans" cxnId="{B2BE5219-F392-4120-9C61-30B42EF09C07}">
      <dgm:prSet/>
      <dgm:spPr/>
      <dgm:t>
        <a:bodyPr/>
        <a:lstStyle/>
        <a:p>
          <a:endParaRPr lang="en-US"/>
        </a:p>
      </dgm:t>
    </dgm:pt>
    <dgm:pt modelId="{B8FF9BF0-3F09-4B40-9D20-AAFDA877092C}" type="sibTrans" cxnId="{B2BE5219-F392-4120-9C61-30B42EF09C07}">
      <dgm:prSet/>
      <dgm:spPr/>
      <dgm:t>
        <a:bodyPr/>
        <a:lstStyle/>
        <a:p>
          <a:endParaRPr lang="en-US"/>
        </a:p>
      </dgm:t>
    </dgm:pt>
    <dgm:pt modelId="{EB544CAE-C268-4556-8B77-B6AF41E0C214}">
      <dgm:prSet custT="1"/>
      <dgm:spPr/>
      <dgm:t>
        <a:bodyPr/>
        <a:lstStyle/>
        <a:p>
          <a:r>
            <a:rPr lang="en-GB" sz="2000" b="1" dirty="0"/>
            <a:t>Duration 90 minutes</a:t>
          </a:r>
          <a:endParaRPr lang="en-US" sz="2400" b="0" dirty="0"/>
        </a:p>
      </dgm:t>
    </dgm:pt>
    <dgm:pt modelId="{8EC46064-FB22-48BD-9157-CFB16DFAE2E9}" type="parTrans" cxnId="{789F647B-A22C-49B5-9CEE-CE24E198B80B}">
      <dgm:prSet/>
      <dgm:spPr/>
      <dgm:t>
        <a:bodyPr/>
        <a:lstStyle/>
        <a:p>
          <a:endParaRPr lang="en-US"/>
        </a:p>
      </dgm:t>
    </dgm:pt>
    <dgm:pt modelId="{780DEF43-8EED-459C-8DFA-982C494C12FB}" type="sibTrans" cxnId="{789F647B-A22C-49B5-9CEE-CE24E198B80B}">
      <dgm:prSet/>
      <dgm:spPr/>
      <dgm:t>
        <a:bodyPr/>
        <a:lstStyle/>
        <a:p>
          <a:endParaRPr lang="en-US"/>
        </a:p>
      </dgm:t>
    </dgm:pt>
    <dgm:pt modelId="{E7F6EAA9-1048-45E6-A143-4541D8903BDB}" type="pres">
      <dgm:prSet presAssocID="{D5FA7BE4-2A98-4B02-9510-7EFAF39B32EC}" presName="root" presStyleCnt="0">
        <dgm:presLayoutVars>
          <dgm:dir/>
          <dgm:resizeHandles val="exact"/>
        </dgm:presLayoutVars>
      </dgm:prSet>
      <dgm:spPr/>
    </dgm:pt>
    <dgm:pt modelId="{138C29D8-924F-4AA7-B9EB-12B62EF94A0A}" type="pres">
      <dgm:prSet presAssocID="{20414C31-A7F2-410B-A8A2-2074AACF2012}" presName="compNode" presStyleCnt="0"/>
      <dgm:spPr/>
    </dgm:pt>
    <dgm:pt modelId="{0F45E7EC-4823-4B41-8FB7-1517A5644CF2}" type="pres">
      <dgm:prSet presAssocID="{20414C31-A7F2-410B-A8A2-2074AACF2012}" presName="bgRect" presStyleLbl="bgShp" presStyleIdx="0" presStyleCnt="2"/>
      <dgm:spPr/>
    </dgm:pt>
    <dgm:pt modelId="{270C9F17-21DD-4C6B-B4A4-FC56789D82E8}" type="pres">
      <dgm:prSet presAssocID="{20414C31-A7F2-410B-A8A2-2074AACF2012}"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Head with Gears"/>
        </a:ext>
      </dgm:extLst>
    </dgm:pt>
    <dgm:pt modelId="{5FA18B10-A546-407B-BFD4-81E437748BD0}" type="pres">
      <dgm:prSet presAssocID="{20414C31-A7F2-410B-A8A2-2074AACF2012}" presName="spaceRect" presStyleCnt="0"/>
      <dgm:spPr/>
    </dgm:pt>
    <dgm:pt modelId="{C656AC05-6F41-4032-BE1E-876234FB0335}" type="pres">
      <dgm:prSet presAssocID="{20414C31-A7F2-410B-A8A2-2074AACF2012}" presName="parTx" presStyleLbl="revTx" presStyleIdx="0" presStyleCnt="2" custScaleX="117685" custLinFactNeighborX="5708" custLinFactNeighborY="5955">
        <dgm:presLayoutVars>
          <dgm:chMax val="0"/>
          <dgm:chPref val="0"/>
        </dgm:presLayoutVars>
      </dgm:prSet>
      <dgm:spPr/>
    </dgm:pt>
    <dgm:pt modelId="{B015EF07-ED1F-4CB3-A3A7-4091453A6B41}" type="pres">
      <dgm:prSet presAssocID="{B8FF9BF0-3F09-4B40-9D20-AAFDA877092C}" presName="sibTrans" presStyleCnt="0"/>
      <dgm:spPr/>
    </dgm:pt>
    <dgm:pt modelId="{B64599BA-DCD9-4FCE-BDA8-FD048B6A3EEC}" type="pres">
      <dgm:prSet presAssocID="{EB544CAE-C268-4556-8B77-B6AF41E0C214}" presName="compNode" presStyleCnt="0"/>
      <dgm:spPr/>
    </dgm:pt>
    <dgm:pt modelId="{A30C6321-6940-4E9D-84D1-CFF719883A23}" type="pres">
      <dgm:prSet presAssocID="{EB544CAE-C268-4556-8B77-B6AF41E0C214}" presName="bgRect" presStyleLbl="bgShp" presStyleIdx="1" presStyleCnt="2" custLinFactNeighborX="984"/>
      <dgm:spPr/>
    </dgm:pt>
    <dgm:pt modelId="{319A5AB9-5146-4CC8-9B3C-F5994CAAC7CB}" type="pres">
      <dgm:prSet presAssocID="{EB544CAE-C268-4556-8B77-B6AF41E0C214}"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ock"/>
        </a:ext>
      </dgm:extLst>
    </dgm:pt>
    <dgm:pt modelId="{4C1BB512-F3BB-43EE-9CE4-9504E559D210}" type="pres">
      <dgm:prSet presAssocID="{EB544CAE-C268-4556-8B77-B6AF41E0C214}" presName="spaceRect" presStyleCnt="0"/>
      <dgm:spPr/>
    </dgm:pt>
    <dgm:pt modelId="{8D4A5A7B-430A-470B-97C9-2884B891E74A}" type="pres">
      <dgm:prSet presAssocID="{EB544CAE-C268-4556-8B77-B6AF41E0C214}" presName="parTx" presStyleLbl="revTx" presStyleIdx="1" presStyleCnt="2">
        <dgm:presLayoutVars>
          <dgm:chMax val="0"/>
          <dgm:chPref val="0"/>
        </dgm:presLayoutVars>
      </dgm:prSet>
      <dgm:spPr/>
    </dgm:pt>
  </dgm:ptLst>
  <dgm:cxnLst>
    <dgm:cxn modelId="{B2BE5219-F392-4120-9C61-30B42EF09C07}" srcId="{D5FA7BE4-2A98-4B02-9510-7EFAF39B32EC}" destId="{20414C31-A7F2-410B-A8A2-2074AACF2012}" srcOrd="0" destOrd="0" parTransId="{A5537179-FFE8-4D37-888A-AAD3C607B1BB}" sibTransId="{B8FF9BF0-3F09-4B40-9D20-AAFDA877092C}"/>
    <dgm:cxn modelId="{DE718C37-8600-413B-AF15-3D97C4D6915B}" type="presOf" srcId="{D5FA7BE4-2A98-4B02-9510-7EFAF39B32EC}" destId="{E7F6EAA9-1048-45E6-A143-4541D8903BDB}" srcOrd="0" destOrd="0" presId="urn:microsoft.com/office/officeart/2018/2/layout/IconVerticalSolidList"/>
    <dgm:cxn modelId="{AA353D44-1F2B-445F-A8FA-B054AA7F76A1}" type="presOf" srcId="{EB544CAE-C268-4556-8B77-B6AF41E0C214}" destId="{8D4A5A7B-430A-470B-97C9-2884B891E74A}" srcOrd="0" destOrd="0" presId="urn:microsoft.com/office/officeart/2018/2/layout/IconVerticalSolidList"/>
    <dgm:cxn modelId="{789F647B-A22C-49B5-9CEE-CE24E198B80B}" srcId="{D5FA7BE4-2A98-4B02-9510-7EFAF39B32EC}" destId="{EB544CAE-C268-4556-8B77-B6AF41E0C214}" srcOrd="1" destOrd="0" parTransId="{8EC46064-FB22-48BD-9157-CFB16DFAE2E9}" sibTransId="{780DEF43-8EED-459C-8DFA-982C494C12FB}"/>
    <dgm:cxn modelId="{6A9768A7-9C9B-48D1-AB31-0E5F79F0750F}" type="presOf" srcId="{20414C31-A7F2-410B-A8A2-2074AACF2012}" destId="{C656AC05-6F41-4032-BE1E-876234FB0335}" srcOrd="0" destOrd="0" presId="urn:microsoft.com/office/officeart/2018/2/layout/IconVerticalSolidList"/>
    <dgm:cxn modelId="{5F6091D2-572A-4521-85FF-AA8A6C29846A}" type="presParOf" srcId="{E7F6EAA9-1048-45E6-A143-4541D8903BDB}" destId="{138C29D8-924F-4AA7-B9EB-12B62EF94A0A}" srcOrd="0" destOrd="0" presId="urn:microsoft.com/office/officeart/2018/2/layout/IconVerticalSolidList"/>
    <dgm:cxn modelId="{3276DD5E-C0AC-416E-A4F0-BE554558219C}" type="presParOf" srcId="{138C29D8-924F-4AA7-B9EB-12B62EF94A0A}" destId="{0F45E7EC-4823-4B41-8FB7-1517A5644CF2}" srcOrd="0" destOrd="0" presId="urn:microsoft.com/office/officeart/2018/2/layout/IconVerticalSolidList"/>
    <dgm:cxn modelId="{3CB14AC9-56C7-4C8D-9EEC-6D5691F936C4}" type="presParOf" srcId="{138C29D8-924F-4AA7-B9EB-12B62EF94A0A}" destId="{270C9F17-21DD-4C6B-B4A4-FC56789D82E8}" srcOrd="1" destOrd="0" presId="urn:microsoft.com/office/officeart/2018/2/layout/IconVerticalSolidList"/>
    <dgm:cxn modelId="{45A74FE9-3B4D-4A63-B970-51D44F6CABF5}" type="presParOf" srcId="{138C29D8-924F-4AA7-B9EB-12B62EF94A0A}" destId="{5FA18B10-A546-407B-BFD4-81E437748BD0}" srcOrd="2" destOrd="0" presId="urn:microsoft.com/office/officeart/2018/2/layout/IconVerticalSolidList"/>
    <dgm:cxn modelId="{E2F7E5F7-6CEA-432E-8219-8FCD648DFDA8}" type="presParOf" srcId="{138C29D8-924F-4AA7-B9EB-12B62EF94A0A}" destId="{C656AC05-6F41-4032-BE1E-876234FB0335}" srcOrd="3" destOrd="0" presId="urn:microsoft.com/office/officeart/2018/2/layout/IconVerticalSolidList"/>
    <dgm:cxn modelId="{C808A7CC-51D3-4C33-AB31-554D1652DEF9}" type="presParOf" srcId="{E7F6EAA9-1048-45E6-A143-4541D8903BDB}" destId="{B015EF07-ED1F-4CB3-A3A7-4091453A6B41}" srcOrd="1" destOrd="0" presId="urn:microsoft.com/office/officeart/2018/2/layout/IconVerticalSolidList"/>
    <dgm:cxn modelId="{7EEBB25C-9CB6-4089-B7F2-A01D1B746529}" type="presParOf" srcId="{E7F6EAA9-1048-45E6-A143-4541D8903BDB}" destId="{B64599BA-DCD9-4FCE-BDA8-FD048B6A3EEC}" srcOrd="2" destOrd="0" presId="urn:microsoft.com/office/officeart/2018/2/layout/IconVerticalSolidList"/>
    <dgm:cxn modelId="{BCF9EA9A-3AF6-4AE0-B3A4-4CF6B7DFC6E3}" type="presParOf" srcId="{B64599BA-DCD9-4FCE-BDA8-FD048B6A3EEC}" destId="{A30C6321-6940-4E9D-84D1-CFF719883A23}" srcOrd="0" destOrd="0" presId="urn:microsoft.com/office/officeart/2018/2/layout/IconVerticalSolidList"/>
    <dgm:cxn modelId="{F5B506FF-2C7D-4561-98D7-6ED63318B9D2}" type="presParOf" srcId="{B64599BA-DCD9-4FCE-BDA8-FD048B6A3EEC}" destId="{319A5AB9-5146-4CC8-9B3C-F5994CAAC7CB}" srcOrd="1" destOrd="0" presId="urn:microsoft.com/office/officeart/2018/2/layout/IconVerticalSolidList"/>
    <dgm:cxn modelId="{35613772-D6C6-4C22-BE96-DFF63EB87521}" type="presParOf" srcId="{B64599BA-DCD9-4FCE-BDA8-FD048B6A3EEC}" destId="{4C1BB512-F3BB-43EE-9CE4-9504E559D210}" srcOrd="2" destOrd="0" presId="urn:microsoft.com/office/officeart/2018/2/layout/IconVerticalSolidList"/>
    <dgm:cxn modelId="{CAB38E2A-B608-4F65-AEA3-10BD6D672291}" type="presParOf" srcId="{B64599BA-DCD9-4FCE-BDA8-FD048B6A3EEC}" destId="{8D4A5A7B-430A-470B-97C9-2884B891E74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45E7EC-4823-4B41-8FB7-1517A5644CF2}">
      <dsp:nvSpPr>
        <dsp:cNvPr id="0" name=""/>
        <dsp:cNvSpPr/>
      </dsp:nvSpPr>
      <dsp:spPr>
        <a:xfrm>
          <a:off x="-231310" y="618168"/>
          <a:ext cx="6565582" cy="112764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70C9F17-21DD-4C6B-B4A4-FC56789D82E8}">
      <dsp:nvSpPr>
        <dsp:cNvPr id="0" name=""/>
        <dsp:cNvSpPr/>
      </dsp:nvSpPr>
      <dsp:spPr>
        <a:xfrm>
          <a:off x="109802" y="871888"/>
          <a:ext cx="620205" cy="62020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656AC05-6F41-4032-BE1E-876234FB0335}">
      <dsp:nvSpPr>
        <dsp:cNvPr id="0" name=""/>
        <dsp:cNvSpPr/>
      </dsp:nvSpPr>
      <dsp:spPr>
        <a:xfrm>
          <a:off x="605952" y="685319"/>
          <a:ext cx="6190939" cy="11276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9343" tIns="119343" rIns="119343" bIns="119343" numCol="1" spcCol="1270" anchor="ctr" anchorCtr="0">
          <a:noAutofit/>
        </a:bodyPr>
        <a:lstStyle/>
        <a:p>
          <a:pPr marL="0" lvl="0" indent="0" algn="l" defTabSz="889000">
            <a:lnSpc>
              <a:spcPct val="90000"/>
            </a:lnSpc>
            <a:spcBef>
              <a:spcPct val="0"/>
            </a:spcBef>
            <a:spcAft>
              <a:spcPct val="35000"/>
            </a:spcAft>
            <a:buNone/>
          </a:pPr>
          <a:r>
            <a:rPr lang="en-GB" sz="2000" b="1" kern="1200" dirty="0"/>
            <a:t>    Working with inheritance</a:t>
          </a:r>
          <a:endParaRPr lang="en-US" sz="1600" b="1" kern="1200" dirty="0"/>
        </a:p>
      </dsp:txBody>
      <dsp:txXfrm>
        <a:off x="605952" y="685319"/>
        <a:ext cx="6190939" cy="1127646"/>
      </dsp:txXfrm>
    </dsp:sp>
    <dsp:sp modelId="{A30C6321-6940-4E9D-84D1-CFF719883A23}">
      <dsp:nvSpPr>
        <dsp:cNvPr id="0" name=""/>
        <dsp:cNvSpPr/>
      </dsp:nvSpPr>
      <dsp:spPr>
        <a:xfrm>
          <a:off x="-166705" y="2027726"/>
          <a:ext cx="6565582" cy="112764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9A5AB9-5146-4CC8-9B3C-F5994CAAC7CB}">
      <dsp:nvSpPr>
        <dsp:cNvPr id="0" name=""/>
        <dsp:cNvSpPr/>
      </dsp:nvSpPr>
      <dsp:spPr>
        <a:xfrm>
          <a:off x="109802" y="2281447"/>
          <a:ext cx="620205" cy="62020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D4A5A7B-430A-470B-97C9-2884B891E74A}">
      <dsp:nvSpPr>
        <dsp:cNvPr id="0" name=""/>
        <dsp:cNvSpPr/>
      </dsp:nvSpPr>
      <dsp:spPr>
        <a:xfrm>
          <a:off x="1071121" y="2027726"/>
          <a:ext cx="5260602" cy="11276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9343" tIns="119343" rIns="119343" bIns="119343" numCol="1" spcCol="1270" anchor="ctr" anchorCtr="0">
          <a:noAutofit/>
        </a:bodyPr>
        <a:lstStyle/>
        <a:p>
          <a:pPr marL="0" lvl="0" indent="0" algn="l" defTabSz="889000">
            <a:lnSpc>
              <a:spcPct val="90000"/>
            </a:lnSpc>
            <a:spcBef>
              <a:spcPct val="0"/>
            </a:spcBef>
            <a:spcAft>
              <a:spcPct val="35000"/>
            </a:spcAft>
            <a:buNone/>
          </a:pPr>
          <a:r>
            <a:rPr lang="en-GB" sz="2000" b="1" kern="1200" dirty="0"/>
            <a:t>Duration 90 minutes</a:t>
          </a:r>
          <a:endParaRPr lang="en-US" sz="2400" b="0" kern="1200" dirty="0"/>
        </a:p>
      </dsp:txBody>
      <dsp:txXfrm>
        <a:off x="1071121" y="2027726"/>
        <a:ext cx="5260602" cy="112764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879725" cy="49053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763964" y="1"/>
            <a:ext cx="2879725" cy="490538"/>
          </a:xfrm>
          <a:prstGeom prst="rect">
            <a:avLst/>
          </a:prstGeom>
        </p:spPr>
        <p:txBody>
          <a:bodyPr vert="horz" lIns="91440" tIns="45720" rIns="91440" bIns="45720" rtlCol="0"/>
          <a:lstStyle>
            <a:lvl1pPr algn="r">
              <a:defRPr sz="1200"/>
            </a:lvl1pPr>
          </a:lstStyle>
          <a:p>
            <a:fld id="{86D088FE-3E68-47FE-8BA4-634CD34BABBC}" type="datetimeFigureOut">
              <a:rPr lang="en-GB" smtClean="0"/>
              <a:t>06/08/2026</a:t>
            </a:fld>
            <a:endParaRPr lang="en-GB"/>
          </a:p>
        </p:txBody>
      </p:sp>
      <p:sp>
        <p:nvSpPr>
          <p:cNvPr id="4" name="Footer Placeholder 3"/>
          <p:cNvSpPr>
            <a:spLocks noGrp="1"/>
          </p:cNvSpPr>
          <p:nvPr>
            <p:ph type="ftr" sz="quarter" idx="2"/>
          </p:nvPr>
        </p:nvSpPr>
        <p:spPr>
          <a:xfrm>
            <a:off x="1" y="9285289"/>
            <a:ext cx="2879725" cy="490536"/>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763964" y="9285289"/>
            <a:ext cx="2879725" cy="490536"/>
          </a:xfrm>
          <a:prstGeom prst="rect">
            <a:avLst/>
          </a:prstGeom>
        </p:spPr>
        <p:txBody>
          <a:bodyPr vert="horz" lIns="91440" tIns="45720" rIns="91440" bIns="45720" rtlCol="0" anchor="b"/>
          <a:lstStyle>
            <a:lvl1pPr algn="r">
              <a:defRPr sz="1200"/>
            </a:lvl1pPr>
          </a:lstStyle>
          <a:p>
            <a:fld id="{29B31C5D-0DE0-4486-9782-41885BE58160}" type="slidenum">
              <a:rPr lang="en-GB" smtClean="0"/>
              <a:t>‹#›</a:t>
            </a:fld>
            <a:endParaRPr lang="en-GB"/>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879619" cy="490489"/>
          </a:xfrm>
          <a:prstGeom prst="rect">
            <a:avLst/>
          </a:prstGeom>
        </p:spPr>
        <p:txBody>
          <a:bodyPr vert="horz" lIns="91440" tIns="45720" rIns="91440" bIns="45720" rtlCol="0"/>
          <a:lstStyle>
            <a:lvl1pPr algn="l">
              <a:defRPr sz="1200">
                <a:latin typeface="Montserrat" panose="00000500000000000000" pitchFamily="2" charset="0"/>
              </a:defRPr>
            </a:lvl1pPr>
          </a:lstStyle>
          <a:p>
            <a:endParaRPr lang="en-GB" dirty="0"/>
          </a:p>
        </p:txBody>
      </p:sp>
      <p:sp>
        <p:nvSpPr>
          <p:cNvPr id="3" name="Date Placeholder 2"/>
          <p:cNvSpPr>
            <a:spLocks noGrp="1"/>
          </p:cNvSpPr>
          <p:nvPr>
            <p:ph type="dt" idx="1"/>
          </p:nvPr>
        </p:nvSpPr>
        <p:spPr>
          <a:xfrm>
            <a:off x="3764119" y="0"/>
            <a:ext cx="2879619" cy="490489"/>
          </a:xfrm>
          <a:prstGeom prst="rect">
            <a:avLst/>
          </a:prstGeom>
        </p:spPr>
        <p:txBody>
          <a:bodyPr vert="horz" lIns="91440" tIns="45720" rIns="91440" bIns="45720" rtlCol="0"/>
          <a:lstStyle>
            <a:lvl1pPr algn="r">
              <a:defRPr sz="1200">
                <a:latin typeface="Montserrat" panose="00000500000000000000" pitchFamily="2" charset="0"/>
              </a:defRPr>
            </a:lvl1pPr>
          </a:lstStyle>
          <a:p>
            <a:fld id="{1D6B66C6-1E92-0F4E-A300-9D4ED1F0C23F}" type="datetimeFigureOut">
              <a:rPr lang="en-GB" smtClean="0"/>
              <a:pPr/>
              <a:t>06/08/2026</a:t>
            </a:fld>
            <a:endParaRPr lang="en-GB"/>
          </a:p>
        </p:txBody>
      </p:sp>
      <p:sp>
        <p:nvSpPr>
          <p:cNvPr id="4" name="Slide Image Placeholder 3"/>
          <p:cNvSpPr>
            <a:spLocks noGrp="1" noRot="1" noChangeAspect="1"/>
          </p:cNvSpPr>
          <p:nvPr>
            <p:ph type="sldImg" idx="2"/>
          </p:nvPr>
        </p:nvSpPr>
        <p:spPr>
          <a:xfrm>
            <a:off x="388938" y="1220788"/>
            <a:ext cx="5867400" cy="3300412"/>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64528" y="4704617"/>
            <a:ext cx="5316220" cy="3849231"/>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1" y="9285339"/>
            <a:ext cx="2879619" cy="490488"/>
          </a:xfrm>
          <a:prstGeom prst="rect">
            <a:avLst/>
          </a:prstGeom>
        </p:spPr>
        <p:txBody>
          <a:bodyPr vert="horz" lIns="91440" tIns="45720" rIns="91440" bIns="45720" rtlCol="0" anchor="b"/>
          <a:lstStyle>
            <a:lvl1pPr algn="l">
              <a:defRPr sz="1200">
                <a:latin typeface="Montserrat" panose="00000500000000000000" pitchFamily="2" charset="0"/>
              </a:defRPr>
            </a:lvl1pPr>
          </a:lstStyle>
          <a:p>
            <a:endParaRPr lang="en-GB"/>
          </a:p>
        </p:txBody>
      </p:sp>
      <p:sp>
        <p:nvSpPr>
          <p:cNvPr id="7" name="Slide Number Placeholder 6"/>
          <p:cNvSpPr>
            <a:spLocks noGrp="1"/>
          </p:cNvSpPr>
          <p:nvPr>
            <p:ph type="sldNum" sz="quarter" idx="5"/>
          </p:nvPr>
        </p:nvSpPr>
        <p:spPr>
          <a:xfrm>
            <a:off x="3764119" y="9285339"/>
            <a:ext cx="2879619" cy="490488"/>
          </a:xfrm>
          <a:prstGeom prst="rect">
            <a:avLst/>
          </a:prstGeom>
        </p:spPr>
        <p:txBody>
          <a:bodyPr vert="horz" lIns="91440" tIns="45720" rIns="91440" bIns="45720" rtlCol="0" anchor="b"/>
          <a:lstStyle>
            <a:lvl1pPr algn="r">
              <a:defRPr sz="1200">
                <a:latin typeface="Montserrat" panose="00000500000000000000" pitchFamily="2" charset="0"/>
              </a:defRPr>
            </a:lvl1pPr>
          </a:lstStyle>
          <a:p>
            <a:fld id="{548901C6-1DA1-FB44-ABEE-06A0FEB7738E}" type="slidenum">
              <a:rPr lang="en-GB" smtClean="0"/>
              <a:pPr/>
              <a:t>‹#›</a:t>
            </a:fld>
            <a:endParaRPr lang="en-GB"/>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5BE1F5F-BEC2-48D5-A890-C07C79853E26}" type="slidenum">
              <a:rPr lang="en-GB" smtClean="0"/>
              <a:t>1</a:t>
            </a:fld>
            <a:endParaRPr lang="en-GB"/>
          </a:p>
        </p:txBody>
      </p:sp>
    </p:spTree>
    <p:extLst>
      <p:ext uri="{BB962C8B-B14F-4D97-AF65-F5344CB8AC3E}">
        <p14:creationId xmlns:p14="http://schemas.microsoft.com/office/powerpoint/2010/main" val="25469319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5"/>
          <p:cNvSpPr>
            <a:spLocks noGrp="1" noRot="1" noChangeAspect="1" noChangeArrowheads="1" noTextEdit="1"/>
          </p:cNvSpPr>
          <p:nvPr>
            <p:ph type="sldImg"/>
          </p:nvPr>
        </p:nvSpPr>
        <p:spPr>
          <a:ln/>
        </p:spPr>
      </p:sp>
      <p:sp>
        <p:nvSpPr>
          <p:cNvPr id="35844" name="Rectangle 6"/>
          <p:cNvSpPr>
            <a:spLocks noGrp="1" noChangeArrowheads="1"/>
          </p:cNvSpPr>
          <p:nvPr>
            <p:ph type="body" idx="1"/>
          </p:nvPr>
        </p:nvSpPr>
        <p:spPr>
          <a:noFill/>
          <a:ln/>
        </p:spPr>
        <p:txBody>
          <a:bodyPr/>
          <a:lstStyle/>
          <a:p>
            <a:r>
              <a:rPr lang="en-GB" dirty="0"/>
              <a:t>Now that you've mastered classes, it's time to move on to inheritance. Inheritance is a very powerful concept in object-oriented programming, because it allows you to define a new class (known as a sub class) in terms of how that class differs from some other class (known as a super class). </a:t>
            </a:r>
          </a:p>
          <a:p>
            <a:r>
              <a:rPr lang="en-GB" dirty="0"/>
              <a:t>By the end of part three, you should be able to:</a:t>
            </a:r>
          </a:p>
          <a:p>
            <a:pPr marL="619125" lvl="1" indent="-171450">
              <a:buFont typeface="Arial" panose="020B0604020202020204" pitchFamily="34" charset="0"/>
              <a:buChar char="•"/>
            </a:pPr>
            <a:r>
              <a:rPr lang="en-GB" dirty="0"/>
              <a:t>Use inheritance to define new classes</a:t>
            </a:r>
          </a:p>
          <a:p>
            <a:pPr marL="619125" lvl="1" indent="-171450">
              <a:buFont typeface="Arial" panose="020B0604020202020204" pitchFamily="34" charset="0"/>
              <a:buChar char="•"/>
            </a:pPr>
            <a:r>
              <a:rPr lang="en-GB" dirty="0"/>
              <a:t>Ensure proper construction of a super class</a:t>
            </a:r>
          </a:p>
          <a:p>
            <a:pPr marL="619125" lvl="1" indent="-171450">
              <a:buFont typeface="Arial" panose="020B0604020202020204" pitchFamily="34" charset="0"/>
              <a:buChar char="•"/>
            </a:pPr>
            <a:r>
              <a:rPr lang="en-GB" dirty="0"/>
              <a:t>Override methods in a sub class</a:t>
            </a:r>
          </a:p>
          <a:p>
            <a:pPr marL="619125" lvl="1" indent="-171450">
              <a:buFont typeface="Arial" panose="020B0604020202020204" pitchFamily="34" charset="0"/>
              <a:buChar char="•"/>
            </a:pPr>
            <a:r>
              <a:rPr lang="en-GB" dirty="0"/>
              <a:t>If necessary, call methods in a super class</a:t>
            </a:r>
          </a:p>
          <a:p>
            <a:pPr marL="619125" lvl="1" indent="-171450">
              <a:buFont typeface="Arial" panose="020B0604020202020204" pitchFamily="34" charset="0"/>
              <a:buChar char="•"/>
            </a:pPr>
            <a:r>
              <a:rPr lang="en-GB" dirty="0"/>
              <a:t>Explain the concept of polymorphism!</a:t>
            </a:r>
          </a:p>
          <a:p>
            <a:r>
              <a:rPr lang="en-GB" dirty="0"/>
              <a:t> </a:t>
            </a:r>
          </a:p>
          <a:p>
            <a:endParaRPr lang="en-GB" dirty="0"/>
          </a:p>
        </p:txBody>
      </p:sp>
      <p:sp>
        <p:nvSpPr>
          <p:cNvPr id="2" name="Slide Number Placeholder 1"/>
          <p:cNvSpPr>
            <a:spLocks noGrp="1"/>
          </p:cNvSpPr>
          <p:nvPr>
            <p:ph type="sldNum" sz="quarter" idx="10"/>
          </p:nvPr>
        </p:nvSpPr>
        <p:spPr/>
        <p:txBody>
          <a:bodyPr/>
          <a:lstStyle/>
          <a:p>
            <a:fld id="{548901C6-1DA1-FB44-ABEE-06A0FEB7738E}" type="slidenum">
              <a:rPr lang="en-GB" smtClean="0"/>
              <a:pPr/>
              <a:t>2</a:t>
            </a:fld>
            <a:endParaRPr lang="en-GB"/>
          </a:p>
        </p:txBody>
      </p:sp>
    </p:spTree>
    <p:extLst>
      <p:ext uri="{BB962C8B-B14F-4D97-AF65-F5344CB8AC3E}">
        <p14:creationId xmlns:p14="http://schemas.microsoft.com/office/powerpoint/2010/main" val="5600638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Examples of inheritance are ubiquitous in our model of the real world. Our definition of a cat inherits the features of our definition of a mammal, which in turn inherits the features of our definition of an animal. A chair and a table both inherit the features of furniture. A taxi is a kind of car. </a:t>
            </a:r>
          </a:p>
          <a:p>
            <a:endParaRPr lang="en-GB" dirty="0"/>
          </a:p>
          <a:p>
            <a:r>
              <a:rPr lang="en-GB" dirty="0"/>
              <a:t>Notice that sub-classes take on features of the super class and can add or (slightly) modify features, but they cannot remove features.</a:t>
            </a:r>
          </a:p>
          <a:p>
            <a:r>
              <a:rPr lang="en-GB" dirty="0"/>
              <a:t>Many different terms are used with inheritance. Occasionally parent-child is</a:t>
            </a:r>
            <a:r>
              <a:rPr lang="en-GB" baseline="0" dirty="0"/>
              <a:t> used as an alternative to super-sub class.</a:t>
            </a:r>
            <a:endParaRPr lang="en-GB" dirty="0"/>
          </a:p>
          <a:p>
            <a:endParaRPr lang="en-GB" dirty="0"/>
          </a:p>
          <a:p>
            <a:endParaRPr lang="en-GB" dirty="0"/>
          </a:p>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3</a:t>
            </a:fld>
            <a:endParaRPr lang="en-GB"/>
          </a:p>
        </p:txBody>
      </p:sp>
    </p:spTree>
    <p:extLst>
      <p:ext uri="{BB962C8B-B14F-4D97-AF65-F5344CB8AC3E}">
        <p14:creationId xmlns:p14="http://schemas.microsoft.com/office/powerpoint/2010/main" val="21382770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Let's provide an example where inheritance would be a useful tool: a vector graphics drawing program. Such a program would normally allow you to create common shapes, such as ellipses, rectangles, and triangles. Each of these is likely to be a class in the application's model. However, it quickly becomes apparent that these classes all share common behaviours and properties; shapes are filled with a colour, all need to be drawn, etc.</a:t>
            </a:r>
          </a:p>
          <a:p>
            <a:endParaRPr lang="en-GB" dirty="0"/>
          </a:p>
          <a:p>
            <a:r>
              <a:rPr lang="en-GB" dirty="0"/>
              <a:t>Good OO practice would have you factor the common elements into a super class (maybe called Shape), from which all the other classes would be inherited. These sub classes would then gain the benefit of re-use of the code from the super class. However, the sub types would also need to be able to extend and modify the super class functionality; for example, each separate type would need  to be able to provide its own algorithm to calculate the area of the shape, and many would need to add specific fields and constructors to support their different data requirements.</a:t>
            </a:r>
          </a:p>
          <a:p>
            <a:endParaRPr lang="en-GB" dirty="0"/>
          </a:p>
          <a:p>
            <a:r>
              <a:rPr lang="en-GB" dirty="0"/>
              <a:t>One of the key things that we observe is that we can apply a test to see whether inheritance will work in our model: the ‘is a kind of’ relationship. A triangle is a kind of shape; an ellipse is a kind of shape; a circle is a kind of ellipse. This test confirms that we are introducing inheritance relationships that make logical sense.</a:t>
            </a:r>
          </a:p>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4</a:t>
            </a:fld>
            <a:endParaRPr lang="en-GB"/>
          </a:p>
        </p:txBody>
      </p:sp>
    </p:spTree>
    <p:extLst>
      <p:ext uri="{BB962C8B-B14F-4D97-AF65-F5344CB8AC3E}">
        <p14:creationId xmlns:p14="http://schemas.microsoft.com/office/powerpoint/2010/main" val="15123278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Note that Java only supports single inheritance. Additionally, any class that does not explicitly extend another class implicitly extends the </a:t>
            </a:r>
            <a:r>
              <a:rPr lang="en-GB" dirty="0" err="1"/>
              <a:t>java.lang.Object</a:t>
            </a:r>
            <a:r>
              <a:rPr lang="en-GB" dirty="0"/>
              <a:t> class. In other words, the Object class is the only class that does not have a super class.</a:t>
            </a:r>
          </a:p>
          <a:p>
            <a:endParaRPr lang="en-GB" dirty="0"/>
          </a:p>
          <a:p>
            <a:r>
              <a:rPr lang="en-GB" dirty="0"/>
              <a:t>Single inheritance means that each class can only have one direct super class: the direct super class of Circle is Ellipse; the direct super class of Ellipse is Shape, etc. This single chain of inheritance can go many levels deep. Of course, multiple classes can be derived from a single super class, with Rectangle, Ellipse and Triangle all being derived from Shape.</a:t>
            </a:r>
          </a:p>
          <a:p>
            <a:endParaRPr lang="en-GB" dirty="0"/>
          </a:p>
          <a:p>
            <a:r>
              <a:rPr lang="en-GB" dirty="0"/>
              <a:t>In the next chapter, we will see that the use of interfaces provides a more coherent and less ambiguous approach to allowing a class to provide functionality to match multiple conceptual definitions.</a:t>
            </a:r>
          </a:p>
          <a:p>
            <a:endParaRPr lang="en-GB" dirty="0"/>
          </a:p>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5</a:t>
            </a:fld>
            <a:endParaRPr lang="en-GB"/>
          </a:p>
        </p:txBody>
      </p:sp>
    </p:spTree>
    <p:extLst>
      <p:ext uri="{BB962C8B-B14F-4D97-AF65-F5344CB8AC3E}">
        <p14:creationId xmlns:p14="http://schemas.microsoft.com/office/powerpoint/2010/main" val="27519581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When you define a sub class, you need only to provide code for the things in the sub class which are different to the super class. You also need to establish the inheritance relationship between the sub and the super class. You do this by placing the super class name after the class name, separated by the keyword ‘extends’ as shown above.</a:t>
            </a:r>
          </a:p>
          <a:p>
            <a:endParaRPr lang="en-GB" dirty="0"/>
          </a:p>
          <a:p>
            <a:r>
              <a:rPr lang="en-GB" dirty="0"/>
              <a:t>Note that if you omit a super class name, the compiler will automatically make the super class </a:t>
            </a:r>
            <a:r>
              <a:rPr lang="en-GB" dirty="0" err="1"/>
              <a:t>java.lang.Object</a:t>
            </a:r>
            <a:r>
              <a:rPr lang="en-GB" dirty="0"/>
              <a:t>, as all types are ultimately derived from Object.</a:t>
            </a:r>
          </a:p>
          <a:p>
            <a:endParaRPr lang="en-GB" dirty="0"/>
          </a:p>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6</a:t>
            </a:fld>
            <a:endParaRPr lang="en-GB"/>
          </a:p>
        </p:txBody>
      </p:sp>
    </p:spTree>
    <p:extLst>
      <p:ext uri="{BB962C8B-B14F-4D97-AF65-F5344CB8AC3E}">
        <p14:creationId xmlns:p14="http://schemas.microsoft.com/office/powerpoint/2010/main" val="12707929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Instance fields should normally be declared as private, which means that instances of derived classes will have these values but will not be able access them directly. </a:t>
            </a:r>
          </a:p>
          <a:p>
            <a:endParaRPr lang="en-GB" dirty="0"/>
          </a:p>
          <a:p>
            <a:r>
              <a:rPr lang="en-GB" dirty="0"/>
              <a:t>In our example, the super class (Shape) declares two instance fields, position and colour. All objects of the sub types will have their own copies of these instance fields, as shown in the picture of the Ellipse object above.</a:t>
            </a:r>
          </a:p>
          <a:p>
            <a:endParaRPr lang="en-GB" dirty="0"/>
          </a:p>
          <a:p>
            <a:r>
              <a:rPr lang="en-GB" dirty="0"/>
              <a:t>However, it is important to note that fields will typically be declared with the private modifier. This means that they will be inaccessible to the code in the sub classes (however the </a:t>
            </a:r>
            <a:r>
              <a:rPr lang="en-GB" dirty="0" err="1"/>
              <a:t>getXxxx</a:t>
            </a:r>
            <a:r>
              <a:rPr lang="en-GB" dirty="0"/>
              <a:t>() methods will be visible of course and invokable without a prefix or &lt;dot&gt;).</a:t>
            </a:r>
          </a:p>
          <a:p>
            <a:endParaRPr lang="en-GB" dirty="0"/>
          </a:p>
          <a:p>
            <a:r>
              <a:rPr lang="en-GB" dirty="0"/>
              <a:t>Of course, the sub type might also define its own fields, in which case objects of the sub type will have both the fields from the super class(es) and those from their own type. This last point is very important. In the code above, an Ellipse object is a kind of Shape object, because it has everything in it as defined by the Shape class, without them having to be defined again in the Ellipse class.</a:t>
            </a:r>
          </a:p>
          <a:p>
            <a:endParaRPr lang="en-GB" dirty="0"/>
          </a:p>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7</a:t>
            </a:fld>
            <a:endParaRPr lang="en-GB"/>
          </a:p>
        </p:txBody>
      </p:sp>
    </p:spTree>
    <p:extLst>
      <p:ext uri="{BB962C8B-B14F-4D97-AF65-F5344CB8AC3E}">
        <p14:creationId xmlns:p14="http://schemas.microsoft.com/office/powerpoint/2010/main" val="32756967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class does not inherit any constructors from its base class. Therefore, the class has only the constructors explicitly defined in that class or, if none are defined, the default (no arguments) constructor.</a:t>
            </a:r>
          </a:p>
          <a:p>
            <a:endParaRPr lang="en-GB" dirty="0"/>
          </a:p>
          <a:p>
            <a:r>
              <a:rPr lang="en-GB" dirty="0"/>
              <a:t>Objects are always constructed from the top class down to the bottom class (i.e., from the </a:t>
            </a:r>
            <a:r>
              <a:rPr lang="en-GB" dirty="0" err="1"/>
              <a:t>java.lang.Object</a:t>
            </a:r>
            <a:r>
              <a:rPr lang="en-GB" dirty="0"/>
              <a:t> class down to the class that is being instantiated. This ensures that a constructor in a derived class can rely on proper construction of its base classes. However, this works only if the base class (superclass) has a default constructor, as the compiler can't guess which arguments you may wish to pass to the base class‘s constructor. </a:t>
            </a:r>
          </a:p>
          <a:p>
            <a:endParaRPr lang="en-GB" dirty="0"/>
          </a:p>
          <a:p>
            <a:r>
              <a:rPr lang="en-GB" dirty="0"/>
              <a:t>If the base class doesn't have a no arguments constructor, you must use super() to explicitly call a specific constructor in the base class. The arguments to super() must, of course, match those of the target constructor. </a:t>
            </a:r>
          </a:p>
          <a:p>
            <a:endParaRPr lang="en-GB" dirty="0"/>
          </a:p>
          <a:p>
            <a:r>
              <a:rPr lang="en-GB" dirty="0"/>
              <a:t>Note that when an object is created, the order of construction is as follows:</a:t>
            </a:r>
          </a:p>
          <a:p>
            <a:endParaRPr lang="en-GB" dirty="0"/>
          </a:p>
          <a:p>
            <a:r>
              <a:rPr lang="en-GB" dirty="0"/>
              <a:t>1. Its instance fields are initialised to default values.</a:t>
            </a:r>
          </a:p>
          <a:p>
            <a:r>
              <a:rPr lang="en-GB" dirty="0"/>
              <a:t>2. Its constructor is called, which in turn:</a:t>
            </a:r>
          </a:p>
          <a:p>
            <a:pPr marL="628650" lvl="1" indent="-171450">
              <a:buFont typeface="Arial" panose="020B0604020202020204" pitchFamily="34" charset="0"/>
              <a:buChar char="•"/>
            </a:pPr>
            <a:r>
              <a:rPr lang="en-GB" dirty="0"/>
              <a:t>calls the constructor of its base class (either implicitly or explicitly).</a:t>
            </a:r>
          </a:p>
          <a:p>
            <a:pPr marL="628650" lvl="1" indent="-171450">
              <a:buFont typeface="Arial" panose="020B0604020202020204" pitchFamily="34" charset="0"/>
              <a:buChar char="•"/>
            </a:pPr>
            <a:r>
              <a:rPr lang="en-GB" dirty="0"/>
              <a:t>initialises its instance fields through their initialisers (if any).</a:t>
            </a:r>
          </a:p>
          <a:p>
            <a:pPr marL="628650" lvl="1" indent="-171450">
              <a:buFont typeface="Arial" panose="020B0604020202020204" pitchFamily="34" charset="0"/>
              <a:buChar char="•"/>
            </a:pPr>
            <a:r>
              <a:rPr lang="en-GB" dirty="0"/>
              <a:t>executes the body of the constructor.</a:t>
            </a:r>
          </a:p>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8</a:t>
            </a:fld>
            <a:endParaRPr lang="en-GB"/>
          </a:p>
        </p:txBody>
      </p:sp>
    </p:spTree>
    <p:extLst>
      <p:ext uri="{BB962C8B-B14F-4D97-AF65-F5344CB8AC3E}">
        <p14:creationId xmlns:p14="http://schemas.microsoft.com/office/powerpoint/2010/main" val="20724210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Rot="1" noChangeAspect="1" noChangeArrowheads="1" noTextEdit="1"/>
          </p:cNvSpPr>
          <p:nvPr>
            <p:ph type="sldImg"/>
          </p:nvPr>
        </p:nvSpPr>
        <p:spPr>
          <a:ln/>
        </p:spPr>
      </p:sp>
      <p:sp>
        <p:nvSpPr>
          <p:cNvPr id="43011" name="Rectangle 3"/>
          <p:cNvSpPr>
            <a:spLocks noGrp="1" noChangeArrowheads="1"/>
          </p:cNvSpPr>
          <p:nvPr>
            <p:ph type="body" idx="1"/>
          </p:nvPr>
        </p:nvSpPr>
        <p:spPr>
          <a:noFill/>
          <a:ln/>
        </p:spPr>
        <p:txBody>
          <a:bodyPr/>
          <a:lstStyle/>
          <a:p>
            <a:r>
              <a:rPr lang="en-GB" dirty="0"/>
              <a:t>Here's an example of constructor usage with inheritance. The first thing to notice is that the Shape class only has one constructor, which takes two parameters.</a:t>
            </a:r>
          </a:p>
          <a:p>
            <a:r>
              <a:rPr lang="en-GB" dirty="0"/>
              <a:t>The derived Ellipse class can define a constructors which specifies the super class (Shape) constructor to use. </a:t>
            </a:r>
            <a:br>
              <a:rPr lang="en-GB" dirty="0"/>
            </a:br>
            <a:r>
              <a:rPr lang="en-GB" dirty="0"/>
              <a:t>In our example it has to do this, as the super class hasn't got a default no arguments constructor.</a:t>
            </a:r>
            <a:br>
              <a:rPr lang="en-GB" dirty="0"/>
            </a:br>
            <a:r>
              <a:rPr lang="en-GB" dirty="0"/>
              <a:t>You will also notice that the Ellipse constructor takes two parameters (position and colour) which are passed up to the super class; this is very common with inheritance.</a:t>
            </a:r>
          </a:p>
        </p:txBody>
      </p:sp>
      <p:sp>
        <p:nvSpPr>
          <p:cNvPr id="2" name="Slide Number Placeholder 1"/>
          <p:cNvSpPr>
            <a:spLocks noGrp="1"/>
          </p:cNvSpPr>
          <p:nvPr>
            <p:ph type="sldNum" sz="quarter" idx="10"/>
          </p:nvPr>
        </p:nvSpPr>
        <p:spPr/>
        <p:txBody>
          <a:bodyPr/>
          <a:lstStyle/>
          <a:p>
            <a:fld id="{548901C6-1DA1-FB44-ABEE-06A0FEB7738E}" type="slidenum">
              <a:rPr lang="en-GB" smtClean="0"/>
              <a:pPr/>
              <a:t>9</a:t>
            </a:fld>
            <a:endParaRPr lang="en-GB"/>
          </a:p>
        </p:txBody>
      </p:sp>
    </p:spTree>
    <p:extLst>
      <p:ext uri="{BB962C8B-B14F-4D97-AF65-F5344CB8AC3E}">
        <p14:creationId xmlns:p14="http://schemas.microsoft.com/office/powerpoint/2010/main" val="7185251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Rot="1" noChangeAspect="1" noChangeArrowheads="1" noTextEdit="1"/>
          </p:cNvSpPr>
          <p:nvPr>
            <p:ph type="sldImg"/>
          </p:nvPr>
        </p:nvSpPr>
        <p:spPr>
          <a:ln/>
        </p:spPr>
      </p:sp>
      <p:sp>
        <p:nvSpPr>
          <p:cNvPr id="43011" name="Rectangle 3"/>
          <p:cNvSpPr>
            <a:spLocks noGrp="1" noChangeArrowheads="1"/>
          </p:cNvSpPr>
          <p:nvPr>
            <p:ph type="body" idx="1"/>
          </p:nvPr>
        </p:nvSpPr>
        <p:spPr>
          <a:noFill/>
          <a:ln/>
        </p:spPr>
        <p:txBody>
          <a:bodyPr/>
          <a:lstStyle/>
          <a:p>
            <a:r>
              <a:rPr lang="en-GB" dirty="0"/>
              <a:t>The derived Ellipse class has defined two constructors. </a:t>
            </a:r>
          </a:p>
          <a:p>
            <a:r>
              <a:rPr lang="en-GB" dirty="0"/>
              <a:t>The second Ellipse constructor doesn't need to specify which super constructor will be used, because it chains to the four argument Ellipse constructor. In fact, it isn't possible to use both this() and super() in the same constructor; you can either chain within your class or you can specify a base constructor. But if you do nothing the compiler sticks in super().</a:t>
            </a:r>
          </a:p>
        </p:txBody>
      </p:sp>
      <p:sp>
        <p:nvSpPr>
          <p:cNvPr id="2" name="Slide Number Placeholder 1"/>
          <p:cNvSpPr>
            <a:spLocks noGrp="1"/>
          </p:cNvSpPr>
          <p:nvPr>
            <p:ph type="sldNum" sz="quarter" idx="10"/>
          </p:nvPr>
        </p:nvSpPr>
        <p:spPr/>
        <p:txBody>
          <a:bodyPr/>
          <a:lstStyle/>
          <a:p>
            <a:fld id="{548901C6-1DA1-FB44-ABEE-06A0FEB7738E}" type="slidenum">
              <a:rPr lang="en-GB" smtClean="0"/>
              <a:pPr/>
              <a:t>10</a:t>
            </a:fld>
            <a:endParaRPr lang="en-GB"/>
          </a:p>
        </p:txBody>
      </p:sp>
    </p:spTree>
    <p:extLst>
      <p:ext uri="{BB962C8B-B14F-4D97-AF65-F5344CB8AC3E}">
        <p14:creationId xmlns:p14="http://schemas.microsoft.com/office/powerpoint/2010/main" val="4057805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r>
              <a:rPr lang="en-GB" dirty="0"/>
              <a:t>While we're on the subject of visibility, it's worth reintroducing the protected modifier. When you declare a method  with the protected modifier, you are stating that it is only accessible to the declaring class, and any class that is derived from it. This is an incredibly powerful feature, because it means that you can add methods, and even constructors, that only deriving classes can see.</a:t>
            </a:r>
          </a:p>
          <a:p>
            <a:r>
              <a:rPr lang="en-GB" dirty="0"/>
              <a:t>A good example of this is shown above. Many java graphical types raise events (we'll cover events in a later chapter). A very common pattern for raising events is to raise the event in a protected method. Doing it this way enables a deriving class to override the conditions which control whether the event should be raised or not. If you made the method public, then any piece of code could raise the event, and if you made it private the deriving class would have no opportunity to control it.</a:t>
            </a:r>
          </a:p>
          <a:p>
            <a:endParaRPr lang="en-GB" dirty="0"/>
          </a:p>
        </p:txBody>
      </p:sp>
      <p:sp>
        <p:nvSpPr>
          <p:cNvPr id="2" name="Slide Number Placeholder 1"/>
          <p:cNvSpPr>
            <a:spLocks noGrp="1"/>
          </p:cNvSpPr>
          <p:nvPr>
            <p:ph type="sldNum" sz="quarter" idx="10"/>
          </p:nvPr>
        </p:nvSpPr>
        <p:spPr/>
        <p:txBody>
          <a:bodyPr/>
          <a:lstStyle/>
          <a:p>
            <a:fld id="{548901C6-1DA1-FB44-ABEE-06A0FEB7738E}" type="slidenum">
              <a:rPr lang="en-GB" smtClean="0"/>
              <a:pPr/>
              <a:t>11</a:t>
            </a:fld>
            <a:endParaRPr lang="en-GB"/>
          </a:p>
        </p:txBody>
      </p:sp>
    </p:spTree>
    <p:extLst>
      <p:ext uri="{BB962C8B-B14F-4D97-AF65-F5344CB8AC3E}">
        <p14:creationId xmlns:p14="http://schemas.microsoft.com/office/powerpoint/2010/main" val="10759473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548901C6-1DA1-FB44-ABEE-06A0FEB7738E}" type="slidenum">
              <a:rPr lang="en-GB" smtClean="0"/>
              <a:pPr/>
              <a:t>12</a:t>
            </a:fld>
            <a:endParaRPr lang="en-GB"/>
          </a:p>
        </p:txBody>
      </p:sp>
    </p:spTree>
    <p:extLst>
      <p:ext uri="{BB962C8B-B14F-4D97-AF65-F5344CB8AC3E}">
        <p14:creationId xmlns:p14="http://schemas.microsoft.com/office/powerpoint/2010/main" val="14204958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548901C6-1DA1-FB44-ABEE-06A0FEB7738E}" type="slidenum">
              <a:rPr lang="en-GB" smtClean="0"/>
              <a:pPr/>
              <a:t>13</a:t>
            </a:fld>
            <a:endParaRPr lang="en-GB"/>
          </a:p>
        </p:txBody>
      </p:sp>
    </p:spTree>
    <p:extLst>
      <p:ext uri="{BB962C8B-B14F-4D97-AF65-F5344CB8AC3E}">
        <p14:creationId xmlns:p14="http://schemas.microsoft.com/office/powerpoint/2010/main" val="26359319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Rot="1" noChangeAspect="1" noChangeArrowheads="1" noTextEdit="1"/>
          </p:cNvSpPr>
          <p:nvPr>
            <p:ph type="sldImg"/>
          </p:nvPr>
        </p:nvSpPr>
        <p:spPr>
          <a:ln/>
        </p:spPr>
      </p:sp>
      <p:sp>
        <p:nvSpPr>
          <p:cNvPr id="28675" name="Rectangle 3"/>
          <p:cNvSpPr>
            <a:spLocks noGrp="1" noChangeArrowheads="1"/>
          </p:cNvSpPr>
          <p:nvPr>
            <p:ph type="body" idx="1"/>
          </p:nvPr>
        </p:nvSpPr>
        <p:spPr>
          <a:noFill/>
          <a:ln/>
        </p:spPr>
        <p:txBody>
          <a:bodyPr/>
          <a:lstStyle/>
          <a:p>
            <a:r>
              <a:rPr lang="en-GB" dirty="0"/>
              <a:t>Custom exception types you</a:t>
            </a:r>
            <a:r>
              <a:rPr lang="en-GB" baseline="0" dirty="0"/>
              <a:t> author will </a:t>
            </a:r>
            <a:r>
              <a:rPr lang="en-GB" dirty="0"/>
              <a:t>be subclassed from class</a:t>
            </a:r>
            <a:r>
              <a:rPr lang="en-GB" baseline="0" dirty="0"/>
              <a:t> </a:t>
            </a:r>
            <a:r>
              <a:rPr lang="en-GB" dirty="0"/>
              <a:t>Exception or from an exception type derived from it. The ultimate ‘super’ Exception class (java.lang.Exception) defines a ‘message’ field but the only ‘write’ access to it is via the .ctor of class Exception.</a:t>
            </a:r>
            <a:br>
              <a:rPr lang="en-GB" dirty="0"/>
            </a:br>
            <a:r>
              <a:rPr lang="en-GB" dirty="0"/>
              <a:t>If your exception</a:t>
            </a:r>
            <a:r>
              <a:rPr lang="en-GB" baseline="0" dirty="0"/>
              <a:t> type inherits from </a:t>
            </a:r>
            <a:r>
              <a:rPr lang="en-GB" baseline="0" dirty="0" err="1"/>
              <a:t>RuntimeException</a:t>
            </a:r>
            <a:r>
              <a:rPr lang="en-GB" baseline="0" dirty="0"/>
              <a:t>, then it is of course an unchecked exception and client code does not have to catch it or alternatively declare itself as throwing it via a ‘throws’ clause in the method signature. </a:t>
            </a:r>
            <a:endParaRPr lang="en-GB" dirty="0"/>
          </a:p>
          <a:p>
            <a:r>
              <a:rPr lang="en-GB" dirty="0"/>
              <a:t>Your exception types will typically mirror super class</a:t>
            </a:r>
            <a:r>
              <a:rPr lang="en-GB" baseline="0" dirty="0"/>
              <a:t> .ctors and then call them using ‘super(..)’ syntax, passing up a String that is stored and is then accessible to client code ‘catch’ blocks via the getMessage() method.</a:t>
            </a:r>
            <a:endParaRPr lang="en-GB" dirty="0"/>
          </a:p>
          <a:p>
            <a:r>
              <a:rPr lang="en-GB" dirty="0"/>
              <a:t>Some client code may catch ‘Exception’ </a:t>
            </a:r>
            <a:r>
              <a:rPr lang="en-GB" baseline="0" dirty="0"/>
              <a:t>some may catch ‘</a:t>
            </a:r>
            <a:r>
              <a:rPr lang="en-GB" baseline="0" dirty="0" err="1"/>
              <a:t>YourException</a:t>
            </a:r>
            <a:r>
              <a:rPr lang="en-GB" baseline="0" dirty="0"/>
              <a:t>’. Regardless of what type is caught a </a:t>
            </a:r>
            <a:r>
              <a:rPr lang="en-GB" baseline="0" dirty="0" err="1"/>
              <a:t>getMessage</a:t>
            </a:r>
            <a:r>
              <a:rPr lang="en-GB" baseline="0" dirty="0"/>
              <a:t>() method will be available.</a:t>
            </a:r>
            <a:endParaRPr lang="en-GB" dirty="0"/>
          </a:p>
        </p:txBody>
      </p:sp>
      <p:sp>
        <p:nvSpPr>
          <p:cNvPr id="2" name="Slide Number Placeholder 1"/>
          <p:cNvSpPr>
            <a:spLocks noGrp="1"/>
          </p:cNvSpPr>
          <p:nvPr>
            <p:ph type="sldNum" sz="quarter" idx="10"/>
          </p:nvPr>
        </p:nvSpPr>
        <p:spPr/>
        <p:txBody>
          <a:bodyPr/>
          <a:lstStyle/>
          <a:p>
            <a:fld id="{548901C6-1DA1-FB44-ABEE-06A0FEB7738E}" type="slidenum">
              <a:rPr lang="en-GB" smtClean="0"/>
              <a:pPr/>
              <a:t>14</a:t>
            </a:fld>
            <a:endParaRPr lang="en-GB"/>
          </a:p>
        </p:txBody>
      </p:sp>
    </p:spTree>
    <p:extLst>
      <p:ext uri="{BB962C8B-B14F-4D97-AF65-F5344CB8AC3E}">
        <p14:creationId xmlns:p14="http://schemas.microsoft.com/office/powerpoint/2010/main" val="42573899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548901C6-1DA1-FB44-ABEE-06A0FEB7738E}" type="slidenum">
              <a:rPr lang="en-GB" smtClean="0"/>
              <a:pPr/>
              <a:t>15</a:t>
            </a:fld>
            <a:endParaRPr lang="en-GB"/>
          </a:p>
        </p:txBody>
      </p:sp>
    </p:spTree>
    <p:extLst>
      <p:ext uri="{BB962C8B-B14F-4D97-AF65-F5344CB8AC3E}">
        <p14:creationId xmlns:p14="http://schemas.microsoft.com/office/powerpoint/2010/main" val="2739435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Rot="1" noChangeAspect="1" noChangeArrowheads="1" noTextEdit="1"/>
          </p:cNvSpPr>
          <p:nvPr>
            <p:ph type="sldImg"/>
          </p:nvPr>
        </p:nvSpPr>
        <p:spPr>
          <a:ln/>
        </p:spPr>
      </p:sp>
      <p:sp>
        <p:nvSpPr>
          <p:cNvPr id="63491" name="Rectangle 3"/>
          <p:cNvSpPr>
            <a:spLocks noGrp="1" noChangeArrowheads="1"/>
          </p:cNvSpPr>
          <p:nvPr>
            <p:ph type="body" idx="1"/>
          </p:nvPr>
        </p:nvSpPr>
        <p:spPr>
          <a:noFill/>
          <a:ln/>
        </p:spPr>
        <p:txBody>
          <a:bodyPr/>
          <a:lstStyle/>
          <a:p>
            <a:r>
              <a:rPr lang="en-GB" dirty="0"/>
              <a:t>Inheritance is a very powerful weapon in the OO programmer's arsenal. Remember to use it wisely and judiciously, and it will help enormously. Java only supports a single inheritance model, which means that setting </a:t>
            </a:r>
            <a:r>
              <a:rPr lang="en-GB"/>
              <a:t>a super class </a:t>
            </a:r>
            <a:r>
              <a:rPr lang="en-GB" dirty="0"/>
              <a:t>is a very important design decision.</a:t>
            </a:r>
          </a:p>
        </p:txBody>
      </p:sp>
      <p:sp>
        <p:nvSpPr>
          <p:cNvPr id="2" name="Slide Number Placeholder 1"/>
          <p:cNvSpPr>
            <a:spLocks noGrp="1"/>
          </p:cNvSpPr>
          <p:nvPr>
            <p:ph type="sldNum" sz="quarter" idx="10"/>
          </p:nvPr>
        </p:nvSpPr>
        <p:spPr/>
        <p:txBody>
          <a:bodyPr/>
          <a:lstStyle/>
          <a:p>
            <a:fld id="{548901C6-1DA1-FB44-ABEE-06A0FEB7738E}" type="slidenum">
              <a:rPr lang="en-GB" smtClean="0"/>
              <a:pPr/>
              <a:t>16</a:t>
            </a:fld>
            <a:endParaRPr lang="en-GB"/>
          </a:p>
        </p:txBody>
      </p:sp>
    </p:spTree>
    <p:extLst>
      <p:ext uri="{BB962C8B-B14F-4D97-AF65-F5344CB8AC3E}">
        <p14:creationId xmlns:p14="http://schemas.microsoft.com/office/powerpoint/2010/main" val="7815393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ChangeArrowheads="1" noTextEdit="1"/>
          </p:cNvSpPr>
          <p:nvPr>
            <p:ph type="sldImg"/>
          </p:nvPr>
        </p:nvSpPr>
        <p:spPr>
          <a:ln/>
        </p:spPr>
      </p:sp>
      <p:sp>
        <p:nvSpPr>
          <p:cNvPr id="58371" name="Rectangle 3"/>
          <p:cNvSpPr>
            <a:spLocks noGrp="1" noChangeArrowheads="1"/>
          </p:cNvSpPr>
          <p:nvPr>
            <p:ph type="body" idx="1"/>
          </p:nvPr>
        </p:nvSpPr>
        <p:spPr>
          <a:noFill/>
          <a:ln/>
        </p:spPr>
        <p:txBody>
          <a:bodyPr/>
          <a:lstStyle/>
          <a:p>
            <a:endParaRPr lang="en-US"/>
          </a:p>
        </p:txBody>
      </p:sp>
      <p:sp>
        <p:nvSpPr>
          <p:cNvPr id="2" name="Slide Number Placeholder 1"/>
          <p:cNvSpPr>
            <a:spLocks noGrp="1"/>
          </p:cNvSpPr>
          <p:nvPr>
            <p:ph type="sldNum" sz="quarter" idx="10"/>
          </p:nvPr>
        </p:nvSpPr>
        <p:spPr/>
        <p:txBody>
          <a:bodyPr/>
          <a:lstStyle/>
          <a:p>
            <a:fld id="{548901C6-1DA1-FB44-ABEE-06A0FEB7738E}" type="slidenum">
              <a:rPr lang="en-GB" smtClean="0"/>
              <a:pPr/>
              <a:t>17</a:t>
            </a:fld>
            <a:endParaRPr lang="en-GB"/>
          </a:p>
        </p:txBody>
      </p:sp>
    </p:spTree>
    <p:extLst>
      <p:ext uri="{BB962C8B-B14F-4D97-AF65-F5344CB8AC3E}">
        <p14:creationId xmlns:p14="http://schemas.microsoft.com/office/powerpoint/2010/main" val="322000431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2.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Q&amp;A/what's next">
    <p:bg>
      <p:bgPr>
        <a:solidFill>
          <a:srgbClr val="EDCD3C"/>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5135880" y="0"/>
            <a:ext cx="705612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1280981"/>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Follow us">
    <p:bg>
      <p:bgPr>
        <a:solidFill>
          <a:srgbClr val="28CFF9"/>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5875020" y="0"/>
            <a:ext cx="631698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86434422"/>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ction Tips">
    <p:bg>
      <p:bgPr>
        <a:solidFill>
          <a:srgbClr val="EB622E"/>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7254240" y="0"/>
            <a:ext cx="493776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 name="Group 1"/>
          <p:cNvGrpSpPr/>
          <p:nvPr userDrawn="1"/>
        </p:nvGrpSpPr>
        <p:grpSpPr>
          <a:xfrm>
            <a:off x="-1420" y="3503895"/>
            <a:ext cx="6359624" cy="2437013"/>
            <a:chOff x="-1420" y="3503895"/>
            <a:chExt cx="6359624" cy="2437013"/>
          </a:xfrm>
          <a:solidFill>
            <a:srgbClr val="004050"/>
          </a:solidFill>
        </p:grpSpPr>
        <p:sp>
          <p:nvSpPr>
            <p:cNvPr id="36" name="Freeform 35">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37" name="Freeform 36">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40" name="Freeform 3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198876426"/>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rgbClr val="09EDB8"/>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6644640" y="15240"/>
            <a:ext cx="5547360" cy="684276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16" name="Group 15"/>
          <p:cNvGrpSpPr/>
          <p:nvPr userDrawn="1"/>
        </p:nvGrpSpPr>
        <p:grpSpPr>
          <a:xfrm>
            <a:off x="-1420" y="3503895"/>
            <a:ext cx="6359624" cy="2437013"/>
            <a:chOff x="-1420" y="3503895"/>
            <a:chExt cx="6359624" cy="2437013"/>
          </a:xfrm>
          <a:solidFill>
            <a:srgbClr val="004050"/>
          </a:solidFill>
        </p:grpSpPr>
        <p:sp>
          <p:nvSpPr>
            <p:cNvPr id="17" name="Freeform 16">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65610577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433680"/>
            <a:ext cx="5627171" cy="968987"/>
          </a:xfrm>
        </p:spPr>
        <p:txBody>
          <a:bodyPr anchor="t" anchorCtr="0">
            <a:noAutofit/>
          </a:bodyPr>
          <a:lstStyle>
            <a:lvl1pPr algn="l">
              <a:lnSpc>
                <a:spcPts val="6000"/>
              </a:lnSpc>
              <a:defRPr sz="3600">
                <a:solidFill>
                  <a:schemeClr val="bg1"/>
                </a:solidFill>
              </a:defRPr>
            </a:lvl1pPr>
          </a:lstStyle>
          <a:p>
            <a:r>
              <a:rPr lang="en-US" noProof="0"/>
              <a:t>Housekeeping</a:t>
            </a:r>
            <a:endParaRPr lang="en-GB" noProof="0" dirty="0"/>
          </a:p>
        </p:txBody>
      </p:sp>
      <p:sp>
        <p:nvSpPr>
          <p:cNvPr id="6" name="Text Placeholder 6"/>
          <p:cNvSpPr>
            <a:spLocks noGrp="1"/>
          </p:cNvSpPr>
          <p:nvPr>
            <p:ph type="body" sz="quarter" idx="12" hasCustomPrompt="1"/>
          </p:nvPr>
        </p:nvSpPr>
        <p:spPr>
          <a:xfrm>
            <a:off x="384784" y="4894524"/>
            <a:ext cx="5627171" cy="1186921"/>
          </a:xfrm>
        </p:spPr>
        <p:txBody>
          <a:bodyPr/>
          <a:lstStyle>
            <a:lvl1pPr marL="342900" marR="0" indent="-342900" algn="l" defTabSz="914400" rtl="0" eaLnBrk="1" fontAlgn="auto" latinLnBrk="0" hangingPunct="1">
              <a:lnSpc>
                <a:spcPct val="100000"/>
              </a:lnSpc>
              <a:spcBef>
                <a:spcPts val="0"/>
              </a:spcBef>
              <a:spcAft>
                <a:spcPts val="0"/>
              </a:spcAft>
              <a:buClrTx/>
              <a:buSzPct val="115000"/>
              <a:buFont typeface="Arial" panose="020B0604020202020204" pitchFamily="34" charset="0"/>
              <a:buChar char="•"/>
              <a:tabLst/>
              <a:defRPr sz="20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Tree>
    <p:extLst>
      <p:ext uri="{BB962C8B-B14F-4D97-AF65-F5344CB8AC3E}">
        <p14:creationId xmlns:p14="http://schemas.microsoft.com/office/powerpoint/2010/main" val="4276879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Meet &amp; Greet 1">
    <p:bg>
      <p:bgPr>
        <a:solidFill>
          <a:srgbClr val="38E2BB"/>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4108881" y="-11575"/>
            <a:ext cx="8079261" cy="6875362"/>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002556" cy="808123"/>
          </a:xfrm>
        </p:spPr>
        <p:txBody>
          <a:bodyPr anchor="t" anchorCtr="0">
            <a:noAutofit/>
          </a:bodyPr>
          <a:lstStyle>
            <a:lvl1pPr algn="l">
              <a:lnSpc>
                <a:spcPts val="6000"/>
              </a:lnSpc>
              <a:defRPr sz="3600">
                <a:solidFill>
                  <a:srgbClr val="004050"/>
                </a:solidFill>
              </a:defRPr>
            </a:lvl1pPr>
          </a:lstStyle>
          <a:p>
            <a:r>
              <a:rPr lang="en-US" noProof="0" dirty="0"/>
              <a:t>Meet &amp; Greet</a:t>
            </a:r>
            <a:endParaRPr lang="en-GB" noProof="0" dirty="0"/>
          </a:p>
        </p:txBody>
      </p:sp>
      <p:sp>
        <p:nvSpPr>
          <p:cNvPr id="18" name="Text Placeholder 3"/>
          <p:cNvSpPr>
            <a:spLocks noGrp="1"/>
          </p:cNvSpPr>
          <p:nvPr>
            <p:ph type="body" sz="quarter" idx="10" hasCustomPrompt="1"/>
          </p:nvPr>
        </p:nvSpPr>
        <p:spPr>
          <a:xfrm>
            <a:off x="384785" y="2915404"/>
            <a:ext cx="4278655" cy="34015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40459597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_03 Section Divider">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810250" cy="2277604"/>
          </a:xfrm>
        </p:spPr>
        <p:txBody>
          <a:bodyPr anchor="b" anchorCtr="0">
            <a:noAutofit/>
          </a:bodyPr>
          <a:lstStyle>
            <a:lvl1pPr algn="l">
              <a:lnSpc>
                <a:spcPct val="90000"/>
              </a:lnSpc>
              <a:defRPr sz="36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grpSp>
        <p:nvGrpSpPr>
          <p:cNvPr id="27" name="Group 26"/>
          <p:cNvGrpSpPr/>
          <p:nvPr userDrawn="1"/>
        </p:nvGrpSpPr>
        <p:grpSpPr>
          <a:xfrm>
            <a:off x="-2229" y="2361812"/>
            <a:ext cx="11067619" cy="4502135"/>
            <a:chOff x="-2229" y="2361812"/>
            <a:chExt cx="11067619" cy="4502135"/>
          </a:xfrm>
          <a:solidFill>
            <a:srgbClr val="004050"/>
          </a:solidFill>
        </p:grpSpPr>
        <p:sp>
          <p:nvSpPr>
            <p:cNvPr id="28" name="Freeform 27">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2F450B4C-241D-A544-BBEF-175E01D6A139}"/>
                </a:ext>
              </a:extLst>
            </p:cNvPr>
            <p:cNvSpPr/>
            <p:nvPr userDrawn="1"/>
          </p:nvSpPr>
          <p:spPr>
            <a:xfrm flipV="1">
              <a:off x="-2229"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002921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ext Placeholder 4"/>
          <p:cNvSpPr>
            <a:spLocks noGrp="1"/>
          </p:cNvSpPr>
          <p:nvPr>
            <p:ph type="body" sz="quarter" idx="15" hasCustomPrompt="1"/>
          </p:nvPr>
        </p:nvSpPr>
        <p:spPr>
          <a:xfrm>
            <a:off x="5037137" y="1349984"/>
            <a:ext cx="6770688" cy="5119407"/>
          </a:xfrm>
        </p:spPr>
        <p:txBody>
          <a:bodyPr/>
          <a:lstStyle>
            <a:lvl1pPr marL="0" indent="0">
              <a:lnSpc>
                <a:spcPct val="100000"/>
              </a:lnSpc>
              <a:buFont typeface="Arial" panose="020B0604020202020204" pitchFamily="34" charset="0"/>
              <a:buNone/>
              <a:defRPr sz="2000" b="0"/>
            </a:lvl1pPr>
            <a:lvl2pPr marL="180000" indent="-180000">
              <a:lnSpc>
                <a:spcPct val="100000"/>
              </a:lnSpc>
              <a:buFont typeface="Arial" panose="020B0604020202020204" pitchFamily="34" charset="0"/>
              <a:buChar char="•"/>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sz="2000"/>
            </a:lvl4pPr>
            <a:lvl5pPr marL="180000" indent="-180000">
              <a:buFont typeface="Arial" panose="020B0604020202020204" pitchFamily="34" charset="0"/>
              <a:buChar char="•"/>
              <a:defRPr sz="2000"/>
            </a:lvl5pPr>
          </a:lstStyle>
          <a:p>
            <a:pPr lvl="0"/>
            <a:r>
              <a:rPr lang="en-US" dirty="0"/>
              <a:t>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9EDB8"/>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Tree>
    <p:extLst>
      <p:ext uri="{BB962C8B-B14F-4D97-AF65-F5344CB8AC3E}">
        <p14:creationId xmlns:p14="http://schemas.microsoft.com/office/powerpoint/2010/main" val="358994535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rrow Left">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5"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grpSp>
        <p:nvGrpSpPr>
          <p:cNvPr id="19" name="Group 18"/>
          <p:cNvGrpSpPr/>
          <p:nvPr userDrawn="1"/>
        </p:nvGrpSpPr>
        <p:grpSpPr>
          <a:xfrm>
            <a:off x="-6058" y="3531457"/>
            <a:ext cx="5797612" cy="2365031"/>
            <a:chOff x="-2229" y="2361812"/>
            <a:chExt cx="11067619" cy="4514835"/>
          </a:xfrm>
          <a:solidFill>
            <a:srgbClr val="09EDB8"/>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37035841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00EDB3"/>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121148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Activity 1">
    <p:bg>
      <p:bgPr>
        <a:solidFill>
          <a:srgbClr val="0EEEB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8688700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4_01 Section Divider">
    <p:bg>
      <p:bgPr>
        <a:solidFill>
          <a:schemeClr val="tx1"/>
        </a:solidFill>
        <a:effectLst/>
      </p:bgPr>
    </p:bg>
    <p:spTree>
      <p:nvGrpSpPr>
        <p:cNvPr id="1" name=""/>
        <p:cNvGrpSpPr/>
        <p:nvPr/>
      </p:nvGrpSpPr>
      <p:grpSpPr>
        <a:xfrm>
          <a:off x="0" y="0"/>
          <a:ext cx="0" cy="0"/>
          <a:chOff x="0" y="0"/>
          <a:chExt cx="0" cy="0"/>
        </a:xfrm>
      </p:grpSpPr>
      <p:sp>
        <p:nvSpPr>
          <p:cNvPr id="5" name="Rectangle 4"/>
          <p:cNvSpPr/>
          <p:nvPr userDrawn="1"/>
        </p:nvSpPr>
        <p:spPr>
          <a:xfrm>
            <a:off x="-609" y="0"/>
            <a:ext cx="12192609"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rgbClr val="004050"/>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779800"/>
            <a:ext cx="5627171" cy="1682133"/>
          </a:xfrm>
        </p:spPr>
        <p:txBody>
          <a:bodyPr anchor="b" anchorCtr="0">
            <a:noAutofit/>
          </a:bodyPr>
          <a:lstStyle>
            <a:lvl1pPr algn="l">
              <a:lnSpc>
                <a:spcPts val="6000"/>
              </a:lnSpc>
              <a:defRPr sz="3600" spc="60" baseline="0">
                <a:solidFill>
                  <a:srgbClr val="004050"/>
                </a:solidFill>
              </a:defRPr>
            </a:lvl1pPr>
          </a:lstStyle>
          <a:p>
            <a:r>
              <a:rPr lang="en-US" noProof="0" dirty="0"/>
              <a:t>CLICK TO EDIT MASTER TITLE STYLE</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Lst>
          </a:blip>
          <a:stretch>
            <a:fillRect/>
          </a:stretch>
        </p:blipFill>
        <p:spPr>
          <a:xfrm>
            <a:off x="280405" y="399619"/>
            <a:ext cx="857393" cy="522401"/>
          </a:xfrm>
          <a:prstGeom prst="rect">
            <a:avLst/>
          </a:prstGeom>
        </p:spPr>
      </p:pic>
      <p:sp>
        <p:nvSpPr>
          <p:cNvPr id="7" name="Rectangle 6"/>
          <p:cNvSpPr/>
          <p:nvPr userDrawn="1"/>
        </p:nvSpPr>
        <p:spPr>
          <a:xfrm>
            <a:off x="758190" y="769620"/>
            <a:ext cx="379608" cy="11049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161448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7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sp>
        <p:nvSpPr>
          <p:cNvPr id="11" name="Freeform 10">
            <a:extLst>
              <a:ext uri="{FF2B5EF4-FFF2-40B4-BE49-F238E27FC236}">
                <a16:creationId xmlns:a16="http://schemas.microsoft.com/office/drawing/2014/main" id="{35B5D0DF-4895-DB4F-85D9-C3FFDE55B8C8}"/>
              </a:ext>
            </a:extLst>
          </p:cNvPr>
          <p:cNvSpPr/>
          <p:nvPr userDrawn="1"/>
        </p:nvSpPr>
        <p:spPr>
          <a:xfrm>
            <a:off x="384784" y="4708688"/>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04050"/>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488700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7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8"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1" name="Group 20"/>
          <p:cNvGrpSpPr/>
          <p:nvPr userDrawn="1"/>
        </p:nvGrpSpPr>
        <p:grpSpPr>
          <a:xfrm>
            <a:off x="-6058" y="3531457"/>
            <a:ext cx="5797612" cy="2365031"/>
            <a:chOff x="-2229" y="2361812"/>
            <a:chExt cx="11067619" cy="4514835"/>
          </a:xfrm>
          <a:solidFill>
            <a:srgbClr val="28CFF9"/>
          </a:solidFill>
        </p:grpSpPr>
        <p:sp>
          <p:nvSpPr>
            <p:cNvPr id="22" name="Freeform 21">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82210675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FF9"/>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9472521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Activity 1">
    <p:bg>
      <p:bgPr>
        <a:solidFill>
          <a:srgbClr val="28CFF9"/>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2894767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5_03 Section Divider">
    <p:bg>
      <p:bgPr>
        <a:solidFill>
          <a:srgbClr val="F3622C"/>
        </a:solidFill>
        <a:effectLst/>
      </p:bgPr>
    </p:bg>
    <p:spTree>
      <p:nvGrpSpPr>
        <p:cNvPr id="1" name=""/>
        <p:cNvGrpSpPr/>
        <p:nvPr/>
      </p:nvGrpSpPr>
      <p:grpSpPr>
        <a:xfrm>
          <a:off x="0" y="0"/>
          <a:ext cx="0" cy="0"/>
          <a:chOff x="0" y="0"/>
          <a:chExt cx="0" cy="0"/>
        </a:xfrm>
      </p:grpSpPr>
      <p:sp>
        <p:nvSpPr>
          <p:cNvPr id="16" name="Rectangle 15"/>
          <p:cNvSpPr/>
          <p:nvPr userDrawn="1"/>
        </p:nvSpPr>
        <p:spPr>
          <a:xfrm>
            <a:off x="760859" y="768561"/>
            <a:ext cx="379608" cy="11049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itle 1">
            <a:extLst>
              <a:ext uri="{FF2B5EF4-FFF2-40B4-BE49-F238E27FC236}">
                <a16:creationId xmlns:a16="http://schemas.microsoft.com/office/drawing/2014/main" id="{EBBB6D40-B4C9-8B4A-B2A6-126F64906376}"/>
              </a:ext>
            </a:extLst>
          </p:cNvPr>
          <p:cNvSpPr>
            <a:spLocks noGrp="1"/>
          </p:cNvSpPr>
          <p:nvPr userDrawn="1">
            <p:ph type="ctrTitle" hasCustomPrompt="1"/>
          </p:nvPr>
        </p:nvSpPr>
        <p:spPr>
          <a:xfrm>
            <a:off x="376239" y="1556247"/>
            <a:ext cx="5810250" cy="2277604"/>
          </a:xfrm>
        </p:spPr>
        <p:txBody>
          <a:bodyPr anchor="b" anchorCtr="0">
            <a:noAutofit/>
          </a:bodyPr>
          <a:lstStyle>
            <a:lvl1pPr algn="l">
              <a:lnSpc>
                <a:spcPct val="90000"/>
              </a:lnSpc>
              <a:defRPr sz="3600" spc="60" baseline="0">
                <a:solidFill>
                  <a:schemeClr val="bg1"/>
                </a:solidFill>
              </a:defRPr>
            </a:lvl1pPr>
          </a:lstStyle>
          <a:p>
            <a:r>
              <a:rPr lang="en-US" noProof="0" dirty="0"/>
              <a:t>CLICK TO EDIT </a:t>
            </a:r>
            <a:br>
              <a:rPr lang="en-US" noProof="0" dirty="0"/>
            </a:br>
            <a:r>
              <a:rPr lang="en-US" noProof="0" dirty="0"/>
              <a:t>MASTER TITLE STYLE</a:t>
            </a:r>
            <a:endParaRPr lang="en-GB" noProof="0" dirty="0"/>
          </a:p>
        </p:txBody>
      </p:sp>
      <p:grpSp>
        <p:nvGrpSpPr>
          <p:cNvPr id="6" name="Group 5"/>
          <p:cNvGrpSpPr/>
          <p:nvPr userDrawn="1"/>
        </p:nvGrpSpPr>
        <p:grpSpPr>
          <a:xfrm>
            <a:off x="-2229" y="2361812"/>
            <a:ext cx="11067619" cy="4502135"/>
            <a:chOff x="-2229" y="2361812"/>
            <a:chExt cx="11067619" cy="4502135"/>
          </a:xfrm>
        </p:grpSpPr>
        <p:sp>
          <p:nvSpPr>
            <p:cNvPr id="10" name="Freeform 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2F450B4C-241D-A544-BBEF-175E01D6A139}"/>
                </a:ext>
              </a:extLst>
            </p:cNvPr>
            <p:cNvSpPr/>
            <p:nvPr userDrawn="1"/>
          </p:nvSpPr>
          <p:spPr>
            <a:xfrm flipV="1">
              <a:off x="-467"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35614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2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4" name="Group 3"/>
          <p:cNvGrpSpPr/>
          <p:nvPr userDrawn="1"/>
        </p:nvGrpSpPr>
        <p:grpSpPr>
          <a:xfrm>
            <a:off x="-1717" y="4568506"/>
            <a:ext cx="4628886" cy="1406446"/>
            <a:chOff x="-1717" y="4568506"/>
            <a:chExt cx="4628886" cy="1406446"/>
          </a:xfrm>
        </p:grpSpPr>
        <p:sp>
          <p:nvSpPr>
            <p:cNvPr id="11" name="Freeform 10">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9891891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Text Slide A">
    <p:spTree>
      <p:nvGrpSpPr>
        <p:cNvPr id="1" name=""/>
        <p:cNvGrpSpPr/>
        <p:nvPr/>
      </p:nvGrpSpPr>
      <p:grpSpPr>
        <a:xfrm>
          <a:off x="0" y="0"/>
          <a:ext cx="0" cy="0"/>
          <a:chOff x="0" y="0"/>
          <a:chExt cx="0" cy="0"/>
        </a:xfrm>
      </p:grpSpPr>
      <p:sp>
        <p:nvSpPr>
          <p:cNvPr id="15"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6"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8" name="Group 27"/>
          <p:cNvGrpSpPr/>
          <p:nvPr userDrawn="1"/>
        </p:nvGrpSpPr>
        <p:grpSpPr>
          <a:xfrm>
            <a:off x="-6058" y="3531457"/>
            <a:ext cx="5797612" cy="2365031"/>
            <a:chOff x="-2229" y="2361812"/>
            <a:chExt cx="11067619" cy="4514835"/>
          </a:xfrm>
        </p:grpSpPr>
        <p:sp>
          <p:nvSpPr>
            <p:cNvPr id="29" name="Freeform 28">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3622C"/>
            </a:solidFill>
            <a:ln w="6350"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4161484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F1612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0086572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2_Activity 1">
    <p:bg>
      <p:bgPr>
        <a:solidFill>
          <a:srgbClr val="F3622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solidFill>
                <a:schemeClr val="bg1"/>
              </a:solidFill>
            </a:endParaRPr>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3771122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3_02 Section Divider">
    <p:bg>
      <p:bgPr>
        <a:solidFill>
          <a:srgbClr val="7E007C"/>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A0DD6AED-2202-DD48-A2D6-60CCC5F07320}"/>
              </a:ext>
            </a:extLst>
          </p:cNvPr>
          <p:cNvSpPr/>
          <p:nvPr userDrawn="1"/>
        </p:nvSpPr>
        <p:spPr>
          <a:xfrm>
            <a:off x="-609" y="2116538"/>
            <a:ext cx="11411496" cy="5526322"/>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F91258"/>
          </a:solidFill>
          <a:ln w="6350" cap="flat">
            <a:noFill/>
            <a:prstDash val="solid"/>
            <a:miter/>
          </a:ln>
        </p:spPr>
        <p:txBody>
          <a:bodyPr rtlCol="0" anchor="ctr"/>
          <a:lstStyle/>
          <a:p>
            <a:endParaRPr lang="en-GB"/>
          </a:p>
        </p:txBody>
      </p:sp>
      <p:sp>
        <p:nvSpPr>
          <p:cNvPr id="13"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067007"/>
            <a:ext cx="5627171" cy="2353439"/>
          </a:xfrm>
        </p:spPr>
        <p:txBody>
          <a:bodyPr anchor="b" anchorCtr="0">
            <a:noAutofit/>
          </a:bodyPr>
          <a:lstStyle>
            <a:lvl1pPr algn="l">
              <a:lnSpc>
                <a:spcPts val="6000"/>
              </a:lnSpc>
              <a:defRPr sz="3600" spc="60" baseline="0">
                <a:solidFill>
                  <a:schemeClr val="bg1"/>
                </a:solidFill>
              </a:defRPr>
            </a:lvl1pPr>
          </a:lstStyle>
          <a:p>
            <a:r>
              <a:rPr lang="en-US" noProof="0" dirty="0"/>
              <a:t>CLICK TO EDIT MASTER TITLE STYLE</a:t>
            </a:r>
            <a:endParaRPr lang="en-GB" noProof="0" dirty="0"/>
          </a:p>
        </p:txBody>
      </p:sp>
    </p:spTree>
    <p:extLst>
      <p:ext uri="{BB962C8B-B14F-4D97-AF65-F5344CB8AC3E}">
        <p14:creationId xmlns:p14="http://schemas.microsoft.com/office/powerpoint/2010/main" val="3996745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7E00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33" name="Group 32"/>
          <p:cNvGrpSpPr/>
          <p:nvPr userDrawn="1"/>
        </p:nvGrpSpPr>
        <p:grpSpPr>
          <a:xfrm>
            <a:off x="-1717" y="4568506"/>
            <a:ext cx="4628886" cy="1406446"/>
            <a:chOff x="-1717" y="4568506"/>
            <a:chExt cx="4628886" cy="1406446"/>
          </a:xfrm>
          <a:solidFill>
            <a:srgbClr val="F91258"/>
          </a:solidFill>
        </p:grpSpPr>
        <p:sp>
          <p:nvSpPr>
            <p:cNvPr id="34" name="Freeform 33">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334578805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4" name="Group 23"/>
          <p:cNvGrpSpPr/>
          <p:nvPr userDrawn="1"/>
        </p:nvGrpSpPr>
        <p:grpSpPr>
          <a:xfrm>
            <a:off x="-6058" y="3531457"/>
            <a:ext cx="5797612" cy="2365031"/>
            <a:chOff x="-2229" y="2361812"/>
            <a:chExt cx="11067619" cy="4514835"/>
          </a:xfrm>
          <a:solidFill>
            <a:srgbClr val="7E007C"/>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59614847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7E007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54640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3_Activity 1">
    <p:bg>
      <p:bgPr>
        <a:solidFill>
          <a:srgbClr val="7E007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solidFill>
                <a:schemeClr val="bg1"/>
              </a:solidFill>
            </a:endParaRPr>
          </a:p>
        </p:txBody>
      </p:sp>
      <p:sp>
        <p:nvSpPr>
          <p:cNvPr id="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8"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Tree>
    <p:extLst>
      <p:ext uri="{BB962C8B-B14F-4D97-AF65-F5344CB8AC3E}">
        <p14:creationId xmlns:p14="http://schemas.microsoft.com/office/powerpoint/2010/main" val="317568088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8" name="Text Placeholder 2">
            <a:extLst>
              <a:ext uri="{FF2B5EF4-FFF2-40B4-BE49-F238E27FC236}">
                <a16:creationId xmlns:a16="http://schemas.microsoft.com/office/drawing/2014/main" id="{B623AAC1-38C0-EC41-AF66-7EC76ACCB83E}"/>
              </a:ext>
            </a:extLst>
          </p:cNvPr>
          <p:cNvSpPr>
            <a:spLocks noGrp="1"/>
          </p:cNvSpPr>
          <p:nvPr>
            <p:ph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212588995"/>
      </p:ext>
    </p:extLst>
  </p:cSld>
  <p:clrMapOvr>
    <a:masterClrMapping/>
  </p:clrMapOvr>
  <p:extLst>
    <p:ext uri="{DCECCB84-F9BA-43D5-87BE-67443E8EF086}">
      <p15:sldGuideLst xmlns:p15="http://schemas.microsoft.com/office/powerpoint/2012/main">
        <p15:guide id="1" orient="horz" pos="777" userDrawn="1">
          <p15:clr>
            <a:srgbClr val="FBAE40"/>
          </p15:clr>
        </p15:guide>
        <p15:guide id="2" pos="3840" userDrawn="1">
          <p15:clr>
            <a:srgbClr val="FBAE40"/>
          </p15:clr>
        </p15:guide>
        <p15:guide id="3" orient="horz" pos="2160" userDrawn="1">
          <p15:clr>
            <a:srgbClr val="FBAE40"/>
          </p15:clr>
        </p15:guide>
        <p15:guide id="4" orient="horz" pos="2260" userDrawn="1">
          <p15:clr>
            <a:srgbClr val="FBAE40"/>
          </p15:clr>
        </p15:guide>
        <p15:guide id="5" pos="394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2" name="Rectangle 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3915446001"/>
      </p:ext>
    </p:extLst>
  </p:cSld>
  <p:clrMapOvr>
    <a:masterClrMapping/>
  </p:clrMapOvr>
  <p:extLst>
    <p:ext uri="{DCECCB84-F9BA-43D5-87BE-67443E8EF086}">
      <p15:sldGuideLst xmlns:p15="http://schemas.microsoft.com/office/powerpoint/2012/main">
        <p15:guide id="1" orient="horz" pos="777">
          <p15:clr>
            <a:srgbClr val="FBAE40"/>
          </p15:clr>
        </p15:guide>
        <p15:guide id="2" pos="384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icons and text">
    <p:spTree>
      <p:nvGrpSpPr>
        <p:cNvPr id="1" name=""/>
        <p:cNvGrpSpPr/>
        <p:nvPr/>
      </p:nvGrpSpPr>
      <p:grpSpPr>
        <a:xfrm>
          <a:off x="0" y="0"/>
          <a:ext cx="0" cy="0"/>
          <a:chOff x="0" y="0"/>
          <a:chExt cx="0" cy="0"/>
        </a:xfrm>
      </p:grpSpPr>
      <p:sp>
        <p:nvSpPr>
          <p:cNvPr id="3" name="Text Placeholder 4"/>
          <p:cNvSpPr>
            <a:spLocks noGrp="1"/>
          </p:cNvSpPr>
          <p:nvPr>
            <p:ph type="body" sz="quarter" idx="15" hasCustomPrompt="1"/>
          </p:nvPr>
        </p:nvSpPr>
        <p:spPr>
          <a:xfrm>
            <a:off x="1059427" y="3673998"/>
            <a:ext cx="2124159" cy="2749952"/>
          </a:xfrm>
        </p:spPr>
        <p:txBody>
          <a:bodyPr/>
          <a:lstStyle>
            <a:lvl1pPr marL="0" indent="0">
              <a:lnSpc>
                <a:spcPct val="100000"/>
              </a:lnSpc>
              <a:buFont typeface="Arial" panose="020B0604020202020204" pitchFamily="34" charset="0"/>
              <a:buNone/>
              <a:defRPr sz="2000" b="0"/>
            </a:lvl1pPr>
            <a:lvl2pPr marL="0" indent="0">
              <a:buFont typeface="Arial" panose="020B0604020202020204" pitchFamily="34" charset="0"/>
              <a:buNone/>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4" name="Text Placeholder 4"/>
          <p:cNvSpPr>
            <a:spLocks noGrp="1"/>
          </p:cNvSpPr>
          <p:nvPr>
            <p:ph type="body" sz="quarter" idx="16" hasCustomPrompt="1"/>
          </p:nvPr>
        </p:nvSpPr>
        <p:spPr>
          <a:xfrm>
            <a:off x="3639645" y="3673998"/>
            <a:ext cx="2068065"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6" name="Text Placeholder 4"/>
          <p:cNvSpPr>
            <a:spLocks noGrp="1"/>
          </p:cNvSpPr>
          <p:nvPr>
            <p:ph type="body" sz="quarter" idx="17" hasCustomPrompt="1"/>
          </p:nvPr>
        </p:nvSpPr>
        <p:spPr>
          <a:xfrm>
            <a:off x="6149996" y="3673998"/>
            <a:ext cx="2130523"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7" name="Picture Placeholder 21"/>
          <p:cNvSpPr>
            <a:spLocks noGrp="1"/>
          </p:cNvSpPr>
          <p:nvPr>
            <p:ph type="pic" sz="quarter" idx="18" hasCustomPrompt="1"/>
          </p:nvPr>
        </p:nvSpPr>
        <p:spPr>
          <a:xfrm>
            <a:off x="1059428" y="1993484"/>
            <a:ext cx="1437932" cy="1437930"/>
          </a:xfrm>
        </p:spPr>
        <p:txBody>
          <a:bodyPr/>
          <a:lstStyle>
            <a:lvl1pPr marL="0" indent="0">
              <a:buNone/>
              <a:defRPr/>
            </a:lvl1pPr>
          </a:lstStyle>
          <a:p>
            <a:r>
              <a:rPr lang="en-GB" dirty="0"/>
              <a:t>icon</a:t>
            </a:r>
          </a:p>
        </p:txBody>
      </p:sp>
      <p:sp>
        <p:nvSpPr>
          <p:cNvPr id="8" name="Picture Placeholder 21"/>
          <p:cNvSpPr>
            <a:spLocks noGrp="1"/>
          </p:cNvSpPr>
          <p:nvPr>
            <p:ph type="pic" sz="quarter" idx="19" hasCustomPrompt="1"/>
          </p:nvPr>
        </p:nvSpPr>
        <p:spPr>
          <a:xfrm>
            <a:off x="3639646" y="1986408"/>
            <a:ext cx="1437932" cy="1437930"/>
          </a:xfrm>
        </p:spPr>
        <p:txBody>
          <a:bodyPr/>
          <a:lstStyle>
            <a:lvl1pPr marL="0" indent="0">
              <a:buNone/>
              <a:defRPr/>
            </a:lvl1pPr>
          </a:lstStyle>
          <a:p>
            <a:r>
              <a:rPr lang="en-GB" dirty="0"/>
              <a:t>icon</a:t>
            </a:r>
          </a:p>
        </p:txBody>
      </p:sp>
      <p:sp>
        <p:nvSpPr>
          <p:cNvPr id="9" name="Picture Placeholder 21"/>
          <p:cNvSpPr>
            <a:spLocks noGrp="1"/>
          </p:cNvSpPr>
          <p:nvPr>
            <p:ph type="pic" sz="quarter" idx="20" hasCustomPrompt="1"/>
          </p:nvPr>
        </p:nvSpPr>
        <p:spPr>
          <a:xfrm>
            <a:off x="6149997" y="1993484"/>
            <a:ext cx="1437932" cy="1437930"/>
          </a:xfrm>
        </p:spPr>
        <p:txBody>
          <a:bodyPr/>
          <a:lstStyle>
            <a:lvl1pPr marL="0" indent="0">
              <a:buNone/>
              <a:defRPr/>
            </a:lvl1pPr>
          </a:lstStyle>
          <a:p>
            <a:r>
              <a:rPr lang="en-GB" dirty="0"/>
              <a:t>icon</a:t>
            </a:r>
          </a:p>
        </p:txBody>
      </p:sp>
      <p:sp>
        <p:nvSpPr>
          <p:cNvPr id="10" name="Text Placeholder 4"/>
          <p:cNvSpPr>
            <a:spLocks noGrp="1"/>
          </p:cNvSpPr>
          <p:nvPr>
            <p:ph type="body" sz="quarter" idx="21" hasCustomPrompt="1"/>
          </p:nvPr>
        </p:nvSpPr>
        <p:spPr>
          <a:xfrm>
            <a:off x="8637070" y="3688989"/>
            <a:ext cx="2183449"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11" name="Picture Placeholder 21"/>
          <p:cNvSpPr>
            <a:spLocks noGrp="1"/>
          </p:cNvSpPr>
          <p:nvPr>
            <p:ph type="pic" sz="quarter" idx="22" hasCustomPrompt="1"/>
          </p:nvPr>
        </p:nvSpPr>
        <p:spPr>
          <a:xfrm>
            <a:off x="8637071" y="2008475"/>
            <a:ext cx="1437932" cy="1437930"/>
          </a:xfrm>
        </p:spPr>
        <p:txBody>
          <a:bodyPr/>
          <a:lstStyle>
            <a:lvl1pPr marL="0" indent="0">
              <a:buNone/>
              <a:defRPr/>
            </a:lvl1pPr>
          </a:lstStyle>
          <a:p>
            <a:r>
              <a:rPr lang="en-GB" dirty="0"/>
              <a:t>icon</a:t>
            </a:r>
          </a:p>
        </p:txBody>
      </p:sp>
      <p:sp>
        <p:nvSpPr>
          <p:cNvPr id="1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3" name="Rectangle 1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4138968323"/>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Four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1065907"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3511826"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Text Placeholder 7"/>
          <p:cNvSpPr>
            <a:spLocks noGrp="1"/>
          </p:cNvSpPr>
          <p:nvPr>
            <p:ph type="body" sz="quarter" idx="14" hasCustomPrompt="1"/>
          </p:nvPr>
        </p:nvSpPr>
        <p:spPr>
          <a:xfrm>
            <a:off x="5957745" y="1986353"/>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Text Placeholder 7"/>
          <p:cNvSpPr>
            <a:spLocks noGrp="1"/>
          </p:cNvSpPr>
          <p:nvPr>
            <p:ph type="body" sz="quarter" idx="15" hasCustomPrompt="1"/>
          </p:nvPr>
        </p:nvSpPr>
        <p:spPr>
          <a:xfrm>
            <a:off x="8403664" y="1986352"/>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8"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Rectangle 8"/>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2719566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wo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5915467" y="1992793"/>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1069809" y="1992792"/>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Rectangle 6"/>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263611775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Image and Text">
    <p:spTree>
      <p:nvGrpSpPr>
        <p:cNvPr id="1" name=""/>
        <p:cNvGrpSpPr/>
        <p:nvPr/>
      </p:nvGrpSpPr>
      <p:grpSpPr>
        <a:xfrm>
          <a:off x="0" y="0"/>
          <a:ext cx="0" cy="0"/>
          <a:chOff x="0" y="0"/>
          <a:chExt cx="0" cy="0"/>
        </a:xfrm>
      </p:grpSpPr>
      <p:sp>
        <p:nvSpPr>
          <p:cNvPr id="9" name="Text Placeholder 7"/>
          <p:cNvSpPr>
            <a:spLocks noGrp="1"/>
          </p:cNvSpPr>
          <p:nvPr>
            <p:ph type="body" sz="quarter" idx="17" hasCustomPrompt="1"/>
          </p:nvPr>
        </p:nvSpPr>
        <p:spPr>
          <a:xfrm>
            <a:off x="1080209"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sz="1800"/>
            </a:lvl2pPr>
            <a:lvl3pPr marL="0" indent="0">
              <a:buNone/>
              <a:defRPr sz="1800"/>
            </a:lvl3pPr>
            <a:lvl4pPr>
              <a:defRPr sz="1800"/>
            </a:lvl4pPr>
            <a:lvl5pPr>
              <a:defRPr sz="1800"/>
            </a:lvl5pPr>
          </a:lstStyle>
          <a:p>
            <a:pPr lvl="0"/>
            <a:r>
              <a:rPr lang="en-US" dirty="0"/>
              <a:t>Edit text</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1080209" y="2003204"/>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5" name="Picture Placeholder 4">
            <a:extLst>
              <a:ext uri="{FF2B5EF4-FFF2-40B4-BE49-F238E27FC236}">
                <a16:creationId xmlns:a16="http://schemas.microsoft.com/office/drawing/2014/main" id="{749837D3-F6DB-DB49-B987-A2004B0611D5}"/>
              </a:ext>
            </a:extLst>
          </p:cNvPr>
          <p:cNvSpPr>
            <a:spLocks noGrp="1"/>
          </p:cNvSpPr>
          <p:nvPr>
            <p:ph type="pic" sz="quarter" idx="14"/>
          </p:nvPr>
        </p:nvSpPr>
        <p:spPr>
          <a:xfrm>
            <a:off x="5925914" y="2003203"/>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8" name="Text Placeholder 7"/>
          <p:cNvSpPr>
            <a:spLocks noGrp="1"/>
          </p:cNvSpPr>
          <p:nvPr>
            <p:ph type="body" sz="quarter" idx="11" hasCustomPrompt="1"/>
          </p:nvPr>
        </p:nvSpPr>
        <p:spPr>
          <a:xfrm>
            <a:off x="5925868"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a:lvl2pPr>
          </a:lstStyle>
          <a:p>
            <a:pPr lvl="0"/>
            <a:r>
              <a:rPr lang="en-US" dirty="0"/>
              <a:t>Edit text</a:t>
            </a:r>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Rectangle 1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6259445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3" name="Rectangle 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8791353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_Hope you enjoyed">
    <p:bg>
      <p:bgPr>
        <a:solidFill>
          <a:srgbClr val="09EDB8"/>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4663440" y="0"/>
            <a:ext cx="7528560" cy="6858000"/>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2311970"/>
            <a:ext cx="3138017" cy="1908338"/>
          </a:xfrm>
        </p:spPr>
        <p:txBody>
          <a:bodyPr anchor="b" anchorCtr="0">
            <a:noAutofit/>
          </a:bodyPr>
          <a:lstStyle>
            <a:lvl1pPr algn="l">
              <a:lnSpc>
                <a:spcPct val="100000"/>
              </a:lnSpc>
              <a:defRPr sz="3600" baseline="0"/>
            </a:lvl1pPr>
          </a:lstStyle>
          <a:p>
            <a:r>
              <a:rPr lang="en-US" noProof="0" dirty="0"/>
              <a:t>THANK YOU</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1" y="5306004"/>
            <a:ext cx="4269826"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baseline="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Hope you enjoyed this learning journey.</a:t>
            </a:r>
          </a:p>
        </p:txBody>
      </p:sp>
      <p:grpSp>
        <p:nvGrpSpPr>
          <p:cNvPr id="4" name="Group 3"/>
          <p:cNvGrpSpPr/>
          <p:nvPr userDrawn="1"/>
        </p:nvGrpSpPr>
        <p:grpSpPr>
          <a:xfrm>
            <a:off x="-1698" y="3508800"/>
            <a:ext cx="7016130" cy="2425241"/>
            <a:chOff x="683" y="3508800"/>
            <a:chExt cx="7016130" cy="2425241"/>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683" y="3508800"/>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userDrawn="1"/>
          </p:nvSpPr>
          <p:spPr>
            <a:xfrm>
              <a:off x="5439970" y="3509181"/>
              <a:ext cx="1576843" cy="2417447"/>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683" y="4907035"/>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88784966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QA Template_Main Slide">
    <p:spTree>
      <p:nvGrpSpPr>
        <p:cNvPr id="1" name=""/>
        <p:cNvGrpSpPr/>
        <p:nvPr/>
      </p:nvGrpSpPr>
      <p:grpSpPr>
        <a:xfrm>
          <a:off x="0" y="0"/>
          <a:ext cx="0" cy="0"/>
          <a:chOff x="0" y="0"/>
          <a:chExt cx="0" cy="0"/>
        </a:xfrm>
      </p:grpSpPr>
      <p:sp>
        <p:nvSpPr>
          <p:cNvPr id="11" name="Text Placeholder 10"/>
          <p:cNvSpPr>
            <a:spLocks noGrp="1"/>
          </p:cNvSpPr>
          <p:nvPr>
            <p:ph type="body" sz="quarter" idx="15"/>
          </p:nvPr>
        </p:nvSpPr>
        <p:spPr>
          <a:xfrm>
            <a:off x="190463" y="928670"/>
            <a:ext cx="11715792" cy="5214974"/>
          </a:xfrm>
        </p:spPr>
        <p:txBody>
          <a:bodyPr/>
          <a:lstStyle>
            <a:lvl1pPr>
              <a:defRPr b="1"/>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itle 4"/>
          <p:cNvSpPr>
            <a:spLocks noGrp="1"/>
          </p:cNvSpPr>
          <p:nvPr>
            <p:ph type="title"/>
          </p:nvPr>
        </p:nvSpPr>
        <p:spPr>
          <a:xfrm>
            <a:off x="190459" y="357166"/>
            <a:ext cx="11715832" cy="500400"/>
          </a:xfrm>
        </p:spPr>
        <p:txBody>
          <a:bodyPr vert="horz" lIns="91440" tIns="45720" rIns="91440" bIns="45720" rtlCol="0">
            <a:normAutofit/>
          </a:bodyPr>
          <a:lstStyle>
            <a:lvl1pPr>
              <a:defRPr lang="en-GB" sz="2400" b="1" kern="1200" baseline="0" dirty="0" smtClean="0">
                <a:solidFill>
                  <a:srgbClr val="0070C0"/>
                </a:solidFill>
                <a:latin typeface="Arial" pitchFamily="34" charset="0"/>
                <a:ea typeface="+mn-ea"/>
                <a:cs typeface="Arial" pitchFamily="34" charset="0"/>
              </a:defRPr>
            </a:lvl1pPr>
          </a:lstStyle>
          <a:p>
            <a:pPr marL="342900" lvl="0" indent="-342900" algn="l" defTabSz="914400" rtl="0" eaLnBrk="1" latinLnBrk="0" hangingPunct="1">
              <a:spcBef>
                <a:spcPct val="20000"/>
              </a:spcBef>
              <a:buClr>
                <a:schemeClr val="accent1"/>
              </a:buClr>
              <a:buFont typeface="Wingdings" pitchFamily="2" charset="2"/>
              <a:buNone/>
            </a:pPr>
            <a:r>
              <a:rPr lang="en-US"/>
              <a:t>Click to edit Master title style</a:t>
            </a:r>
            <a:endParaRPr lang="en-GB" dirty="0"/>
          </a:p>
        </p:txBody>
      </p:sp>
      <p:sp>
        <p:nvSpPr>
          <p:cNvPr id="6" name="Slide Number Placeholder 5"/>
          <p:cNvSpPr txBox="1">
            <a:spLocks/>
          </p:cNvSpPr>
          <p:nvPr userDrawn="1"/>
        </p:nvSpPr>
        <p:spPr>
          <a:xfrm>
            <a:off x="9061491" y="6492906"/>
            <a:ext cx="2844800" cy="365125"/>
          </a:xfrm>
          <a:prstGeom prst="rect">
            <a:avLst/>
          </a:prstGeom>
        </p:spPr>
        <p:txBody>
          <a:bodyPr vert="horz" lIns="91440" tIns="45720" rIns="91440" bIns="45720" rtlCol="0" anchor="ctr"/>
          <a:lstStyle>
            <a:lvl1pPr algn="r">
              <a:defRPr sz="1000">
                <a:solidFill>
                  <a:schemeClr val="bg1"/>
                </a:solidFill>
                <a:latin typeface="Arial" pitchFamily="34" charset="0"/>
                <a:cs typeface="Arial"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18ABFB6-A9C6-4619-9721-3B608E8ED143}" type="slidenum">
              <a:rPr kumimoji="0" lang="en-GB" sz="1000" b="0" i="0" u="none" strike="noStrike" kern="1200" cap="none" spc="0" normalizeH="0" baseline="0" noProof="0" smtClean="0">
                <a:ln>
                  <a:noFill/>
                </a:ln>
                <a:solidFill>
                  <a:srgbClr val="0070C0"/>
                </a:solidFill>
                <a:effectLst/>
                <a:uLnTx/>
                <a:uFillTx/>
                <a:latin typeface="Arial" pitchFamily="34"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sz="1000" b="0" i="0" u="none" strike="noStrike" kern="1200" cap="none" spc="0" normalizeH="0" baseline="0" noProof="0" dirty="0">
              <a:ln>
                <a:noFill/>
              </a:ln>
              <a:solidFill>
                <a:srgbClr val="0070C0"/>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400757182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39744390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Blu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1D2F0620-6E87-D078-F005-280481B46EF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29895077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Blu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 uri="{C183D7F6-B498-43B3-948B-1728B52AA6E4}">
                <adec:decorative xmlns:adec="http://schemas.microsoft.com/office/drawing/2017/decorative" val="0"/>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E39219E7-A5DF-DCFC-ECD4-D3B7C588338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50581632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cSld name="Purpl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0B8D50-2C63-2F2E-599F-E921BF1F757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48642271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userDrawn="1">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userDrawn="1">
            <p:ph type="body"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4" y="6584738"/>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300464794"/>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798" r:id="rId4"/>
    <p:sldLayoutId id="2147483806" r:id="rId5"/>
    <p:sldLayoutId id="2147483709" r:id="rId6"/>
    <p:sldLayoutId id="2147483822" r:id="rId7"/>
    <p:sldLayoutId id="2147483802" r:id="rId8"/>
    <p:sldLayoutId id="2147483792" r:id="rId9"/>
    <p:sldLayoutId id="2147483810" r:id="rId10"/>
    <p:sldLayoutId id="2147483804" r:id="rId11"/>
    <p:sldLayoutId id="2147483821" r:id="rId12"/>
    <p:sldLayoutId id="2147483824" r:id="rId13"/>
    <p:sldLayoutId id="2147483828" r:id="rId14"/>
    <p:sldLayoutId id="2147483853" r:id="rId15"/>
    <p:sldLayoutId id="2147483899" r:id="rId16"/>
    <p:sldLayoutId id="2147483832" r:id="rId17"/>
    <p:sldLayoutId id="2147483833" r:id="rId18"/>
    <p:sldLayoutId id="2147483836" r:id="rId19"/>
    <p:sldLayoutId id="2147483852" r:id="rId20"/>
    <p:sldLayoutId id="2147483900" r:id="rId21"/>
    <p:sldLayoutId id="2147483820" r:id="rId22"/>
    <p:sldLayoutId id="2147483842" r:id="rId23"/>
    <p:sldLayoutId id="2147483845" r:id="rId24"/>
    <p:sldLayoutId id="2147483851" r:id="rId25"/>
    <p:sldLayoutId id="2147483901" r:id="rId26"/>
    <p:sldLayoutId id="2147483650" r:id="rId27"/>
    <p:sldLayoutId id="2147483734" r:id="rId28"/>
    <p:sldLayoutId id="2147483796" r:id="rId29"/>
    <p:sldLayoutId id="2147483719" r:id="rId30"/>
    <p:sldLayoutId id="2147483721" r:id="rId31"/>
    <p:sldLayoutId id="2147483724" r:id="rId32"/>
    <p:sldLayoutId id="2147483797" r:id="rId33"/>
    <p:sldLayoutId id="2147483814" r:id="rId34"/>
    <p:sldLayoutId id="2147483903" r:id="rId35"/>
    <p:sldLayoutId id="2147483905" r:id="rId36"/>
    <p:sldLayoutId id="2147483906" r:id="rId37"/>
    <p:sldLayoutId id="2147483907" r:id="rId38"/>
    <p:sldLayoutId id="2147483908" r:id="rId39"/>
  </p:sldLayoutIdLst>
  <p:hf hdr="0" dt="0"/>
  <p:txStyles>
    <p:titleStyle>
      <a:lvl1pPr algn="l" defTabSz="914400" rtl="0" eaLnBrk="1" latinLnBrk="0" hangingPunct="1">
        <a:lnSpc>
          <a:spcPct val="100000"/>
        </a:lnSpc>
        <a:spcBef>
          <a:spcPct val="0"/>
        </a:spcBef>
        <a:buNone/>
        <a:defRPr sz="3600" b="0" i="0" kern="1200" cap="none" baseline="0">
          <a:solidFill>
            <a:schemeClr val="tx1"/>
          </a:solidFill>
          <a:latin typeface="Krana Fat B" panose="00000B00000000000000" pitchFamily="50" charset="0"/>
          <a:ea typeface="+mj-ea"/>
          <a:cs typeface="+mj-cs"/>
        </a:defRPr>
      </a:lvl1pPr>
    </p:titleStyle>
    <p:bodyStyle>
      <a:lvl1pPr marL="0" indent="0" algn="l" defTabSz="914400" rtl="0" eaLnBrk="1" latinLnBrk="0" hangingPunct="1">
        <a:lnSpc>
          <a:spcPct val="100000"/>
        </a:lnSpc>
        <a:spcBef>
          <a:spcPts val="0"/>
        </a:spcBef>
        <a:spcAft>
          <a:spcPts val="650"/>
        </a:spcAft>
        <a:buSzPct val="115000"/>
        <a:buFontTx/>
        <a:buNone/>
        <a:defRPr sz="20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41"/>
        </a:buBlip>
        <a:tabLst/>
        <a:defRPr sz="20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41"/>
        </a:buBlip>
        <a:tabLst/>
        <a:defRPr sz="20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41"/>
        </a:buBlip>
        <a:tabLst/>
        <a:defRPr sz="20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41"/>
        </a:buBlip>
        <a:tabLst/>
        <a:defRPr sz="20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userDrawn="1">
          <p15:clr>
            <a:srgbClr val="F26B43"/>
          </p15:clr>
        </p15:guide>
        <p15:guide id="2" orient="horz" pos="4081" userDrawn="1">
          <p15:clr>
            <a:srgbClr val="F26B43"/>
          </p15:clr>
        </p15:guide>
        <p15:guide id="3" pos="237" userDrawn="1">
          <p15:clr>
            <a:srgbClr val="F26B43"/>
          </p15:clr>
        </p15:guide>
        <p15:guide id="4" pos="732" userDrawn="1">
          <p15:clr>
            <a:srgbClr val="F26B43"/>
          </p15:clr>
        </p15:guide>
        <p15:guide id="5" pos="850" userDrawn="1">
          <p15:clr>
            <a:srgbClr val="F26B43"/>
          </p15:clr>
        </p15:guide>
        <p15:guide id="6" pos="1345" userDrawn="1">
          <p15:clr>
            <a:srgbClr val="F26B43"/>
          </p15:clr>
        </p15:guide>
        <p15:guide id="7" pos="1460" userDrawn="1">
          <p15:clr>
            <a:srgbClr val="F26B43"/>
          </p15:clr>
        </p15:guide>
        <p15:guide id="8" pos="1954" userDrawn="1">
          <p15:clr>
            <a:srgbClr val="F26B43"/>
          </p15:clr>
        </p15:guide>
        <p15:guide id="9" pos="2069" userDrawn="1">
          <p15:clr>
            <a:srgbClr val="F26B43"/>
          </p15:clr>
        </p15:guide>
        <p15:guide id="10" pos="2564" userDrawn="1">
          <p15:clr>
            <a:srgbClr val="F26B43"/>
          </p15:clr>
        </p15:guide>
        <p15:guide id="11" pos="2683" userDrawn="1">
          <p15:clr>
            <a:srgbClr val="F26B43"/>
          </p15:clr>
        </p15:guide>
        <p15:guide id="12" pos="3173" userDrawn="1">
          <p15:clr>
            <a:srgbClr val="F26B43"/>
          </p15:clr>
        </p15:guide>
        <p15:guide id="13" pos="3288" userDrawn="1">
          <p15:clr>
            <a:srgbClr val="F26B43"/>
          </p15:clr>
        </p15:guide>
        <p15:guide id="14" pos="3782" userDrawn="1">
          <p15:clr>
            <a:srgbClr val="F26B43"/>
          </p15:clr>
        </p15:guide>
        <p15:guide id="15" pos="3897" userDrawn="1">
          <p15:clr>
            <a:srgbClr val="F26B43"/>
          </p15:clr>
        </p15:guide>
        <p15:guide id="16" pos="4392" userDrawn="1">
          <p15:clr>
            <a:srgbClr val="F26B43"/>
          </p15:clr>
        </p15:guide>
        <p15:guide id="17" pos="4506" userDrawn="1">
          <p15:clr>
            <a:srgbClr val="F26B43"/>
          </p15:clr>
        </p15:guide>
        <p15:guide id="18" pos="5001" userDrawn="1">
          <p15:clr>
            <a:srgbClr val="F26B43"/>
          </p15:clr>
        </p15:guide>
        <p15:guide id="19" pos="5115" userDrawn="1">
          <p15:clr>
            <a:srgbClr val="F26B43"/>
          </p15:clr>
        </p15:guide>
        <p15:guide id="20" pos="5610" userDrawn="1">
          <p15:clr>
            <a:srgbClr val="F26B43"/>
          </p15:clr>
        </p15:guide>
        <p15:guide id="21" pos="5725" userDrawn="1">
          <p15:clr>
            <a:srgbClr val="F26B43"/>
          </p15:clr>
        </p15:guide>
        <p15:guide id="22" pos="6220" userDrawn="1">
          <p15:clr>
            <a:srgbClr val="F26B43"/>
          </p15:clr>
        </p15:guide>
        <p15:guide id="23" pos="6334" userDrawn="1">
          <p15:clr>
            <a:srgbClr val="F26B43"/>
          </p15:clr>
        </p15:guide>
        <p15:guide id="24" pos="6829" userDrawn="1">
          <p15:clr>
            <a:srgbClr val="F26B43"/>
          </p15:clr>
        </p15:guide>
        <p15:guide id="25" pos="6943" userDrawn="1">
          <p15:clr>
            <a:srgbClr val="F26B43"/>
          </p15:clr>
        </p15:guide>
        <p15:guide id="26" pos="7438" userDrawn="1">
          <p15:clr>
            <a:srgbClr val="F26B43"/>
          </p15:clr>
        </p15:guide>
        <p15:guide id="27" pos="3840" userDrawn="1">
          <p15:clr>
            <a:srgbClr val="9FCC3B"/>
          </p15:clr>
        </p15:guide>
        <p15:guide id="28" orient="horz" pos="2160"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9.xml"/></Relationships>
</file>

<file path=ppt/slides/_rels/slide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4.svg"/></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3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7.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3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8.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3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10A2E5-A3AA-7BE3-7C87-983A58C15C46}"/>
              </a:ext>
            </a:extLst>
          </p:cNvPr>
          <p:cNvSpPr>
            <a:spLocks noGrp="1"/>
          </p:cNvSpPr>
          <p:nvPr>
            <p:ph type="ctrTitle"/>
          </p:nvPr>
        </p:nvSpPr>
        <p:spPr/>
        <p:txBody>
          <a:bodyPr/>
          <a:lstStyle/>
          <a:p>
            <a:r>
              <a:rPr lang="en-GB" dirty="0"/>
              <a:t>Inheritance</a:t>
            </a:r>
            <a:endParaRPr lang="en-US" dirty="0"/>
          </a:p>
        </p:txBody>
      </p:sp>
      <p:sp>
        <p:nvSpPr>
          <p:cNvPr id="3" name="Subtitle 2">
            <a:extLst>
              <a:ext uri="{FF2B5EF4-FFF2-40B4-BE49-F238E27FC236}">
                <a16:creationId xmlns:a16="http://schemas.microsoft.com/office/drawing/2014/main" id="{52534D79-CFC0-C4F4-AD12-F13DBCAB1A97}"/>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10039322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ChangeArrowheads="1"/>
          </p:cNvSpPr>
          <p:nvPr/>
        </p:nvSpPr>
        <p:spPr bwMode="auto">
          <a:xfrm>
            <a:off x="4678364" y="6267450"/>
            <a:ext cx="2835275" cy="438150"/>
          </a:xfrm>
          <a:prstGeom prst="rect">
            <a:avLst/>
          </a:prstGeom>
          <a:noFill/>
          <a:ln w="12700">
            <a:noFill/>
            <a:miter lim="800000"/>
            <a:headEnd/>
            <a:tailEnd/>
          </a:ln>
        </p:spPr>
        <p:txBody>
          <a:bodyPr wrap="none" anchor="ctr"/>
          <a:lstStyle/>
          <a:p>
            <a:pPr eaLnBrk="0" hangingPunct="0">
              <a:spcBef>
                <a:spcPct val="50000"/>
              </a:spcBef>
            </a:pPr>
            <a:endParaRPr lang="en-US"/>
          </a:p>
        </p:txBody>
      </p:sp>
      <p:sp>
        <p:nvSpPr>
          <p:cNvPr id="3" name="Text Placeholder 2"/>
          <p:cNvSpPr>
            <a:spLocks noGrp="1"/>
          </p:cNvSpPr>
          <p:nvPr>
            <p:ph type="body" sz="quarter" idx="15"/>
          </p:nvPr>
        </p:nvSpPr>
        <p:spPr>
          <a:xfrm>
            <a:off x="5037137" y="1349984"/>
            <a:ext cx="5935663" cy="5119407"/>
          </a:xfrm>
        </p:spPr>
        <p:txBody>
          <a:bodyPr vert="horz" lIns="0" tIns="0" rIns="0" bIns="0" rtlCol="0" anchor="t" anchorCtr="0">
            <a:noAutofit/>
          </a:bodyPr>
          <a:lstStyle/>
          <a:p>
            <a:pPr marL="342900" indent="-342900">
              <a:buChar char="•"/>
            </a:pPr>
            <a:r>
              <a:rPr lang="en-GB" b="1" dirty="0"/>
              <a:t>Objectives</a:t>
            </a:r>
          </a:p>
          <a:p>
            <a:pPr marL="684000" lvl="1" indent="-342900">
              <a:buSzPct val="115000"/>
            </a:pPr>
            <a:r>
              <a:rPr lang="en-GB" dirty="0"/>
              <a:t>To add functionality to existing classes using inheritance</a:t>
            </a:r>
          </a:p>
          <a:p>
            <a:pPr marL="342900" indent="-342900">
              <a:buChar char="•"/>
            </a:pPr>
            <a:endParaRPr lang="en-GB" b="1" dirty="0"/>
          </a:p>
          <a:p>
            <a:pPr marL="342900" indent="-342900">
              <a:buChar char="•"/>
            </a:pPr>
            <a:r>
              <a:rPr lang="en-GB" b="1" dirty="0"/>
              <a:t>Contents</a:t>
            </a:r>
          </a:p>
          <a:p>
            <a:pPr marL="684000" lvl="1" indent="-342900">
              <a:buSzPct val="115000"/>
            </a:pPr>
            <a:r>
              <a:rPr lang="en-GB" dirty="0"/>
              <a:t>Basic concepts of inheritance</a:t>
            </a:r>
          </a:p>
          <a:p>
            <a:pPr marL="684000" lvl="1" indent="-342900">
              <a:buSzPct val="115000"/>
            </a:pPr>
            <a:r>
              <a:rPr lang="en-GB" dirty="0"/>
              <a:t>Extending a simple class</a:t>
            </a:r>
          </a:p>
          <a:p>
            <a:pPr lvl="1"/>
            <a:endParaRPr lang="en-GB" dirty="0"/>
          </a:p>
          <a:p>
            <a:pPr marL="342900" indent="-342900">
              <a:buChar char="•"/>
            </a:pPr>
            <a:r>
              <a:rPr lang="en-GB" b="1" dirty="0"/>
              <a:t>Hands-on labs</a:t>
            </a:r>
          </a:p>
          <a:p>
            <a:pPr marL="342900" indent="-342900">
              <a:buChar char="•"/>
            </a:pPr>
            <a:endParaRPr lang="en-IN" b="1" dirty="0"/>
          </a:p>
        </p:txBody>
      </p:sp>
      <p:sp>
        <p:nvSpPr>
          <p:cNvPr id="2" name="Text Placeholder 1"/>
          <p:cNvSpPr>
            <a:spLocks noGrp="1"/>
          </p:cNvSpPr>
          <p:nvPr>
            <p:ph type="body" sz="quarter" idx="10"/>
          </p:nvPr>
        </p:nvSpPr>
        <p:spPr/>
        <p:txBody>
          <a:bodyPr/>
          <a:lstStyle/>
          <a:p>
            <a:r>
              <a:rPr lang="en-GB"/>
              <a:t>Contents</a:t>
            </a:r>
            <a:endParaRPr lang="en-IN" dirty="0"/>
          </a:p>
        </p:txBody>
      </p:sp>
      <p:sp>
        <p:nvSpPr>
          <p:cNvPr id="4" name="Rectangle 3" descr="Document">
            <a:extLst>
              <a:ext uri="{FF2B5EF4-FFF2-40B4-BE49-F238E27FC236}">
                <a16:creationId xmlns:a16="http://schemas.microsoft.com/office/drawing/2014/main" id="{39824F5B-436F-0BF0-1109-17834917B9EA}"/>
              </a:ext>
            </a:extLst>
          </p:cNvPr>
          <p:cNvSpPr/>
          <p:nvPr/>
        </p:nvSpPr>
        <p:spPr>
          <a:xfrm>
            <a:off x="4215204" y="3282181"/>
            <a:ext cx="796640" cy="70012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GB"/>
          </a:p>
        </p:txBody>
      </p:sp>
      <p:sp>
        <p:nvSpPr>
          <p:cNvPr id="5" name="Rectangle 4" descr="Bullseye">
            <a:extLst>
              <a:ext uri="{FF2B5EF4-FFF2-40B4-BE49-F238E27FC236}">
                <a16:creationId xmlns:a16="http://schemas.microsoft.com/office/drawing/2014/main" id="{436A92A9-7EBF-BD18-261B-48831A53482A}"/>
              </a:ext>
            </a:extLst>
          </p:cNvPr>
          <p:cNvSpPr/>
          <p:nvPr/>
        </p:nvSpPr>
        <p:spPr>
          <a:xfrm>
            <a:off x="4235524" y="1548827"/>
            <a:ext cx="796640" cy="80172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GB"/>
          </a:p>
        </p:txBody>
      </p:sp>
    </p:spTree>
    <p:extLst>
      <p:ext uri="{BB962C8B-B14F-4D97-AF65-F5344CB8AC3E}">
        <p14:creationId xmlns:p14="http://schemas.microsoft.com/office/powerpoint/2010/main" val="3881823652"/>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B9587-084B-EA06-AF5B-B89656810EC5}"/>
              </a:ext>
            </a:extLst>
          </p:cNvPr>
          <p:cNvSpPr>
            <a:spLocks noGrp="1"/>
          </p:cNvSpPr>
          <p:nvPr>
            <p:ph type="ctrTitle"/>
          </p:nvPr>
        </p:nvSpPr>
        <p:spPr/>
        <p:txBody>
          <a:bodyPr/>
          <a:lstStyle/>
          <a:p>
            <a:r>
              <a:rPr lang="en-GB" dirty="0"/>
              <a:t>Base and derived classes</a:t>
            </a:r>
          </a:p>
        </p:txBody>
      </p:sp>
      <p:sp>
        <p:nvSpPr>
          <p:cNvPr id="5" name="Slide Number Placeholder 4">
            <a:extLst>
              <a:ext uri="{FF2B5EF4-FFF2-40B4-BE49-F238E27FC236}">
                <a16:creationId xmlns:a16="http://schemas.microsoft.com/office/drawing/2014/main" id="{21544A1D-3981-DC9A-D9F1-B73B66992BD5}"/>
              </a:ext>
            </a:extLst>
          </p:cNvPr>
          <p:cNvSpPr>
            <a:spLocks noGrp="1"/>
          </p:cNvSpPr>
          <p:nvPr>
            <p:ph type="sldNum" sz="quarter" idx="12"/>
          </p:nvPr>
        </p:nvSpPr>
        <p:spPr/>
        <p:txBody>
          <a:bodyPr/>
          <a:lstStyle/>
          <a:p>
            <a:fld id="{F3469444-D02B-D446-9CF8-19DEDDE073D1}" type="slidenum">
              <a:rPr lang="en-US" smtClean="0"/>
              <a:pPr/>
              <a:t>3</a:t>
            </a:fld>
            <a:endParaRPr lang="en-US" dirty="0"/>
          </a:p>
        </p:txBody>
      </p:sp>
      <p:sp>
        <p:nvSpPr>
          <p:cNvPr id="6" name="Rectangle 3">
            <a:extLst>
              <a:ext uri="{FF2B5EF4-FFF2-40B4-BE49-F238E27FC236}">
                <a16:creationId xmlns:a16="http://schemas.microsoft.com/office/drawing/2014/main" id="{855FC1B0-4EE1-D153-BFD8-CE84E088CB93}"/>
              </a:ext>
            </a:extLst>
          </p:cNvPr>
          <p:cNvSpPr txBox="1">
            <a:spLocks noChangeArrowheads="1"/>
          </p:cNvSpPr>
          <p:nvPr/>
        </p:nvSpPr>
        <p:spPr>
          <a:xfrm>
            <a:off x="392650" y="1486503"/>
            <a:ext cx="10619653" cy="3161214"/>
          </a:xfrm>
          <a:prstGeom prst="rect">
            <a:avLst/>
          </a:prstGeom>
        </p:spPr>
        <p:txBody>
          <a:bodyPr vert="horz"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r>
              <a:rPr lang="en-GB" b="1" dirty="0"/>
              <a:t>A class can inherit the features of another class.</a:t>
            </a:r>
          </a:p>
          <a:p>
            <a:pPr marL="341100" lvl="1" indent="0">
              <a:buSzPct val="115000"/>
              <a:buFont typeface="Arial" panose="020B0604020202020204" pitchFamily="34" charset="0"/>
              <a:buNone/>
            </a:pPr>
            <a:r>
              <a:rPr lang="en-GB" dirty="0"/>
              <a:t> </a:t>
            </a:r>
          </a:p>
          <a:p>
            <a:pPr marL="342900" indent="-342900"/>
            <a:r>
              <a:rPr lang="en-GB" b="1" dirty="0"/>
              <a:t>The ‘sub’ class can:</a:t>
            </a:r>
          </a:p>
          <a:p>
            <a:pPr marL="684000" lvl="1" indent="-342900">
              <a:buSzPct val="115000"/>
            </a:pPr>
            <a:r>
              <a:rPr lang="en-GB" dirty="0"/>
              <a:t>utilise all the features of the super class.</a:t>
            </a:r>
          </a:p>
          <a:p>
            <a:pPr marL="684000" lvl="1" indent="-342900">
              <a:buSzPct val="115000"/>
            </a:pPr>
            <a:r>
              <a:rPr lang="en-GB" dirty="0"/>
              <a:t>override certain behaviour of the super class.</a:t>
            </a:r>
          </a:p>
          <a:p>
            <a:pPr marL="684000" lvl="1" indent="-342900">
              <a:buSzPct val="115000"/>
            </a:pPr>
            <a:r>
              <a:rPr lang="en-GB" dirty="0"/>
              <a:t>add new features. </a:t>
            </a:r>
          </a:p>
          <a:p>
            <a:endParaRPr lang="en-GB" b="1" dirty="0"/>
          </a:p>
          <a:p>
            <a:pPr marL="342900" indent="-342900"/>
            <a:r>
              <a:rPr lang="en-GB" b="1" dirty="0"/>
              <a:t>Inheritance is a fundamental object-oriented concept.</a:t>
            </a:r>
          </a:p>
        </p:txBody>
      </p:sp>
      <p:grpSp>
        <p:nvGrpSpPr>
          <p:cNvPr id="7" name="Group 4">
            <a:extLst>
              <a:ext uri="{FF2B5EF4-FFF2-40B4-BE49-F238E27FC236}">
                <a16:creationId xmlns:a16="http://schemas.microsoft.com/office/drawing/2014/main" id="{2F270F2A-3478-5DDB-AF76-A4441C8E0862}"/>
              </a:ext>
            </a:extLst>
          </p:cNvPr>
          <p:cNvGrpSpPr>
            <a:grpSpLocks/>
          </p:cNvGrpSpPr>
          <p:nvPr/>
        </p:nvGrpSpPr>
        <p:grpSpPr bwMode="auto">
          <a:xfrm>
            <a:off x="443921" y="4551039"/>
            <a:ext cx="8336741" cy="1284289"/>
            <a:chOff x="1036" y="2765"/>
            <a:chExt cx="4224" cy="809"/>
          </a:xfrm>
        </p:grpSpPr>
        <p:sp>
          <p:nvSpPr>
            <p:cNvPr id="8" name="Rectangle 7">
              <a:extLst>
                <a:ext uri="{FF2B5EF4-FFF2-40B4-BE49-F238E27FC236}">
                  <a16:creationId xmlns:a16="http://schemas.microsoft.com/office/drawing/2014/main" id="{CC76CFE1-79A9-4F6A-00CF-F7959FE5D1DC}"/>
                </a:ext>
              </a:extLst>
            </p:cNvPr>
            <p:cNvSpPr>
              <a:spLocks noChangeArrowheads="1"/>
            </p:cNvSpPr>
            <p:nvPr/>
          </p:nvSpPr>
          <p:spPr bwMode="auto">
            <a:xfrm>
              <a:off x="1036" y="2765"/>
              <a:ext cx="4224" cy="266"/>
            </a:xfrm>
            <a:prstGeom prst="rect">
              <a:avLst/>
            </a:prstGeom>
            <a:noFill/>
            <a:ln w="12700">
              <a:noFill/>
              <a:miter lim="800000"/>
              <a:headEnd/>
              <a:tailEnd/>
            </a:ln>
          </p:spPr>
          <p:txBody>
            <a:bodyPr lIns="90488" tIns="44450" rIns="90488" bIns="44450">
              <a:spAutoFit/>
            </a:bodyPr>
            <a:lstStyle/>
            <a:p>
              <a:pPr defTabSz="739775" eaLnBrk="0" hangingPunct="0">
                <a:lnSpc>
                  <a:spcPct val="90000"/>
                </a:lnSpc>
                <a:spcBef>
                  <a:spcPct val="30000"/>
                </a:spcBef>
              </a:pPr>
              <a:r>
                <a:rPr lang="en-GB" dirty="0"/>
                <a:t>The code in the super class can be reused by the subclass.  </a:t>
              </a:r>
              <a:r>
                <a:rPr lang="en-GB" sz="2400" dirty="0"/>
                <a:t>✔️</a:t>
              </a:r>
              <a:endParaRPr lang="en-GB" dirty="0"/>
            </a:p>
          </p:txBody>
        </p:sp>
        <p:sp>
          <p:nvSpPr>
            <p:cNvPr id="9" name="Rectangle 8">
              <a:extLst>
                <a:ext uri="{FF2B5EF4-FFF2-40B4-BE49-F238E27FC236}">
                  <a16:creationId xmlns:a16="http://schemas.microsoft.com/office/drawing/2014/main" id="{FF7F6A25-C229-2B63-CE6A-8A625B617A05}"/>
                </a:ext>
              </a:extLst>
            </p:cNvPr>
            <p:cNvSpPr>
              <a:spLocks noChangeArrowheads="1"/>
            </p:cNvSpPr>
            <p:nvPr/>
          </p:nvSpPr>
          <p:spPr bwMode="auto">
            <a:xfrm>
              <a:off x="1036" y="3151"/>
              <a:ext cx="4224" cy="423"/>
            </a:xfrm>
            <a:prstGeom prst="rect">
              <a:avLst/>
            </a:prstGeom>
            <a:noFill/>
            <a:ln w="12700">
              <a:noFill/>
              <a:miter lim="800000"/>
              <a:headEnd/>
              <a:tailEnd/>
            </a:ln>
          </p:spPr>
          <p:txBody>
            <a:bodyPr lIns="90488" tIns="44450" rIns="90488" bIns="44450">
              <a:spAutoFit/>
            </a:bodyPr>
            <a:lstStyle/>
            <a:p>
              <a:pPr defTabSz="739775" eaLnBrk="0" hangingPunct="0">
                <a:lnSpc>
                  <a:spcPct val="90000"/>
                </a:lnSpc>
                <a:spcBef>
                  <a:spcPct val="30000"/>
                </a:spcBef>
              </a:pPr>
              <a:r>
                <a:rPr lang="en-GB" dirty="0"/>
                <a:t>New classes can be defined simply in the terms of their  </a:t>
              </a:r>
              <a:r>
                <a:rPr lang="en-GB" b="1" dirty="0"/>
                <a:t>    </a:t>
              </a:r>
              <a:r>
                <a:rPr lang="en-GB" sz="2400" b="1" dirty="0"/>
                <a:t>✔️ </a:t>
              </a:r>
              <a:br>
                <a:rPr lang="en-GB" b="1" dirty="0"/>
              </a:br>
              <a:r>
                <a:rPr lang="en-GB" b="1" dirty="0"/>
                <a:t>differences</a:t>
              </a:r>
              <a:r>
                <a:rPr lang="en-GB" dirty="0"/>
                <a:t> from an existing class.</a:t>
              </a:r>
            </a:p>
          </p:txBody>
        </p:sp>
      </p:grpSp>
      <p:pic>
        <p:nvPicPr>
          <p:cNvPr id="10" name="Picture 9" descr="A UML class diagram displaying two classes: 'Account' and 'Savings Account'.  The 'Savings Account' class contains a sub class of 'Account'.">
            <a:extLst>
              <a:ext uri="{FF2B5EF4-FFF2-40B4-BE49-F238E27FC236}">
                <a16:creationId xmlns:a16="http://schemas.microsoft.com/office/drawing/2014/main" id="{98642923-F8A4-2059-61E4-BAD9002AE6F5}"/>
              </a:ext>
            </a:extLst>
          </p:cNvPr>
          <p:cNvPicPr>
            <a:picLocks noChangeAspect="1"/>
          </p:cNvPicPr>
          <p:nvPr/>
        </p:nvPicPr>
        <p:blipFill>
          <a:blip r:embed="rId3"/>
          <a:stretch>
            <a:fillRect/>
          </a:stretch>
        </p:blipFill>
        <p:spPr>
          <a:xfrm>
            <a:off x="7932611" y="1486503"/>
            <a:ext cx="3797300" cy="2761673"/>
          </a:xfrm>
          <a:prstGeom prst="rect">
            <a:avLst/>
          </a:prstGeom>
          <a:ln>
            <a:noFill/>
          </a:ln>
          <a:effectLst/>
        </p:spPr>
      </p:pic>
    </p:spTree>
    <p:extLst>
      <p:ext uri="{BB962C8B-B14F-4D97-AF65-F5344CB8AC3E}">
        <p14:creationId xmlns:p14="http://schemas.microsoft.com/office/powerpoint/2010/main" val="5606288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C1FE8-F7B0-B46B-CA04-884045CF02F7}"/>
              </a:ext>
            </a:extLst>
          </p:cNvPr>
          <p:cNvSpPr>
            <a:spLocks noGrp="1"/>
          </p:cNvSpPr>
          <p:nvPr>
            <p:ph type="ctrTitle"/>
          </p:nvPr>
        </p:nvSpPr>
        <p:spPr/>
        <p:txBody>
          <a:bodyPr/>
          <a:lstStyle/>
          <a:p>
            <a:r>
              <a:rPr lang="en-GB" dirty="0"/>
              <a:t>Inheritance in action</a:t>
            </a:r>
          </a:p>
        </p:txBody>
      </p:sp>
      <p:sp>
        <p:nvSpPr>
          <p:cNvPr id="5" name="Slide Number Placeholder 4">
            <a:extLst>
              <a:ext uri="{FF2B5EF4-FFF2-40B4-BE49-F238E27FC236}">
                <a16:creationId xmlns:a16="http://schemas.microsoft.com/office/drawing/2014/main" id="{21ECE208-D8DE-0CDE-652E-AECBD6425974}"/>
              </a:ext>
            </a:extLst>
          </p:cNvPr>
          <p:cNvSpPr>
            <a:spLocks noGrp="1"/>
          </p:cNvSpPr>
          <p:nvPr>
            <p:ph type="sldNum" sz="quarter" idx="12"/>
          </p:nvPr>
        </p:nvSpPr>
        <p:spPr/>
        <p:txBody>
          <a:bodyPr/>
          <a:lstStyle/>
          <a:p>
            <a:fld id="{F3469444-D02B-D446-9CF8-19DEDDE073D1}" type="slidenum">
              <a:rPr lang="en-US" smtClean="0"/>
              <a:pPr/>
              <a:t>4</a:t>
            </a:fld>
            <a:endParaRPr lang="en-US" dirty="0"/>
          </a:p>
        </p:txBody>
      </p:sp>
      <p:sp>
        <p:nvSpPr>
          <p:cNvPr id="11" name="Rectangle 3">
            <a:extLst>
              <a:ext uri="{FF2B5EF4-FFF2-40B4-BE49-F238E27FC236}">
                <a16:creationId xmlns:a16="http://schemas.microsoft.com/office/drawing/2014/main" id="{842E1E02-79F3-729C-186C-2F83A8590883}"/>
              </a:ext>
            </a:extLst>
          </p:cNvPr>
          <p:cNvSpPr txBox="1">
            <a:spLocks noChangeArrowheads="1"/>
          </p:cNvSpPr>
          <p:nvPr/>
        </p:nvSpPr>
        <p:spPr>
          <a:xfrm>
            <a:off x="443921" y="1799233"/>
            <a:ext cx="11516239" cy="4955354"/>
          </a:xfrm>
          <a:prstGeom prst="rect">
            <a:avLst/>
          </a:prstGeom>
        </p:spPr>
        <p:txBody>
          <a:bodyPr vert="horz"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r>
              <a:rPr lang="en-GB" b="1" dirty="0"/>
              <a:t>A vector graphics program</a:t>
            </a:r>
          </a:p>
          <a:p>
            <a:pPr marL="684000" lvl="1" indent="-342900">
              <a:buSzPct val="115000"/>
            </a:pPr>
            <a:r>
              <a:rPr lang="en-GB" dirty="0"/>
              <a:t>Lots of commonality </a:t>
            </a:r>
          </a:p>
          <a:p>
            <a:pPr marL="1026000" lvl="2" indent="-342900">
              <a:buSzPct val="115000"/>
            </a:pPr>
            <a:r>
              <a:rPr lang="en-GB" dirty="0">
                <a:latin typeface="Consolas" panose="020B0609020204030204" pitchFamily="49" charset="0"/>
              </a:rPr>
              <a:t>position</a:t>
            </a:r>
            <a:r>
              <a:rPr lang="en-GB" dirty="0"/>
              <a:t> and </a:t>
            </a:r>
            <a:r>
              <a:rPr lang="en-GB" dirty="0">
                <a:latin typeface="Consolas" panose="020B0609020204030204" pitchFamily="49" charset="0"/>
              </a:rPr>
              <a:t>colour</a:t>
            </a:r>
            <a:r>
              <a:rPr lang="en-GB" dirty="0"/>
              <a:t> fields</a:t>
            </a:r>
          </a:p>
          <a:p>
            <a:pPr marL="1026000" lvl="2" indent="-342900">
              <a:buSzPct val="115000"/>
            </a:pPr>
            <a:r>
              <a:rPr lang="en-GB" dirty="0">
                <a:latin typeface="Consolas" panose="020B0609020204030204" pitchFamily="49" charset="0"/>
              </a:rPr>
              <a:t>draw</a:t>
            </a:r>
            <a:r>
              <a:rPr lang="en-GB" dirty="0"/>
              <a:t> method</a:t>
            </a:r>
          </a:p>
          <a:p>
            <a:pPr marL="684000" lvl="1" indent="-342900">
              <a:buSzPct val="115000"/>
            </a:pPr>
            <a:r>
              <a:rPr lang="en-GB" dirty="0"/>
              <a:t>Want to benefit from re-use</a:t>
            </a:r>
          </a:p>
          <a:p>
            <a:pPr marL="180000" lvl="1" indent="-180000"/>
            <a:endParaRPr lang="en-GB" dirty="0"/>
          </a:p>
          <a:p>
            <a:pPr marL="342900" indent="-342900"/>
            <a:r>
              <a:rPr lang="en-GB" b="1" dirty="0"/>
              <a:t>Create a base class called Shape</a:t>
            </a:r>
          </a:p>
          <a:p>
            <a:pPr marL="684000" lvl="1" indent="-342900">
              <a:buSzPct val="115000"/>
            </a:pPr>
            <a:r>
              <a:rPr lang="en-GB" dirty="0"/>
              <a:t>Implement common code there</a:t>
            </a:r>
          </a:p>
          <a:p>
            <a:pPr marL="180000" lvl="1" indent="-180000"/>
            <a:endParaRPr lang="en-GB" dirty="0"/>
          </a:p>
          <a:p>
            <a:pPr marL="342900" indent="-342900"/>
            <a:r>
              <a:rPr lang="en-GB" b="1" dirty="0"/>
              <a:t>Derive classes from </a:t>
            </a:r>
            <a:r>
              <a:rPr lang="en-GB" b="1" dirty="0">
                <a:latin typeface="Consolas" panose="020B0609020204030204" pitchFamily="49" charset="0"/>
              </a:rPr>
              <a:t>Shape</a:t>
            </a:r>
          </a:p>
          <a:p>
            <a:pPr marL="684000" lvl="1" indent="-342900">
              <a:buSzPct val="115000"/>
            </a:pPr>
            <a:r>
              <a:rPr lang="en-GB" dirty="0">
                <a:latin typeface="Consolas" panose="020B0609020204030204" pitchFamily="49" charset="0"/>
              </a:rPr>
              <a:t>Rectangle, Ellipse, Triangle</a:t>
            </a:r>
          </a:p>
        </p:txBody>
      </p:sp>
      <p:sp>
        <p:nvSpPr>
          <p:cNvPr id="12" name="Rectangle 4" descr="Square">
            <a:extLst>
              <a:ext uri="{FF2B5EF4-FFF2-40B4-BE49-F238E27FC236}">
                <a16:creationId xmlns:a16="http://schemas.microsoft.com/office/drawing/2014/main" id="{9246238D-350B-2D6A-AF6A-FF5D13A21BA7}"/>
              </a:ext>
            </a:extLst>
          </p:cNvPr>
          <p:cNvSpPr>
            <a:spLocks noChangeArrowheads="1"/>
          </p:cNvSpPr>
          <p:nvPr/>
        </p:nvSpPr>
        <p:spPr bwMode="auto">
          <a:xfrm>
            <a:off x="8430979" y="5306614"/>
            <a:ext cx="1187450" cy="1187450"/>
          </a:xfrm>
          <a:prstGeom prst="rect">
            <a:avLst/>
          </a:prstGeom>
          <a:solidFill>
            <a:srgbClr val="659830"/>
          </a:solidFill>
          <a:ln w="9525">
            <a:noFill/>
            <a:miter lim="800000"/>
            <a:headEnd/>
            <a:tailEnd/>
          </a:ln>
        </p:spPr>
        <p:txBody>
          <a:bodyPr wrap="none" anchor="ctr"/>
          <a:lstStyle/>
          <a:p>
            <a:pPr eaLnBrk="0" hangingPunct="0">
              <a:spcBef>
                <a:spcPct val="50000"/>
              </a:spcBef>
            </a:pPr>
            <a:endParaRPr lang="en-US" dirty="0"/>
          </a:p>
        </p:txBody>
      </p:sp>
      <p:sp>
        <p:nvSpPr>
          <p:cNvPr id="13" name="Oval 5" descr="Circle">
            <a:extLst>
              <a:ext uri="{FF2B5EF4-FFF2-40B4-BE49-F238E27FC236}">
                <a16:creationId xmlns:a16="http://schemas.microsoft.com/office/drawing/2014/main" id="{881915CE-D6B6-DEFD-81E7-9C5517AE348E}"/>
              </a:ext>
            </a:extLst>
          </p:cNvPr>
          <p:cNvSpPr>
            <a:spLocks noChangeArrowheads="1"/>
          </p:cNvSpPr>
          <p:nvPr/>
        </p:nvSpPr>
        <p:spPr bwMode="auto">
          <a:xfrm>
            <a:off x="8364304" y="3303234"/>
            <a:ext cx="1320800" cy="1320800"/>
          </a:xfrm>
          <a:prstGeom prst="ellipse">
            <a:avLst/>
          </a:prstGeom>
          <a:solidFill>
            <a:srgbClr val="539FD2"/>
          </a:solidFill>
          <a:ln w="9525">
            <a:noFill/>
            <a:round/>
            <a:headEnd/>
            <a:tailEnd/>
          </a:ln>
        </p:spPr>
        <p:txBody>
          <a:bodyPr wrap="none" anchor="ctr"/>
          <a:lstStyle/>
          <a:p>
            <a:pPr eaLnBrk="0" hangingPunct="0">
              <a:spcBef>
                <a:spcPct val="50000"/>
              </a:spcBef>
            </a:pPr>
            <a:endParaRPr lang="en-US" dirty="0"/>
          </a:p>
        </p:txBody>
      </p:sp>
      <p:sp>
        <p:nvSpPr>
          <p:cNvPr id="14" name="AutoShape 6" descr="Triangle">
            <a:extLst>
              <a:ext uri="{FF2B5EF4-FFF2-40B4-BE49-F238E27FC236}">
                <a16:creationId xmlns:a16="http://schemas.microsoft.com/office/drawing/2014/main" id="{A95D0248-D01B-8C9B-FAD1-1C699BF78F3F}"/>
              </a:ext>
            </a:extLst>
          </p:cNvPr>
          <p:cNvSpPr>
            <a:spLocks noChangeArrowheads="1"/>
          </p:cNvSpPr>
          <p:nvPr/>
        </p:nvSpPr>
        <p:spPr bwMode="auto">
          <a:xfrm>
            <a:off x="8315885" y="1500889"/>
            <a:ext cx="1417638" cy="1225550"/>
          </a:xfrm>
          <a:prstGeom prst="triangle">
            <a:avLst>
              <a:gd name="adj" fmla="val 50000"/>
            </a:avLst>
          </a:prstGeom>
          <a:solidFill>
            <a:srgbClr val="EC881D"/>
          </a:solidFill>
          <a:ln w="9525">
            <a:noFill/>
            <a:miter lim="800000"/>
            <a:headEnd/>
            <a:tailEnd/>
          </a:ln>
        </p:spPr>
        <p:txBody>
          <a:bodyPr wrap="none" anchor="ctr"/>
          <a:lstStyle/>
          <a:p>
            <a:pPr eaLnBrk="0" hangingPunct="0">
              <a:spcBef>
                <a:spcPct val="50000"/>
              </a:spcBef>
            </a:pPr>
            <a:endParaRPr lang="en-US" dirty="0"/>
          </a:p>
        </p:txBody>
      </p:sp>
    </p:spTree>
    <p:extLst>
      <p:ext uri="{BB962C8B-B14F-4D97-AF65-F5344CB8AC3E}">
        <p14:creationId xmlns:p14="http://schemas.microsoft.com/office/powerpoint/2010/main" val="23177912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3748E-4516-5141-C691-68F47ED631EC}"/>
              </a:ext>
            </a:extLst>
          </p:cNvPr>
          <p:cNvSpPr>
            <a:spLocks noGrp="1"/>
          </p:cNvSpPr>
          <p:nvPr>
            <p:ph type="ctrTitle"/>
          </p:nvPr>
        </p:nvSpPr>
        <p:spPr/>
        <p:txBody>
          <a:bodyPr/>
          <a:lstStyle/>
          <a:p>
            <a:r>
              <a:rPr lang="en-GB" dirty="0"/>
              <a:t>The inheritance hierarchy</a:t>
            </a:r>
          </a:p>
        </p:txBody>
      </p:sp>
      <p:sp>
        <p:nvSpPr>
          <p:cNvPr id="4" name="Slide Number Placeholder 3">
            <a:extLst>
              <a:ext uri="{FF2B5EF4-FFF2-40B4-BE49-F238E27FC236}">
                <a16:creationId xmlns:a16="http://schemas.microsoft.com/office/drawing/2014/main" id="{90847B7D-1D5F-27F0-F38F-39E934251947}"/>
              </a:ext>
            </a:extLst>
          </p:cNvPr>
          <p:cNvSpPr>
            <a:spLocks noGrp="1"/>
          </p:cNvSpPr>
          <p:nvPr>
            <p:ph type="sldNum" sz="quarter" idx="12"/>
          </p:nvPr>
        </p:nvSpPr>
        <p:spPr/>
        <p:txBody>
          <a:bodyPr/>
          <a:lstStyle/>
          <a:p>
            <a:fld id="{F3469444-D02B-D446-9CF8-19DEDDE073D1}" type="slidenum">
              <a:rPr lang="en-US" smtClean="0"/>
              <a:pPr/>
              <a:t>5</a:t>
            </a:fld>
            <a:endParaRPr lang="en-US" dirty="0"/>
          </a:p>
        </p:txBody>
      </p:sp>
      <p:sp>
        <p:nvSpPr>
          <p:cNvPr id="5" name="AutoShape 23">
            <a:extLst>
              <a:ext uri="{FF2B5EF4-FFF2-40B4-BE49-F238E27FC236}">
                <a16:creationId xmlns:a16="http://schemas.microsoft.com/office/drawing/2014/main" id="{67934DCA-BF9C-5AAA-E2D9-EEA8CC4FD8F4}"/>
              </a:ext>
            </a:extLst>
          </p:cNvPr>
          <p:cNvSpPr>
            <a:spLocks/>
          </p:cNvSpPr>
          <p:nvPr/>
        </p:nvSpPr>
        <p:spPr bwMode="auto">
          <a:xfrm flipH="1">
            <a:off x="492006" y="4221784"/>
            <a:ext cx="2413851" cy="805001"/>
          </a:xfrm>
          <a:prstGeom prst="borderCallout2">
            <a:avLst>
              <a:gd name="adj1" fmla="val 12718"/>
              <a:gd name="adj2" fmla="val -4236"/>
              <a:gd name="adj3" fmla="val 14222"/>
              <a:gd name="adj4" fmla="val -3594"/>
              <a:gd name="adj5" fmla="val 14446"/>
              <a:gd name="adj6" fmla="val -4129"/>
            </a:avLst>
          </a:prstGeom>
          <a:solidFill>
            <a:schemeClr val="accent5">
              <a:lumMod val="20000"/>
              <a:lumOff val="80000"/>
            </a:schemeClr>
          </a:solidFill>
          <a:ln>
            <a:noFill/>
            <a:headEnd/>
            <a:tailEnd/>
          </a:ln>
        </p:spPr>
        <p:style>
          <a:lnRef idx="1">
            <a:schemeClr val="accent1"/>
          </a:lnRef>
          <a:fillRef idx="3">
            <a:schemeClr val="accent1"/>
          </a:fillRef>
          <a:effectRef idx="2">
            <a:schemeClr val="accent1"/>
          </a:effectRef>
          <a:fontRef idx="minor">
            <a:schemeClr val="lt1"/>
          </a:fontRef>
        </p:style>
        <p:txBody>
          <a:bodyPr/>
          <a:lstStyle/>
          <a:p>
            <a:pPr algn="ctr" eaLnBrk="0" hangingPunct="0"/>
            <a:r>
              <a:rPr lang="en-GB" sz="1400" b="1" dirty="0">
                <a:solidFill>
                  <a:schemeClr val="tx1"/>
                </a:solidFill>
              </a:rPr>
              <a:t>Derived types that extend Shape</a:t>
            </a:r>
          </a:p>
        </p:txBody>
      </p:sp>
      <p:pic>
        <p:nvPicPr>
          <p:cNvPr id="6" name="Picture 5" descr="A UML class diagram illustrating an inheritance hierarchy. At the top, the 'Object' class serves as the root superclass. Below it, the 'Shape' class inherits from 'Object', acting as a generalisation for different shapes. Further down, four subclasses - 'Rectangle', 'Ellipse', 'Triangle', and 'Circle' - inherit from 'Shape', indicating that they share common properties and behaviours defined in 'Shape' while also having their own specialised attribute.">
            <a:extLst>
              <a:ext uri="{FF2B5EF4-FFF2-40B4-BE49-F238E27FC236}">
                <a16:creationId xmlns:a16="http://schemas.microsoft.com/office/drawing/2014/main" id="{293EDDAF-4766-17B5-2041-821735AB8014}"/>
              </a:ext>
            </a:extLst>
          </p:cNvPr>
          <p:cNvPicPr>
            <a:picLocks noChangeAspect="1"/>
          </p:cNvPicPr>
          <p:nvPr/>
        </p:nvPicPr>
        <p:blipFill>
          <a:blip r:embed="rId3"/>
          <a:stretch>
            <a:fillRect/>
          </a:stretch>
        </p:blipFill>
        <p:spPr>
          <a:xfrm>
            <a:off x="3077663" y="1366843"/>
            <a:ext cx="6163491" cy="5195507"/>
          </a:xfrm>
          <a:prstGeom prst="rect">
            <a:avLst/>
          </a:prstGeom>
        </p:spPr>
      </p:pic>
      <p:sp>
        <p:nvSpPr>
          <p:cNvPr id="7" name="AutoShape 24">
            <a:extLst>
              <a:ext uri="{FF2B5EF4-FFF2-40B4-BE49-F238E27FC236}">
                <a16:creationId xmlns:a16="http://schemas.microsoft.com/office/drawing/2014/main" id="{03D22332-4F41-4577-BFE8-D8B5F86FADE3}"/>
              </a:ext>
            </a:extLst>
          </p:cNvPr>
          <p:cNvSpPr>
            <a:spLocks/>
          </p:cNvSpPr>
          <p:nvPr/>
        </p:nvSpPr>
        <p:spPr bwMode="auto">
          <a:xfrm>
            <a:off x="7625432" y="5748946"/>
            <a:ext cx="4185821" cy="719883"/>
          </a:xfrm>
          <a:prstGeom prst="borderCallout2">
            <a:avLst>
              <a:gd name="adj1" fmla="val 12370"/>
              <a:gd name="adj2" fmla="val -3074"/>
              <a:gd name="adj3" fmla="val 12370"/>
              <a:gd name="adj4" fmla="val -26056"/>
              <a:gd name="adj5" fmla="val -11685"/>
              <a:gd name="adj6" fmla="val -49935"/>
            </a:avLst>
          </a:prstGeom>
          <a:solidFill>
            <a:schemeClr val="accent5">
              <a:lumMod val="20000"/>
              <a:lumOff val="80000"/>
            </a:schemeClr>
          </a:solidFill>
          <a:ln>
            <a:noFill/>
            <a:headEnd/>
            <a:tailEnd/>
          </a:ln>
        </p:spPr>
        <p:style>
          <a:lnRef idx="1">
            <a:schemeClr val="accent1"/>
          </a:lnRef>
          <a:fillRef idx="3">
            <a:schemeClr val="accent1"/>
          </a:fillRef>
          <a:effectRef idx="2">
            <a:schemeClr val="accent1"/>
          </a:effectRef>
          <a:fontRef idx="minor">
            <a:schemeClr val="lt1"/>
          </a:fontRef>
        </p:style>
        <p:txBody>
          <a:bodyPr/>
          <a:lstStyle/>
          <a:p>
            <a:pPr algn="ctr" eaLnBrk="0" hangingPunct="0">
              <a:defRPr/>
            </a:pPr>
            <a:r>
              <a:rPr lang="en-GB" sz="1400" b="1" dirty="0">
                <a:solidFill>
                  <a:schemeClr val="tx1"/>
                </a:solidFill>
              </a:rPr>
              <a:t>Single inheritance – each class </a:t>
            </a:r>
            <a:br>
              <a:rPr lang="en-GB" sz="1400" b="1" dirty="0">
                <a:solidFill>
                  <a:schemeClr val="tx1"/>
                </a:solidFill>
              </a:rPr>
            </a:br>
            <a:r>
              <a:rPr lang="en-GB" sz="1400" b="1" dirty="0">
                <a:solidFill>
                  <a:schemeClr val="tx1"/>
                </a:solidFill>
              </a:rPr>
              <a:t>can have one direct super class</a:t>
            </a:r>
          </a:p>
        </p:txBody>
      </p:sp>
      <p:sp>
        <p:nvSpPr>
          <p:cNvPr id="8" name="AutoShape 21">
            <a:extLst>
              <a:ext uri="{FF2B5EF4-FFF2-40B4-BE49-F238E27FC236}">
                <a16:creationId xmlns:a16="http://schemas.microsoft.com/office/drawing/2014/main" id="{D5F556F8-CE5F-5F89-4CEA-BAC5204EC7D2}"/>
              </a:ext>
            </a:extLst>
          </p:cNvPr>
          <p:cNvSpPr>
            <a:spLocks/>
          </p:cNvSpPr>
          <p:nvPr/>
        </p:nvSpPr>
        <p:spPr bwMode="auto">
          <a:xfrm>
            <a:off x="8273496" y="1359179"/>
            <a:ext cx="2762496" cy="744537"/>
          </a:xfrm>
          <a:prstGeom prst="borderCallout2">
            <a:avLst>
              <a:gd name="adj1" fmla="val 15352"/>
              <a:gd name="adj2" fmla="val -3444"/>
              <a:gd name="adj3" fmla="val 15352"/>
              <a:gd name="adj4" fmla="val -25056"/>
              <a:gd name="adj5" fmla="val 87847"/>
              <a:gd name="adj6" fmla="val -47523"/>
            </a:avLst>
          </a:prstGeom>
          <a:solidFill>
            <a:schemeClr val="accent5">
              <a:lumMod val="20000"/>
              <a:lumOff val="80000"/>
            </a:schemeClr>
          </a:solidFill>
          <a:ln>
            <a:noFill/>
            <a:headEnd/>
            <a:tailEnd/>
          </a:ln>
        </p:spPr>
        <p:style>
          <a:lnRef idx="1">
            <a:schemeClr val="accent1"/>
          </a:lnRef>
          <a:fillRef idx="3">
            <a:schemeClr val="accent1"/>
          </a:fillRef>
          <a:effectRef idx="2">
            <a:schemeClr val="accent1"/>
          </a:effectRef>
          <a:fontRef idx="minor">
            <a:schemeClr val="lt1"/>
          </a:fontRef>
        </p:style>
        <p:txBody>
          <a:bodyPr/>
          <a:lstStyle/>
          <a:p>
            <a:pPr algn="ctr" eaLnBrk="0" hangingPunct="0"/>
            <a:r>
              <a:rPr lang="en-GB" sz="1400" b="1" dirty="0">
                <a:solidFill>
                  <a:schemeClr val="tx1"/>
                </a:solidFill>
              </a:rPr>
              <a:t>Ultimate super class for all types</a:t>
            </a:r>
          </a:p>
        </p:txBody>
      </p:sp>
      <p:sp>
        <p:nvSpPr>
          <p:cNvPr id="9" name="AutoShape 22">
            <a:extLst>
              <a:ext uri="{FF2B5EF4-FFF2-40B4-BE49-F238E27FC236}">
                <a16:creationId xmlns:a16="http://schemas.microsoft.com/office/drawing/2014/main" id="{9170E6F3-0577-EAB1-9FB8-9FAD78B2336A}"/>
              </a:ext>
            </a:extLst>
          </p:cNvPr>
          <p:cNvSpPr>
            <a:spLocks/>
          </p:cNvSpPr>
          <p:nvPr/>
        </p:nvSpPr>
        <p:spPr bwMode="auto">
          <a:xfrm>
            <a:off x="8273496" y="2604251"/>
            <a:ext cx="2762496" cy="744537"/>
          </a:xfrm>
          <a:prstGeom prst="borderCallout2">
            <a:avLst>
              <a:gd name="adj1" fmla="val 15352"/>
              <a:gd name="adj2" fmla="val -3444"/>
              <a:gd name="adj3" fmla="val 15352"/>
              <a:gd name="adj4" fmla="val -25056"/>
              <a:gd name="adj5" fmla="val 87847"/>
              <a:gd name="adj6" fmla="val -47523"/>
            </a:avLst>
          </a:prstGeom>
          <a:solidFill>
            <a:schemeClr val="accent5">
              <a:lumMod val="20000"/>
              <a:lumOff val="80000"/>
            </a:schemeClr>
          </a:solidFill>
          <a:ln>
            <a:noFill/>
            <a:headEnd/>
            <a:tailEnd/>
          </a:ln>
        </p:spPr>
        <p:style>
          <a:lnRef idx="1">
            <a:schemeClr val="accent1"/>
          </a:lnRef>
          <a:fillRef idx="3">
            <a:schemeClr val="accent1"/>
          </a:fillRef>
          <a:effectRef idx="2">
            <a:schemeClr val="accent1"/>
          </a:effectRef>
          <a:fontRef idx="minor">
            <a:schemeClr val="lt1"/>
          </a:fontRef>
        </p:style>
        <p:txBody>
          <a:bodyPr/>
          <a:lstStyle/>
          <a:p>
            <a:pPr algn="ctr" eaLnBrk="0" hangingPunct="0"/>
            <a:r>
              <a:rPr lang="en-GB" sz="1400" b="1" dirty="0">
                <a:solidFill>
                  <a:schemeClr val="tx1"/>
                </a:solidFill>
              </a:rPr>
              <a:t>Super class of all</a:t>
            </a:r>
          </a:p>
          <a:p>
            <a:pPr algn="ctr" eaLnBrk="0" hangingPunct="0"/>
            <a:r>
              <a:rPr lang="en-GB" sz="1400" b="1" dirty="0">
                <a:solidFill>
                  <a:schemeClr val="tx1"/>
                </a:solidFill>
              </a:rPr>
              <a:t>Shape types</a:t>
            </a:r>
          </a:p>
        </p:txBody>
      </p:sp>
      <p:sp>
        <p:nvSpPr>
          <p:cNvPr id="10" name="Arrow: Left 9">
            <a:extLst>
              <a:ext uri="{FF2B5EF4-FFF2-40B4-BE49-F238E27FC236}">
                <a16:creationId xmlns:a16="http://schemas.microsoft.com/office/drawing/2014/main" id="{B1BC2232-F498-7443-9867-D4BA39C87C33}"/>
              </a:ext>
            </a:extLst>
          </p:cNvPr>
          <p:cNvSpPr/>
          <p:nvPr/>
        </p:nvSpPr>
        <p:spPr>
          <a:xfrm>
            <a:off x="7486351" y="1686428"/>
            <a:ext cx="802988" cy="199387"/>
          </a:xfrm>
          <a:prstGeom prst="leftArrow">
            <a:avLst/>
          </a:prstGeom>
          <a:solidFill>
            <a:schemeClr val="accent1">
              <a:lumMod val="50000"/>
            </a:schemeClr>
          </a:solidFill>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en-GB" dirty="0"/>
          </a:p>
        </p:txBody>
      </p:sp>
      <p:sp>
        <p:nvSpPr>
          <p:cNvPr id="11" name="Arrow: Left 10">
            <a:extLst>
              <a:ext uri="{FF2B5EF4-FFF2-40B4-BE49-F238E27FC236}">
                <a16:creationId xmlns:a16="http://schemas.microsoft.com/office/drawing/2014/main" id="{32130767-9EDC-B8F5-7209-96EA2A3EA63A}"/>
              </a:ext>
            </a:extLst>
          </p:cNvPr>
          <p:cNvSpPr/>
          <p:nvPr/>
        </p:nvSpPr>
        <p:spPr>
          <a:xfrm>
            <a:off x="7544625" y="2883858"/>
            <a:ext cx="729989" cy="199387"/>
          </a:xfrm>
          <a:prstGeom prst="leftArrow">
            <a:avLst/>
          </a:prstGeom>
          <a:solidFill>
            <a:schemeClr val="accent1">
              <a:lumMod val="50000"/>
            </a:schemeClr>
          </a:solidFill>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en-GB" dirty="0"/>
          </a:p>
        </p:txBody>
      </p:sp>
      <p:sp>
        <p:nvSpPr>
          <p:cNvPr id="12" name="Arrow: Right 11">
            <a:extLst>
              <a:ext uri="{FF2B5EF4-FFF2-40B4-BE49-F238E27FC236}">
                <a16:creationId xmlns:a16="http://schemas.microsoft.com/office/drawing/2014/main" id="{C3D8F225-D679-AE4E-3E53-EE420ABF38F6}"/>
              </a:ext>
            </a:extLst>
          </p:cNvPr>
          <p:cNvSpPr/>
          <p:nvPr/>
        </p:nvSpPr>
        <p:spPr>
          <a:xfrm>
            <a:off x="2884969" y="4505465"/>
            <a:ext cx="304838" cy="237640"/>
          </a:xfrm>
          <a:prstGeom prst="rightArrow">
            <a:avLst/>
          </a:prstGeom>
          <a:solidFill>
            <a:schemeClr val="accent1">
              <a:lumMod val="50000"/>
            </a:schemeClr>
          </a:solidFill>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680872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2F4DF-1287-248A-2A1C-4B3EBA653179}"/>
              </a:ext>
            </a:extLst>
          </p:cNvPr>
          <p:cNvSpPr>
            <a:spLocks noGrp="1"/>
          </p:cNvSpPr>
          <p:nvPr>
            <p:ph type="ctrTitle"/>
          </p:nvPr>
        </p:nvSpPr>
        <p:spPr/>
        <p:txBody>
          <a:bodyPr/>
          <a:lstStyle/>
          <a:p>
            <a:r>
              <a:rPr lang="en-GB" dirty="0"/>
              <a:t>Specifying the base class</a:t>
            </a:r>
          </a:p>
        </p:txBody>
      </p:sp>
      <p:sp>
        <p:nvSpPr>
          <p:cNvPr id="4" name="Slide Number Placeholder 3">
            <a:extLst>
              <a:ext uri="{FF2B5EF4-FFF2-40B4-BE49-F238E27FC236}">
                <a16:creationId xmlns:a16="http://schemas.microsoft.com/office/drawing/2014/main" id="{DC0D4A9B-F218-81D3-BB8B-13451B64F04B}"/>
              </a:ext>
            </a:extLst>
          </p:cNvPr>
          <p:cNvSpPr>
            <a:spLocks noGrp="1"/>
          </p:cNvSpPr>
          <p:nvPr>
            <p:ph type="sldNum" sz="quarter" idx="12"/>
          </p:nvPr>
        </p:nvSpPr>
        <p:spPr>
          <a:xfrm>
            <a:off x="9365513" y="6436842"/>
            <a:ext cx="2743200" cy="365125"/>
          </a:xfrm>
        </p:spPr>
        <p:txBody>
          <a:bodyPr/>
          <a:lstStyle/>
          <a:p>
            <a:fld id="{F3469444-D02B-D446-9CF8-19DEDDE073D1}" type="slidenum">
              <a:rPr lang="en-US" smtClean="0"/>
              <a:pPr/>
              <a:t>6</a:t>
            </a:fld>
            <a:endParaRPr lang="en-US" dirty="0"/>
          </a:p>
        </p:txBody>
      </p:sp>
      <p:sp>
        <p:nvSpPr>
          <p:cNvPr id="5" name="Rectangle 4">
            <a:extLst>
              <a:ext uri="{FF2B5EF4-FFF2-40B4-BE49-F238E27FC236}">
                <a16:creationId xmlns:a16="http://schemas.microsoft.com/office/drawing/2014/main" id="{67446CB3-3281-1241-888A-1DA9E69946F7}"/>
              </a:ext>
            </a:extLst>
          </p:cNvPr>
          <p:cNvSpPr>
            <a:spLocks noChangeArrowheads="1"/>
          </p:cNvSpPr>
          <p:nvPr/>
        </p:nvSpPr>
        <p:spPr bwMode="auto">
          <a:xfrm>
            <a:off x="3695701" y="1474674"/>
            <a:ext cx="5757648" cy="1751762"/>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0" bIns="44450">
            <a:spAutoFit/>
          </a:bodyPr>
          <a:lstStyle/>
          <a:p>
            <a:pPr defTabSz="739775" eaLnBrk="0" hangingPunct="0">
              <a:tabLst>
                <a:tab pos="347663" algn="l"/>
                <a:tab pos="685800" algn="l"/>
                <a:tab pos="1033463" algn="l"/>
                <a:tab pos="1371600" algn="l"/>
                <a:tab pos="1719263" algn="l"/>
                <a:tab pos="2057400" algn="l"/>
                <a:tab pos="2405063" algn="l"/>
                <a:tab pos="2743200" algn="l"/>
              </a:tabLst>
              <a:defRPr/>
            </a:pPr>
            <a:r>
              <a:rPr lang="en-GB" b="1" dirty="0">
                <a:solidFill>
                  <a:srgbClr val="0000FF"/>
                </a:solidFill>
                <a:latin typeface="Consolas" panose="020B0609020204030204" pitchFamily="49" charset="0"/>
              </a:rPr>
              <a:t>public class</a:t>
            </a:r>
            <a:r>
              <a:rPr lang="en-GB" b="1" dirty="0">
                <a:latin typeface="Consolas" panose="020B0609020204030204" pitchFamily="49" charset="0"/>
              </a:rPr>
              <a:t> </a:t>
            </a:r>
            <a:r>
              <a:rPr lang="en-GB" b="1" dirty="0">
                <a:solidFill>
                  <a:srgbClr val="000000"/>
                </a:solidFill>
                <a:latin typeface="Consolas" panose="020B0609020204030204" pitchFamily="49" charset="0"/>
              </a:rPr>
              <a:t>Shape {</a:t>
            </a:r>
          </a:p>
          <a:p>
            <a:pPr defTabSz="739775" eaLnBrk="0" hangingPunct="0">
              <a:tabLst>
                <a:tab pos="347663" algn="l"/>
                <a:tab pos="685800" algn="l"/>
                <a:tab pos="1033463" algn="l"/>
                <a:tab pos="1371600" algn="l"/>
                <a:tab pos="1719263" algn="l"/>
                <a:tab pos="2057400" algn="l"/>
                <a:tab pos="2405063" algn="l"/>
                <a:tab pos="2743200" algn="l"/>
              </a:tabLst>
              <a:defRPr/>
            </a:pPr>
            <a:br>
              <a:rPr lang="en-GB" b="1" dirty="0">
                <a:solidFill>
                  <a:srgbClr val="0000FF"/>
                </a:solidFill>
                <a:latin typeface="Consolas" panose="020B0609020204030204" pitchFamily="49" charset="0"/>
              </a:rPr>
            </a:br>
            <a:r>
              <a:rPr lang="en-GB" b="1" dirty="0">
                <a:solidFill>
                  <a:srgbClr val="0000FF"/>
                </a:solidFill>
                <a:latin typeface="Consolas" panose="020B0609020204030204" pitchFamily="49" charset="0"/>
              </a:rPr>
              <a:t>  private </a:t>
            </a:r>
            <a:r>
              <a:rPr lang="en-GB" b="1" dirty="0">
                <a:solidFill>
                  <a:srgbClr val="000000"/>
                </a:solidFill>
                <a:latin typeface="Consolas" panose="020B0609020204030204" pitchFamily="49" charset="0"/>
              </a:rPr>
              <a:t>int x, y; </a:t>
            </a:r>
          </a:p>
          <a:p>
            <a:pPr defTabSz="739775" eaLnBrk="0" hangingPunct="0">
              <a:tabLst>
                <a:tab pos="347663" algn="l"/>
                <a:tab pos="685800" algn="l"/>
                <a:tab pos="1033463" algn="l"/>
                <a:tab pos="1371600" algn="l"/>
                <a:tab pos="1719263" algn="l"/>
                <a:tab pos="2057400" algn="l"/>
                <a:tab pos="2405063" algn="l"/>
                <a:tab pos="2743200" algn="l"/>
              </a:tabLst>
              <a:defRPr/>
            </a:pPr>
            <a:r>
              <a:rPr lang="en-GB" b="1" dirty="0">
                <a:solidFill>
                  <a:srgbClr val="000000"/>
                </a:solidFill>
                <a:latin typeface="Consolas" panose="020B0609020204030204" pitchFamily="49" charset="0"/>
              </a:rPr>
              <a:t>  </a:t>
            </a:r>
            <a:r>
              <a:rPr lang="en-GB" b="1" dirty="0">
                <a:solidFill>
                  <a:srgbClr val="0000FF"/>
                </a:solidFill>
                <a:latin typeface="Consolas" panose="020B0609020204030204" pitchFamily="49" charset="0"/>
              </a:rPr>
              <a:t>private </a:t>
            </a:r>
            <a:r>
              <a:rPr lang="en-GB" b="1" dirty="0">
                <a:solidFill>
                  <a:srgbClr val="000000"/>
                </a:solidFill>
                <a:latin typeface="Consolas" panose="020B0609020204030204" pitchFamily="49" charset="0"/>
              </a:rPr>
              <a:t>String colour;</a:t>
            </a:r>
            <a:br>
              <a:rPr lang="en-GB" b="1" dirty="0">
                <a:solidFill>
                  <a:srgbClr val="000000"/>
                </a:solidFill>
                <a:latin typeface="Consolas" panose="020B0609020204030204" pitchFamily="49" charset="0"/>
              </a:rPr>
            </a:br>
            <a:r>
              <a:rPr lang="en-GB" b="1" dirty="0">
                <a:solidFill>
                  <a:srgbClr val="000000"/>
                </a:solidFill>
                <a:latin typeface="Consolas" panose="020B0609020204030204" pitchFamily="49" charset="0"/>
              </a:rPr>
              <a:t>  ...</a:t>
            </a:r>
          </a:p>
          <a:p>
            <a:pPr defTabSz="739775" eaLnBrk="0" hangingPunct="0">
              <a:tabLst>
                <a:tab pos="347663" algn="l"/>
                <a:tab pos="685800" algn="l"/>
                <a:tab pos="1033463" algn="l"/>
                <a:tab pos="1371600" algn="l"/>
                <a:tab pos="1719263" algn="l"/>
                <a:tab pos="2057400" algn="l"/>
                <a:tab pos="2405063" algn="l"/>
                <a:tab pos="2743200" algn="l"/>
              </a:tabLst>
              <a:defRPr/>
            </a:pPr>
            <a:r>
              <a:rPr lang="en-GB" b="1" dirty="0">
                <a:solidFill>
                  <a:srgbClr val="000000"/>
                </a:solidFill>
                <a:latin typeface="Consolas" panose="020B0609020204030204" pitchFamily="49" charset="0"/>
              </a:rPr>
              <a:t>}</a:t>
            </a:r>
            <a:endParaRPr lang="en-GB" b="1" dirty="0">
              <a:solidFill>
                <a:srgbClr val="000046"/>
              </a:solidFill>
              <a:latin typeface="Consolas" panose="020B0609020204030204" pitchFamily="49" charset="0"/>
            </a:endParaRPr>
          </a:p>
        </p:txBody>
      </p:sp>
      <p:sp>
        <p:nvSpPr>
          <p:cNvPr id="6" name="Rectangle 5">
            <a:extLst>
              <a:ext uri="{FF2B5EF4-FFF2-40B4-BE49-F238E27FC236}">
                <a16:creationId xmlns:a16="http://schemas.microsoft.com/office/drawing/2014/main" id="{779BA3F3-01C3-0D6D-697A-40D08042F13E}"/>
              </a:ext>
            </a:extLst>
          </p:cNvPr>
          <p:cNvSpPr>
            <a:spLocks noChangeArrowheads="1"/>
          </p:cNvSpPr>
          <p:nvPr/>
        </p:nvSpPr>
        <p:spPr bwMode="auto">
          <a:xfrm>
            <a:off x="3695701" y="3463661"/>
            <a:ext cx="5757648" cy="3136756"/>
          </a:xfrm>
          <a:prstGeom prst="rect">
            <a:avLst/>
          </a:prstGeom>
          <a:solidFill>
            <a:srgbClr val="FDFDFD"/>
          </a:solidFill>
          <a:ln w="19050">
            <a:solidFill>
              <a:schemeClr val="bg1">
                <a:lumMod val="95000"/>
              </a:schemeClr>
            </a:solidFill>
            <a:miter lim="800000"/>
            <a:headEnd/>
            <a:tailEnd/>
          </a:ln>
          <a:effectLst>
            <a:outerShdw blurRad="50800" dist="38100" algn="l" rotWithShape="0">
              <a:prstClr val="black">
                <a:alpha val="40000"/>
              </a:prstClr>
            </a:outerShdw>
          </a:effectLst>
        </p:spPr>
        <p:txBody>
          <a:bodyPr wrap="square" lIns="90488" tIns="44450" rIns="0" bIns="44450">
            <a:spAutoFit/>
          </a:bodyPr>
          <a:lstStyle/>
          <a:p>
            <a:pPr defTabSz="739775" eaLnBrk="0" hangingPunct="0">
              <a:tabLst>
                <a:tab pos="347663" algn="l"/>
                <a:tab pos="685800" algn="l"/>
                <a:tab pos="1033463" algn="l"/>
                <a:tab pos="1371600" algn="l"/>
                <a:tab pos="1719263" algn="l"/>
                <a:tab pos="2057400" algn="l"/>
                <a:tab pos="2405063" algn="l"/>
                <a:tab pos="2743200" algn="l"/>
              </a:tabLst>
              <a:defRPr/>
            </a:pPr>
            <a:r>
              <a:rPr lang="en-GB" b="1" dirty="0">
                <a:solidFill>
                  <a:srgbClr val="0000FF"/>
                </a:solidFill>
                <a:latin typeface="Consolas" panose="020B0609020204030204" pitchFamily="49" charset="0"/>
              </a:rPr>
              <a:t>public class</a:t>
            </a:r>
            <a:r>
              <a:rPr lang="en-GB" b="1" dirty="0">
                <a:latin typeface="Consolas" panose="020B0609020204030204" pitchFamily="49" charset="0"/>
              </a:rPr>
              <a:t> </a:t>
            </a:r>
            <a:r>
              <a:rPr lang="en-GB" b="1" dirty="0">
                <a:solidFill>
                  <a:srgbClr val="000000"/>
                </a:solidFill>
                <a:latin typeface="Consolas" panose="020B0609020204030204" pitchFamily="49" charset="0"/>
              </a:rPr>
              <a:t>Rectangle </a:t>
            </a:r>
            <a:r>
              <a:rPr lang="en-GB" b="1" dirty="0">
                <a:solidFill>
                  <a:srgbClr val="FF3300"/>
                </a:solidFill>
                <a:latin typeface="Consolas" panose="020B0609020204030204" pitchFamily="49" charset="0"/>
              </a:rPr>
              <a:t>: Shape</a:t>
            </a:r>
            <a:r>
              <a:rPr lang="en-GB" b="1" dirty="0">
                <a:solidFill>
                  <a:srgbClr val="000000"/>
                </a:solidFill>
                <a:latin typeface="Consolas" panose="020B0609020204030204" pitchFamily="49" charset="0"/>
              </a:rPr>
              <a:t> {</a:t>
            </a:r>
          </a:p>
          <a:p>
            <a:pPr defTabSz="739775" eaLnBrk="0" hangingPunct="0">
              <a:tabLst>
                <a:tab pos="347663" algn="l"/>
                <a:tab pos="685800" algn="l"/>
                <a:tab pos="1033463" algn="l"/>
                <a:tab pos="1371600" algn="l"/>
                <a:tab pos="1719263" algn="l"/>
                <a:tab pos="2057400" algn="l"/>
                <a:tab pos="2405063" algn="l"/>
                <a:tab pos="2743200" algn="l"/>
              </a:tabLst>
              <a:defRPr/>
            </a:pPr>
            <a:r>
              <a:rPr lang="en-GB" b="1" dirty="0">
                <a:solidFill>
                  <a:srgbClr val="000000"/>
                </a:solidFill>
                <a:latin typeface="Consolas" panose="020B0609020204030204" pitchFamily="49" charset="0"/>
              </a:rPr>
              <a:t>	... </a:t>
            </a:r>
            <a:endParaRPr lang="en-GB" b="1" dirty="0">
              <a:solidFill>
                <a:srgbClr val="008000"/>
              </a:solidFill>
              <a:latin typeface="Consolas" panose="020B0609020204030204" pitchFamily="49" charset="0"/>
            </a:endParaRPr>
          </a:p>
          <a:p>
            <a:pPr defTabSz="739775" eaLnBrk="0" hangingPunct="0">
              <a:tabLst>
                <a:tab pos="347663" algn="l"/>
                <a:tab pos="685800" algn="l"/>
                <a:tab pos="1033463" algn="l"/>
                <a:tab pos="1371600" algn="l"/>
                <a:tab pos="1719263" algn="l"/>
                <a:tab pos="2057400" algn="l"/>
                <a:tab pos="2405063" algn="l"/>
                <a:tab pos="2743200" algn="l"/>
              </a:tabLst>
              <a:defRPr/>
            </a:pPr>
            <a:r>
              <a:rPr lang="en-GB" b="1" dirty="0">
                <a:solidFill>
                  <a:srgbClr val="000000"/>
                </a:solidFill>
                <a:latin typeface="Consolas" panose="020B0609020204030204" pitchFamily="49" charset="0"/>
              </a:rPr>
              <a:t>}</a:t>
            </a:r>
          </a:p>
          <a:p>
            <a:pPr defTabSz="739775" eaLnBrk="0" hangingPunct="0">
              <a:tabLst>
                <a:tab pos="347663" algn="l"/>
                <a:tab pos="685800" algn="l"/>
                <a:tab pos="1033463" algn="l"/>
                <a:tab pos="1371600" algn="l"/>
                <a:tab pos="1719263" algn="l"/>
                <a:tab pos="2057400" algn="l"/>
                <a:tab pos="2405063" algn="l"/>
                <a:tab pos="2743200" algn="l"/>
              </a:tabLst>
              <a:defRPr/>
            </a:pPr>
            <a:endParaRPr lang="en-GB" b="1" dirty="0">
              <a:solidFill>
                <a:srgbClr val="000000"/>
              </a:solidFill>
              <a:latin typeface="Consolas" panose="020B0609020204030204" pitchFamily="49" charset="0"/>
            </a:endParaRPr>
          </a:p>
          <a:p>
            <a:pPr defTabSz="739775" eaLnBrk="0" hangingPunct="0">
              <a:tabLst>
                <a:tab pos="347663" algn="l"/>
                <a:tab pos="685800" algn="l"/>
                <a:tab pos="1033463" algn="l"/>
                <a:tab pos="1371600" algn="l"/>
                <a:tab pos="1719263" algn="l"/>
                <a:tab pos="2057400" algn="l"/>
                <a:tab pos="2405063" algn="l"/>
                <a:tab pos="2743200" algn="l"/>
              </a:tabLst>
              <a:defRPr/>
            </a:pPr>
            <a:r>
              <a:rPr lang="en-GB" b="1" dirty="0">
                <a:solidFill>
                  <a:srgbClr val="0000FF"/>
                </a:solidFill>
                <a:latin typeface="Consolas" panose="020B0609020204030204" pitchFamily="49" charset="0"/>
              </a:rPr>
              <a:t>public class</a:t>
            </a:r>
            <a:r>
              <a:rPr lang="en-GB" b="1" dirty="0">
                <a:solidFill>
                  <a:srgbClr val="000000"/>
                </a:solidFill>
                <a:latin typeface="Consolas" panose="020B0609020204030204" pitchFamily="49" charset="0"/>
              </a:rPr>
              <a:t> Ellipse </a:t>
            </a:r>
            <a:r>
              <a:rPr lang="en-GB" b="1" dirty="0">
                <a:solidFill>
                  <a:srgbClr val="FF3300"/>
                </a:solidFill>
                <a:latin typeface="Consolas" panose="020B0609020204030204" pitchFamily="49" charset="0"/>
              </a:rPr>
              <a:t>: Shape</a:t>
            </a:r>
            <a:r>
              <a:rPr lang="en-GB" b="1" dirty="0">
                <a:solidFill>
                  <a:srgbClr val="000000"/>
                </a:solidFill>
                <a:latin typeface="Consolas" panose="020B0609020204030204" pitchFamily="49" charset="0"/>
              </a:rPr>
              <a:t> {</a:t>
            </a:r>
          </a:p>
          <a:p>
            <a:pPr defTabSz="739775" eaLnBrk="0" hangingPunct="0">
              <a:tabLst>
                <a:tab pos="347663" algn="l"/>
                <a:tab pos="685800" algn="l"/>
                <a:tab pos="1033463" algn="l"/>
                <a:tab pos="1371600" algn="l"/>
                <a:tab pos="1719263" algn="l"/>
                <a:tab pos="2057400" algn="l"/>
                <a:tab pos="2405063" algn="l"/>
                <a:tab pos="2743200" algn="l"/>
              </a:tabLst>
              <a:defRPr/>
            </a:pPr>
            <a:r>
              <a:rPr lang="en-GB" b="1" dirty="0">
                <a:solidFill>
                  <a:srgbClr val="000000"/>
                </a:solidFill>
                <a:latin typeface="Consolas" panose="020B0609020204030204" pitchFamily="49" charset="0"/>
              </a:rPr>
              <a:t>	... </a:t>
            </a:r>
            <a:endParaRPr lang="en-GB" b="1" dirty="0">
              <a:solidFill>
                <a:srgbClr val="008000"/>
              </a:solidFill>
              <a:latin typeface="Consolas" panose="020B0609020204030204" pitchFamily="49" charset="0"/>
            </a:endParaRPr>
          </a:p>
          <a:p>
            <a:pPr defTabSz="739775" eaLnBrk="0" hangingPunct="0">
              <a:tabLst>
                <a:tab pos="347663" algn="l"/>
                <a:tab pos="685800" algn="l"/>
                <a:tab pos="1033463" algn="l"/>
                <a:tab pos="1371600" algn="l"/>
                <a:tab pos="1719263" algn="l"/>
                <a:tab pos="2057400" algn="l"/>
                <a:tab pos="2405063" algn="l"/>
                <a:tab pos="2743200" algn="l"/>
              </a:tabLst>
              <a:defRPr/>
            </a:pPr>
            <a:r>
              <a:rPr lang="en-GB" b="1" dirty="0">
                <a:solidFill>
                  <a:srgbClr val="000000"/>
                </a:solidFill>
                <a:latin typeface="Consolas" panose="020B0609020204030204" pitchFamily="49" charset="0"/>
              </a:rPr>
              <a:t>} </a:t>
            </a:r>
          </a:p>
          <a:p>
            <a:pPr defTabSz="739775" eaLnBrk="0" hangingPunct="0">
              <a:tabLst>
                <a:tab pos="347663" algn="l"/>
                <a:tab pos="685800" algn="l"/>
                <a:tab pos="1033463" algn="l"/>
                <a:tab pos="1371600" algn="l"/>
                <a:tab pos="1719263" algn="l"/>
                <a:tab pos="2057400" algn="l"/>
                <a:tab pos="2405063" algn="l"/>
                <a:tab pos="2743200" algn="l"/>
              </a:tabLst>
              <a:defRPr/>
            </a:pPr>
            <a:endParaRPr lang="en-GB" b="1" dirty="0">
              <a:solidFill>
                <a:srgbClr val="000000"/>
              </a:solidFill>
              <a:latin typeface="Consolas" panose="020B0609020204030204" pitchFamily="49" charset="0"/>
            </a:endParaRPr>
          </a:p>
          <a:p>
            <a:pPr defTabSz="739775" eaLnBrk="0" hangingPunct="0">
              <a:tabLst>
                <a:tab pos="347663" algn="l"/>
                <a:tab pos="685800" algn="l"/>
                <a:tab pos="1033463" algn="l"/>
                <a:tab pos="1371600" algn="l"/>
                <a:tab pos="1719263" algn="l"/>
                <a:tab pos="2057400" algn="l"/>
                <a:tab pos="2405063" algn="l"/>
                <a:tab pos="2743200" algn="l"/>
              </a:tabLst>
              <a:defRPr/>
            </a:pPr>
            <a:r>
              <a:rPr lang="en-GB" b="1" dirty="0">
                <a:solidFill>
                  <a:srgbClr val="0000FF"/>
                </a:solidFill>
                <a:latin typeface="Consolas" panose="020B0609020204030204" pitchFamily="49" charset="0"/>
              </a:rPr>
              <a:t>public class</a:t>
            </a:r>
            <a:r>
              <a:rPr lang="en-GB" b="1" dirty="0">
                <a:solidFill>
                  <a:srgbClr val="000000"/>
                </a:solidFill>
                <a:latin typeface="Consolas" panose="020B0609020204030204" pitchFamily="49" charset="0"/>
              </a:rPr>
              <a:t> Circle </a:t>
            </a:r>
            <a:r>
              <a:rPr lang="en-GB" b="1" dirty="0">
                <a:solidFill>
                  <a:srgbClr val="FF3300"/>
                </a:solidFill>
                <a:latin typeface="Consolas" panose="020B0609020204030204" pitchFamily="49" charset="0"/>
              </a:rPr>
              <a:t>: Ellipse</a:t>
            </a:r>
            <a:r>
              <a:rPr lang="en-GB" b="1" dirty="0">
                <a:solidFill>
                  <a:srgbClr val="000000"/>
                </a:solidFill>
                <a:latin typeface="Consolas" panose="020B0609020204030204" pitchFamily="49" charset="0"/>
              </a:rPr>
              <a:t> {</a:t>
            </a:r>
          </a:p>
          <a:p>
            <a:pPr defTabSz="739775" eaLnBrk="0" hangingPunct="0">
              <a:tabLst>
                <a:tab pos="347663" algn="l"/>
                <a:tab pos="685800" algn="l"/>
                <a:tab pos="1033463" algn="l"/>
                <a:tab pos="1371600" algn="l"/>
                <a:tab pos="1719263" algn="l"/>
                <a:tab pos="2057400" algn="l"/>
                <a:tab pos="2405063" algn="l"/>
                <a:tab pos="2743200" algn="l"/>
              </a:tabLst>
              <a:defRPr/>
            </a:pPr>
            <a:r>
              <a:rPr lang="en-GB" b="1" dirty="0">
                <a:solidFill>
                  <a:srgbClr val="000000"/>
                </a:solidFill>
                <a:latin typeface="Consolas" panose="020B0609020204030204" pitchFamily="49" charset="0"/>
              </a:rPr>
              <a:t>	... </a:t>
            </a:r>
            <a:endParaRPr lang="en-GB" b="1" dirty="0">
              <a:solidFill>
                <a:srgbClr val="008000"/>
              </a:solidFill>
              <a:latin typeface="Consolas" panose="020B0609020204030204" pitchFamily="49" charset="0"/>
            </a:endParaRPr>
          </a:p>
          <a:p>
            <a:pPr defTabSz="739775" eaLnBrk="0" hangingPunct="0">
              <a:tabLst>
                <a:tab pos="347663" algn="l"/>
                <a:tab pos="685800" algn="l"/>
                <a:tab pos="1033463" algn="l"/>
                <a:tab pos="1371600" algn="l"/>
                <a:tab pos="1719263" algn="l"/>
                <a:tab pos="2057400" algn="l"/>
                <a:tab pos="2405063" algn="l"/>
                <a:tab pos="2743200" algn="l"/>
              </a:tabLst>
              <a:defRPr/>
            </a:pPr>
            <a:r>
              <a:rPr lang="en-GB" b="1" dirty="0">
                <a:solidFill>
                  <a:srgbClr val="000000"/>
                </a:solidFill>
                <a:latin typeface="Consolas" panose="020B0609020204030204" pitchFamily="49" charset="0"/>
              </a:rPr>
              <a:t>}</a:t>
            </a:r>
            <a:endParaRPr lang="en-GB" b="1" dirty="0">
              <a:solidFill>
                <a:srgbClr val="000046"/>
              </a:solidFill>
              <a:latin typeface="Consolas" panose="020B0609020204030204" pitchFamily="49" charset="0"/>
            </a:endParaRPr>
          </a:p>
        </p:txBody>
      </p:sp>
      <p:sp>
        <p:nvSpPr>
          <p:cNvPr id="7" name="Rectangle 7">
            <a:extLst>
              <a:ext uri="{FF2B5EF4-FFF2-40B4-BE49-F238E27FC236}">
                <a16:creationId xmlns:a16="http://schemas.microsoft.com/office/drawing/2014/main" id="{1EB794AF-546F-F83B-FC9D-0BA7473F399A}"/>
              </a:ext>
            </a:extLst>
          </p:cNvPr>
          <p:cNvSpPr>
            <a:spLocks noChangeArrowheads="1"/>
          </p:cNvSpPr>
          <p:nvPr/>
        </p:nvSpPr>
        <p:spPr bwMode="auto">
          <a:xfrm>
            <a:off x="4911181" y="3902930"/>
            <a:ext cx="2888013" cy="305212"/>
          </a:xfrm>
          <a:prstGeom prst="rect">
            <a:avLst/>
          </a:prstGeom>
          <a:solidFill>
            <a:schemeClr val="bg1">
              <a:lumMod val="95000"/>
            </a:schemeClr>
          </a:solidFill>
          <a:ln>
            <a:noFill/>
            <a:headEnd/>
            <a:tailEnd/>
          </a:ln>
          <a:effectLst>
            <a:outerShdw blurRad="50800" dist="38100" algn="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lstStyle/>
          <a:p>
            <a:pPr algn="ctr" eaLnBrk="0" hangingPunct="0"/>
            <a:r>
              <a:rPr lang="en-GB" sz="1400" b="1" dirty="0">
                <a:solidFill>
                  <a:schemeClr val="tx1"/>
                </a:solidFill>
              </a:rPr>
              <a:t>Rectangle-specific members</a:t>
            </a:r>
          </a:p>
        </p:txBody>
      </p:sp>
      <p:sp>
        <p:nvSpPr>
          <p:cNvPr id="8" name="Rectangle 8">
            <a:extLst>
              <a:ext uri="{FF2B5EF4-FFF2-40B4-BE49-F238E27FC236}">
                <a16:creationId xmlns:a16="http://schemas.microsoft.com/office/drawing/2014/main" id="{469DE366-F5BE-D854-C953-3F961ADF77B0}"/>
              </a:ext>
            </a:extLst>
          </p:cNvPr>
          <p:cNvSpPr>
            <a:spLocks noChangeArrowheads="1"/>
          </p:cNvSpPr>
          <p:nvPr/>
        </p:nvSpPr>
        <p:spPr bwMode="auto">
          <a:xfrm>
            <a:off x="4911182" y="4976367"/>
            <a:ext cx="2888012" cy="305212"/>
          </a:xfrm>
          <a:prstGeom prst="rect">
            <a:avLst/>
          </a:prstGeom>
          <a:solidFill>
            <a:schemeClr val="bg1">
              <a:lumMod val="95000"/>
            </a:schemeClr>
          </a:solidFill>
          <a:ln>
            <a:noFill/>
            <a:headEnd/>
            <a:tailEnd/>
          </a:ln>
          <a:effectLst>
            <a:outerShdw blurRad="50800" dist="38100" algn="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lstStyle/>
          <a:p>
            <a:pPr algn="ctr" eaLnBrk="0" hangingPunct="0"/>
            <a:r>
              <a:rPr lang="en-GB" sz="1400" b="1" dirty="0">
                <a:solidFill>
                  <a:schemeClr val="tx1"/>
                </a:solidFill>
              </a:rPr>
              <a:t>Ellipse-specific members</a:t>
            </a:r>
          </a:p>
        </p:txBody>
      </p:sp>
      <p:sp>
        <p:nvSpPr>
          <p:cNvPr id="9" name="Rectangle 9">
            <a:extLst>
              <a:ext uri="{FF2B5EF4-FFF2-40B4-BE49-F238E27FC236}">
                <a16:creationId xmlns:a16="http://schemas.microsoft.com/office/drawing/2014/main" id="{21276522-61D7-5D18-D334-C909BB4959D7}"/>
              </a:ext>
            </a:extLst>
          </p:cNvPr>
          <p:cNvSpPr>
            <a:spLocks noChangeArrowheads="1"/>
          </p:cNvSpPr>
          <p:nvPr/>
        </p:nvSpPr>
        <p:spPr bwMode="auto">
          <a:xfrm>
            <a:off x="4922781" y="6100603"/>
            <a:ext cx="2877515" cy="305212"/>
          </a:xfrm>
          <a:prstGeom prst="rect">
            <a:avLst/>
          </a:prstGeom>
          <a:solidFill>
            <a:schemeClr val="bg1">
              <a:lumMod val="95000"/>
            </a:schemeClr>
          </a:solidFill>
          <a:ln>
            <a:noFill/>
            <a:headEnd/>
            <a:tailEnd/>
          </a:ln>
          <a:effectLst>
            <a:outerShdw blurRad="50800" dist="38100" algn="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lstStyle/>
          <a:p>
            <a:pPr algn="ctr" eaLnBrk="0" hangingPunct="0"/>
            <a:r>
              <a:rPr lang="en-GB" sz="1400" b="1" dirty="0">
                <a:solidFill>
                  <a:schemeClr val="tx1"/>
                </a:solidFill>
              </a:rPr>
              <a:t>Circle-specific members</a:t>
            </a:r>
          </a:p>
        </p:txBody>
      </p:sp>
      <p:sp>
        <p:nvSpPr>
          <p:cNvPr id="10" name="Rounded Rectangular Callout 2">
            <a:extLst>
              <a:ext uri="{FF2B5EF4-FFF2-40B4-BE49-F238E27FC236}">
                <a16:creationId xmlns:a16="http://schemas.microsoft.com/office/drawing/2014/main" id="{5D922C59-1A26-FD2B-F3F6-4668161EBE1B}"/>
              </a:ext>
            </a:extLst>
          </p:cNvPr>
          <p:cNvSpPr/>
          <p:nvPr/>
        </p:nvSpPr>
        <p:spPr>
          <a:xfrm>
            <a:off x="2103119" y="1742739"/>
            <a:ext cx="1188721" cy="608575"/>
          </a:xfrm>
          <a:prstGeom prst="wedgeRoundRectCallout">
            <a:avLst>
              <a:gd name="adj1" fmla="val 64402"/>
              <a:gd name="adj2" fmla="val -20577"/>
              <a:gd name="adj3" fmla="val 16667"/>
            </a:avLst>
          </a:prstGeom>
          <a:solidFill>
            <a:schemeClr val="bg1">
              <a:lumMod val="95000"/>
            </a:schemeClr>
          </a:solidFill>
          <a:ln>
            <a:noFill/>
            <a:headEnd/>
            <a:tailEnd/>
          </a:ln>
          <a:effectLst>
            <a:outerShdw blurRad="50800" dist="38100" algn="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lstStyle/>
          <a:p>
            <a:pPr algn="ctr" eaLnBrk="0" hangingPunct="0"/>
            <a:r>
              <a:rPr lang="en-GB" sz="1400" b="1" dirty="0">
                <a:solidFill>
                  <a:schemeClr val="tx1"/>
                </a:solidFill>
              </a:rPr>
              <a:t>Super class</a:t>
            </a:r>
          </a:p>
        </p:txBody>
      </p:sp>
      <p:sp>
        <p:nvSpPr>
          <p:cNvPr id="11" name="Rounded Rectangular Callout 11">
            <a:extLst>
              <a:ext uri="{FF2B5EF4-FFF2-40B4-BE49-F238E27FC236}">
                <a16:creationId xmlns:a16="http://schemas.microsoft.com/office/drawing/2014/main" id="{81878BD5-3A1D-6ADE-552D-B7F0E418FC67}"/>
              </a:ext>
            </a:extLst>
          </p:cNvPr>
          <p:cNvSpPr/>
          <p:nvPr/>
        </p:nvSpPr>
        <p:spPr>
          <a:xfrm>
            <a:off x="768096" y="3687921"/>
            <a:ext cx="2559115" cy="608575"/>
          </a:xfrm>
          <a:prstGeom prst="wedgeRoundRectCallout">
            <a:avLst>
              <a:gd name="adj1" fmla="val 64402"/>
              <a:gd name="adj2" fmla="val -20577"/>
              <a:gd name="adj3" fmla="val 16667"/>
            </a:avLst>
          </a:prstGeom>
          <a:solidFill>
            <a:schemeClr val="bg1">
              <a:lumMod val="95000"/>
            </a:schemeClr>
          </a:solidFill>
          <a:ln>
            <a:noFill/>
            <a:headEnd/>
            <a:tailEnd/>
          </a:ln>
          <a:effectLst>
            <a:outerShdw blurRad="50800" dist="38100" algn="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lstStyle/>
          <a:p>
            <a:pPr algn="ctr" eaLnBrk="0" hangingPunct="0"/>
            <a:r>
              <a:rPr lang="en-GB" sz="1400" b="1" dirty="0">
                <a:solidFill>
                  <a:schemeClr val="tx1"/>
                </a:solidFill>
              </a:rPr>
              <a:t>Sub classes extending the super class</a:t>
            </a:r>
          </a:p>
        </p:txBody>
      </p:sp>
    </p:spTree>
    <p:extLst>
      <p:ext uri="{BB962C8B-B14F-4D97-AF65-F5344CB8AC3E}">
        <p14:creationId xmlns:p14="http://schemas.microsoft.com/office/powerpoint/2010/main" val="16510860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4E232-88E9-2829-1C34-5A3EB6EC813D}"/>
              </a:ext>
            </a:extLst>
          </p:cNvPr>
          <p:cNvSpPr>
            <a:spLocks noGrp="1"/>
          </p:cNvSpPr>
          <p:nvPr>
            <p:ph type="ctrTitle"/>
          </p:nvPr>
        </p:nvSpPr>
        <p:spPr/>
        <p:txBody>
          <a:bodyPr/>
          <a:lstStyle/>
          <a:p>
            <a:r>
              <a:rPr lang="en-GB" sz="2800" dirty="0"/>
              <a:t>Sub class inherits all the super class fields</a:t>
            </a:r>
            <a:endParaRPr lang="en-GB" dirty="0"/>
          </a:p>
        </p:txBody>
      </p:sp>
      <p:sp>
        <p:nvSpPr>
          <p:cNvPr id="4" name="Slide Number Placeholder 3">
            <a:extLst>
              <a:ext uri="{FF2B5EF4-FFF2-40B4-BE49-F238E27FC236}">
                <a16:creationId xmlns:a16="http://schemas.microsoft.com/office/drawing/2014/main" id="{B13F8C5F-F8AA-E635-A69F-8B235ACA6193}"/>
              </a:ext>
            </a:extLst>
          </p:cNvPr>
          <p:cNvSpPr>
            <a:spLocks noGrp="1"/>
          </p:cNvSpPr>
          <p:nvPr>
            <p:ph type="sldNum" sz="quarter" idx="12"/>
          </p:nvPr>
        </p:nvSpPr>
        <p:spPr/>
        <p:txBody>
          <a:bodyPr/>
          <a:lstStyle/>
          <a:p>
            <a:fld id="{F3469444-D02B-D446-9CF8-19DEDDE073D1}" type="slidenum">
              <a:rPr lang="en-US" smtClean="0"/>
              <a:pPr/>
              <a:t>7</a:t>
            </a:fld>
            <a:endParaRPr lang="en-US" dirty="0"/>
          </a:p>
        </p:txBody>
      </p:sp>
      <p:sp>
        <p:nvSpPr>
          <p:cNvPr id="5" name="AutoShape 3">
            <a:extLst>
              <a:ext uri="{FF2B5EF4-FFF2-40B4-BE49-F238E27FC236}">
                <a16:creationId xmlns:a16="http://schemas.microsoft.com/office/drawing/2014/main" id="{964CEEA5-010D-817E-F464-AC5A698204D4}"/>
              </a:ext>
            </a:extLst>
          </p:cNvPr>
          <p:cNvSpPr>
            <a:spLocks noChangeArrowheads="1"/>
          </p:cNvSpPr>
          <p:nvPr/>
        </p:nvSpPr>
        <p:spPr bwMode="auto">
          <a:xfrm>
            <a:off x="7606975" y="4423284"/>
            <a:ext cx="2386013" cy="715963"/>
          </a:xfrm>
          <a:prstGeom prst="cube">
            <a:avLst>
              <a:gd name="adj" fmla="val 14116"/>
            </a:avLst>
          </a:prstGeom>
          <a:solidFill>
            <a:schemeClr val="hlink"/>
          </a:solidFill>
          <a:ln w="9525">
            <a:solidFill>
              <a:schemeClr val="tx1"/>
            </a:solidFill>
            <a:miter lim="800000"/>
            <a:headEnd/>
            <a:tailEnd/>
          </a:ln>
        </p:spPr>
        <p:txBody>
          <a:bodyPr wrap="none"/>
          <a:lstStyle/>
          <a:p>
            <a:pPr eaLnBrk="0" hangingPunct="0">
              <a:tabLst>
                <a:tab pos="1262063" algn="l"/>
              </a:tabLst>
            </a:pPr>
            <a:r>
              <a:rPr lang="en-GB" sz="1600" dirty="0">
                <a:solidFill>
                  <a:schemeClr val="bg1"/>
                </a:solidFill>
                <a:latin typeface="Consolas" panose="020B0609020204030204" pitchFamily="49" charset="0"/>
              </a:rPr>
              <a:t>width:	20</a:t>
            </a:r>
            <a:br>
              <a:rPr lang="en-GB" sz="1600" dirty="0">
                <a:solidFill>
                  <a:schemeClr val="bg1"/>
                </a:solidFill>
                <a:latin typeface="Consolas" panose="020B0609020204030204" pitchFamily="49" charset="0"/>
              </a:rPr>
            </a:br>
            <a:r>
              <a:rPr lang="en-GB" sz="1600" dirty="0">
                <a:solidFill>
                  <a:schemeClr val="bg1"/>
                </a:solidFill>
                <a:latin typeface="Consolas" panose="020B0609020204030204" pitchFamily="49" charset="0"/>
              </a:rPr>
              <a:t>height: 	10</a:t>
            </a:r>
          </a:p>
          <a:p>
            <a:pPr eaLnBrk="0" hangingPunct="0">
              <a:tabLst>
                <a:tab pos="1262063" algn="l"/>
              </a:tabLst>
            </a:pPr>
            <a:endParaRPr lang="en-GB" sz="1600" dirty="0">
              <a:solidFill>
                <a:srgbClr val="000000"/>
              </a:solidFill>
              <a:latin typeface="Consolas" panose="020B0609020204030204" pitchFamily="49" charset="0"/>
            </a:endParaRPr>
          </a:p>
        </p:txBody>
      </p:sp>
      <p:sp>
        <p:nvSpPr>
          <p:cNvPr id="6" name="Rectangle 5">
            <a:extLst>
              <a:ext uri="{FF2B5EF4-FFF2-40B4-BE49-F238E27FC236}">
                <a16:creationId xmlns:a16="http://schemas.microsoft.com/office/drawing/2014/main" id="{6B1A2880-08B3-0395-1A7E-376035C96C4A}"/>
              </a:ext>
            </a:extLst>
          </p:cNvPr>
          <p:cNvSpPr>
            <a:spLocks noChangeArrowheads="1"/>
          </p:cNvSpPr>
          <p:nvPr/>
        </p:nvSpPr>
        <p:spPr bwMode="auto">
          <a:xfrm>
            <a:off x="2472999" y="1614044"/>
            <a:ext cx="3938588" cy="1323975"/>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lIns="90488" tIns="44450" rIns="0" bIns="44450">
            <a:spAutoFit/>
          </a:bodyPr>
          <a:lstStyle/>
          <a:p>
            <a:pPr defTabSz="739775" eaLnBrk="0" hangingPunct="0">
              <a:tabLst>
                <a:tab pos="347663" algn="l"/>
                <a:tab pos="685800" algn="l"/>
                <a:tab pos="1033463" algn="l"/>
                <a:tab pos="1371600" algn="l"/>
                <a:tab pos="1719263" algn="l"/>
                <a:tab pos="2057400" algn="l"/>
                <a:tab pos="2405063" algn="l"/>
                <a:tab pos="2743200" algn="l"/>
              </a:tabLst>
              <a:defRPr/>
            </a:pPr>
            <a:r>
              <a:rPr lang="en-GB" sz="1600" b="1" dirty="0">
                <a:solidFill>
                  <a:srgbClr val="0000FF"/>
                </a:solidFill>
                <a:latin typeface="Consolas" panose="020B0609020204030204" pitchFamily="49" charset="0"/>
              </a:rPr>
              <a:t>public class</a:t>
            </a:r>
            <a:r>
              <a:rPr lang="en-GB" sz="1600" b="1" dirty="0">
                <a:latin typeface="Consolas" panose="020B0609020204030204" pitchFamily="49" charset="0"/>
              </a:rPr>
              <a:t> </a:t>
            </a:r>
            <a:r>
              <a:rPr lang="en-GB" sz="1600" b="1" dirty="0">
                <a:solidFill>
                  <a:srgbClr val="000000"/>
                </a:solidFill>
                <a:latin typeface="Consolas" panose="020B0609020204030204" pitchFamily="49" charset="0"/>
              </a:rPr>
              <a:t>Shape {</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b="1" dirty="0">
                <a:solidFill>
                  <a:srgbClr val="000000"/>
                </a:solidFill>
                <a:latin typeface="Consolas" panose="020B0609020204030204" pitchFamily="49" charset="0"/>
              </a:rPr>
              <a:t>  </a:t>
            </a:r>
            <a:r>
              <a:rPr lang="en-GB" sz="1600" b="1" dirty="0">
                <a:solidFill>
                  <a:srgbClr val="0000FF"/>
                </a:solidFill>
                <a:latin typeface="Consolas" panose="020B0609020204030204" pitchFamily="49" charset="0"/>
              </a:rPr>
              <a:t>private </a:t>
            </a:r>
            <a:r>
              <a:rPr lang="en-GB" sz="1600" b="1" dirty="0">
                <a:latin typeface="Consolas" panose="020B0609020204030204" pitchFamily="49" charset="0"/>
              </a:rPr>
              <a:t>int x, y</a:t>
            </a:r>
            <a:r>
              <a:rPr lang="en-GB" sz="1600" b="1" dirty="0">
                <a:solidFill>
                  <a:srgbClr val="000000"/>
                </a:solidFill>
                <a:latin typeface="Consolas" panose="020B0609020204030204" pitchFamily="49" charset="0"/>
              </a:rPr>
              <a:t>;</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b="1" dirty="0">
                <a:solidFill>
                  <a:srgbClr val="000000"/>
                </a:solidFill>
                <a:latin typeface="Consolas" panose="020B0609020204030204" pitchFamily="49" charset="0"/>
              </a:rPr>
              <a:t>  </a:t>
            </a:r>
            <a:r>
              <a:rPr lang="en-GB" sz="1600" b="1" dirty="0">
                <a:solidFill>
                  <a:srgbClr val="0000FF"/>
                </a:solidFill>
                <a:latin typeface="Consolas" panose="020B0609020204030204" pitchFamily="49" charset="0"/>
              </a:rPr>
              <a:t>private </a:t>
            </a:r>
            <a:r>
              <a:rPr lang="en-GB" sz="1600" b="1" dirty="0">
                <a:latin typeface="Consolas" panose="020B0609020204030204" pitchFamily="49" charset="0"/>
              </a:rPr>
              <a:t>String</a:t>
            </a:r>
            <a:r>
              <a:rPr lang="en-GB" sz="1600" b="1" dirty="0">
                <a:solidFill>
                  <a:srgbClr val="000000"/>
                </a:solidFill>
                <a:latin typeface="Consolas" panose="020B0609020204030204" pitchFamily="49" charset="0"/>
              </a:rPr>
              <a:t> colour;</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b="1" dirty="0">
                <a:solidFill>
                  <a:srgbClr val="000000"/>
                </a:solidFill>
                <a:latin typeface="Consolas" panose="020B0609020204030204" pitchFamily="49" charset="0"/>
              </a:rPr>
              <a:t>	...</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b="1" dirty="0">
                <a:solidFill>
                  <a:srgbClr val="000000"/>
                </a:solidFill>
                <a:latin typeface="Consolas" panose="020B0609020204030204" pitchFamily="49" charset="0"/>
              </a:rPr>
              <a:t>}</a:t>
            </a:r>
            <a:endParaRPr lang="en-GB" sz="1600" b="1" dirty="0">
              <a:solidFill>
                <a:srgbClr val="000046"/>
              </a:solidFill>
              <a:latin typeface="Consolas" panose="020B0609020204030204" pitchFamily="49" charset="0"/>
            </a:endParaRPr>
          </a:p>
        </p:txBody>
      </p:sp>
      <p:sp>
        <p:nvSpPr>
          <p:cNvPr id="7" name="Rectangle 6">
            <a:extLst>
              <a:ext uri="{FF2B5EF4-FFF2-40B4-BE49-F238E27FC236}">
                <a16:creationId xmlns:a16="http://schemas.microsoft.com/office/drawing/2014/main" id="{44C2AE5E-5DC4-57A4-43D2-DF2A0E839312}"/>
              </a:ext>
            </a:extLst>
          </p:cNvPr>
          <p:cNvSpPr>
            <a:spLocks noChangeArrowheads="1"/>
          </p:cNvSpPr>
          <p:nvPr/>
        </p:nvSpPr>
        <p:spPr bwMode="auto">
          <a:xfrm>
            <a:off x="2472998" y="3678388"/>
            <a:ext cx="4459606" cy="1320874"/>
          </a:xfrm>
          <a:prstGeom prst="rect">
            <a:avLst/>
          </a:prstGeom>
          <a:solidFill>
            <a:srgbClr val="FDFDFD"/>
          </a:solidFill>
          <a:ln w="19050">
            <a:noFill/>
            <a:miter lim="800000"/>
            <a:headEnd/>
            <a:tailEnd/>
          </a:ln>
          <a:effectLst>
            <a:outerShdw blurRad="50800" dist="38100" algn="l" rotWithShape="0">
              <a:prstClr val="black">
                <a:alpha val="40000"/>
              </a:prstClr>
            </a:outerShdw>
          </a:effectLst>
        </p:spPr>
        <p:txBody>
          <a:bodyPr wrap="square" lIns="90488" tIns="44450" rIns="0" bIns="44450">
            <a:spAutoFit/>
          </a:bodyPr>
          <a:lstStyle/>
          <a:p>
            <a:pPr defTabSz="739775" eaLnBrk="0" hangingPunct="0">
              <a:tabLst>
                <a:tab pos="347663" algn="l"/>
                <a:tab pos="685800" algn="l"/>
                <a:tab pos="1033463" algn="l"/>
                <a:tab pos="1371600" algn="l"/>
                <a:tab pos="1719263" algn="l"/>
                <a:tab pos="2057400" algn="l"/>
                <a:tab pos="2405063" algn="l"/>
                <a:tab pos="2743200" algn="l"/>
              </a:tabLst>
              <a:defRPr/>
            </a:pPr>
            <a:r>
              <a:rPr lang="en-GB" sz="1600" b="1" dirty="0">
                <a:solidFill>
                  <a:srgbClr val="0000FF"/>
                </a:solidFill>
                <a:latin typeface="Consolas" panose="020B0609020204030204" pitchFamily="49" charset="0"/>
              </a:rPr>
              <a:t>public class</a:t>
            </a:r>
            <a:r>
              <a:rPr lang="en-GB" sz="1600" b="1" dirty="0">
                <a:latin typeface="Consolas" panose="020B0609020204030204" pitchFamily="49" charset="0"/>
              </a:rPr>
              <a:t> </a:t>
            </a:r>
            <a:r>
              <a:rPr lang="en-GB" sz="1600" b="1" dirty="0">
                <a:solidFill>
                  <a:srgbClr val="000000"/>
                </a:solidFill>
                <a:latin typeface="Consolas" panose="020B0609020204030204" pitchFamily="49" charset="0"/>
              </a:rPr>
              <a:t>Ellipse </a:t>
            </a:r>
            <a:r>
              <a:rPr lang="en-GB" sz="1600" b="1" dirty="0">
                <a:solidFill>
                  <a:srgbClr val="0000C8"/>
                </a:solidFill>
                <a:latin typeface="Consolas" panose="020B0609020204030204" pitchFamily="49" charset="0"/>
              </a:rPr>
              <a:t>:</a:t>
            </a:r>
            <a:r>
              <a:rPr lang="en-GB" sz="1600" b="1" dirty="0">
                <a:solidFill>
                  <a:srgbClr val="000000"/>
                </a:solidFill>
                <a:latin typeface="Consolas" panose="020B0609020204030204" pitchFamily="49" charset="0"/>
              </a:rPr>
              <a:t> Shape {</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b="1" dirty="0">
                <a:solidFill>
                  <a:srgbClr val="000000"/>
                </a:solidFill>
                <a:latin typeface="Consolas" panose="020B0609020204030204" pitchFamily="49" charset="0"/>
              </a:rPr>
              <a:t>  </a:t>
            </a:r>
            <a:r>
              <a:rPr lang="en-GB" sz="1600" b="1" dirty="0">
                <a:solidFill>
                  <a:srgbClr val="0000FF"/>
                </a:solidFill>
                <a:latin typeface="Consolas" panose="020B0609020204030204" pitchFamily="49" charset="0"/>
              </a:rPr>
              <a:t>private int</a:t>
            </a:r>
            <a:r>
              <a:rPr lang="en-GB" sz="1600" b="1" dirty="0">
                <a:solidFill>
                  <a:srgbClr val="000000"/>
                </a:solidFill>
                <a:latin typeface="Consolas" panose="020B0609020204030204" pitchFamily="49" charset="0"/>
              </a:rPr>
              <a:t> width;</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b="1" dirty="0">
                <a:solidFill>
                  <a:srgbClr val="000000"/>
                </a:solidFill>
                <a:latin typeface="Consolas" panose="020B0609020204030204" pitchFamily="49" charset="0"/>
              </a:rPr>
              <a:t>  </a:t>
            </a:r>
            <a:r>
              <a:rPr lang="en-GB" sz="1600" b="1" dirty="0">
                <a:solidFill>
                  <a:srgbClr val="0000FF"/>
                </a:solidFill>
                <a:latin typeface="Consolas" panose="020B0609020204030204" pitchFamily="49" charset="0"/>
              </a:rPr>
              <a:t>private int</a:t>
            </a:r>
            <a:r>
              <a:rPr lang="en-GB" sz="1600" b="1" dirty="0">
                <a:solidFill>
                  <a:srgbClr val="000000"/>
                </a:solidFill>
                <a:latin typeface="Consolas" panose="020B0609020204030204" pitchFamily="49" charset="0"/>
              </a:rPr>
              <a:t> height;</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b="1" dirty="0">
                <a:solidFill>
                  <a:srgbClr val="000000"/>
                </a:solidFill>
                <a:latin typeface="Consolas" panose="020B0609020204030204" pitchFamily="49" charset="0"/>
              </a:rPr>
              <a:t>	...</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b="1" dirty="0">
                <a:solidFill>
                  <a:srgbClr val="000000"/>
                </a:solidFill>
                <a:latin typeface="Consolas" panose="020B0609020204030204" pitchFamily="49" charset="0"/>
              </a:rPr>
              <a:t>}</a:t>
            </a:r>
            <a:endParaRPr lang="en-GB" sz="1600" b="1" dirty="0">
              <a:solidFill>
                <a:srgbClr val="000046"/>
              </a:solidFill>
              <a:latin typeface="Consolas" panose="020B0609020204030204" pitchFamily="49" charset="0"/>
            </a:endParaRPr>
          </a:p>
        </p:txBody>
      </p:sp>
      <p:sp>
        <p:nvSpPr>
          <p:cNvPr id="8" name="AutoShape 7">
            <a:extLst>
              <a:ext uri="{FF2B5EF4-FFF2-40B4-BE49-F238E27FC236}">
                <a16:creationId xmlns:a16="http://schemas.microsoft.com/office/drawing/2014/main" id="{2B000FF7-F63F-BE4A-A252-2C422E5F0D53}"/>
              </a:ext>
            </a:extLst>
          </p:cNvPr>
          <p:cNvSpPr>
            <a:spLocks noChangeArrowheads="1"/>
          </p:cNvSpPr>
          <p:nvPr/>
        </p:nvSpPr>
        <p:spPr bwMode="auto">
          <a:xfrm>
            <a:off x="7606975" y="2334134"/>
            <a:ext cx="2386013" cy="715963"/>
          </a:xfrm>
          <a:prstGeom prst="cube">
            <a:avLst>
              <a:gd name="adj" fmla="val 14116"/>
            </a:avLst>
          </a:prstGeom>
          <a:ln>
            <a:headEnd/>
            <a:tailEnd/>
          </a:ln>
        </p:spPr>
        <p:style>
          <a:lnRef idx="1">
            <a:schemeClr val="accent5"/>
          </a:lnRef>
          <a:fillRef idx="2">
            <a:schemeClr val="accent5"/>
          </a:fillRef>
          <a:effectRef idx="1">
            <a:schemeClr val="accent5"/>
          </a:effectRef>
          <a:fontRef idx="minor">
            <a:schemeClr val="dk1"/>
          </a:fontRef>
        </p:style>
        <p:txBody>
          <a:bodyPr wrap="none"/>
          <a:lstStyle/>
          <a:p>
            <a:pPr eaLnBrk="0" hangingPunct="0">
              <a:tabLst>
                <a:tab pos="1262063" algn="l"/>
              </a:tabLst>
            </a:pPr>
            <a:r>
              <a:rPr lang="en-GB" sz="1600" dirty="0">
                <a:solidFill>
                  <a:srgbClr val="000000"/>
                </a:solidFill>
                <a:latin typeface="Consolas" panose="020B0609020204030204" pitchFamily="49" charset="0"/>
              </a:rPr>
              <a:t>X &amp; y:	10, 10</a:t>
            </a:r>
            <a:br>
              <a:rPr lang="en-GB" sz="1600" dirty="0">
                <a:solidFill>
                  <a:srgbClr val="000000"/>
                </a:solidFill>
                <a:latin typeface="Consolas" panose="020B0609020204030204" pitchFamily="49" charset="0"/>
              </a:rPr>
            </a:br>
            <a:r>
              <a:rPr lang="en-GB" sz="1600" dirty="0">
                <a:solidFill>
                  <a:srgbClr val="000000"/>
                </a:solidFill>
                <a:latin typeface="Consolas" panose="020B0609020204030204" pitchFamily="49" charset="0"/>
              </a:rPr>
              <a:t>colour: 	Green</a:t>
            </a:r>
          </a:p>
        </p:txBody>
      </p:sp>
      <p:sp>
        <p:nvSpPr>
          <p:cNvPr id="9" name="AutoShape 8">
            <a:extLst>
              <a:ext uri="{FF2B5EF4-FFF2-40B4-BE49-F238E27FC236}">
                <a16:creationId xmlns:a16="http://schemas.microsoft.com/office/drawing/2014/main" id="{ECADC3BB-AC16-BF13-4085-033794337B0F}"/>
              </a:ext>
            </a:extLst>
          </p:cNvPr>
          <p:cNvSpPr>
            <a:spLocks noChangeArrowheads="1"/>
          </p:cNvSpPr>
          <p:nvPr/>
        </p:nvSpPr>
        <p:spPr bwMode="auto">
          <a:xfrm>
            <a:off x="7606975" y="3815271"/>
            <a:ext cx="2386013" cy="715962"/>
          </a:xfrm>
          <a:prstGeom prst="cube">
            <a:avLst>
              <a:gd name="adj" fmla="val 14116"/>
            </a:avLst>
          </a:prstGeom>
          <a:ln>
            <a:headEnd/>
            <a:tailEnd/>
          </a:ln>
        </p:spPr>
        <p:style>
          <a:lnRef idx="1">
            <a:schemeClr val="accent5"/>
          </a:lnRef>
          <a:fillRef idx="2">
            <a:schemeClr val="accent5"/>
          </a:fillRef>
          <a:effectRef idx="1">
            <a:schemeClr val="accent5"/>
          </a:effectRef>
          <a:fontRef idx="minor">
            <a:schemeClr val="dk1"/>
          </a:fontRef>
        </p:style>
        <p:txBody>
          <a:bodyPr wrap="none"/>
          <a:lstStyle/>
          <a:p>
            <a:pPr eaLnBrk="0" hangingPunct="0">
              <a:tabLst>
                <a:tab pos="1262063" algn="l"/>
              </a:tabLst>
            </a:pPr>
            <a:r>
              <a:rPr lang="en-GB" sz="1600" dirty="0">
                <a:solidFill>
                  <a:srgbClr val="000000"/>
                </a:solidFill>
                <a:latin typeface="Consolas" panose="020B0609020204030204" pitchFamily="49" charset="0"/>
              </a:rPr>
              <a:t>X &amp; y:	10, 10</a:t>
            </a:r>
            <a:br>
              <a:rPr lang="en-GB" sz="1600" dirty="0">
                <a:solidFill>
                  <a:srgbClr val="000000"/>
                </a:solidFill>
                <a:latin typeface="Consolas" panose="020B0609020204030204" pitchFamily="49" charset="0"/>
              </a:rPr>
            </a:br>
            <a:r>
              <a:rPr lang="en-GB" sz="1600" dirty="0">
                <a:solidFill>
                  <a:srgbClr val="000000"/>
                </a:solidFill>
                <a:latin typeface="Consolas" panose="020B0609020204030204" pitchFamily="49" charset="0"/>
              </a:rPr>
              <a:t>colour: 	Green</a:t>
            </a:r>
          </a:p>
          <a:p>
            <a:pPr eaLnBrk="0" hangingPunct="0">
              <a:tabLst>
                <a:tab pos="1262063" algn="l"/>
              </a:tabLst>
            </a:pPr>
            <a:endParaRPr lang="en-GB" sz="1600" dirty="0">
              <a:solidFill>
                <a:srgbClr val="000000"/>
              </a:solidFill>
              <a:latin typeface="Consolas" panose="020B0609020204030204" pitchFamily="49" charset="0"/>
            </a:endParaRPr>
          </a:p>
        </p:txBody>
      </p:sp>
      <p:sp>
        <p:nvSpPr>
          <p:cNvPr id="10" name="AutoShape 9">
            <a:extLst>
              <a:ext uri="{FF2B5EF4-FFF2-40B4-BE49-F238E27FC236}">
                <a16:creationId xmlns:a16="http://schemas.microsoft.com/office/drawing/2014/main" id="{3BE837E0-BE32-8EE9-DE84-E577F81EB896}"/>
              </a:ext>
            </a:extLst>
          </p:cNvPr>
          <p:cNvSpPr>
            <a:spLocks/>
          </p:cNvSpPr>
          <p:nvPr/>
        </p:nvSpPr>
        <p:spPr bwMode="auto">
          <a:xfrm>
            <a:off x="10200950" y="2524869"/>
            <a:ext cx="1789480" cy="374650"/>
          </a:xfrm>
          <a:prstGeom prst="borderCallout2">
            <a:avLst>
              <a:gd name="adj1" fmla="val 30509"/>
              <a:gd name="adj2" fmla="val -4593"/>
              <a:gd name="adj3" fmla="val 30509"/>
              <a:gd name="adj4" fmla="val -29472"/>
              <a:gd name="adj5" fmla="val 138560"/>
              <a:gd name="adj6" fmla="val -55407"/>
            </a:avLst>
          </a:prstGeom>
          <a:solidFill>
            <a:schemeClr val="bg1">
              <a:lumMod val="95000"/>
            </a:schemeClr>
          </a:solidFill>
          <a:ln>
            <a:noFill/>
          </a:ln>
          <a:effectLst>
            <a:outerShdw blurRad="50800" dist="38100" algn="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a:lstStyle/>
          <a:p>
            <a:pPr eaLnBrk="0" hangingPunct="0">
              <a:defRPr/>
            </a:pPr>
            <a:r>
              <a:rPr lang="en-GB" dirty="0">
                <a:solidFill>
                  <a:schemeClr val="tx1"/>
                </a:solidFill>
              </a:rPr>
              <a:t>Shape object</a:t>
            </a:r>
          </a:p>
        </p:txBody>
      </p:sp>
      <p:sp>
        <p:nvSpPr>
          <p:cNvPr id="11" name="AutoShape 10">
            <a:extLst>
              <a:ext uri="{FF2B5EF4-FFF2-40B4-BE49-F238E27FC236}">
                <a16:creationId xmlns:a16="http://schemas.microsoft.com/office/drawing/2014/main" id="{6F94C0B9-FDD6-4DFD-0A3C-755A9EA9D6C7}"/>
              </a:ext>
            </a:extLst>
          </p:cNvPr>
          <p:cNvSpPr>
            <a:spLocks/>
          </p:cNvSpPr>
          <p:nvPr/>
        </p:nvSpPr>
        <p:spPr bwMode="auto">
          <a:xfrm>
            <a:off x="10200950" y="3877183"/>
            <a:ext cx="1789480" cy="374650"/>
          </a:xfrm>
          <a:prstGeom prst="borderCallout2">
            <a:avLst>
              <a:gd name="adj1" fmla="val 30509"/>
              <a:gd name="adj2" fmla="val -4593"/>
              <a:gd name="adj3" fmla="val 30509"/>
              <a:gd name="adj4" fmla="val -29472"/>
              <a:gd name="adj5" fmla="val 138560"/>
              <a:gd name="adj6" fmla="val -55407"/>
            </a:avLst>
          </a:prstGeom>
          <a:solidFill>
            <a:schemeClr val="bg1">
              <a:lumMod val="95000"/>
            </a:schemeClr>
          </a:solidFill>
          <a:ln>
            <a:noFill/>
          </a:ln>
          <a:effectLst>
            <a:outerShdw blurRad="50800" dist="38100" algn="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a:lstStyle/>
          <a:p>
            <a:pPr eaLnBrk="0" hangingPunct="0">
              <a:defRPr/>
            </a:pPr>
            <a:r>
              <a:rPr lang="en-GB" dirty="0">
                <a:solidFill>
                  <a:schemeClr val="tx1"/>
                </a:solidFill>
              </a:rPr>
              <a:t>Ellipse object</a:t>
            </a:r>
          </a:p>
        </p:txBody>
      </p:sp>
      <p:sp>
        <p:nvSpPr>
          <p:cNvPr id="12" name="AutoShape 11">
            <a:extLst>
              <a:ext uri="{FF2B5EF4-FFF2-40B4-BE49-F238E27FC236}">
                <a16:creationId xmlns:a16="http://schemas.microsoft.com/office/drawing/2014/main" id="{BA1386C3-5047-FB75-DE6D-54868FEE1892}"/>
              </a:ext>
            </a:extLst>
          </p:cNvPr>
          <p:cNvSpPr>
            <a:spLocks/>
          </p:cNvSpPr>
          <p:nvPr/>
        </p:nvSpPr>
        <p:spPr bwMode="auto">
          <a:xfrm>
            <a:off x="5954388" y="2232534"/>
            <a:ext cx="98425" cy="557213"/>
          </a:xfrm>
          <a:prstGeom prst="rightBrace">
            <a:avLst>
              <a:gd name="adj1" fmla="val 47177"/>
              <a:gd name="adj2" fmla="val 50000"/>
            </a:avLst>
          </a:prstGeom>
          <a:noFill/>
          <a:ln w="19050">
            <a:solidFill>
              <a:schemeClr val="tx1"/>
            </a:solidFill>
            <a:prstDash val="sysDot"/>
            <a:round/>
            <a:headEnd/>
            <a:tailEnd/>
          </a:ln>
        </p:spPr>
        <p:txBody>
          <a:bodyPr wrap="none" anchor="ctr"/>
          <a:lstStyle/>
          <a:p>
            <a:pPr eaLnBrk="0" hangingPunct="0">
              <a:spcBef>
                <a:spcPct val="50000"/>
              </a:spcBef>
            </a:pPr>
            <a:endParaRPr lang="en-US" dirty="0"/>
          </a:p>
        </p:txBody>
      </p:sp>
      <p:sp>
        <p:nvSpPr>
          <p:cNvPr id="13" name="AutoShape 12">
            <a:extLst>
              <a:ext uri="{FF2B5EF4-FFF2-40B4-BE49-F238E27FC236}">
                <a16:creationId xmlns:a16="http://schemas.microsoft.com/office/drawing/2014/main" id="{0B510303-6D07-B39E-300E-B6AB6C92BE8D}"/>
              </a:ext>
            </a:extLst>
          </p:cNvPr>
          <p:cNvSpPr>
            <a:spLocks/>
          </p:cNvSpPr>
          <p:nvPr/>
        </p:nvSpPr>
        <p:spPr bwMode="auto">
          <a:xfrm flipH="1">
            <a:off x="7408538" y="3974021"/>
            <a:ext cx="98425" cy="557212"/>
          </a:xfrm>
          <a:prstGeom prst="rightBrace">
            <a:avLst>
              <a:gd name="adj1" fmla="val 47177"/>
              <a:gd name="adj2" fmla="val 50000"/>
            </a:avLst>
          </a:prstGeom>
          <a:noFill/>
          <a:ln w="19050">
            <a:solidFill>
              <a:schemeClr val="tx1"/>
            </a:solidFill>
            <a:prstDash val="sysDot"/>
            <a:round/>
            <a:headEnd/>
            <a:tailEnd/>
          </a:ln>
        </p:spPr>
        <p:txBody>
          <a:bodyPr wrap="none" anchor="ctr"/>
          <a:lstStyle/>
          <a:p>
            <a:pPr eaLnBrk="0" hangingPunct="0">
              <a:spcBef>
                <a:spcPct val="50000"/>
              </a:spcBef>
            </a:pPr>
            <a:endParaRPr lang="en-US" dirty="0"/>
          </a:p>
        </p:txBody>
      </p:sp>
      <p:cxnSp>
        <p:nvCxnSpPr>
          <p:cNvPr id="14" name="AutoShape 13">
            <a:extLst>
              <a:ext uri="{FF2B5EF4-FFF2-40B4-BE49-F238E27FC236}">
                <a16:creationId xmlns:a16="http://schemas.microsoft.com/office/drawing/2014/main" id="{08F34042-9C12-0740-EEC3-7E4AD939664C}"/>
              </a:ext>
            </a:extLst>
          </p:cNvPr>
          <p:cNvCxnSpPr>
            <a:cxnSpLocks noChangeShapeType="1"/>
            <a:stCxn id="12" idx="1"/>
            <a:endCxn id="13" idx="1"/>
          </p:cNvCxnSpPr>
          <p:nvPr/>
        </p:nvCxnSpPr>
        <p:spPr bwMode="auto">
          <a:xfrm>
            <a:off x="6062338" y="2511933"/>
            <a:ext cx="1336675" cy="1739900"/>
          </a:xfrm>
          <a:prstGeom prst="bentConnector3">
            <a:avLst>
              <a:gd name="adj1" fmla="val 50000"/>
            </a:avLst>
          </a:prstGeom>
          <a:noFill/>
          <a:ln w="19050">
            <a:solidFill>
              <a:schemeClr val="tx1"/>
            </a:solidFill>
            <a:prstDash val="sysDot"/>
            <a:miter lim="800000"/>
            <a:headEnd/>
            <a:tailEnd/>
          </a:ln>
        </p:spPr>
      </p:cxnSp>
      <p:sp>
        <p:nvSpPr>
          <p:cNvPr id="15" name="Rounded Rectangle 2">
            <a:extLst>
              <a:ext uri="{FF2B5EF4-FFF2-40B4-BE49-F238E27FC236}">
                <a16:creationId xmlns:a16="http://schemas.microsoft.com/office/drawing/2014/main" id="{7680F8A2-59A3-EF27-A90E-651E36F916A5}"/>
              </a:ext>
            </a:extLst>
          </p:cNvPr>
          <p:cNvSpPr/>
          <p:nvPr/>
        </p:nvSpPr>
        <p:spPr>
          <a:xfrm>
            <a:off x="1294411" y="5820161"/>
            <a:ext cx="6685808" cy="435366"/>
          </a:xfrm>
          <a:prstGeom prst="roundRect">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r>
              <a:rPr lang="en-GB" sz="2000" b="1" dirty="0">
                <a:solidFill>
                  <a:schemeClr val="bg1"/>
                </a:solidFill>
              </a:rPr>
              <a:t>A sub type is a kind of super type</a:t>
            </a:r>
          </a:p>
        </p:txBody>
      </p:sp>
      <p:sp>
        <p:nvSpPr>
          <p:cNvPr id="16" name="Speech Bubble: Rectangle with Corners Rounded 15">
            <a:extLst>
              <a:ext uri="{FF2B5EF4-FFF2-40B4-BE49-F238E27FC236}">
                <a16:creationId xmlns:a16="http://schemas.microsoft.com/office/drawing/2014/main" id="{E83A1D27-2E05-C602-9BE7-78A9B8773853}"/>
              </a:ext>
            </a:extLst>
          </p:cNvPr>
          <p:cNvSpPr/>
          <p:nvPr/>
        </p:nvSpPr>
        <p:spPr>
          <a:xfrm>
            <a:off x="457200" y="1949117"/>
            <a:ext cx="1873388" cy="988902"/>
          </a:xfrm>
          <a:prstGeom prst="wedgeRoundRectCallout">
            <a:avLst>
              <a:gd name="adj1" fmla="val 61796"/>
              <a:gd name="adj2" fmla="val -28214"/>
              <a:gd name="adj3" fmla="val 16667"/>
            </a:avLst>
          </a:prstGeom>
          <a:solidFill>
            <a:schemeClr val="bg1">
              <a:lumMod val="95000"/>
            </a:schemeClr>
          </a:solidFill>
          <a:ln>
            <a:noFill/>
          </a:ln>
          <a:effectLst>
            <a:outerShdw blurRad="50800" dist="38100" algn="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r>
              <a:rPr lang="en-GB" sz="1600" b="1" dirty="0">
                <a:solidFill>
                  <a:schemeClr val="tx1"/>
                </a:solidFill>
              </a:rPr>
              <a:t>Can be exposed via public getters</a:t>
            </a:r>
          </a:p>
        </p:txBody>
      </p:sp>
    </p:spTree>
    <p:extLst>
      <p:ext uri="{BB962C8B-B14F-4D97-AF65-F5344CB8AC3E}">
        <p14:creationId xmlns:p14="http://schemas.microsoft.com/office/powerpoint/2010/main" val="35071276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3F05C-53A1-B153-63A3-AA1C3BFA4B93}"/>
              </a:ext>
            </a:extLst>
          </p:cNvPr>
          <p:cNvSpPr>
            <a:spLocks noGrp="1"/>
          </p:cNvSpPr>
          <p:nvPr>
            <p:ph type="ctrTitle"/>
          </p:nvPr>
        </p:nvSpPr>
        <p:spPr>
          <a:xfrm>
            <a:off x="443923" y="310626"/>
            <a:ext cx="11303577" cy="858985"/>
          </a:xfrm>
        </p:spPr>
        <p:txBody>
          <a:bodyPr/>
          <a:lstStyle/>
          <a:p>
            <a:r>
              <a:rPr lang="en-GB" dirty="0"/>
              <a:t>Constructing the derived objects</a:t>
            </a:r>
          </a:p>
        </p:txBody>
      </p:sp>
      <p:sp>
        <p:nvSpPr>
          <p:cNvPr id="4" name="Slide Number Placeholder 3">
            <a:extLst>
              <a:ext uri="{FF2B5EF4-FFF2-40B4-BE49-F238E27FC236}">
                <a16:creationId xmlns:a16="http://schemas.microsoft.com/office/drawing/2014/main" id="{946AC9AF-8D2F-54BF-FEEA-7BA5843B4827}"/>
              </a:ext>
            </a:extLst>
          </p:cNvPr>
          <p:cNvSpPr>
            <a:spLocks noGrp="1"/>
          </p:cNvSpPr>
          <p:nvPr>
            <p:ph type="sldNum" sz="quarter" idx="12"/>
          </p:nvPr>
        </p:nvSpPr>
        <p:spPr/>
        <p:txBody>
          <a:bodyPr/>
          <a:lstStyle/>
          <a:p>
            <a:fld id="{F3469444-D02B-D446-9CF8-19DEDDE073D1}" type="slidenum">
              <a:rPr lang="en-US" smtClean="0"/>
              <a:pPr/>
              <a:t>8</a:t>
            </a:fld>
            <a:endParaRPr lang="en-US" dirty="0"/>
          </a:p>
        </p:txBody>
      </p:sp>
      <p:sp>
        <p:nvSpPr>
          <p:cNvPr id="5" name="Rectangle 3">
            <a:extLst>
              <a:ext uri="{FF2B5EF4-FFF2-40B4-BE49-F238E27FC236}">
                <a16:creationId xmlns:a16="http://schemas.microsoft.com/office/drawing/2014/main" id="{4D5520FA-F7DD-E153-A1EA-B4742AB984C7}"/>
              </a:ext>
            </a:extLst>
          </p:cNvPr>
          <p:cNvSpPr txBox="1">
            <a:spLocks noChangeArrowheads="1"/>
          </p:cNvSpPr>
          <p:nvPr/>
        </p:nvSpPr>
        <p:spPr>
          <a:xfrm>
            <a:off x="443923" y="1368256"/>
            <a:ext cx="10822176" cy="1489244"/>
          </a:xfrm>
          <a:prstGeom prst="rect">
            <a:avLst/>
          </a:prstGeom>
        </p:spPr>
        <p:txBody>
          <a:bodyPr vert="horz"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r>
              <a:rPr lang="en-GB" b="1" dirty="0"/>
              <a:t>Base class constructors </a:t>
            </a:r>
            <a:r>
              <a:rPr lang="en-GB" b="1" dirty="0">
                <a:solidFill>
                  <a:srgbClr val="F3622C"/>
                </a:solidFill>
              </a:rPr>
              <a:t>are not </a:t>
            </a:r>
            <a:r>
              <a:rPr lang="en-GB" b="1" dirty="0"/>
              <a:t>inherited.</a:t>
            </a:r>
          </a:p>
          <a:p>
            <a:pPr marL="684000" lvl="1" indent="-342900">
              <a:buSzPct val="115000"/>
            </a:pPr>
            <a:r>
              <a:rPr lang="en-GB" dirty="0"/>
              <a:t>But default constructor of the base class is called. </a:t>
            </a:r>
          </a:p>
          <a:p>
            <a:pPr marL="342900" indent="-342900"/>
            <a:r>
              <a:rPr lang="en-GB" b="1" dirty="0"/>
              <a:t>You can invoke base class constructor.</a:t>
            </a:r>
          </a:p>
          <a:p>
            <a:pPr marL="684000" lvl="1" indent="-342900">
              <a:buSzPct val="115000"/>
            </a:pPr>
            <a:r>
              <a:rPr lang="en-GB" dirty="0"/>
              <a:t>This is </a:t>
            </a:r>
            <a:r>
              <a:rPr lang="en-GB" b="1" dirty="0">
                <a:solidFill>
                  <a:srgbClr val="F3622C"/>
                </a:solidFill>
              </a:rPr>
              <a:t>mandatory</a:t>
            </a:r>
            <a:r>
              <a:rPr lang="en-GB" dirty="0"/>
              <a:t> if there is no default (no argument) constructor in the base class.</a:t>
            </a:r>
          </a:p>
        </p:txBody>
      </p:sp>
      <p:pic>
        <p:nvPicPr>
          <p:cNvPr id="6" name="Picture 5" descr="A UML class diagram illustrating derived objects. The diagram contains two classes: 'Shape' and 'Ellipse'. An arrow points from 'Ellipse' to 'Shape', indicating that 'Ellipse' is a derived (subclass) of 'Shape'. Inside the 'Ellipse' class, there is a small right arrow with the word 'Shape' underneath the word 'Class', suggesting that 'Ellipse' is inheriting from 'Shape' and referencing it as its base class.">
            <a:extLst>
              <a:ext uri="{FF2B5EF4-FFF2-40B4-BE49-F238E27FC236}">
                <a16:creationId xmlns:a16="http://schemas.microsoft.com/office/drawing/2014/main" id="{AF81C426-9441-EB98-6CF1-D19C81D2AA0C}"/>
              </a:ext>
            </a:extLst>
          </p:cNvPr>
          <p:cNvPicPr>
            <a:picLocks noChangeAspect="1"/>
          </p:cNvPicPr>
          <p:nvPr/>
        </p:nvPicPr>
        <p:blipFill>
          <a:blip r:embed="rId3"/>
          <a:stretch>
            <a:fillRect/>
          </a:stretch>
        </p:blipFill>
        <p:spPr>
          <a:xfrm>
            <a:off x="895147" y="3254790"/>
            <a:ext cx="2592636" cy="3260677"/>
          </a:xfrm>
          <a:prstGeom prst="rect">
            <a:avLst/>
          </a:prstGeom>
        </p:spPr>
      </p:pic>
      <p:sp>
        <p:nvSpPr>
          <p:cNvPr id="7" name="Oval 6" descr="Ellipse">
            <a:extLst>
              <a:ext uri="{FF2B5EF4-FFF2-40B4-BE49-F238E27FC236}">
                <a16:creationId xmlns:a16="http://schemas.microsoft.com/office/drawing/2014/main" id="{5E23AA75-205F-E785-C546-7C7F12BD302C}"/>
              </a:ext>
            </a:extLst>
          </p:cNvPr>
          <p:cNvSpPr/>
          <p:nvPr/>
        </p:nvSpPr>
        <p:spPr>
          <a:xfrm>
            <a:off x="7807495" y="3295650"/>
            <a:ext cx="3489357" cy="3009900"/>
          </a:xfrm>
          <a:prstGeom prst="ellipse">
            <a:avLst/>
          </a:prstGeom>
          <a:ln w="1905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en-GB" sz="1600" dirty="0">
              <a:solidFill>
                <a:schemeClr val="tx1"/>
              </a:solidFill>
              <a:latin typeface="Arial" pitchFamily="34" charset="0"/>
              <a:cs typeface="Arial" pitchFamily="34" charset="0"/>
            </a:endParaRPr>
          </a:p>
        </p:txBody>
      </p:sp>
      <p:sp>
        <p:nvSpPr>
          <p:cNvPr id="8" name="Oval 7" descr="Shape">
            <a:extLst>
              <a:ext uri="{FF2B5EF4-FFF2-40B4-BE49-F238E27FC236}">
                <a16:creationId xmlns:a16="http://schemas.microsoft.com/office/drawing/2014/main" id="{B00814D6-C4B0-BA11-0805-377544DC3A6F}"/>
              </a:ext>
            </a:extLst>
          </p:cNvPr>
          <p:cNvSpPr/>
          <p:nvPr/>
        </p:nvSpPr>
        <p:spPr>
          <a:xfrm>
            <a:off x="8802452" y="4056561"/>
            <a:ext cx="1428750" cy="1428750"/>
          </a:xfrm>
          <a:prstGeom prst="ellipse">
            <a:avLst/>
          </a:prstGeom>
          <a:solidFill>
            <a:schemeClr val="accent1">
              <a:lumMod val="20000"/>
              <a:lumOff val="80000"/>
            </a:schemeClr>
          </a:solidFill>
          <a:ln w="19050"/>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900" b="1" dirty="0">
                <a:solidFill>
                  <a:schemeClr val="tx1"/>
                </a:solidFill>
                <a:cs typeface="Arial" pitchFamily="34" charset="0"/>
              </a:rPr>
              <a:t>Shape</a:t>
            </a:r>
          </a:p>
        </p:txBody>
      </p:sp>
      <p:sp>
        <p:nvSpPr>
          <p:cNvPr id="9" name="TextBox 8">
            <a:extLst>
              <a:ext uri="{FF2B5EF4-FFF2-40B4-BE49-F238E27FC236}">
                <a16:creationId xmlns:a16="http://schemas.microsoft.com/office/drawing/2014/main" id="{81EED097-6FFF-3639-9BB5-75D2280DC86C}"/>
              </a:ext>
            </a:extLst>
          </p:cNvPr>
          <p:cNvSpPr txBox="1"/>
          <p:nvPr/>
        </p:nvSpPr>
        <p:spPr>
          <a:xfrm>
            <a:off x="8859602" y="3219450"/>
            <a:ext cx="1261884" cy="400110"/>
          </a:xfrm>
          <a:prstGeom prst="rect">
            <a:avLst/>
          </a:prstGeom>
          <a:solidFill>
            <a:srgbClr val="FDE0D5"/>
          </a:solidFill>
          <a:ln w="19050">
            <a:noFill/>
          </a:ln>
          <a:effectLst>
            <a:outerShdw blurRad="50800" dist="38100" algn="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wrap="none" rtlCol="0">
            <a:spAutoFit/>
          </a:bodyPr>
          <a:lstStyle/>
          <a:p>
            <a:r>
              <a:rPr lang="en-GB" sz="2000" b="1" dirty="0">
                <a:latin typeface="Courier New" pitchFamily="49" charset="0"/>
                <a:cs typeface="Courier New" pitchFamily="49" charset="0"/>
              </a:rPr>
              <a:t>Ellipse</a:t>
            </a:r>
          </a:p>
        </p:txBody>
      </p:sp>
      <p:sp>
        <p:nvSpPr>
          <p:cNvPr id="10" name="Speech Bubble: Rectangle with Corners Rounded 9">
            <a:extLst>
              <a:ext uri="{FF2B5EF4-FFF2-40B4-BE49-F238E27FC236}">
                <a16:creationId xmlns:a16="http://schemas.microsoft.com/office/drawing/2014/main" id="{C7A5F898-407C-9BF7-46B3-8FB724CD6243}"/>
              </a:ext>
            </a:extLst>
          </p:cNvPr>
          <p:cNvSpPr/>
          <p:nvPr/>
        </p:nvSpPr>
        <p:spPr>
          <a:xfrm>
            <a:off x="4331370" y="4095750"/>
            <a:ext cx="3266572" cy="1116330"/>
          </a:xfrm>
          <a:prstGeom prst="wedgeRoundRectCallout">
            <a:avLst>
              <a:gd name="adj1" fmla="val 55425"/>
              <a:gd name="adj2" fmla="val -23768"/>
              <a:gd name="adj3" fmla="val 16667"/>
            </a:avLst>
          </a:prstGeom>
          <a:ln/>
        </p:spPr>
        <p:style>
          <a:lnRef idx="3">
            <a:schemeClr val="lt1"/>
          </a:lnRef>
          <a:fillRef idx="1">
            <a:schemeClr val="accent1"/>
          </a:fillRef>
          <a:effectRef idx="1">
            <a:schemeClr val="accent1"/>
          </a:effectRef>
          <a:fontRef idx="minor">
            <a:schemeClr val="lt1"/>
          </a:fontRef>
        </p:style>
        <p:txBody>
          <a:bodyPr rtlCol="0" anchor="ctr"/>
          <a:lstStyle/>
          <a:p>
            <a:pPr algn="ctr"/>
            <a:r>
              <a:rPr lang="en-GB" sz="1600" b="1" dirty="0">
                <a:cs typeface="Courier New" pitchFamily="49" charset="0"/>
              </a:rPr>
              <a:t>Before constructing an Ellipse, must construct the Shape object within</a:t>
            </a:r>
          </a:p>
        </p:txBody>
      </p:sp>
    </p:spTree>
    <p:extLst>
      <p:ext uri="{BB962C8B-B14F-4D97-AF65-F5344CB8AC3E}">
        <p14:creationId xmlns:p14="http://schemas.microsoft.com/office/powerpoint/2010/main" val="25376280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GB" dirty="0"/>
              <a:t>Derived class constructor</a:t>
            </a:r>
          </a:p>
        </p:txBody>
      </p:sp>
      <p:sp>
        <p:nvSpPr>
          <p:cNvPr id="8" name="Rectangle 6"/>
          <p:cNvSpPr>
            <a:spLocks noChangeArrowheads="1"/>
          </p:cNvSpPr>
          <p:nvPr/>
        </p:nvSpPr>
        <p:spPr bwMode="auto">
          <a:xfrm>
            <a:off x="1845274" y="6237614"/>
            <a:ext cx="8440059" cy="366767"/>
          </a:xfrm>
          <a:prstGeom prst="rect">
            <a:avLst/>
          </a:prstGeom>
          <a:ln>
            <a:noFill/>
            <a:headEnd/>
            <a:tailEnd/>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90488" tIns="44450" rIns="0" bIns="44450">
            <a:spAutoFit/>
          </a:bodyPr>
          <a:lstStyle/>
          <a:p>
            <a:pPr defTabSz="739775" eaLnBrk="0" hangingPunct="0">
              <a:tabLst>
                <a:tab pos="347663" algn="l"/>
                <a:tab pos="685800" algn="l"/>
                <a:tab pos="1033463" algn="l"/>
                <a:tab pos="1371600" algn="l"/>
                <a:tab pos="1719263" algn="l"/>
                <a:tab pos="2057400" algn="l"/>
                <a:tab pos="2405063" algn="l"/>
                <a:tab pos="2743200" algn="l"/>
              </a:tabLst>
              <a:defRPr/>
            </a:pPr>
            <a:r>
              <a:rPr lang="en-GB" dirty="0">
                <a:solidFill>
                  <a:srgbClr val="000000"/>
                </a:solidFill>
                <a:latin typeface="Lucida Console" pitchFamily="49" charset="0"/>
              </a:rPr>
              <a:t>Ellipse e1 = </a:t>
            </a:r>
            <a:r>
              <a:rPr lang="en-GB" dirty="0">
                <a:solidFill>
                  <a:srgbClr val="0000C8"/>
                </a:solidFill>
                <a:latin typeface="Lucida Console" pitchFamily="49" charset="0"/>
              </a:rPr>
              <a:t>new</a:t>
            </a:r>
            <a:r>
              <a:rPr lang="en-GB" dirty="0">
                <a:solidFill>
                  <a:srgbClr val="000000"/>
                </a:solidFill>
                <a:latin typeface="Lucida Console" pitchFamily="49" charset="0"/>
              </a:rPr>
              <a:t> Ellipse(4,7, 23, 24, "RED");</a:t>
            </a:r>
          </a:p>
        </p:txBody>
      </p:sp>
      <p:sp>
        <p:nvSpPr>
          <p:cNvPr id="2" name="Rectangle 1"/>
          <p:cNvSpPr/>
          <p:nvPr/>
        </p:nvSpPr>
        <p:spPr>
          <a:xfrm>
            <a:off x="1832919" y="1308864"/>
            <a:ext cx="8452414" cy="2308324"/>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b="1" dirty="0">
                <a:solidFill>
                  <a:srgbClr val="7F0055"/>
                </a:solidFill>
                <a:latin typeface="Consolas" panose="020B0609020204030204" pitchFamily="49" charset="0"/>
              </a:rPr>
              <a:t>class</a:t>
            </a:r>
            <a:r>
              <a:rPr lang="en-GB" sz="1600" b="1" dirty="0">
                <a:solidFill>
                  <a:srgbClr val="000000"/>
                </a:solidFill>
                <a:latin typeface="Consolas" panose="020B0609020204030204" pitchFamily="49" charset="0"/>
              </a:rPr>
              <a:t> Shape {</a:t>
            </a:r>
          </a:p>
          <a:p>
            <a:r>
              <a:rPr lang="en-GB" sz="1600" b="1" dirty="0">
                <a:solidFill>
                  <a:srgbClr val="7F0055"/>
                </a:solidFill>
                <a:latin typeface="Consolas" panose="020B0609020204030204" pitchFamily="49" charset="0"/>
              </a:rPr>
              <a:t>  private</a:t>
            </a:r>
            <a:r>
              <a:rPr lang="en-GB" sz="1600" b="1" dirty="0">
                <a:solidFill>
                  <a:srgbClr val="000000"/>
                </a:solidFill>
                <a:latin typeface="Consolas" panose="020B0609020204030204" pitchFamily="49" charset="0"/>
              </a:rPr>
              <a:t> int </a:t>
            </a:r>
            <a:r>
              <a:rPr lang="en-GB" sz="1600" b="1" dirty="0">
                <a:solidFill>
                  <a:srgbClr val="0000C0"/>
                </a:solidFill>
                <a:latin typeface="Consolas" panose="020B0609020204030204" pitchFamily="49" charset="0"/>
              </a:rPr>
              <a:t>x, y</a:t>
            </a:r>
            <a:r>
              <a:rPr lang="en-GB" sz="1600" b="1" dirty="0">
                <a:solidFill>
                  <a:srgbClr val="000000"/>
                </a:solidFill>
                <a:latin typeface="Consolas" panose="020B0609020204030204" pitchFamily="49" charset="0"/>
              </a:rPr>
              <a:t>;</a:t>
            </a:r>
            <a:endParaRPr lang="en-GB" sz="1600" b="1" dirty="0">
              <a:solidFill>
                <a:srgbClr val="0000C0"/>
              </a:solidFill>
              <a:latin typeface="Consolas" panose="020B0609020204030204" pitchFamily="49" charset="0"/>
            </a:endParaRPr>
          </a:p>
          <a:p>
            <a:r>
              <a:rPr lang="en-GB" sz="1600" b="1" dirty="0">
                <a:solidFill>
                  <a:srgbClr val="7F0055"/>
                </a:solidFill>
                <a:latin typeface="Consolas" panose="020B0609020204030204" pitchFamily="49" charset="0"/>
              </a:rPr>
              <a:t>  private</a:t>
            </a:r>
            <a:r>
              <a:rPr lang="en-GB" sz="1600" b="1" dirty="0">
                <a:solidFill>
                  <a:srgbClr val="000000"/>
                </a:solidFill>
                <a:latin typeface="Consolas" panose="020B0609020204030204" pitchFamily="49" charset="0"/>
              </a:rPr>
              <a:t> String </a:t>
            </a:r>
            <a:r>
              <a:rPr lang="en-GB" sz="1600" b="1" dirty="0">
                <a:solidFill>
                  <a:srgbClr val="0000C0"/>
                </a:solidFill>
                <a:latin typeface="Consolas" panose="020B0609020204030204" pitchFamily="49" charset="0"/>
              </a:rPr>
              <a:t>colour</a:t>
            </a:r>
            <a:r>
              <a:rPr lang="en-GB" sz="1600" b="1" dirty="0">
                <a:solidFill>
                  <a:srgbClr val="000000"/>
                </a:solidFill>
                <a:latin typeface="Consolas" panose="020B0609020204030204" pitchFamily="49" charset="0"/>
              </a:rPr>
              <a:t>;</a:t>
            </a:r>
          </a:p>
          <a:p>
            <a:endParaRPr lang="en-GB" sz="1600" dirty="0">
              <a:latin typeface="Consolas" panose="020B0609020204030204" pitchFamily="49" charset="0"/>
            </a:endParaRPr>
          </a:p>
          <a:p>
            <a:r>
              <a:rPr lang="en-GB" sz="1600" b="1" dirty="0">
                <a:solidFill>
                  <a:srgbClr val="7F0055"/>
                </a:solidFill>
                <a:latin typeface="Consolas" panose="020B0609020204030204" pitchFamily="49" charset="0"/>
              </a:rPr>
              <a:t>  public</a:t>
            </a:r>
            <a:r>
              <a:rPr lang="en-GB" sz="1600" b="1" dirty="0">
                <a:solidFill>
                  <a:srgbClr val="000000"/>
                </a:solidFill>
                <a:latin typeface="Consolas" panose="020B0609020204030204" pitchFamily="49" charset="0"/>
              </a:rPr>
              <a:t> Shape(int x, int y, String </a:t>
            </a:r>
            <a:r>
              <a:rPr lang="en-GB" sz="1600" b="1" dirty="0">
                <a:solidFill>
                  <a:srgbClr val="6A3E3E"/>
                </a:solidFill>
                <a:latin typeface="Consolas" panose="020B0609020204030204" pitchFamily="49" charset="0"/>
              </a:rPr>
              <a:t>colour</a:t>
            </a:r>
            <a:r>
              <a:rPr lang="en-GB" sz="1600" b="1" dirty="0">
                <a:solidFill>
                  <a:srgbClr val="000000"/>
                </a:solidFill>
                <a:latin typeface="Consolas" panose="020B0609020204030204" pitchFamily="49" charset="0"/>
              </a:rPr>
              <a:t>) {</a:t>
            </a:r>
          </a:p>
          <a:p>
            <a:r>
              <a:rPr lang="en-GB" sz="1600" dirty="0">
                <a:solidFill>
                  <a:srgbClr val="0000C0"/>
                </a:solidFill>
                <a:latin typeface="Consolas" panose="020B0609020204030204" pitchFamily="49" charset="0"/>
              </a:rPr>
              <a:t>	</a:t>
            </a:r>
            <a:r>
              <a:rPr lang="en-GB" sz="1600" b="1" dirty="0" err="1">
                <a:solidFill>
                  <a:srgbClr val="0000C0"/>
                </a:solidFill>
                <a:latin typeface="Consolas" panose="020B0609020204030204" pitchFamily="49" charset="0"/>
              </a:rPr>
              <a:t>this</a:t>
            </a:r>
            <a:r>
              <a:rPr lang="en-GB" sz="1600" b="1" dirty="0" err="1">
                <a:solidFill>
                  <a:schemeClr val="tx1"/>
                </a:solidFill>
                <a:latin typeface="Consolas" panose="020B0609020204030204" pitchFamily="49" charset="0"/>
              </a:rPr>
              <a:t>.x</a:t>
            </a:r>
            <a:r>
              <a:rPr lang="en-GB" sz="1600" b="1" dirty="0">
                <a:solidFill>
                  <a:schemeClr val="tx1"/>
                </a:solidFill>
                <a:latin typeface="Consolas" panose="020B0609020204030204" pitchFamily="49" charset="0"/>
              </a:rPr>
              <a:t> = x;</a:t>
            </a:r>
            <a:r>
              <a:rPr lang="en-GB" sz="1600" b="1" dirty="0">
                <a:solidFill>
                  <a:srgbClr val="0000C0"/>
                </a:solidFill>
                <a:latin typeface="Consolas" panose="020B0609020204030204" pitchFamily="49" charset="0"/>
              </a:rPr>
              <a:t> </a:t>
            </a:r>
            <a:r>
              <a:rPr lang="en-GB" sz="1600" b="1" dirty="0" err="1">
                <a:solidFill>
                  <a:srgbClr val="0000C0"/>
                </a:solidFill>
                <a:latin typeface="Consolas" panose="020B0609020204030204" pitchFamily="49" charset="0"/>
              </a:rPr>
              <a:t>this</a:t>
            </a:r>
            <a:r>
              <a:rPr lang="en-GB" sz="1600" b="1" dirty="0" err="1">
                <a:solidFill>
                  <a:schemeClr val="tx1"/>
                </a:solidFill>
                <a:latin typeface="Consolas" panose="020B0609020204030204" pitchFamily="49" charset="0"/>
              </a:rPr>
              <a:t>.y</a:t>
            </a:r>
            <a:r>
              <a:rPr lang="en-GB" sz="1600" b="1" dirty="0">
                <a:solidFill>
                  <a:schemeClr val="tx1"/>
                </a:solidFill>
                <a:latin typeface="Consolas" panose="020B0609020204030204" pitchFamily="49" charset="0"/>
              </a:rPr>
              <a:t> = y;</a:t>
            </a:r>
            <a:endParaRPr lang="en-GB" sz="1600" dirty="0">
              <a:solidFill>
                <a:srgbClr val="000000"/>
              </a:solidFill>
              <a:highlight>
                <a:srgbClr val="F0D8A8"/>
              </a:highlight>
              <a:latin typeface="Consolas" panose="020B0609020204030204" pitchFamily="49" charset="0"/>
            </a:endParaRPr>
          </a:p>
          <a:p>
            <a:r>
              <a:rPr lang="en-GB" sz="1600" dirty="0">
                <a:solidFill>
                  <a:srgbClr val="0000C0"/>
                </a:solidFill>
                <a:latin typeface="Consolas" panose="020B0609020204030204" pitchFamily="49" charset="0"/>
              </a:rPr>
              <a:t>	</a:t>
            </a:r>
            <a:r>
              <a:rPr lang="en-GB" sz="1600" b="1" dirty="0" err="1">
                <a:solidFill>
                  <a:srgbClr val="0000C0"/>
                </a:solidFill>
                <a:latin typeface="Consolas" panose="020B0609020204030204" pitchFamily="49" charset="0"/>
              </a:rPr>
              <a:t>this</a:t>
            </a:r>
            <a:r>
              <a:rPr lang="en-GB" sz="1600" b="1" dirty="0" err="1">
                <a:solidFill>
                  <a:schemeClr val="tx1"/>
                </a:solidFill>
                <a:latin typeface="Consolas" panose="020B0609020204030204" pitchFamily="49" charset="0"/>
              </a:rPr>
              <a:t>.colour</a:t>
            </a:r>
            <a:r>
              <a:rPr lang="en-GB" sz="1600" dirty="0">
                <a:solidFill>
                  <a:srgbClr val="000000"/>
                </a:solidFill>
                <a:latin typeface="Consolas" panose="020B0609020204030204" pitchFamily="49" charset="0"/>
              </a:rPr>
              <a:t> = </a:t>
            </a:r>
            <a:r>
              <a:rPr lang="en-GB" sz="1600" dirty="0">
                <a:solidFill>
                  <a:srgbClr val="6A3E3E"/>
                </a:solidFill>
                <a:latin typeface="Consolas" panose="020B0609020204030204" pitchFamily="49" charset="0"/>
              </a:rPr>
              <a:t>colour</a:t>
            </a:r>
            <a:r>
              <a:rPr lang="en-GB" sz="1600" dirty="0">
                <a:solidFill>
                  <a:srgbClr val="000000"/>
                </a:solidFill>
                <a:latin typeface="Consolas" panose="020B0609020204030204" pitchFamily="49" charset="0"/>
              </a:rPr>
              <a:t>;</a:t>
            </a:r>
          </a:p>
          <a:p>
            <a:r>
              <a:rPr lang="en-GB" sz="1600"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a:t>
            </a:r>
          </a:p>
        </p:txBody>
      </p:sp>
      <p:sp>
        <p:nvSpPr>
          <p:cNvPr id="3" name="Rounded Rectangular Callout 2"/>
          <p:cNvSpPr/>
          <p:nvPr/>
        </p:nvSpPr>
        <p:spPr>
          <a:xfrm>
            <a:off x="7239183" y="1672696"/>
            <a:ext cx="4135770" cy="638897"/>
          </a:xfrm>
          <a:prstGeom prst="wedgeRoundRectCallout">
            <a:avLst>
              <a:gd name="adj1" fmla="val -54879"/>
              <a:gd name="adj2" fmla="val 48391"/>
              <a:gd name="adj3" fmla="val 16667"/>
            </a:avLst>
          </a:prstGeom>
          <a:solidFill>
            <a:schemeClr val="accent1">
              <a:lumMod val="20000"/>
              <a:lumOff val="80000"/>
            </a:schemeClr>
          </a:solidFill>
          <a:ln w="19050">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No default constructor</a:t>
            </a:r>
            <a:br>
              <a:rPr lang="en-GB" sz="1400" dirty="0">
                <a:solidFill>
                  <a:schemeClr val="tx1"/>
                </a:solidFill>
              </a:rPr>
            </a:br>
            <a:r>
              <a:rPr lang="en-GB" sz="1400" dirty="0">
                <a:solidFill>
                  <a:schemeClr val="tx1"/>
                </a:solidFill>
              </a:rPr>
              <a:t>So all derived classes must invoke this .</a:t>
            </a:r>
            <a:r>
              <a:rPr lang="en-GB" sz="1400" dirty="0" err="1">
                <a:solidFill>
                  <a:schemeClr val="tx1"/>
                </a:solidFill>
              </a:rPr>
              <a:t>ctor</a:t>
            </a:r>
            <a:endParaRPr lang="en-GB" sz="1400" dirty="0">
              <a:solidFill>
                <a:schemeClr val="tx1"/>
              </a:solidFill>
            </a:endParaRPr>
          </a:p>
        </p:txBody>
      </p:sp>
      <p:sp>
        <p:nvSpPr>
          <p:cNvPr id="4" name="Rectangle 3"/>
          <p:cNvSpPr/>
          <p:nvPr/>
        </p:nvSpPr>
        <p:spPr>
          <a:xfrm>
            <a:off x="1845272" y="3814808"/>
            <a:ext cx="8439687" cy="2308324"/>
          </a:xfrm>
          <a:prstGeom prst="rect">
            <a:avLst/>
          </a:prstGeom>
          <a:solidFill>
            <a:schemeClr val="bg1"/>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b="1" dirty="0">
                <a:solidFill>
                  <a:srgbClr val="7F0055"/>
                </a:solidFill>
                <a:latin typeface="Consolas" panose="020B0609020204030204" pitchFamily="49" charset="0"/>
              </a:rPr>
              <a:t>class</a:t>
            </a:r>
            <a:r>
              <a:rPr lang="en-GB" sz="1600" b="1" dirty="0">
                <a:solidFill>
                  <a:srgbClr val="000000"/>
                </a:solidFill>
                <a:latin typeface="Consolas" panose="020B0609020204030204" pitchFamily="49" charset="0"/>
              </a:rPr>
              <a:t> Ellipse </a:t>
            </a:r>
            <a:r>
              <a:rPr lang="en-GB" sz="1600" b="1" dirty="0">
                <a:solidFill>
                  <a:srgbClr val="7F0055"/>
                </a:solidFill>
                <a:latin typeface="Consolas" panose="020B0609020204030204" pitchFamily="49" charset="0"/>
              </a:rPr>
              <a:t>:</a:t>
            </a:r>
            <a:r>
              <a:rPr lang="en-GB" sz="1600" b="1" dirty="0">
                <a:solidFill>
                  <a:srgbClr val="000000"/>
                </a:solidFill>
                <a:latin typeface="Consolas" panose="020B0609020204030204" pitchFamily="49" charset="0"/>
              </a:rPr>
              <a:t> Shape {</a:t>
            </a:r>
          </a:p>
          <a:p>
            <a:r>
              <a:rPr lang="en-GB" sz="1600" b="1" dirty="0">
                <a:solidFill>
                  <a:srgbClr val="7F0055"/>
                </a:solidFill>
                <a:latin typeface="Consolas" panose="020B0609020204030204" pitchFamily="49" charset="0"/>
              </a:rPr>
              <a:t>  private</a:t>
            </a:r>
            <a:r>
              <a:rPr lang="en-GB" sz="1600" b="1" dirty="0">
                <a:solidFill>
                  <a:srgbClr val="000000"/>
                </a:solidFill>
                <a:latin typeface="Consolas" panose="020B0609020204030204" pitchFamily="49" charset="0"/>
              </a:rPr>
              <a:t> </a:t>
            </a:r>
            <a:r>
              <a:rPr lang="en-GB" sz="1600" b="1" dirty="0" err="1">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 </a:t>
            </a:r>
            <a:r>
              <a:rPr lang="en-GB" sz="1600" b="1" dirty="0">
                <a:solidFill>
                  <a:srgbClr val="0000C0"/>
                </a:solidFill>
                <a:latin typeface="Consolas" panose="020B0609020204030204" pitchFamily="49" charset="0"/>
              </a:rPr>
              <a:t>width</a:t>
            </a:r>
            <a:r>
              <a:rPr lang="en-GB" sz="1600" b="1" dirty="0">
                <a:solidFill>
                  <a:srgbClr val="000000"/>
                </a:solidFill>
                <a:latin typeface="Consolas" panose="020B0609020204030204" pitchFamily="49" charset="0"/>
              </a:rPr>
              <a:t>, </a:t>
            </a:r>
            <a:r>
              <a:rPr lang="en-GB" sz="1600" b="1" dirty="0">
                <a:solidFill>
                  <a:srgbClr val="0000C0"/>
                </a:solidFill>
                <a:latin typeface="Consolas" panose="020B0609020204030204" pitchFamily="49" charset="0"/>
              </a:rPr>
              <a:t>height</a:t>
            </a:r>
            <a:r>
              <a:rPr lang="en-GB" sz="1600" b="1" dirty="0">
                <a:solidFill>
                  <a:srgbClr val="000000"/>
                </a:solidFill>
                <a:latin typeface="Consolas" panose="020B0609020204030204" pitchFamily="49" charset="0"/>
              </a:rPr>
              <a:t>;</a:t>
            </a:r>
          </a:p>
          <a:p>
            <a:endParaRPr lang="en-GB" sz="1600" dirty="0">
              <a:latin typeface="Consolas" panose="020B0609020204030204" pitchFamily="49" charset="0"/>
            </a:endParaRPr>
          </a:p>
          <a:p>
            <a:r>
              <a:rPr lang="en-GB" sz="1600" b="1" dirty="0">
                <a:solidFill>
                  <a:srgbClr val="7F0055"/>
                </a:solidFill>
                <a:latin typeface="Consolas" panose="020B0609020204030204" pitchFamily="49" charset="0"/>
              </a:rPr>
              <a:t>  public</a:t>
            </a:r>
            <a:r>
              <a:rPr lang="en-GB" sz="1600" b="1" dirty="0">
                <a:solidFill>
                  <a:srgbClr val="000000"/>
                </a:solidFill>
                <a:latin typeface="Consolas" panose="020B0609020204030204" pitchFamily="49" charset="0"/>
              </a:rPr>
              <a:t> Ellipse(int x, int y, </a:t>
            </a:r>
            <a:r>
              <a:rPr lang="en-GB" sz="1600" b="1" dirty="0">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 </a:t>
            </a:r>
            <a:r>
              <a:rPr lang="en-GB" sz="1600" b="1" dirty="0">
                <a:solidFill>
                  <a:srgbClr val="6A3E3E"/>
                </a:solidFill>
                <a:latin typeface="Consolas" panose="020B0609020204030204" pitchFamily="49" charset="0"/>
              </a:rPr>
              <a:t>width</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 </a:t>
            </a:r>
            <a:r>
              <a:rPr lang="en-GB" sz="1600" b="1" dirty="0">
                <a:solidFill>
                  <a:srgbClr val="6A3E3E"/>
                </a:solidFill>
                <a:latin typeface="Consolas" panose="020B0609020204030204" pitchFamily="49" charset="0"/>
              </a:rPr>
              <a:t>height</a:t>
            </a:r>
            <a:r>
              <a:rPr lang="en-GB" sz="1600" b="1" dirty="0">
                <a:solidFill>
                  <a:srgbClr val="000000"/>
                </a:solidFill>
                <a:latin typeface="Consolas" panose="020B0609020204030204" pitchFamily="49" charset="0"/>
              </a:rPr>
              <a:t>, String </a:t>
            </a:r>
            <a:r>
              <a:rPr lang="en-GB" sz="1600" b="1" dirty="0">
                <a:solidFill>
                  <a:srgbClr val="6A3E3E"/>
                </a:solidFill>
                <a:latin typeface="Consolas" panose="020B0609020204030204" pitchFamily="49" charset="0"/>
              </a:rPr>
              <a:t>colour</a:t>
            </a:r>
            <a:r>
              <a:rPr lang="en-GB" sz="1600" b="1" dirty="0">
                <a:solidFill>
                  <a:srgbClr val="000000"/>
                </a:solidFill>
                <a:latin typeface="Consolas" panose="020B0609020204030204" pitchFamily="49" charset="0"/>
              </a:rPr>
              <a:t>) </a:t>
            </a:r>
          </a:p>
          <a:p>
            <a:r>
              <a:rPr lang="en-GB" sz="1600" b="1" dirty="0">
                <a:solidFill>
                  <a:srgbClr val="7F0055"/>
                </a:solidFill>
                <a:latin typeface="Consolas" panose="020B0609020204030204" pitchFamily="49" charset="0"/>
              </a:rPr>
              <a:t>	: base</a:t>
            </a:r>
            <a:r>
              <a:rPr lang="en-GB" sz="1600" b="1" dirty="0">
                <a:solidFill>
                  <a:srgbClr val="000000"/>
                </a:solidFill>
                <a:latin typeface="Consolas" panose="020B0609020204030204" pitchFamily="49" charset="0"/>
              </a:rPr>
              <a:t>(</a:t>
            </a:r>
            <a:r>
              <a:rPr lang="en-GB" sz="1600" b="1" dirty="0">
                <a:solidFill>
                  <a:srgbClr val="6A3E3E"/>
                </a:solidFill>
                <a:latin typeface="Consolas" panose="020B0609020204030204" pitchFamily="49" charset="0"/>
              </a:rPr>
              <a:t>x</a:t>
            </a:r>
            <a:r>
              <a:rPr lang="en-GB" sz="1600" b="1" dirty="0">
                <a:solidFill>
                  <a:srgbClr val="000000"/>
                </a:solidFill>
                <a:latin typeface="Consolas" panose="020B0609020204030204" pitchFamily="49" charset="0"/>
              </a:rPr>
              <a:t>, y, colour) {</a:t>
            </a:r>
          </a:p>
          <a:p>
            <a:r>
              <a:rPr lang="en-GB" sz="1600" b="1" dirty="0">
                <a:solidFill>
                  <a:srgbClr val="7F0055"/>
                </a:solidFill>
                <a:latin typeface="Consolas" panose="020B0609020204030204" pitchFamily="49" charset="0"/>
              </a:rPr>
              <a:t>	</a:t>
            </a:r>
            <a:r>
              <a:rPr lang="en-GB" sz="1600" b="1" dirty="0" err="1">
                <a:solidFill>
                  <a:srgbClr val="7F0055"/>
                </a:solidFill>
                <a:latin typeface="Consolas" panose="020B0609020204030204" pitchFamily="49" charset="0"/>
              </a:rPr>
              <a:t>this</a:t>
            </a:r>
            <a:r>
              <a:rPr lang="en-GB" sz="1600" b="1" dirty="0" err="1">
                <a:solidFill>
                  <a:srgbClr val="000000"/>
                </a:solidFill>
                <a:latin typeface="Consolas" panose="020B0609020204030204" pitchFamily="49" charset="0"/>
              </a:rPr>
              <a:t>.</a:t>
            </a:r>
            <a:r>
              <a:rPr lang="en-GB" sz="1600" b="1" dirty="0" err="1">
                <a:solidFill>
                  <a:srgbClr val="0000C0"/>
                </a:solidFill>
                <a:latin typeface="Consolas" panose="020B0609020204030204" pitchFamily="49" charset="0"/>
              </a:rPr>
              <a:t>width</a:t>
            </a:r>
            <a:r>
              <a:rPr lang="en-GB" sz="1600" b="1" dirty="0">
                <a:solidFill>
                  <a:srgbClr val="000000"/>
                </a:solidFill>
                <a:latin typeface="Consolas" panose="020B0609020204030204" pitchFamily="49" charset="0"/>
              </a:rPr>
              <a:t> = </a:t>
            </a:r>
            <a:r>
              <a:rPr lang="en-GB" sz="1600" b="1" dirty="0">
                <a:solidFill>
                  <a:srgbClr val="6A3E3E"/>
                </a:solidFill>
                <a:latin typeface="Consolas" panose="020B0609020204030204" pitchFamily="49" charset="0"/>
              </a:rPr>
              <a:t>width</a:t>
            </a:r>
            <a:r>
              <a:rPr lang="en-GB" sz="1600" b="1" dirty="0">
                <a:solidFill>
                  <a:srgbClr val="000000"/>
                </a:solidFill>
                <a:latin typeface="Consolas" panose="020B0609020204030204" pitchFamily="49" charset="0"/>
              </a:rPr>
              <a:t>;</a:t>
            </a:r>
          </a:p>
          <a:p>
            <a:r>
              <a:rPr lang="en-GB" sz="1600" b="1" dirty="0">
                <a:solidFill>
                  <a:srgbClr val="7F0055"/>
                </a:solidFill>
                <a:latin typeface="Consolas" panose="020B0609020204030204" pitchFamily="49" charset="0"/>
              </a:rPr>
              <a:t>	</a:t>
            </a:r>
            <a:r>
              <a:rPr lang="en-GB" sz="1600" b="1" dirty="0" err="1">
                <a:solidFill>
                  <a:srgbClr val="7F0055"/>
                </a:solidFill>
                <a:latin typeface="Consolas" panose="020B0609020204030204" pitchFamily="49" charset="0"/>
              </a:rPr>
              <a:t>this</a:t>
            </a:r>
            <a:r>
              <a:rPr lang="en-GB" sz="1600" b="1" dirty="0" err="1">
                <a:solidFill>
                  <a:srgbClr val="000000"/>
                </a:solidFill>
                <a:latin typeface="Consolas" panose="020B0609020204030204" pitchFamily="49" charset="0"/>
              </a:rPr>
              <a:t>.</a:t>
            </a:r>
            <a:r>
              <a:rPr lang="en-GB" sz="1600" b="1" dirty="0" err="1">
                <a:solidFill>
                  <a:srgbClr val="0000C0"/>
                </a:solidFill>
                <a:latin typeface="Consolas" panose="020B0609020204030204" pitchFamily="49" charset="0"/>
              </a:rPr>
              <a:t>height</a:t>
            </a:r>
            <a:r>
              <a:rPr lang="en-GB" sz="1600" b="1" dirty="0">
                <a:solidFill>
                  <a:srgbClr val="000000"/>
                </a:solidFill>
                <a:latin typeface="Consolas" panose="020B0609020204030204" pitchFamily="49" charset="0"/>
              </a:rPr>
              <a:t> = </a:t>
            </a:r>
            <a:r>
              <a:rPr lang="en-GB" sz="1600" b="1" dirty="0">
                <a:solidFill>
                  <a:srgbClr val="6A3E3E"/>
                </a:solidFill>
                <a:latin typeface="Consolas" panose="020B0609020204030204" pitchFamily="49" charset="0"/>
              </a:rPr>
              <a:t>height</a:t>
            </a:r>
            <a:r>
              <a:rPr lang="en-GB" sz="1600" b="1" dirty="0">
                <a:solidFill>
                  <a:srgbClr val="000000"/>
                </a:solidFill>
                <a:latin typeface="Consolas" panose="020B0609020204030204" pitchFamily="49" charset="0"/>
              </a:rPr>
              <a:t>;</a:t>
            </a:r>
          </a:p>
          <a:p>
            <a:r>
              <a:rPr lang="en-GB" sz="1600"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a:t>
            </a:r>
            <a:endParaRPr lang="en-GB" sz="1600" dirty="0"/>
          </a:p>
        </p:txBody>
      </p:sp>
      <p:sp>
        <p:nvSpPr>
          <p:cNvPr id="5" name="Rounded Rectangular Callout 4"/>
          <p:cNvSpPr/>
          <p:nvPr/>
        </p:nvSpPr>
        <p:spPr>
          <a:xfrm>
            <a:off x="5935360" y="4957870"/>
            <a:ext cx="4796807" cy="395418"/>
          </a:xfrm>
          <a:prstGeom prst="wedgeRoundRectCallout">
            <a:avLst>
              <a:gd name="adj1" fmla="val -58536"/>
              <a:gd name="adj2" fmla="val -31554"/>
              <a:gd name="adj3" fmla="val 16667"/>
            </a:avLst>
          </a:prstGeom>
          <a:solidFill>
            <a:schemeClr val="accent1">
              <a:lumMod val="20000"/>
              <a:lumOff val="80000"/>
            </a:schemeClr>
          </a:solidFill>
          <a:ln w="19050">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Calling base constructor to initialise base fields</a:t>
            </a:r>
            <a:endParaRPr lang="en-GB" sz="1400"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26046320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GB" dirty="0"/>
              <a:t>Derived class constructor – chaining</a:t>
            </a:r>
          </a:p>
        </p:txBody>
      </p:sp>
      <p:sp>
        <p:nvSpPr>
          <p:cNvPr id="8" name="Rectangle 6"/>
          <p:cNvSpPr>
            <a:spLocks noChangeArrowheads="1"/>
          </p:cNvSpPr>
          <p:nvPr/>
        </p:nvSpPr>
        <p:spPr bwMode="auto">
          <a:xfrm>
            <a:off x="1869987" y="5068070"/>
            <a:ext cx="4640870" cy="366767"/>
          </a:xfrm>
          <a:prstGeom prst="rect">
            <a:avLst/>
          </a:prstGeom>
          <a:ln>
            <a:noFill/>
            <a:headEnd/>
            <a:tailEnd/>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90488" tIns="44450" rIns="0" bIns="44450">
            <a:spAutoFit/>
          </a:bodyPr>
          <a:lstStyle/>
          <a:p>
            <a:pPr defTabSz="739775" eaLnBrk="0" hangingPunct="0">
              <a:tabLst>
                <a:tab pos="347663" algn="l"/>
                <a:tab pos="685800" algn="l"/>
                <a:tab pos="1033463" algn="l"/>
                <a:tab pos="1371600" algn="l"/>
                <a:tab pos="1719263" algn="l"/>
                <a:tab pos="2057400" algn="l"/>
                <a:tab pos="2405063" algn="l"/>
                <a:tab pos="2743200" algn="l"/>
              </a:tabLst>
            </a:pPr>
            <a:r>
              <a:rPr lang="en-GB" dirty="0">
                <a:solidFill>
                  <a:srgbClr val="000000"/>
                </a:solidFill>
                <a:latin typeface="Lucida Console" pitchFamily="49" charset="0"/>
              </a:rPr>
              <a:t>Ellipse e1 = new Ellipse(4,7);</a:t>
            </a:r>
          </a:p>
        </p:txBody>
      </p:sp>
      <p:sp>
        <p:nvSpPr>
          <p:cNvPr id="4" name="Rectangle 3"/>
          <p:cNvSpPr/>
          <p:nvPr/>
        </p:nvSpPr>
        <p:spPr>
          <a:xfrm>
            <a:off x="1869987" y="1377711"/>
            <a:ext cx="8192532" cy="3046988"/>
          </a:xfrm>
          <a:prstGeom prst="rect">
            <a:avLst/>
          </a:prstGeom>
          <a:solidFill>
            <a:schemeClr val="bg1"/>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b="1" dirty="0">
                <a:solidFill>
                  <a:srgbClr val="7F0055"/>
                </a:solidFill>
                <a:latin typeface="Consolas" panose="020B0609020204030204" pitchFamily="49" charset="0"/>
              </a:rPr>
              <a:t>class</a:t>
            </a:r>
            <a:r>
              <a:rPr lang="en-GB" sz="1600" b="1" dirty="0">
                <a:solidFill>
                  <a:srgbClr val="000000"/>
                </a:solidFill>
                <a:latin typeface="Consolas" panose="020B0609020204030204" pitchFamily="49" charset="0"/>
              </a:rPr>
              <a:t> Ellipse </a:t>
            </a:r>
            <a:r>
              <a:rPr lang="en-GB" sz="1600" b="1" dirty="0">
                <a:solidFill>
                  <a:srgbClr val="7F0055"/>
                </a:solidFill>
                <a:latin typeface="Consolas" panose="020B0609020204030204" pitchFamily="49" charset="0"/>
              </a:rPr>
              <a:t>:</a:t>
            </a:r>
            <a:r>
              <a:rPr lang="en-GB" sz="1600" b="1" dirty="0">
                <a:solidFill>
                  <a:srgbClr val="000000"/>
                </a:solidFill>
                <a:latin typeface="Consolas" panose="020B0609020204030204" pitchFamily="49" charset="0"/>
              </a:rPr>
              <a:t> Shape {</a:t>
            </a:r>
          </a:p>
          <a:p>
            <a:r>
              <a:rPr lang="en-GB" sz="1600" b="1" dirty="0">
                <a:solidFill>
                  <a:srgbClr val="7F0055"/>
                </a:solidFill>
                <a:latin typeface="Consolas" panose="020B0609020204030204" pitchFamily="49" charset="0"/>
              </a:rPr>
              <a:t>  private</a:t>
            </a:r>
            <a:r>
              <a:rPr lang="en-GB" sz="1600" b="1" dirty="0">
                <a:solidFill>
                  <a:srgbClr val="000000"/>
                </a:solidFill>
                <a:latin typeface="Consolas" panose="020B0609020204030204" pitchFamily="49" charset="0"/>
              </a:rPr>
              <a:t> </a:t>
            </a:r>
            <a:r>
              <a:rPr lang="en-GB" sz="1600" b="1" dirty="0" err="1">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 </a:t>
            </a:r>
            <a:r>
              <a:rPr lang="en-GB" sz="1600" b="1" dirty="0">
                <a:solidFill>
                  <a:srgbClr val="0000C0"/>
                </a:solidFill>
                <a:latin typeface="Consolas" panose="020B0609020204030204" pitchFamily="49" charset="0"/>
              </a:rPr>
              <a:t>width</a:t>
            </a:r>
            <a:r>
              <a:rPr lang="en-GB" sz="1600" b="1" dirty="0">
                <a:solidFill>
                  <a:srgbClr val="000000"/>
                </a:solidFill>
                <a:latin typeface="Consolas" panose="020B0609020204030204" pitchFamily="49" charset="0"/>
              </a:rPr>
              <a:t>, </a:t>
            </a:r>
            <a:r>
              <a:rPr lang="en-GB" sz="1600" b="1" dirty="0">
                <a:solidFill>
                  <a:srgbClr val="0000C0"/>
                </a:solidFill>
                <a:latin typeface="Consolas" panose="020B0609020204030204" pitchFamily="49" charset="0"/>
              </a:rPr>
              <a:t>height</a:t>
            </a:r>
            <a:r>
              <a:rPr lang="en-GB" sz="1600" b="1" dirty="0">
                <a:solidFill>
                  <a:srgbClr val="000000"/>
                </a:solidFill>
                <a:latin typeface="Consolas" panose="020B0609020204030204" pitchFamily="49" charset="0"/>
              </a:rPr>
              <a:t>;</a:t>
            </a:r>
          </a:p>
          <a:p>
            <a:endParaRPr lang="en-GB" sz="1600" dirty="0">
              <a:latin typeface="Consolas" panose="020B0609020204030204" pitchFamily="49" charset="0"/>
            </a:endParaRPr>
          </a:p>
          <a:p>
            <a:r>
              <a:rPr lang="en-GB" sz="1600" b="1" dirty="0">
                <a:solidFill>
                  <a:srgbClr val="7F0055"/>
                </a:solidFill>
                <a:latin typeface="Consolas" panose="020B0609020204030204" pitchFamily="49" charset="0"/>
              </a:rPr>
              <a:t>  public</a:t>
            </a:r>
            <a:r>
              <a:rPr lang="en-GB" sz="1600" b="1" dirty="0">
                <a:solidFill>
                  <a:srgbClr val="000000"/>
                </a:solidFill>
                <a:latin typeface="Consolas" panose="020B0609020204030204" pitchFamily="49" charset="0"/>
              </a:rPr>
              <a:t> Ellipse(int x, int y, </a:t>
            </a:r>
            <a:r>
              <a:rPr lang="en-GB" sz="1600" b="1" dirty="0">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 </a:t>
            </a:r>
            <a:r>
              <a:rPr lang="en-GB" sz="1600" b="1" dirty="0">
                <a:solidFill>
                  <a:srgbClr val="6A3E3E"/>
                </a:solidFill>
                <a:latin typeface="Consolas" panose="020B0609020204030204" pitchFamily="49" charset="0"/>
              </a:rPr>
              <a:t>width</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 </a:t>
            </a:r>
            <a:r>
              <a:rPr lang="en-GB" sz="1600" b="1" dirty="0">
                <a:solidFill>
                  <a:srgbClr val="6A3E3E"/>
                </a:solidFill>
                <a:latin typeface="Consolas" panose="020B0609020204030204" pitchFamily="49" charset="0"/>
              </a:rPr>
              <a:t>height</a:t>
            </a:r>
            <a:r>
              <a:rPr lang="en-GB" sz="1600" b="1" dirty="0">
                <a:solidFill>
                  <a:srgbClr val="000000"/>
                </a:solidFill>
                <a:latin typeface="Consolas" panose="020B0609020204030204" pitchFamily="49" charset="0"/>
              </a:rPr>
              <a:t>, String </a:t>
            </a:r>
            <a:r>
              <a:rPr lang="en-GB" sz="1600" b="1" dirty="0">
                <a:solidFill>
                  <a:srgbClr val="6A3E3E"/>
                </a:solidFill>
                <a:latin typeface="Consolas" panose="020B0609020204030204" pitchFamily="49" charset="0"/>
              </a:rPr>
              <a:t>colour</a:t>
            </a:r>
            <a:r>
              <a:rPr lang="en-GB" sz="1600" b="1" dirty="0">
                <a:solidFill>
                  <a:srgbClr val="000000"/>
                </a:solidFill>
                <a:latin typeface="Consolas" panose="020B0609020204030204" pitchFamily="49" charset="0"/>
              </a:rPr>
              <a:t>) </a:t>
            </a:r>
          </a:p>
          <a:p>
            <a:r>
              <a:rPr lang="en-GB" sz="1600" b="1" dirty="0">
                <a:solidFill>
                  <a:srgbClr val="7F0055"/>
                </a:solidFill>
                <a:latin typeface="Consolas" panose="020B0609020204030204" pitchFamily="49" charset="0"/>
              </a:rPr>
              <a:t>	: base</a:t>
            </a:r>
            <a:r>
              <a:rPr lang="en-GB" sz="1600" b="1" dirty="0">
                <a:solidFill>
                  <a:srgbClr val="000000"/>
                </a:solidFill>
                <a:latin typeface="Consolas" panose="020B0609020204030204" pitchFamily="49" charset="0"/>
              </a:rPr>
              <a:t>(</a:t>
            </a:r>
            <a:r>
              <a:rPr lang="en-GB" sz="1600" b="1" dirty="0">
                <a:solidFill>
                  <a:srgbClr val="6A3E3E"/>
                </a:solidFill>
                <a:latin typeface="Consolas" panose="020B0609020204030204" pitchFamily="49" charset="0"/>
              </a:rPr>
              <a:t>x, y</a:t>
            </a:r>
            <a:r>
              <a:rPr lang="en-GB" sz="1600" b="1" dirty="0">
                <a:solidFill>
                  <a:srgbClr val="000000"/>
                </a:solidFill>
                <a:latin typeface="Consolas" panose="020B0609020204030204" pitchFamily="49" charset="0"/>
              </a:rPr>
              <a:t>, colour) {</a:t>
            </a:r>
          </a:p>
          <a:p>
            <a:r>
              <a:rPr lang="en-GB" sz="1600" b="1" dirty="0">
                <a:solidFill>
                  <a:srgbClr val="7F0055"/>
                </a:solidFill>
                <a:latin typeface="Consolas" panose="020B0609020204030204" pitchFamily="49" charset="0"/>
              </a:rPr>
              <a:t>	</a:t>
            </a:r>
            <a:r>
              <a:rPr lang="en-GB" sz="1600" b="1" dirty="0" err="1">
                <a:solidFill>
                  <a:srgbClr val="7F0055"/>
                </a:solidFill>
                <a:latin typeface="Consolas" panose="020B0609020204030204" pitchFamily="49" charset="0"/>
              </a:rPr>
              <a:t>this</a:t>
            </a:r>
            <a:r>
              <a:rPr lang="en-GB" sz="1600" b="1" dirty="0" err="1">
                <a:solidFill>
                  <a:srgbClr val="000000"/>
                </a:solidFill>
                <a:latin typeface="Consolas" panose="020B0609020204030204" pitchFamily="49" charset="0"/>
              </a:rPr>
              <a:t>.</a:t>
            </a:r>
            <a:r>
              <a:rPr lang="en-GB" sz="1600" b="1" dirty="0" err="1">
                <a:solidFill>
                  <a:srgbClr val="0000C0"/>
                </a:solidFill>
                <a:latin typeface="Consolas" panose="020B0609020204030204" pitchFamily="49" charset="0"/>
              </a:rPr>
              <a:t>width</a:t>
            </a:r>
            <a:r>
              <a:rPr lang="en-GB" sz="1600" b="1" dirty="0">
                <a:solidFill>
                  <a:srgbClr val="000000"/>
                </a:solidFill>
                <a:latin typeface="Consolas" panose="020B0609020204030204" pitchFamily="49" charset="0"/>
              </a:rPr>
              <a:t> = </a:t>
            </a:r>
            <a:r>
              <a:rPr lang="en-GB" sz="1600" b="1" dirty="0">
                <a:solidFill>
                  <a:srgbClr val="6A3E3E"/>
                </a:solidFill>
                <a:latin typeface="Consolas" panose="020B0609020204030204" pitchFamily="49" charset="0"/>
              </a:rPr>
              <a:t>width</a:t>
            </a:r>
            <a:r>
              <a:rPr lang="en-GB" sz="1600" b="1" dirty="0">
                <a:solidFill>
                  <a:srgbClr val="000000"/>
                </a:solidFill>
                <a:latin typeface="Consolas" panose="020B0609020204030204" pitchFamily="49" charset="0"/>
              </a:rPr>
              <a:t>;</a:t>
            </a:r>
          </a:p>
          <a:p>
            <a:r>
              <a:rPr lang="en-GB" sz="1600" b="1" dirty="0">
                <a:solidFill>
                  <a:srgbClr val="7F0055"/>
                </a:solidFill>
                <a:latin typeface="Consolas" panose="020B0609020204030204" pitchFamily="49" charset="0"/>
              </a:rPr>
              <a:t>	</a:t>
            </a:r>
            <a:r>
              <a:rPr lang="en-GB" sz="1600" b="1" dirty="0" err="1">
                <a:solidFill>
                  <a:srgbClr val="7F0055"/>
                </a:solidFill>
                <a:latin typeface="Consolas" panose="020B0609020204030204" pitchFamily="49" charset="0"/>
              </a:rPr>
              <a:t>this</a:t>
            </a:r>
            <a:r>
              <a:rPr lang="en-GB" sz="1600" b="1" dirty="0" err="1">
                <a:solidFill>
                  <a:srgbClr val="000000"/>
                </a:solidFill>
                <a:latin typeface="Consolas" panose="020B0609020204030204" pitchFamily="49" charset="0"/>
              </a:rPr>
              <a:t>.</a:t>
            </a:r>
            <a:r>
              <a:rPr lang="en-GB" sz="1600" b="1" dirty="0" err="1">
                <a:solidFill>
                  <a:srgbClr val="0000C0"/>
                </a:solidFill>
                <a:latin typeface="Consolas" panose="020B0609020204030204" pitchFamily="49" charset="0"/>
              </a:rPr>
              <a:t>height</a:t>
            </a:r>
            <a:r>
              <a:rPr lang="en-GB" sz="1600" b="1" dirty="0">
                <a:solidFill>
                  <a:srgbClr val="000000"/>
                </a:solidFill>
                <a:latin typeface="Consolas" panose="020B0609020204030204" pitchFamily="49" charset="0"/>
              </a:rPr>
              <a:t> = </a:t>
            </a:r>
            <a:r>
              <a:rPr lang="en-GB" sz="1600" b="1" dirty="0">
                <a:solidFill>
                  <a:srgbClr val="6A3E3E"/>
                </a:solidFill>
                <a:latin typeface="Consolas" panose="020B0609020204030204" pitchFamily="49" charset="0"/>
              </a:rPr>
              <a:t>height</a:t>
            </a:r>
            <a:r>
              <a:rPr lang="en-GB" sz="1600" b="1" dirty="0">
                <a:solidFill>
                  <a:srgbClr val="000000"/>
                </a:solidFill>
                <a:latin typeface="Consolas" panose="020B0609020204030204" pitchFamily="49" charset="0"/>
              </a:rPr>
              <a:t>;</a:t>
            </a:r>
          </a:p>
          <a:p>
            <a:r>
              <a:rPr lang="en-GB" sz="1600" dirty="0">
                <a:solidFill>
                  <a:srgbClr val="000000"/>
                </a:solidFill>
                <a:latin typeface="Consolas" panose="020B0609020204030204" pitchFamily="49" charset="0"/>
              </a:rPr>
              <a:t>  }</a:t>
            </a:r>
          </a:p>
          <a:p>
            <a:r>
              <a:rPr lang="en-GB" sz="1600" b="1" dirty="0">
                <a:solidFill>
                  <a:srgbClr val="7F0055"/>
                </a:solidFill>
                <a:latin typeface="Consolas" panose="020B0609020204030204" pitchFamily="49" charset="0"/>
              </a:rPr>
              <a:t>  public</a:t>
            </a:r>
            <a:r>
              <a:rPr lang="en-GB" sz="1600" b="1" dirty="0">
                <a:solidFill>
                  <a:srgbClr val="000000"/>
                </a:solidFill>
                <a:latin typeface="Consolas" panose="020B0609020204030204" pitchFamily="49" charset="0"/>
              </a:rPr>
              <a:t> Ellipse(int x, int y) {</a:t>
            </a:r>
          </a:p>
          <a:p>
            <a:r>
              <a:rPr lang="en-GB" sz="1600" b="1" dirty="0">
                <a:solidFill>
                  <a:srgbClr val="7F0055"/>
                </a:solidFill>
                <a:latin typeface="Consolas" panose="020B0609020204030204" pitchFamily="49" charset="0"/>
              </a:rPr>
              <a:t>	this</a:t>
            </a:r>
            <a:r>
              <a:rPr lang="en-GB" sz="1600" b="1" dirty="0">
                <a:solidFill>
                  <a:srgbClr val="000000"/>
                </a:solidFill>
                <a:latin typeface="Consolas" panose="020B0609020204030204" pitchFamily="49" charset="0"/>
              </a:rPr>
              <a:t>(</a:t>
            </a:r>
            <a:r>
              <a:rPr lang="en-GB" sz="1600" b="1" dirty="0">
                <a:solidFill>
                  <a:srgbClr val="6A3E3E"/>
                </a:solidFill>
                <a:latin typeface="Consolas" panose="020B0609020204030204" pitchFamily="49" charset="0"/>
              </a:rPr>
              <a:t>x, y</a:t>
            </a:r>
            <a:r>
              <a:rPr lang="en-GB" sz="1600" b="1" dirty="0">
                <a:solidFill>
                  <a:srgbClr val="000000"/>
                </a:solidFill>
                <a:latin typeface="Consolas" panose="020B0609020204030204" pitchFamily="49" charset="0"/>
              </a:rPr>
              <a:t>, 10, 10, </a:t>
            </a:r>
            <a:r>
              <a:rPr lang="en-GB" sz="1600" b="1" dirty="0" err="1">
                <a:solidFill>
                  <a:srgbClr val="000000"/>
                </a:solidFill>
                <a:latin typeface="Consolas" panose="020B0609020204030204" pitchFamily="49" charset="0"/>
              </a:rPr>
              <a:t>Color.BLUE</a:t>
            </a:r>
            <a:r>
              <a:rPr lang="en-GB" sz="1600" b="1" dirty="0">
                <a:solidFill>
                  <a:srgbClr val="000000"/>
                </a:solidFill>
                <a:latin typeface="Consolas" panose="020B0609020204030204" pitchFamily="49" charset="0"/>
              </a:rPr>
              <a:t>);</a:t>
            </a:r>
          </a:p>
          <a:p>
            <a:r>
              <a:rPr lang="en-GB" sz="1600"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a:t>
            </a:r>
            <a:endParaRPr lang="en-GB" sz="1600" dirty="0"/>
          </a:p>
        </p:txBody>
      </p:sp>
      <p:sp>
        <p:nvSpPr>
          <p:cNvPr id="5" name="Rounded Rectangular Callout 4"/>
          <p:cNvSpPr/>
          <p:nvPr/>
        </p:nvSpPr>
        <p:spPr>
          <a:xfrm>
            <a:off x="5819452" y="2505787"/>
            <a:ext cx="4756306" cy="395418"/>
          </a:xfrm>
          <a:prstGeom prst="wedgeRoundRectCallout">
            <a:avLst>
              <a:gd name="adj1" fmla="val -55511"/>
              <a:gd name="adj2" fmla="val -31554"/>
              <a:gd name="adj3" fmla="val 16667"/>
            </a:avLst>
          </a:prstGeom>
          <a:solidFill>
            <a:schemeClr val="accent1">
              <a:lumMod val="20000"/>
              <a:lumOff val="80000"/>
            </a:schemeClr>
          </a:solidFill>
          <a:ln w="19050">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tx1"/>
                </a:solidFill>
              </a:rPr>
              <a:t>Calling base constructor initialise base fields</a:t>
            </a:r>
            <a:endParaRPr lang="en-GB" sz="1400" b="1" dirty="0">
              <a:solidFill>
                <a:schemeClr val="tx1"/>
              </a:solidFill>
              <a:latin typeface="Arial" pitchFamily="34" charset="0"/>
              <a:cs typeface="Arial" pitchFamily="34" charset="0"/>
            </a:endParaRPr>
          </a:p>
        </p:txBody>
      </p:sp>
      <p:sp>
        <p:nvSpPr>
          <p:cNvPr id="9" name="Rounded Rectangular Callout 8"/>
          <p:cNvSpPr/>
          <p:nvPr/>
        </p:nvSpPr>
        <p:spPr>
          <a:xfrm>
            <a:off x="6693243" y="3711149"/>
            <a:ext cx="2907957" cy="456134"/>
          </a:xfrm>
          <a:prstGeom prst="wedgeRoundRectCallout">
            <a:avLst>
              <a:gd name="adj1" fmla="val -58536"/>
              <a:gd name="adj2" fmla="val -31554"/>
              <a:gd name="adj3" fmla="val 16667"/>
            </a:avLst>
          </a:prstGeom>
          <a:solidFill>
            <a:schemeClr val="accent1">
              <a:lumMod val="20000"/>
              <a:lumOff val="80000"/>
            </a:schemeClr>
          </a:solidFill>
          <a:ln w="19050">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tx1"/>
                </a:solidFill>
              </a:rPr>
              <a:t>Calling Ellipse constructor</a:t>
            </a:r>
            <a:endParaRPr lang="en-GB" sz="1400" b="1" dirty="0">
              <a:solidFill>
                <a:schemeClr val="tx1"/>
              </a:solidFill>
              <a:latin typeface="Arial" pitchFamily="34" charset="0"/>
              <a:cs typeface="Arial" pitchFamily="34" charset="0"/>
            </a:endParaRPr>
          </a:p>
        </p:txBody>
      </p:sp>
      <p:sp>
        <p:nvSpPr>
          <p:cNvPr id="7" name="Freeform 6"/>
          <p:cNvSpPr/>
          <p:nvPr/>
        </p:nvSpPr>
        <p:spPr>
          <a:xfrm>
            <a:off x="1754986" y="2458994"/>
            <a:ext cx="671058" cy="1309816"/>
          </a:xfrm>
          <a:custGeom>
            <a:avLst/>
            <a:gdLst>
              <a:gd name="connsiteX0" fmla="*/ 448637 w 671058"/>
              <a:gd name="connsiteY0" fmla="*/ 1309816 h 1309816"/>
              <a:gd name="connsiteX1" fmla="*/ 3793 w 671058"/>
              <a:gd name="connsiteY1" fmla="*/ 1000897 h 1309816"/>
              <a:gd name="connsiteX2" fmla="*/ 671058 w 671058"/>
              <a:gd name="connsiteY2" fmla="*/ 0 h 1309816"/>
            </a:gdLst>
            <a:ahLst/>
            <a:cxnLst>
              <a:cxn ang="0">
                <a:pos x="connsiteX0" y="connsiteY0"/>
              </a:cxn>
              <a:cxn ang="0">
                <a:pos x="connsiteX1" y="connsiteY1"/>
              </a:cxn>
              <a:cxn ang="0">
                <a:pos x="connsiteX2" y="connsiteY2"/>
              </a:cxn>
            </a:cxnLst>
            <a:rect l="l" t="t" r="r" b="b"/>
            <a:pathLst>
              <a:path w="671058" h="1309816">
                <a:moveTo>
                  <a:pt x="448637" y="1309816"/>
                </a:moveTo>
                <a:cubicBezTo>
                  <a:pt x="207680" y="1264508"/>
                  <a:pt x="-33277" y="1219200"/>
                  <a:pt x="3793" y="1000897"/>
                </a:cubicBezTo>
                <a:cubicBezTo>
                  <a:pt x="40863" y="782594"/>
                  <a:pt x="355960" y="391297"/>
                  <a:pt x="671058" y="0"/>
                </a:cubicBezTo>
              </a:path>
            </a:pathLst>
          </a:custGeom>
          <a:noFill/>
          <a:ln w="19050">
            <a:solidFill>
              <a:srgbClr val="00405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8921634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dirty="0"/>
              <a:t>protected</a:t>
            </a:r>
            <a:endParaRPr lang="en-IN" dirty="0"/>
          </a:p>
        </p:txBody>
      </p:sp>
      <p:sp>
        <p:nvSpPr>
          <p:cNvPr id="3" name="Text Placeholder 2"/>
          <p:cNvSpPr>
            <a:spLocks noGrp="1"/>
          </p:cNvSpPr>
          <p:nvPr>
            <p:ph type="body" sz="quarter" idx="15"/>
          </p:nvPr>
        </p:nvSpPr>
        <p:spPr>
          <a:xfrm>
            <a:off x="4543841" y="1349984"/>
            <a:ext cx="7154863" cy="4094163"/>
          </a:xfrm>
        </p:spPr>
        <p:txBody>
          <a:bodyPr vert="horz" lIns="0" tIns="0" rIns="0" bIns="0" rtlCol="0" anchor="t" anchorCtr="0">
            <a:noAutofit/>
          </a:bodyPr>
          <a:lstStyle/>
          <a:p>
            <a:pPr marL="342900" indent="-342900">
              <a:buChar char="•"/>
            </a:pPr>
            <a:r>
              <a:rPr lang="en-GB" b="1" dirty="0"/>
              <a:t>Modifier that allows access to deriving types only</a:t>
            </a:r>
          </a:p>
          <a:p>
            <a:pPr marL="684000" lvl="1" indent="-342900">
              <a:buSzPct val="115000"/>
            </a:pPr>
            <a:r>
              <a:rPr lang="en-GB" dirty="0"/>
              <a:t>Used to restrict access to methods</a:t>
            </a:r>
          </a:p>
          <a:p>
            <a:pPr marL="1026000" lvl="2" indent="-342900">
              <a:buSzPct val="115000"/>
            </a:pPr>
            <a:r>
              <a:rPr lang="en-GB" dirty="0"/>
              <a:t>Fields should always be private, remember</a:t>
            </a:r>
          </a:p>
          <a:p>
            <a:pPr lvl="2"/>
            <a:endParaRPr lang="en-GB" dirty="0"/>
          </a:p>
          <a:p>
            <a:pPr marL="342900" indent="-342900">
              <a:buChar char="•"/>
            </a:pPr>
            <a:r>
              <a:rPr lang="en-GB" b="1" dirty="0"/>
              <a:t>Let's view an example…</a:t>
            </a:r>
            <a:endParaRPr lang="en-GB" dirty="0"/>
          </a:p>
          <a:p>
            <a:pPr lvl="2"/>
            <a:endParaRPr lang="en-GB" dirty="0"/>
          </a:p>
          <a:p>
            <a:pPr lvl="2"/>
            <a:endParaRPr lang="en-GB" dirty="0"/>
          </a:p>
          <a:p>
            <a:pPr lvl="2"/>
            <a:endParaRPr lang="en-GB" dirty="0"/>
          </a:p>
          <a:p>
            <a:pPr lvl="2"/>
            <a:endParaRPr lang="en-GB" dirty="0"/>
          </a:p>
          <a:p>
            <a:pPr marL="342900" indent="-342900">
              <a:buChar char="•"/>
            </a:pPr>
            <a:endParaRPr lang="en-IN" b="1" dirty="0"/>
          </a:p>
        </p:txBody>
      </p:sp>
    </p:spTree>
    <p:extLst>
      <p:ext uri="{BB962C8B-B14F-4D97-AF65-F5344CB8AC3E}">
        <p14:creationId xmlns:p14="http://schemas.microsoft.com/office/powerpoint/2010/main" val="11047986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65793" y="4218797"/>
            <a:ext cx="5113547" cy="2246769"/>
          </a:xfrm>
          <a:prstGeom prst="rect">
            <a:avLst/>
          </a:prstGeom>
          <a:solidFill>
            <a:schemeClr val="accent1">
              <a:lumMod val="10000"/>
              <a:lumOff val="90000"/>
            </a:schemeClr>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400" b="1" dirty="0">
                <a:solidFill>
                  <a:srgbClr val="7F0055"/>
                </a:solidFill>
                <a:latin typeface="Consolas" panose="020B0609020204030204" pitchFamily="49" charset="0"/>
              </a:rPr>
              <a:t>namespace</a:t>
            </a:r>
            <a:r>
              <a:rPr lang="en-GB" sz="1400" b="1" dirty="0">
                <a:solidFill>
                  <a:srgbClr val="000000"/>
                </a:solidFill>
                <a:latin typeface="Consolas" panose="020B0609020204030204" pitchFamily="49" charset="0"/>
              </a:rPr>
              <a:t> </a:t>
            </a:r>
            <a:r>
              <a:rPr lang="en-GB" sz="1400" b="1" dirty="0" err="1">
                <a:solidFill>
                  <a:srgbClr val="000000"/>
                </a:solidFill>
                <a:latin typeface="Consolas" panose="020B0609020204030204" pitchFamily="49" charset="0"/>
              </a:rPr>
              <a:t>tesco</a:t>
            </a:r>
            <a:r>
              <a:rPr lang="en-GB" sz="1400" b="1" dirty="0">
                <a:solidFill>
                  <a:srgbClr val="000000"/>
                </a:solidFill>
                <a:latin typeface="Consolas" panose="020B0609020204030204" pitchFamily="49" charset="0"/>
              </a:rPr>
              <a:t>;</a:t>
            </a:r>
          </a:p>
          <a:p>
            <a:r>
              <a:rPr lang="en-GB" sz="1400" b="1" dirty="0">
                <a:solidFill>
                  <a:srgbClr val="7F0055"/>
                </a:solidFill>
                <a:latin typeface="Consolas" panose="020B0609020204030204" pitchFamily="49" charset="0"/>
              </a:rPr>
              <a:t>using</a:t>
            </a:r>
            <a:r>
              <a:rPr lang="en-GB" sz="1400" b="1" dirty="0">
                <a:solidFill>
                  <a:srgbClr val="000000"/>
                </a:solidFill>
                <a:latin typeface="Consolas" panose="020B0609020204030204" pitchFamily="49" charset="0"/>
              </a:rPr>
              <a:t> </a:t>
            </a:r>
            <a:r>
              <a:rPr lang="en-GB" sz="1400" b="1" dirty="0" err="1">
                <a:solidFill>
                  <a:srgbClr val="000000"/>
                </a:solidFill>
                <a:latin typeface="Consolas" panose="020B0609020204030204" pitchFamily="49" charset="0"/>
              </a:rPr>
              <a:t>barclays</a:t>
            </a:r>
            <a:r>
              <a:rPr lang="en-GB" sz="1400" b="1" dirty="0">
                <a:solidFill>
                  <a:srgbClr val="000000"/>
                </a:solidFill>
                <a:latin typeface="Consolas" panose="020B0609020204030204" pitchFamily="49" charset="0"/>
              </a:rPr>
              <a:t>;</a:t>
            </a:r>
          </a:p>
          <a:p>
            <a:endParaRPr lang="en-GB" sz="1400" dirty="0">
              <a:latin typeface="Consolas" panose="020B0609020204030204" pitchFamily="49" charset="0"/>
            </a:endParaRPr>
          </a:p>
          <a:p>
            <a:r>
              <a:rPr lang="en-GB" sz="1400" b="1" dirty="0">
                <a:solidFill>
                  <a:srgbClr val="7F0055"/>
                </a:solidFill>
                <a:latin typeface="Consolas" panose="020B0609020204030204" pitchFamily="49" charset="0"/>
              </a:rPr>
              <a:t>public</a:t>
            </a:r>
            <a:r>
              <a:rPr lang="en-GB" sz="1400" b="1" dirty="0">
                <a:solidFill>
                  <a:srgbClr val="000000"/>
                </a:solidFill>
                <a:latin typeface="Consolas" panose="020B0609020204030204" pitchFamily="49" charset="0"/>
              </a:rPr>
              <a:t> </a:t>
            </a:r>
            <a:r>
              <a:rPr lang="en-GB" sz="1400" b="1" dirty="0">
                <a:solidFill>
                  <a:srgbClr val="7F0055"/>
                </a:solidFill>
                <a:latin typeface="Consolas" panose="020B0609020204030204" pitchFamily="49" charset="0"/>
              </a:rPr>
              <a:t>class</a:t>
            </a:r>
            <a:r>
              <a:rPr lang="en-GB" sz="1400" b="1" dirty="0">
                <a:solidFill>
                  <a:srgbClr val="000000"/>
                </a:solidFill>
                <a:latin typeface="Consolas" panose="020B0609020204030204" pitchFamily="49" charset="0"/>
              </a:rPr>
              <a:t> Bank {</a:t>
            </a:r>
          </a:p>
          <a:p>
            <a:r>
              <a:rPr lang="en-GB" sz="1400" b="1" dirty="0">
                <a:solidFill>
                  <a:srgbClr val="7F0055"/>
                </a:solidFill>
                <a:latin typeface="Consolas" panose="020B0609020204030204" pitchFamily="49" charset="0"/>
              </a:rPr>
              <a:t>    public</a:t>
            </a:r>
            <a:r>
              <a:rPr lang="en-GB" sz="1400" b="1" dirty="0">
                <a:solidFill>
                  <a:srgbClr val="000000"/>
                </a:solidFill>
                <a:latin typeface="Consolas" panose="020B0609020204030204" pitchFamily="49" charset="0"/>
              </a:rPr>
              <a:t> </a:t>
            </a:r>
            <a:r>
              <a:rPr lang="en-GB" sz="1400" b="1" dirty="0">
                <a:solidFill>
                  <a:srgbClr val="7F0055"/>
                </a:solidFill>
                <a:latin typeface="Consolas" panose="020B0609020204030204" pitchFamily="49" charset="0"/>
              </a:rPr>
              <a:t>static</a:t>
            </a:r>
            <a:r>
              <a:rPr lang="en-GB" sz="1400" b="1" dirty="0">
                <a:solidFill>
                  <a:srgbClr val="000000"/>
                </a:solidFill>
                <a:latin typeface="Consolas" panose="020B0609020204030204" pitchFamily="49" charset="0"/>
              </a:rPr>
              <a:t> </a:t>
            </a:r>
            <a:r>
              <a:rPr lang="en-GB" sz="1400" b="1" dirty="0">
                <a:solidFill>
                  <a:srgbClr val="7F0055"/>
                </a:solidFill>
                <a:latin typeface="Consolas" panose="020B0609020204030204" pitchFamily="49" charset="0"/>
              </a:rPr>
              <a:t>void</a:t>
            </a:r>
            <a:r>
              <a:rPr lang="en-GB" sz="1400" b="1" dirty="0">
                <a:solidFill>
                  <a:srgbClr val="000000"/>
                </a:solidFill>
                <a:latin typeface="Consolas" panose="020B0609020204030204" pitchFamily="49" charset="0"/>
              </a:rPr>
              <a:t> Main(String[] </a:t>
            </a:r>
            <a:r>
              <a:rPr lang="en-GB" sz="1400" b="1" dirty="0" err="1">
                <a:solidFill>
                  <a:srgbClr val="6A3E3E"/>
                </a:solidFill>
                <a:latin typeface="Consolas" panose="020B0609020204030204" pitchFamily="49" charset="0"/>
              </a:rPr>
              <a:t>args</a:t>
            </a:r>
            <a:r>
              <a:rPr lang="en-GB" sz="1400" b="1" dirty="0">
                <a:solidFill>
                  <a:srgbClr val="000000"/>
                </a:solidFill>
                <a:latin typeface="Consolas" panose="020B0609020204030204" pitchFamily="49" charset="0"/>
              </a:rPr>
              <a:t>) {</a:t>
            </a:r>
          </a:p>
          <a:p>
            <a:r>
              <a:rPr lang="en-GB" sz="1400" dirty="0">
                <a:solidFill>
                  <a:srgbClr val="000000"/>
                </a:solidFill>
                <a:latin typeface="Consolas" panose="020B0609020204030204" pitchFamily="49" charset="0"/>
              </a:rPr>
              <a:t>	</a:t>
            </a:r>
            <a:r>
              <a:rPr lang="en-GB" sz="1400" b="1" dirty="0" err="1">
                <a:solidFill>
                  <a:srgbClr val="000000"/>
                </a:solidFill>
                <a:latin typeface="Consolas" panose="020B0609020204030204" pitchFamily="49" charset="0"/>
              </a:rPr>
              <a:t>CreditCard</a:t>
            </a:r>
            <a:r>
              <a:rPr lang="en-GB" sz="1400" b="1" dirty="0">
                <a:solidFill>
                  <a:srgbClr val="000000"/>
                </a:solidFill>
                <a:latin typeface="Consolas" panose="020B0609020204030204" pitchFamily="49" charset="0"/>
              </a:rPr>
              <a:t> </a:t>
            </a:r>
            <a:r>
              <a:rPr lang="en-GB" sz="1400" b="1" dirty="0">
                <a:solidFill>
                  <a:srgbClr val="6A3E3E"/>
                </a:solidFill>
                <a:latin typeface="Consolas" panose="020B0609020204030204" pitchFamily="49" charset="0"/>
              </a:rPr>
              <a:t>cc</a:t>
            </a:r>
            <a:r>
              <a:rPr lang="en-GB" sz="1400" b="1" dirty="0">
                <a:solidFill>
                  <a:srgbClr val="000000"/>
                </a:solidFill>
                <a:latin typeface="Consolas" panose="020B0609020204030204" pitchFamily="49" charset="0"/>
              </a:rPr>
              <a:t> = </a:t>
            </a:r>
            <a:r>
              <a:rPr lang="en-GB" sz="1400" b="1" dirty="0">
                <a:solidFill>
                  <a:srgbClr val="7F0055"/>
                </a:solidFill>
                <a:latin typeface="Consolas" panose="020B0609020204030204" pitchFamily="49" charset="0"/>
              </a:rPr>
              <a:t>new</a:t>
            </a:r>
            <a:r>
              <a:rPr lang="en-GB" sz="1400" b="1" dirty="0">
                <a:solidFill>
                  <a:srgbClr val="000000"/>
                </a:solidFill>
                <a:latin typeface="Consolas" panose="020B0609020204030204" pitchFamily="49" charset="0"/>
              </a:rPr>
              <a:t> </a:t>
            </a:r>
            <a:r>
              <a:rPr lang="en-GB" sz="1400" b="1" dirty="0" err="1">
                <a:solidFill>
                  <a:srgbClr val="000000"/>
                </a:solidFill>
                <a:latin typeface="Consolas" panose="020B0609020204030204" pitchFamily="49" charset="0"/>
              </a:rPr>
              <a:t>CreditCard</a:t>
            </a:r>
            <a:r>
              <a:rPr lang="en-GB" sz="1400" b="1" dirty="0">
                <a:solidFill>
                  <a:srgbClr val="000000"/>
                </a:solidFill>
                <a:latin typeface="Consolas" panose="020B0609020204030204" pitchFamily="49" charset="0"/>
              </a:rPr>
              <a:t>(333);</a:t>
            </a:r>
          </a:p>
          <a:p>
            <a:r>
              <a:rPr lang="en-GB" sz="1400" dirty="0">
                <a:solidFill>
                  <a:srgbClr val="000000"/>
                </a:solidFill>
                <a:latin typeface="Consolas" panose="020B0609020204030204" pitchFamily="49" charset="0"/>
              </a:rPr>
              <a:t>	</a:t>
            </a:r>
          </a:p>
          <a:p>
            <a:r>
              <a:rPr lang="en-GB" sz="1400" b="1" dirty="0">
                <a:solidFill>
                  <a:srgbClr val="000000"/>
                </a:solidFill>
                <a:latin typeface="Consolas" panose="020B0609020204030204" pitchFamily="49" charset="0"/>
              </a:rPr>
              <a:t>	</a:t>
            </a:r>
            <a:r>
              <a:rPr lang="en-GB" sz="1400" b="1" dirty="0" err="1">
                <a:solidFill>
                  <a:srgbClr val="000000"/>
                </a:solidFill>
                <a:latin typeface="Consolas" panose="020B0609020204030204" pitchFamily="49" charset="0"/>
              </a:rPr>
              <a:t>Console.WriteLine</a:t>
            </a:r>
            <a:r>
              <a:rPr lang="en-GB" sz="1400" b="1" dirty="0">
                <a:solidFill>
                  <a:srgbClr val="000000"/>
                </a:solidFill>
                <a:latin typeface="Consolas" panose="020B0609020204030204" pitchFamily="49" charset="0"/>
              </a:rPr>
              <a:t>(cc1.pin);</a:t>
            </a:r>
            <a:endParaRPr lang="en-GB" sz="1400" b="1" i="1" u="sng" dirty="0">
              <a:solidFill>
                <a:srgbClr val="000000"/>
              </a:solidFill>
              <a:highlight>
                <a:srgbClr val="D4D4D4"/>
              </a:highlight>
              <a:latin typeface="Consolas" panose="020B0609020204030204" pitchFamily="49" charset="0"/>
            </a:endParaRPr>
          </a:p>
          <a:p>
            <a:r>
              <a:rPr lang="en-GB" sz="1400" dirty="0">
                <a:solidFill>
                  <a:srgbClr val="000000"/>
                </a:solidFill>
                <a:latin typeface="Consolas" panose="020B0609020204030204" pitchFamily="49" charset="0"/>
              </a:rPr>
              <a:t>   }</a:t>
            </a:r>
          </a:p>
          <a:p>
            <a:r>
              <a:rPr lang="en-GB" sz="1400" dirty="0">
                <a:solidFill>
                  <a:srgbClr val="000000"/>
                </a:solidFill>
                <a:latin typeface="Consolas" panose="020B0609020204030204" pitchFamily="49" charset="0"/>
              </a:rPr>
              <a:t>}</a:t>
            </a:r>
          </a:p>
        </p:txBody>
      </p:sp>
      <p:sp>
        <p:nvSpPr>
          <p:cNvPr id="2" name="Title 1"/>
          <p:cNvSpPr>
            <a:spLocks noGrp="1"/>
          </p:cNvSpPr>
          <p:nvPr>
            <p:ph type="title"/>
          </p:nvPr>
        </p:nvSpPr>
        <p:spPr/>
        <p:txBody>
          <a:bodyPr/>
          <a:lstStyle/>
          <a:p>
            <a:r>
              <a:rPr lang="en-GB" dirty="0"/>
              <a:t>Protected access modifier</a:t>
            </a:r>
          </a:p>
        </p:txBody>
      </p:sp>
      <p:sp>
        <p:nvSpPr>
          <p:cNvPr id="5" name="Rectangle 4"/>
          <p:cNvSpPr/>
          <p:nvPr/>
        </p:nvSpPr>
        <p:spPr>
          <a:xfrm>
            <a:off x="5646628" y="890519"/>
            <a:ext cx="4751502" cy="2062103"/>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400" b="1" dirty="0">
                <a:solidFill>
                  <a:srgbClr val="7F0055"/>
                </a:solidFill>
                <a:latin typeface="Consolas" panose="020B0609020204030204" pitchFamily="49" charset="0"/>
              </a:rPr>
              <a:t>namespace</a:t>
            </a:r>
            <a:r>
              <a:rPr lang="en-GB" sz="1400" b="1" dirty="0">
                <a:solidFill>
                  <a:srgbClr val="000000"/>
                </a:solidFill>
                <a:latin typeface="Consolas" panose="020B0609020204030204" pitchFamily="49" charset="0"/>
              </a:rPr>
              <a:t> </a:t>
            </a:r>
            <a:r>
              <a:rPr lang="en-GB" sz="1400" b="1" dirty="0" err="1">
                <a:solidFill>
                  <a:srgbClr val="000000"/>
                </a:solidFill>
                <a:latin typeface="Consolas" panose="020B0609020204030204" pitchFamily="49" charset="0"/>
              </a:rPr>
              <a:t>barclays</a:t>
            </a:r>
            <a:r>
              <a:rPr lang="en-GB" sz="1400" b="1" dirty="0">
                <a:solidFill>
                  <a:srgbClr val="000000"/>
                </a:solidFill>
                <a:latin typeface="Consolas" panose="020B0609020204030204" pitchFamily="49" charset="0"/>
              </a:rPr>
              <a:t>;</a:t>
            </a:r>
          </a:p>
          <a:p>
            <a:endParaRPr lang="en-GB" sz="1400" dirty="0">
              <a:latin typeface="Consolas" panose="020B0609020204030204" pitchFamily="49" charset="0"/>
            </a:endParaRPr>
          </a:p>
          <a:p>
            <a:r>
              <a:rPr lang="en-GB" sz="1400" b="1" dirty="0">
                <a:solidFill>
                  <a:srgbClr val="7F0055"/>
                </a:solidFill>
                <a:latin typeface="Consolas" panose="020B0609020204030204" pitchFamily="49" charset="0"/>
              </a:rPr>
              <a:t>public</a:t>
            </a:r>
            <a:r>
              <a:rPr lang="en-GB" sz="1400" b="1" dirty="0">
                <a:solidFill>
                  <a:srgbClr val="000000"/>
                </a:solidFill>
                <a:latin typeface="Consolas" panose="020B0609020204030204" pitchFamily="49" charset="0"/>
              </a:rPr>
              <a:t> </a:t>
            </a:r>
            <a:r>
              <a:rPr lang="en-GB" sz="1400" b="1" dirty="0">
                <a:solidFill>
                  <a:srgbClr val="7F0055"/>
                </a:solidFill>
                <a:latin typeface="Consolas" panose="020B0609020204030204" pitchFamily="49" charset="0"/>
              </a:rPr>
              <a:t>class</a:t>
            </a:r>
            <a:r>
              <a:rPr lang="en-GB" sz="1400" b="1" dirty="0">
                <a:solidFill>
                  <a:srgbClr val="000000"/>
                </a:solidFill>
                <a:latin typeface="Consolas" panose="020B0609020204030204" pitchFamily="49" charset="0"/>
              </a:rPr>
              <a:t> </a:t>
            </a:r>
            <a:r>
              <a:rPr lang="en-GB" sz="1400" b="1" dirty="0">
                <a:solidFill>
                  <a:srgbClr val="7F0055"/>
                </a:solidFill>
                <a:latin typeface="Consolas" panose="020B0609020204030204" pitchFamily="49" charset="0"/>
              </a:rPr>
              <a:t> </a:t>
            </a:r>
            <a:r>
              <a:rPr lang="en-GB" sz="1400" b="1" dirty="0" err="1">
                <a:solidFill>
                  <a:srgbClr val="000000"/>
                </a:solidFill>
                <a:latin typeface="Consolas" panose="020B0609020204030204" pitchFamily="49" charset="0"/>
              </a:rPr>
              <a:t>CreditCard</a:t>
            </a:r>
            <a:r>
              <a:rPr lang="en-GB" sz="1400" b="1" dirty="0">
                <a:solidFill>
                  <a:srgbClr val="000000"/>
                </a:solidFill>
                <a:latin typeface="Consolas" panose="020B0609020204030204" pitchFamily="49" charset="0"/>
              </a:rPr>
              <a:t> {</a:t>
            </a:r>
            <a:endParaRPr lang="en-GB" sz="1400" b="1" dirty="0">
              <a:solidFill>
                <a:srgbClr val="000000"/>
              </a:solidFill>
              <a:highlight>
                <a:srgbClr val="D4D4D4"/>
              </a:highlight>
              <a:latin typeface="Consolas" panose="020B0609020204030204" pitchFamily="49" charset="0"/>
            </a:endParaRPr>
          </a:p>
          <a:p>
            <a:r>
              <a:rPr lang="en-GB" sz="1400" b="1" dirty="0">
                <a:solidFill>
                  <a:srgbClr val="7F0055"/>
                </a:solidFill>
                <a:latin typeface="Consolas" panose="020B0609020204030204" pitchFamily="49" charset="0"/>
              </a:rPr>
              <a:t>   </a:t>
            </a:r>
            <a:r>
              <a:rPr lang="en-GB" sz="1600" b="1" dirty="0">
                <a:solidFill>
                  <a:srgbClr val="7F0055"/>
                </a:solidFill>
                <a:latin typeface="Consolas" panose="020B0609020204030204" pitchFamily="49" charset="0"/>
              </a:rPr>
              <a:t>protected</a:t>
            </a:r>
            <a:r>
              <a:rPr lang="en-GB" sz="1600" b="1" dirty="0">
                <a:solidFill>
                  <a:srgbClr val="000000"/>
                </a:solidFill>
                <a:latin typeface="Consolas" panose="020B0609020204030204" pitchFamily="49" charset="0"/>
              </a:rPr>
              <a:t> </a:t>
            </a:r>
            <a:r>
              <a:rPr lang="en-GB" sz="1600" b="1" dirty="0" err="1">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 </a:t>
            </a:r>
            <a:r>
              <a:rPr lang="en-GB" sz="1600" b="1" dirty="0">
                <a:solidFill>
                  <a:srgbClr val="0000C0"/>
                </a:solidFill>
                <a:latin typeface="Consolas" panose="020B0609020204030204" pitchFamily="49" charset="0"/>
              </a:rPr>
              <a:t>pin</a:t>
            </a:r>
            <a:r>
              <a:rPr lang="en-GB" sz="1600" b="1" dirty="0">
                <a:solidFill>
                  <a:srgbClr val="000000"/>
                </a:solidFill>
                <a:latin typeface="Consolas" panose="020B0609020204030204" pitchFamily="49" charset="0"/>
              </a:rPr>
              <a:t>;</a:t>
            </a:r>
            <a:endParaRPr lang="en-GB" sz="1400" b="1" dirty="0">
              <a:solidFill>
                <a:srgbClr val="000000"/>
              </a:solidFill>
              <a:latin typeface="Consolas" panose="020B0609020204030204" pitchFamily="49" charset="0"/>
            </a:endParaRPr>
          </a:p>
          <a:p>
            <a:endParaRPr lang="en-GB" sz="1400" dirty="0">
              <a:latin typeface="Consolas" panose="020B0609020204030204" pitchFamily="49" charset="0"/>
            </a:endParaRPr>
          </a:p>
          <a:p>
            <a:r>
              <a:rPr lang="en-GB" sz="1400" b="1" dirty="0">
                <a:solidFill>
                  <a:srgbClr val="7F0055"/>
                </a:solidFill>
                <a:latin typeface="Consolas" panose="020B0609020204030204" pitchFamily="49" charset="0"/>
              </a:rPr>
              <a:t>   public</a:t>
            </a:r>
            <a:r>
              <a:rPr lang="en-GB" sz="1400" b="1" dirty="0">
                <a:solidFill>
                  <a:srgbClr val="000000"/>
                </a:solidFill>
                <a:latin typeface="Consolas" panose="020B0609020204030204" pitchFamily="49" charset="0"/>
              </a:rPr>
              <a:t> </a:t>
            </a:r>
            <a:r>
              <a:rPr lang="en-GB" sz="1400" b="1" dirty="0" err="1">
                <a:solidFill>
                  <a:srgbClr val="000000"/>
                </a:solidFill>
                <a:latin typeface="Consolas" panose="020B0609020204030204" pitchFamily="49" charset="0"/>
              </a:rPr>
              <a:t>CreditCard</a:t>
            </a:r>
            <a:r>
              <a:rPr lang="en-GB" sz="1400" b="1" dirty="0">
                <a:solidFill>
                  <a:srgbClr val="000000"/>
                </a:solidFill>
                <a:latin typeface="Consolas" panose="020B0609020204030204" pitchFamily="49" charset="0"/>
              </a:rPr>
              <a:t>(</a:t>
            </a:r>
            <a:r>
              <a:rPr lang="en-GB" sz="1400" b="1" dirty="0" err="1">
                <a:solidFill>
                  <a:srgbClr val="7F0055"/>
                </a:solidFill>
                <a:latin typeface="Consolas" panose="020B0609020204030204" pitchFamily="49" charset="0"/>
              </a:rPr>
              <a:t>int</a:t>
            </a:r>
            <a:r>
              <a:rPr lang="en-GB" sz="1400" b="1" dirty="0">
                <a:solidFill>
                  <a:srgbClr val="000000"/>
                </a:solidFill>
                <a:latin typeface="Consolas" panose="020B0609020204030204" pitchFamily="49" charset="0"/>
              </a:rPr>
              <a:t> </a:t>
            </a:r>
            <a:r>
              <a:rPr lang="en-GB" sz="1400" b="1" dirty="0">
                <a:solidFill>
                  <a:srgbClr val="6A3E3E"/>
                </a:solidFill>
                <a:latin typeface="Consolas" panose="020B0609020204030204" pitchFamily="49" charset="0"/>
              </a:rPr>
              <a:t>pin</a:t>
            </a:r>
            <a:r>
              <a:rPr lang="en-GB" sz="1400" b="1" dirty="0">
                <a:solidFill>
                  <a:srgbClr val="000000"/>
                </a:solidFill>
                <a:latin typeface="Consolas" panose="020B0609020204030204" pitchFamily="49" charset="0"/>
              </a:rPr>
              <a:t>) {</a:t>
            </a:r>
          </a:p>
          <a:p>
            <a:r>
              <a:rPr lang="en-GB" sz="1400" b="1" dirty="0">
                <a:solidFill>
                  <a:srgbClr val="7F0055"/>
                </a:solidFill>
                <a:latin typeface="Consolas" panose="020B0609020204030204" pitchFamily="49" charset="0"/>
              </a:rPr>
              <a:t>      </a:t>
            </a:r>
            <a:r>
              <a:rPr lang="en-GB" sz="1400" b="1" dirty="0" err="1">
                <a:solidFill>
                  <a:srgbClr val="7F0055"/>
                </a:solidFill>
                <a:latin typeface="Consolas" panose="020B0609020204030204" pitchFamily="49" charset="0"/>
              </a:rPr>
              <a:t>this</a:t>
            </a:r>
            <a:r>
              <a:rPr lang="en-GB" sz="1400" b="1" dirty="0" err="1">
                <a:solidFill>
                  <a:srgbClr val="000000"/>
                </a:solidFill>
                <a:latin typeface="Consolas" panose="020B0609020204030204" pitchFamily="49" charset="0"/>
              </a:rPr>
              <a:t>.</a:t>
            </a:r>
            <a:r>
              <a:rPr lang="en-GB" sz="1400" b="1" dirty="0" err="1">
                <a:solidFill>
                  <a:srgbClr val="0000C0"/>
                </a:solidFill>
                <a:latin typeface="Consolas" panose="020B0609020204030204" pitchFamily="49" charset="0"/>
              </a:rPr>
              <a:t>pin</a:t>
            </a:r>
            <a:r>
              <a:rPr lang="en-GB" sz="1400" b="1" dirty="0">
                <a:solidFill>
                  <a:srgbClr val="000000"/>
                </a:solidFill>
                <a:latin typeface="Consolas" panose="020B0609020204030204" pitchFamily="49" charset="0"/>
              </a:rPr>
              <a:t> = </a:t>
            </a:r>
            <a:r>
              <a:rPr lang="en-GB" sz="1400" b="1" dirty="0">
                <a:solidFill>
                  <a:srgbClr val="6A3E3E"/>
                </a:solidFill>
                <a:latin typeface="Consolas" panose="020B0609020204030204" pitchFamily="49" charset="0"/>
              </a:rPr>
              <a:t>pin</a:t>
            </a:r>
            <a:r>
              <a:rPr lang="en-GB" sz="1400" b="1" dirty="0">
                <a:solidFill>
                  <a:srgbClr val="000000"/>
                </a:solidFill>
                <a:latin typeface="Consolas" panose="020B0609020204030204" pitchFamily="49" charset="0"/>
              </a:rPr>
              <a:t>;</a:t>
            </a:r>
          </a:p>
          <a:p>
            <a:r>
              <a:rPr lang="en-GB" sz="1400" dirty="0">
                <a:solidFill>
                  <a:srgbClr val="000000"/>
                </a:solidFill>
                <a:latin typeface="Consolas" panose="020B0609020204030204" pitchFamily="49" charset="0"/>
              </a:rPr>
              <a:t>   }</a:t>
            </a:r>
          </a:p>
          <a:p>
            <a:r>
              <a:rPr lang="en-GB" sz="1400" dirty="0">
                <a:solidFill>
                  <a:srgbClr val="000000"/>
                </a:solidFill>
                <a:latin typeface="Consolas" panose="020B0609020204030204" pitchFamily="49" charset="0"/>
              </a:rPr>
              <a:t>}</a:t>
            </a:r>
          </a:p>
        </p:txBody>
      </p:sp>
      <p:sp>
        <p:nvSpPr>
          <p:cNvPr id="6" name="Rectangle 5"/>
          <p:cNvSpPr/>
          <p:nvPr/>
        </p:nvSpPr>
        <p:spPr>
          <a:xfrm>
            <a:off x="5656460" y="3005717"/>
            <a:ext cx="4741670" cy="2031325"/>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400" b="1" dirty="0">
                <a:solidFill>
                  <a:srgbClr val="7F0055"/>
                </a:solidFill>
                <a:latin typeface="Consolas" panose="020B0609020204030204" pitchFamily="49" charset="0"/>
              </a:rPr>
              <a:t>namespace</a:t>
            </a:r>
            <a:r>
              <a:rPr lang="en-GB" sz="1400" b="1" dirty="0">
                <a:solidFill>
                  <a:srgbClr val="000000"/>
                </a:solidFill>
                <a:latin typeface="Consolas" panose="020B0609020204030204" pitchFamily="49" charset="0"/>
              </a:rPr>
              <a:t> </a:t>
            </a:r>
            <a:r>
              <a:rPr lang="en-GB" sz="1400" b="1" dirty="0" err="1">
                <a:solidFill>
                  <a:srgbClr val="000000"/>
                </a:solidFill>
                <a:latin typeface="Consolas" panose="020B0609020204030204" pitchFamily="49" charset="0"/>
              </a:rPr>
              <a:t>barclays</a:t>
            </a:r>
            <a:r>
              <a:rPr lang="en-GB" sz="1400" b="1" dirty="0">
                <a:solidFill>
                  <a:srgbClr val="000000"/>
                </a:solidFill>
                <a:latin typeface="Consolas" panose="020B0609020204030204" pitchFamily="49" charset="0"/>
              </a:rPr>
              <a:t>;</a:t>
            </a:r>
          </a:p>
          <a:p>
            <a:endParaRPr lang="en-GB" sz="1400" b="1" dirty="0">
              <a:latin typeface="Consolas" panose="020B0609020204030204" pitchFamily="49" charset="0"/>
            </a:endParaRPr>
          </a:p>
          <a:p>
            <a:r>
              <a:rPr lang="en-GB" sz="1400" b="1" dirty="0">
                <a:solidFill>
                  <a:srgbClr val="7F0055"/>
                </a:solidFill>
                <a:latin typeface="Consolas" panose="020B0609020204030204" pitchFamily="49" charset="0"/>
              </a:rPr>
              <a:t>public</a:t>
            </a:r>
            <a:r>
              <a:rPr lang="en-GB" sz="1400" b="1" dirty="0">
                <a:solidFill>
                  <a:srgbClr val="000000"/>
                </a:solidFill>
                <a:latin typeface="Consolas" panose="020B0609020204030204" pitchFamily="49" charset="0"/>
              </a:rPr>
              <a:t> </a:t>
            </a:r>
            <a:r>
              <a:rPr lang="en-GB" sz="1400" b="1" dirty="0">
                <a:solidFill>
                  <a:srgbClr val="7F0055"/>
                </a:solidFill>
                <a:latin typeface="Consolas" panose="020B0609020204030204" pitchFamily="49" charset="0"/>
              </a:rPr>
              <a:t>class</a:t>
            </a:r>
            <a:r>
              <a:rPr lang="en-GB" sz="1400" b="1" dirty="0">
                <a:solidFill>
                  <a:srgbClr val="000000"/>
                </a:solidFill>
                <a:latin typeface="Consolas" panose="020B0609020204030204" pitchFamily="49" charset="0"/>
              </a:rPr>
              <a:t> Program {</a:t>
            </a:r>
          </a:p>
          <a:p>
            <a:r>
              <a:rPr lang="en-GB" sz="1400" b="1" dirty="0">
                <a:solidFill>
                  <a:srgbClr val="7F0055"/>
                </a:solidFill>
                <a:latin typeface="Consolas" panose="020B0609020204030204" pitchFamily="49" charset="0"/>
              </a:rPr>
              <a:t>   public</a:t>
            </a:r>
            <a:r>
              <a:rPr lang="en-GB" sz="1400" b="1" dirty="0">
                <a:solidFill>
                  <a:srgbClr val="000000"/>
                </a:solidFill>
                <a:latin typeface="Consolas" panose="020B0609020204030204" pitchFamily="49" charset="0"/>
              </a:rPr>
              <a:t> </a:t>
            </a:r>
            <a:r>
              <a:rPr lang="en-GB" sz="1400" b="1" dirty="0">
                <a:solidFill>
                  <a:srgbClr val="7F0055"/>
                </a:solidFill>
                <a:latin typeface="Consolas" panose="020B0609020204030204" pitchFamily="49" charset="0"/>
              </a:rPr>
              <a:t>static</a:t>
            </a:r>
            <a:r>
              <a:rPr lang="en-GB" sz="1400" b="1" dirty="0">
                <a:solidFill>
                  <a:srgbClr val="000000"/>
                </a:solidFill>
                <a:latin typeface="Consolas" panose="020B0609020204030204" pitchFamily="49" charset="0"/>
              </a:rPr>
              <a:t> </a:t>
            </a:r>
            <a:r>
              <a:rPr lang="en-GB" sz="1400" b="1" dirty="0">
                <a:solidFill>
                  <a:srgbClr val="7F0055"/>
                </a:solidFill>
                <a:latin typeface="Consolas" panose="020B0609020204030204" pitchFamily="49" charset="0"/>
              </a:rPr>
              <a:t>void</a:t>
            </a:r>
            <a:r>
              <a:rPr lang="en-GB" sz="1400" b="1" dirty="0">
                <a:solidFill>
                  <a:srgbClr val="000000"/>
                </a:solidFill>
                <a:latin typeface="Consolas" panose="020B0609020204030204" pitchFamily="49" charset="0"/>
              </a:rPr>
              <a:t> Main(string[] </a:t>
            </a:r>
            <a:r>
              <a:rPr lang="en-GB" sz="1400" b="1" dirty="0" err="1">
                <a:solidFill>
                  <a:srgbClr val="6A3E3E"/>
                </a:solidFill>
                <a:latin typeface="Consolas" panose="020B0609020204030204" pitchFamily="49" charset="0"/>
              </a:rPr>
              <a:t>args</a:t>
            </a:r>
            <a:r>
              <a:rPr lang="en-GB" sz="1400" b="1" dirty="0">
                <a:solidFill>
                  <a:srgbClr val="000000"/>
                </a:solidFill>
                <a:latin typeface="Consolas" panose="020B0609020204030204" pitchFamily="49" charset="0"/>
              </a:rPr>
              <a:t>) {</a:t>
            </a:r>
          </a:p>
          <a:p>
            <a:endParaRPr lang="en-GB" sz="1400" b="1" dirty="0">
              <a:solidFill>
                <a:srgbClr val="000000"/>
              </a:solidFill>
              <a:latin typeface="Consolas" panose="020B0609020204030204" pitchFamily="49" charset="0"/>
            </a:endParaRPr>
          </a:p>
          <a:p>
            <a:r>
              <a:rPr lang="en-GB" sz="1400" b="1" dirty="0">
                <a:solidFill>
                  <a:srgbClr val="000000"/>
                </a:solidFill>
                <a:latin typeface="Consolas" panose="020B0609020204030204" pitchFamily="49" charset="0"/>
              </a:rPr>
              <a:t>       </a:t>
            </a:r>
            <a:r>
              <a:rPr lang="en-GB" sz="1400" b="1" dirty="0" err="1">
                <a:solidFill>
                  <a:srgbClr val="000000"/>
                </a:solidFill>
                <a:latin typeface="Consolas" panose="020B0609020204030204" pitchFamily="49" charset="0"/>
              </a:rPr>
              <a:t>CreditCard</a:t>
            </a:r>
            <a:r>
              <a:rPr lang="en-GB" sz="1400" b="1" dirty="0">
                <a:solidFill>
                  <a:srgbClr val="000000"/>
                </a:solidFill>
                <a:latin typeface="Consolas" panose="020B0609020204030204" pitchFamily="49" charset="0"/>
              </a:rPr>
              <a:t> </a:t>
            </a:r>
            <a:r>
              <a:rPr lang="en-GB" sz="1400" b="1" dirty="0">
                <a:solidFill>
                  <a:srgbClr val="6A3E3E"/>
                </a:solidFill>
                <a:latin typeface="Consolas" panose="020B0609020204030204" pitchFamily="49" charset="0"/>
              </a:rPr>
              <a:t>cc1</a:t>
            </a:r>
            <a:r>
              <a:rPr lang="en-GB" sz="1400" b="1" dirty="0">
                <a:solidFill>
                  <a:srgbClr val="000000"/>
                </a:solidFill>
                <a:latin typeface="Consolas" panose="020B0609020204030204" pitchFamily="49" charset="0"/>
              </a:rPr>
              <a:t> = </a:t>
            </a:r>
            <a:r>
              <a:rPr lang="en-GB" sz="1400" b="1" dirty="0">
                <a:solidFill>
                  <a:srgbClr val="7F0055"/>
                </a:solidFill>
                <a:latin typeface="Consolas" panose="020B0609020204030204" pitchFamily="49" charset="0"/>
              </a:rPr>
              <a:t>new</a:t>
            </a:r>
            <a:r>
              <a:rPr lang="en-GB" sz="1400" b="1" dirty="0">
                <a:solidFill>
                  <a:srgbClr val="000000"/>
                </a:solidFill>
                <a:latin typeface="Consolas" panose="020B0609020204030204" pitchFamily="49" charset="0"/>
              </a:rPr>
              <a:t> </a:t>
            </a:r>
            <a:r>
              <a:rPr lang="en-GB" sz="1400" b="1" dirty="0" err="1">
                <a:solidFill>
                  <a:srgbClr val="000000"/>
                </a:solidFill>
                <a:latin typeface="Consolas" panose="020B0609020204030204" pitchFamily="49" charset="0"/>
              </a:rPr>
              <a:t>CreditCard</a:t>
            </a:r>
            <a:r>
              <a:rPr lang="en-GB" sz="1400" b="1" dirty="0">
                <a:solidFill>
                  <a:srgbClr val="000000"/>
                </a:solidFill>
                <a:latin typeface="Consolas" panose="020B0609020204030204" pitchFamily="49" charset="0"/>
              </a:rPr>
              <a:t>(111);</a:t>
            </a:r>
          </a:p>
          <a:p>
            <a:r>
              <a:rPr lang="en-GB" sz="1400" b="1" dirty="0">
                <a:solidFill>
                  <a:srgbClr val="000000"/>
                </a:solidFill>
                <a:latin typeface="Consolas" panose="020B0609020204030204" pitchFamily="49" charset="0"/>
              </a:rPr>
              <a:t>       </a:t>
            </a:r>
            <a:r>
              <a:rPr lang="en-GB" sz="1400" b="1" dirty="0" err="1">
                <a:solidFill>
                  <a:srgbClr val="000000"/>
                </a:solidFill>
                <a:latin typeface="Consolas" panose="020B0609020204030204" pitchFamily="49" charset="0"/>
              </a:rPr>
              <a:t>Console.WriteLine</a:t>
            </a:r>
            <a:r>
              <a:rPr lang="en-GB" sz="1400" b="1" dirty="0">
                <a:solidFill>
                  <a:srgbClr val="000000"/>
                </a:solidFill>
                <a:latin typeface="Consolas" panose="020B0609020204030204" pitchFamily="49" charset="0"/>
              </a:rPr>
              <a:t>(cc1.pin);</a:t>
            </a:r>
          </a:p>
          <a:p>
            <a:r>
              <a:rPr lang="en-GB" sz="1400" b="1" dirty="0">
                <a:solidFill>
                  <a:srgbClr val="000000"/>
                </a:solidFill>
                <a:latin typeface="Consolas" panose="020B0609020204030204" pitchFamily="49" charset="0"/>
              </a:rPr>
              <a:t>   }</a:t>
            </a:r>
          </a:p>
          <a:p>
            <a:r>
              <a:rPr lang="en-GB" sz="1400" b="1" dirty="0">
                <a:solidFill>
                  <a:srgbClr val="000000"/>
                </a:solidFill>
                <a:latin typeface="Consolas" panose="020B0609020204030204" pitchFamily="49" charset="0"/>
              </a:rPr>
              <a:t>}</a:t>
            </a:r>
          </a:p>
        </p:txBody>
      </p:sp>
      <p:sp>
        <p:nvSpPr>
          <p:cNvPr id="9" name="TextBox 8"/>
          <p:cNvSpPr txBox="1"/>
          <p:nvPr/>
        </p:nvSpPr>
        <p:spPr>
          <a:xfrm>
            <a:off x="4118765" y="5616269"/>
            <a:ext cx="550151" cy="584775"/>
          </a:xfrm>
          <a:prstGeom prst="rect">
            <a:avLst/>
          </a:prstGeom>
          <a:noFill/>
          <a:ln>
            <a:noFill/>
          </a:ln>
          <a:effectLst>
            <a:outerShdw blurRad="50800" dist="38100" algn="l" rotWithShape="0">
              <a:prstClr val="black">
                <a:alpha val="40000"/>
              </a:prstClr>
            </a:outerShdw>
          </a:effectLst>
        </p:spPr>
        <p:txBody>
          <a:bodyPr wrap="none" rtlCol="0">
            <a:spAutoFit/>
          </a:bodyPr>
          <a:lstStyle/>
          <a:p>
            <a:r>
              <a:rPr lang="en-GB" sz="3200" dirty="0">
                <a:solidFill>
                  <a:srgbClr val="FF0000"/>
                </a:solidFill>
                <a:latin typeface="Courier New" pitchFamily="49" charset="0"/>
                <a:cs typeface="Courier New" pitchFamily="49" charset="0"/>
                <a:sym typeface="Wingdings" panose="05000000000000000000" pitchFamily="2" charset="2"/>
              </a:rPr>
              <a:t></a:t>
            </a:r>
            <a:endParaRPr lang="en-GB" sz="3200" dirty="0">
              <a:solidFill>
                <a:srgbClr val="FF0000"/>
              </a:solidFill>
              <a:latin typeface="Courier New" pitchFamily="49" charset="0"/>
              <a:cs typeface="Courier New" pitchFamily="49" charset="0"/>
            </a:endParaRPr>
          </a:p>
        </p:txBody>
      </p:sp>
      <p:sp>
        <p:nvSpPr>
          <p:cNvPr id="3" name="Rounded Rectangular Callout 2"/>
          <p:cNvSpPr/>
          <p:nvPr/>
        </p:nvSpPr>
        <p:spPr>
          <a:xfrm>
            <a:off x="5162819" y="5314084"/>
            <a:ext cx="3259070" cy="954870"/>
          </a:xfrm>
          <a:prstGeom prst="wedgeRoundRectCallout">
            <a:avLst>
              <a:gd name="adj1" fmla="val -56640"/>
              <a:gd name="adj2" fmla="val -28727"/>
              <a:gd name="adj3" fmla="val 16667"/>
            </a:avLst>
          </a:prstGeom>
          <a:ln>
            <a:noFill/>
          </a:ln>
          <a:effectLst>
            <a:outerShdw blurRad="50800" dist="38100" algn="l" rotWithShape="0">
              <a:prstClr val="black">
                <a:alpha val="40000"/>
              </a:prstClr>
            </a:outerShdw>
          </a:effectLst>
        </p:spPr>
        <p:style>
          <a:lnRef idx="0">
            <a:schemeClr val="accent3"/>
          </a:lnRef>
          <a:fillRef idx="3">
            <a:schemeClr val="accent3"/>
          </a:fillRef>
          <a:effectRef idx="3">
            <a:schemeClr val="accent3"/>
          </a:effectRef>
          <a:fontRef idx="minor">
            <a:schemeClr val="lt1"/>
          </a:fontRef>
        </p:style>
        <p:txBody>
          <a:bodyPr rtlCol="0" anchor="ctr"/>
          <a:lstStyle/>
          <a:p>
            <a:pPr algn="ctr"/>
            <a:r>
              <a:rPr lang="en-GB" sz="1600" b="1" dirty="0">
                <a:solidFill>
                  <a:schemeClr val="bg1"/>
                </a:solidFill>
                <a:latin typeface="Consolas" panose="020B0609020204030204" pitchFamily="49" charset="0"/>
                <a:cs typeface="Courier New" pitchFamily="49" charset="0"/>
              </a:rPr>
              <a:t>No access by a class outside of the project (assembly)</a:t>
            </a:r>
          </a:p>
        </p:txBody>
      </p:sp>
      <p:sp>
        <p:nvSpPr>
          <p:cNvPr id="10" name="Speech Bubble: Rectangle with Corners Rounded 9">
            <a:extLst>
              <a:ext uri="{FF2B5EF4-FFF2-40B4-BE49-F238E27FC236}">
                <a16:creationId xmlns:a16="http://schemas.microsoft.com/office/drawing/2014/main" id="{3895C132-17F2-C1A4-FF49-4FCADD694010}"/>
              </a:ext>
            </a:extLst>
          </p:cNvPr>
          <p:cNvSpPr/>
          <p:nvPr/>
        </p:nvSpPr>
        <p:spPr>
          <a:xfrm>
            <a:off x="10091870" y="4485910"/>
            <a:ext cx="1955041" cy="1102264"/>
          </a:xfrm>
          <a:prstGeom prst="wedgeRoundRectCallout">
            <a:avLst>
              <a:gd name="adj1" fmla="val -58650"/>
              <a:gd name="adj2" fmla="val -26738"/>
              <a:gd name="adj3" fmla="val 16667"/>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r>
              <a:rPr lang="en-GB" sz="1600" b="1" dirty="0">
                <a:latin typeface="Consolas" panose="020B0609020204030204" pitchFamily="49" charset="0"/>
                <a:cs typeface="Courier New" pitchFamily="49" charset="0"/>
              </a:rPr>
              <a:t>Can only be accessed by extended classes</a:t>
            </a:r>
            <a:endParaRPr lang="en-GB" sz="1600" b="1" dirty="0">
              <a:solidFill>
                <a:schemeClr val="bg1"/>
              </a:solidFill>
              <a:latin typeface="Consolas" panose="020B0609020204030204" pitchFamily="49" charset="0"/>
              <a:cs typeface="Courier New" pitchFamily="49" charset="0"/>
            </a:endParaRPr>
          </a:p>
        </p:txBody>
      </p:sp>
      <p:sp>
        <p:nvSpPr>
          <p:cNvPr id="11" name="TextBox 10">
            <a:extLst>
              <a:ext uri="{FF2B5EF4-FFF2-40B4-BE49-F238E27FC236}">
                <a16:creationId xmlns:a16="http://schemas.microsoft.com/office/drawing/2014/main" id="{3209CE96-2756-AE92-53BB-1EAE0FAFB57E}"/>
              </a:ext>
            </a:extLst>
          </p:cNvPr>
          <p:cNvSpPr txBox="1"/>
          <p:nvPr/>
        </p:nvSpPr>
        <p:spPr>
          <a:xfrm>
            <a:off x="9192085" y="4264717"/>
            <a:ext cx="550151" cy="584775"/>
          </a:xfrm>
          <a:prstGeom prst="rect">
            <a:avLst/>
          </a:prstGeom>
          <a:noFill/>
          <a:ln>
            <a:noFill/>
          </a:ln>
          <a:effectLst>
            <a:outerShdw blurRad="50800" dist="38100" algn="l" rotWithShape="0">
              <a:prstClr val="black">
                <a:alpha val="40000"/>
              </a:prstClr>
            </a:outerShdw>
          </a:effectLst>
        </p:spPr>
        <p:txBody>
          <a:bodyPr wrap="none" rtlCol="0">
            <a:spAutoFit/>
          </a:bodyPr>
          <a:lstStyle/>
          <a:p>
            <a:r>
              <a:rPr lang="en-GB" sz="3200" dirty="0">
                <a:solidFill>
                  <a:srgbClr val="FF0000"/>
                </a:solidFill>
                <a:latin typeface="Courier New" pitchFamily="49" charset="0"/>
                <a:cs typeface="Courier New" pitchFamily="49" charset="0"/>
                <a:sym typeface="Wingdings" panose="05000000000000000000" pitchFamily="2" charset="2"/>
              </a:rPr>
              <a:t></a:t>
            </a:r>
            <a:endParaRPr lang="en-GB" sz="3200" dirty="0">
              <a:solidFill>
                <a:srgbClr val="FF0000"/>
              </a:solidFill>
              <a:latin typeface="Courier New" pitchFamily="49" charset="0"/>
              <a:cs typeface="Courier New" pitchFamily="49" charset="0"/>
            </a:endParaRPr>
          </a:p>
        </p:txBody>
      </p:sp>
    </p:spTree>
    <p:extLst>
      <p:ext uri="{BB962C8B-B14F-4D97-AF65-F5344CB8AC3E}">
        <p14:creationId xmlns:p14="http://schemas.microsoft.com/office/powerpoint/2010/main" val="869521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P spid="3" grpId="0" animBg="1"/>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482633" y="3618683"/>
            <a:ext cx="7539243" cy="2554545"/>
          </a:xfrm>
          <a:prstGeom prst="rect">
            <a:avLst/>
          </a:prstGeom>
          <a:solidFill>
            <a:schemeClr val="bg1"/>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b="1" dirty="0">
                <a:solidFill>
                  <a:srgbClr val="7F0055"/>
                </a:solidFill>
                <a:latin typeface="Consolas" panose="020B0609020204030204" pitchFamily="49" charset="0"/>
              </a:rPr>
              <a:t>namespace</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tesco</a:t>
            </a:r>
            <a:r>
              <a:rPr lang="en-GB" sz="1600" b="1" dirty="0">
                <a:solidFill>
                  <a:srgbClr val="000000"/>
                </a:solidFill>
                <a:latin typeface="Consolas" panose="020B0609020204030204" pitchFamily="49" charset="0"/>
              </a:rPr>
              <a:t>;</a:t>
            </a:r>
          </a:p>
          <a:p>
            <a:r>
              <a:rPr lang="en-GB" sz="1600" b="1" dirty="0">
                <a:solidFill>
                  <a:srgbClr val="7F0055"/>
                </a:solidFill>
                <a:latin typeface="Consolas" panose="020B0609020204030204" pitchFamily="49" charset="0"/>
              </a:rPr>
              <a:t>using</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barclays</a:t>
            </a:r>
            <a:r>
              <a:rPr lang="en-GB" sz="1600" b="1" dirty="0">
                <a:solidFill>
                  <a:srgbClr val="000000"/>
                </a:solidFill>
                <a:latin typeface="Consolas" panose="020B0609020204030204" pitchFamily="49" charset="0"/>
              </a:rPr>
              <a:t>;</a:t>
            </a:r>
          </a:p>
          <a:p>
            <a:endParaRPr lang="en-GB" sz="1600" dirty="0">
              <a:latin typeface="Consolas" panose="020B0609020204030204" pitchFamily="49" charset="0"/>
            </a:endParaRPr>
          </a:p>
          <a:p>
            <a:r>
              <a:rPr lang="en-GB" sz="1600" b="1" dirty="0">
                <a:solidFill>
                  <a:srgbClr val="7F0055"/>
                </a:solidFill>
                <a:latin typeface="Consolas" panose="020B0609020204030204" pitchFamily="49" charset="0"/>
              </a:rPr>
              <a:t>public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class</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TescoCreditCard</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CreditCard</a:t>
            </a:r>
            <a:r>
              <a:rPr lang="en-GB" sz="1600" b="1" dirty="0">
                <a:solidFill>
                  <a:srgbClr val="000000"/>
                </a:solidFill>
                <a:latin typeface="Consolas" panose="020B0609020204030204" pitchFamily="49" charset="0"/>
              </a:rPr>
              <a:t> {</a:t>
            </a:r>
          </a:p>
          <a:p>
            <a:r>
              <a:rPr lang="en-GB" sz="1600" b="1" dirty="0">
                <a:solidFill>
                  <a:srgbClr val="7F0055"/>
                </a:solidFill>
                <a:latin typeface="Consolas" panose="020B0609020204030204" pitchFamily="49" charset="0"/>
              </a:rPr>
              <a:t>   public</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TescoCreditCard</a:t>
            </a:r>
            <a:r>
              <a:rPr lang="en-GB" sz="1600" b="1" dirty="0">
                <a:solidFill>
                  <a:srgbClr val="000000"/>
                </a:solidFill>
                <a:latin typeface="Consolas" panose="020B0609020204030204" pitchFamily="49" charset="0"/>
              </a:rPr>
              <a:t>(</a:t>
            </a:r>
            <a:r>
              <a:rPr lang="en-GB" sz="1600" b="1" dirty="0">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 </a:t>
            </a:r>
            <a:r>
              <a:rPr lang="en-GB" sz="1600" b="1" dirty="0">
                <a:solidFill>
                  <a:srgbClr val="6A3E3E"/>
                </a:solidFill>
                <a:latin typeface="Consolas" panose="020B0609020204030204" pitchFamily="49" charset="0"/>
              </a:rPr>
              <a:t>pin</a:t>
            </a:r>
            <a:r>
              <a:rPr lang="en-GB" sz="1600" b="1" dirty="0">
                <a:solidFill>
                  <a:srgbClr val="000000"/>
                </a:solidFill>
                <a:latin typeface="Consolas" panose="020B0609020204030204" pitchFamily="49" charset="0"/>
              </a:rPr>
              <a:t>) : base(</a:t>
            </a:r>
            <a:r>
              <a:rPr lang="en-GB" sz="1600" b="1" dirty="0">
                <a:solidFill>
                  <a:srgbClr val="6A3E3E"/>
                </a:solidFill>
                <a:latin typeface="Consolas" panose="020B0609020204030204" pitchFamily="49" charset="0"/>
              </a:rPr>
              <a:t>pin</a:t>
            </a:r>
            <a:r>
              <a:rPr lang="en-GB" sz="1600" b="1" dirty="0">
                <a:solidFill>
                  <a:srgbClr val="000000"/>
                </a:solidFill>
                <a:latin typeface="Consolas" panose="020B0609020204030204" pitchFamily="49" charset="0"/>
              </a:rPr>
              <a:t>);</a:t>
            </a:r>
          </a:p>
          <a:p>
            <a:r>
              <a:rPr lang="en-GB" sz="1600" dirty="0">
                <a:solidFill>
                  <a:srgbClr val="000000"/>
                </a:solidFill>
                <a:latin typeface="Consolas" panose="020B0609020204030204" pitchFamily="49" charset="0"/>
              </a:rPr>
              <a:t>   }</a:t>
            </a:r>
          </a:p>
          <a:p>
            <a:r>
              <a:rPr lang="en-GB" sz="1600" b="1" dirty="0">
                <a:solidFill>
                  <a:srgbClr val="7F0055"/>
                </a:solidFill>
                <a:latin typeface="Consolas" panose="020B0609020204030204" pitchFamily="49" charset="0"/>
              </a:rPr>
              <a:t>   public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void</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changePin</a:t>
            </a:r>
            <a:r>
              <a:rPr lang="en-GB" sz="1600" b="1" dirty="0">
                <a:solidFill>
                  <a:srgbClr val="000000"/>
                </a:solidFill>
                <a:latin typeface="Consolas" panose="020B0609020204030204" pitchFamily="49" charset="0"/>
              </a:rPr>
              <a:t>(</a:t>
            </a:r>
            <a:r>
              <a:rPr lang="en-GB" sz="1600" b="1" dirty="0" err="1">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 </a:t>
            </a:r>
            <a:r>
              <a:rPr lang="en-GB" sz="1600" b="1" dirty="0" err="1">
                <a:solidFill>
                  <a:srgbClr val="6A3E3E"/>
                </a:solidFill>
                <a:latin typeface="Consolas" panose="020B0609020204030204" pitchFamily="49" charset="0"/>
              </a:rPr>
              <a:t>newPin</a:t>
            </a:r>
            <a:r>
              <a:rPr lang="en-GB" sz="1600" b="1" dirty="0">
                <a:solidFill>
                  <a:srgbClr val="000000"/>
                </a:solidFill>
                <a:latin typeface="Consolas" panose="020B0609020204030204" pitchFamily="49" charset="0"/>
              </a:rPr>
              <a:t>) {</a:t>
            </a:r>
          </a:p>
          <a:p>
            <a:r>
              <a:rPr lang="en-GB" sz="1600" b="1" dirty="0">
                <a:solidFill>
                  <a:srgbClr val="7F0055"/>
                </a:solidFill>
                <a:latin typeface="Consolas" panose="020B0609020204030204" pitchFamily="49" charset="0"/>
              </a:rPr>
              <a:t>	</a:t>
            </a:r>
            <a:r>
              <a:rPr lang="en-GB" sz="1600" b="1" dirty="0" err="1">
                <a:solidFill>
                  <a:srgbClr val="7F0055"/>
                </a:solidFill>
                <a:latin typeface="Consolas" panose="020B0609020204030204" pitchFamily="49" charset="0"/>
              </a:rPr>
              <a:t>this</a:t>
            </a:r>
            <a:r>
              <a:rPr lang="en-GB" sz="1600" b="1" dirty="0" err="1">
                <a:solidFill>
                  <a:srgbClr val="000000"/>
                </a:solidFill>
                <a:latin typeface="Consolas" panose="020B0609020204030204" pitchFamily="49" charset="0"/>
              </a:rPr>
              <a:t>.</a:t>
            </a:r>
            <a:r>
              <a:rPr lang="en-GB" sz="1600" b="1" dirty="0" err="1">
                <a:solidFill>
                  <a:srgbClr val="0000C0"/>
                </a:solidFill>
                <a:latin typeface="Consolas" panose="020B0609020204030204" pitchFamily="49" charset="0"/>
              </a:rPr>
              <a:t>pin</a:t>
            </a:r>
            <a:r>
              <a:rPr lang="en-GB" sz="1600" b="1" dirty="0">
                <a:solidFill>
                  <a:srgbClr val="000000"/>
                </a:solidFill>
                <a:latin typeface="Consolas" panose="020B0609020204030204" pitchFamily="49" charset="0"/>
              </a:rPr>
              <a:t> = </a:t>
            </a:r>
            <a:r>
              <a:rPr lang="en-GB" sz="1600" b="1" dirty="0" err="1">
                <a:solidFill>
                  <a:srgbClr val="6A3E3E"/>
                </a:solidFill>
                <a:latin typeface="Consolas" panose="020B0609020204030204" pitchFamily="49" charset="0"/>
              </a:rPr>
              <a:t>newPin</a:t>
            </a:r>
            <a:r>
              <a:rPr lang="en-GB" sz="1600" b="1" dirty="0">
                <a:solidFill>
                  <a:srgbClr val="000000"/>
                </a:solidFill>
                <a:latin typeface="Consolas" panose="020B0609020204030204" pitchFamily="49" charset="0"/>
              </a:rPr>
              <a:t>;</a:t>
            </a:r>
          </a:p>
          <a:p>
            <a:r>
              <a:rPr lang="en-GB" sz="1600"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a:t>
            </a:r>
          </a:p>
        </p:txBody>
      </p:sp>
      <p:sp>
        <p:nvSpPr>
          <p:cNvPr id="2" name="Title 1"/>
          <p:cNvSpPr>
            <a:spLocks noGrp="1"/>
          </p:cNvSpPr>
          <p:nvPr>
            <p:ph type="title"/>
          </p:nvPr>
        </p:nvSpPr>
        <p:spPr/>
        <p:txBody>
          <a:bodyPr/>
          <a:lstStyle/>
          <a:p>
            <a:r>
              <a:rPr lang="en-GB" dirty="0"/>
              <a:t>Protected example within inheritance</a:t>
            </a:r>
          </a:p>
        </p:txBody>
      </p:sp>
      <p:sp>
        <p:nvSpPr>
          <p:cNvPr id="5" name="Rectangle 4"/>
          <p:cNvSpPr/>
          <p:nvPr/>
        </p:nvSpPr>
        <p:spPr>
          <a:xfrm>
            <a:off x="2482633" y="1477208"/>
            <a:ext cx="4547413" cy="2031325"/>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400" b="1" dirty="0">
                <a:solidFill>
                  <a:srgbClr val="7F0055"/>
                </a:solidFill>
                <a:latin typeface="Consolas" panose="020B0609020204030204" pitchFamily="49" charset="0"/>
              </a:rPr>
              <a:t>namespace</a:t>
            </a:r>
            <a:r>
              <a:rPr lang="en-GB" sz="1400" b="1" dirty="0">
                <a:solidFill>
                  <a:srgbClr val="000000"/>
                </a:solidFill>
                <a:latin typeface="Consolas" panose="020B0609020204030204" pitchFamily="49" charset="0"/>
              </a:rPr>
              <a:t> </a:t>
            </a:r>
            <a:r>
              <a:rPr lang="en-GB" sz="1400" b="1" dirty="0" err="1">
                <a:solidFill>
                  <a:srgbClr val="000000"/>
                </a:solidFill>
                <a:latin typeface="Consolas" panose="020B0609020204030204" pitchFamily="49" charset="0"/>
              </a:rPr>
              <a:t>barclays</a:t>
            </a:r>
            <a:r>
              <a:rPr lang="en-GB" sz="1400" b="1" dirty="0">
                <a:solidFill>
                  <a:srgbClr val="000000"/>
                </a:solidFill>
                <a:latin typeface="Consolas" panose="020B0609020204030204" pitchFamily="49" charset="0"/>
              </a:rPr>
              <a:t>;</a:t>
            </a:r>
          </a:p>
          <a:p>
            <a:endParaRPr lang="en-GB" sz="1400" dirty="0">
              <a:latin typeface="Consolas" panose="020B0609020204030204" pitchFamily="49" charset="0"/>
            </a:endParaRPr>
          </a:p>
          <a:p>
            <a:r>
              <a:rPr lang="en-GB" sz="1400" b="1" dirty="0">
                <a:solidFill>
                  <a:srgbClr val="7F0055"/>
                </a:solidFill>
                <a:latin typeface="Consolas" panose="020B0609020204030204" pitchFamily="49" charset="0"/>
              </a:rPr>
              <a:t>public</a:t>
            </a:r>
            <a:r>
              <a:rPr lang="en-GB" sz="1400" b="1" dirty="0">
                <a:solidFill>
                  <a:srgbClr val="000000"/>
                </a:solidFill>
                <a:latin typeface="Consolas" panose="020B0609020204030204" pitchFamily="49" charset="0"/>
              </a:rPr>
              <a:t> </a:t>
            </a:r>
            <a:r>
              <a:rPr lang="en-GB" sz="1400" b="1" dirty="0">
                <a:solidFill>
                  <a:srgbClr val="7F0055"/>
                </a:solidFill>
                <a:latin typeface="Consolas" panose="020B0609020204030204" pitchFamily="49" charset="0"/>
              </a:rPr>
              <a:t>class </a:t>
            </a:r>
            <a:r>
              <a:rPr lang="en-GB" sz="1400" b="1" dirty="0" err="1">
                <a:solidFill>
                  <a:srgbClr val="000000"/>
                </a:solidFill>
                <a:latin typeface="Consolas" panose="020B0609020204030204" pitchFamily="49" charset="0"/>
              </a:rPr>
              <a:t>CreditCard</a:t>
            </a:r>
            <a:r>
              <a:rPr lang="en-GB" sz="1400" b="1" dirty="0">
                <a:solidFill>
                  <a:srgbClr val="000000"/>
                </a:solidFill>
                <a:latin typeface="Consolas" panose="020B0609020204030204" pitchFamily="49" charset="0"/>
              </a:rPr>
              <a:t> {</a:t>
            </a:r>
            <a:endParaRPr lang="en-GB" sz="1400" b="1" dirty="0">
              <a:solidFill>
                <a:srgbClr val="000000"/>
              </a:solidFill>
              <a:highlight>
                <a:srgbClr val="D4D4D4"/>
              </a:highlight>
              <a:latin typeface="Consolas" panose="020B0609020204030204" pitchFamily="49" charset="0"/>
            </a:endParaRPr>
          </a:p>
          <a:p>
            <a:r>
              <a:rPr lang="en-GB" sz="1400" b="1" dirty="0">
                <a:solidFill>
                  <a:srgbClr val="7F0055"/>
                </a:solidFill>
                <a:latin typeface="Consolas" panose="020B0609020204030204" pitchFamily="49" charset="0"/>
              </a:rPr>
              <a:t>   protected</a:t>
            </a:r>
            <a:r>
              <a:rPr lang="en-GB" sz="1400" b="1" dirty="0">
                <a:solidFill>
                  <a:srgbClr val="000000"/>
                </a:solidFill>
                <a:latin typeface="Consolas" panose="020B0609020204030204" pitchFamily="49" charset="0"/>
              </a:rPr>
              <a:t> </a:t>
            </a:r>
            <a:r>
              <a:rPr lang="en-GB" sz="1400" b="1" dirty="0" err="1">
                <a:solidFill>
                  <a:srgbClr val="7F0055"/>
                </a:solidFill>
                <a:latin typeface="Consolas" panose="020B0609020204030204" pitchFamily="49" charset="0"/>
              </a:rPr>
              <a:t>int</a:t>
            </a:r>
            <a:r>
              <a:rPr lang="en-GB" sz="1400" b="1" dirty="0">
                <a:solidFill>
                  <a:srgbClr val="000000"/>
                </a:solidFill>
                <a:latin typeface="Consolas" panose="020B0609020204030204" pitchFamily="49" charset="0"/>
              </a:rPr>
              <a:t> </a:t>
            </a:r>
            <a:r>
              <a:rPr lang="en-GB" sz="1400" b="1" dirty="0">
                <a:solidFill>
                  <a:srgbClr val="0000C0"/>
                </a:solidFill>
                <a:latin typeface="Consolas" panose="020B0609020204030204" pitchFamily="49" charset="0"/>
              </a:rPr>
              <a:t>pin</a:t>
            </a:r>
            <a:r>
              <a:rPr lang="en-GB" sz="1400" b="1" dirty="0">
                <a:solidFill>
                  <a:srgbClr val="000000"/>
                </a:solidFill>
                <a:latin typeface="Consolas" panose="020B0609020204030204" pitchFamily="49" charset="0"/>
              </a:rPr>
              <a:t>;</a:t>
            </a:r>
          </a:p>
          <a:p>
            <a:endParaRPr lang="en-GB" sz="1400" dirty="0">
              <a:latin typeface="Consolas" panose="020B0609020204030204" pitchFamily="49" charset="0"/>
            </a:endParaRPr>
          </a:p>
          <a:p>
            <a:r>
              <a:rPr lang="en-GB" sz="1400" b="1" dirty="0">
                <a:solidFill>
                  <a:srgbClr val="7F0055"/>
                </a:solidFill>
                <a:latin typeface="Consolas" panose="020B0609020204030204" pitchFamily="49" charset="0"/>
              </a:rPr>
              <a:t>   public</a:t>
            </a:r>
            <a:r>
              <a:rPr lang="en-GB" sz="1400" b="1" dirty="0">
                <a:solidFill>
                  <a:srgbClr val="000000"/>
                </a:solidFill>
                <a:latin typeface="Consolas" panose="020B0609020204030204" pitchFamily="49" charset="0"/>
              </a:rPr>
              <a:t> </a:t>
            </a:r>
            <a:r>
              <a:rPr lang="en-GB" sz="1400" b="1" dirty="0" err="1">
                <a:solidFill>
                  <a:srgbClr val="000000"/>
                </a:solidFill>
                <a:latin typeface="Consolas" panose="020B0609020204030204" pitchFamily="49" charset="0"/>
              </a:rPr>
              <a:t>CreditCard</a:t>
            </a:r>
            <a:r>
              <a:rPr lang="en-GB" sz="1400" b="1" dirty="0">
                <a:solidFill>
                  <a:srgbClr val="000000"/>
                </a:solidFill>
                <a:latin typeface="Consolas" panose="020B0609020204030204" pitchFamily="49" charset="0"/>
              </a:rPr>
              <a:t>(</a:t>
            </a:r>
            <a:r>
              <a:rPr lang="en-GB" sz="1400" b="1" dirty="0" err="1">
                <a:solidFill>
                  <a:srgbClr val="7F0055"/>
                </a:solidFill>
                <a:latin typeface="Consolas" panose="020B0609020204030204" pitchFamily="49" charset="0"/>
              </a:rPr>
              <a:t>int</a:t>
            </a:r>
            <a:r>
              <a:rPr lang="en-GB" sz="1400" b="1" dirty="0">
                <a:solidFill>
                  <a:srgbClr val="000000"/>
                </a:solidFill>
                <a:latin typeface="Consolas" panose="020B0609020204030204" pitchFamily="49" charset="0"/>
              </a:rPr>
              <a:t> </a:t>
            </a:r>
            <a:r>
              <a:rPr lang="en-GB" sz="1400" b="1" dirty="0">
                <a:solidFill>
                  <a:srgbClr val="6A3E3E"/>
                </a:solidFill>
                <a:latin typeface="Consolas" panose="020B0609020204030204" pitchFamily="49" charset="0"/>
              </a:rPr>
              <a:t>pin</a:t>
            </a:r>
            <a:r>
              <a:rPr lang="en-GB" sz="1400" b="1" dirty="0">
                <a:solidFill>
                  <a:srgbClr val="000000"/>
                </a:solidFill>
                <a:latin typeface="Consolas" panose="020B0609020204030204" pitchFamily="49" charset="0"/>
              </a:rPr>
              <a:t>) {</a:t>
            </a:r>
          </a:p>
          <a:p>
            <a:r>
              <a:rPr lang="en-GB" sz="1400" b="1" dirty="0">
                <a:solidFill>
                  <a:srgbClr val="7F0055"/>
                </a:solidFill>
                <a:latin typeface="Consolas" panose="020B0609020204030204" pitchFamily="49" charset="0"/>
              </a:rPr>
              <a:t>      </a:t>
            </a:r>
            <a:r>
              <a:rPr lang="en-GB" sz="1400" b="1" dirty="0" err="1">
                <a:solidFill>
                  <a:srgbClr val="7F0055"/>
                </a:solidFill>
                <a:latin typeface="Consolas" panose="020B0609020204030204" pitchFamily="49" charset="0"/>
              </a:rPr>
              <a:t>this</a:t>
            </a:r>
            <a:r>
              <a:rPr lang="en-GB" sz="1400" b="1" dirty="0" err="1">
                <a:solidFill>
                  <a:srgbClr val="000000"/>
                </a:solidFill>
                <a:latin typeface="Consolas" panose="020B0609020204030204" pitchFamily="49" charset="0"/>
              </a:rPr>
              <a:t>.</a:t>
            </a:r>
            <a:r>
              <a:rPr lang="en-GB" sz="1400" b="1" dirty="0" err="1">
                <a:solidFill>
                  <a:srgbClr val="0000C0"/>
                </a:solidFill>
                <a:latin typeface="Consolas" panose="020B0609020204030204" pitchFamily="49" charset="0"/>
              </a:rPr>
              <a:t>pin</a:t>
            </a:r>
            <a:r>
              <a:rPr lang="en-GB" sz="1400" b="1" dirty="0">
                <a:solidFill>
                  <a:srgbClr val="000000"/>
                </a:solidFill>
                <a:latin typeface="Consolas" panose="020B0609020204030204" pitchFamily="49" charset="0"/>
              </a:rPr>
              <a:t> = </a:t>
            </a:r>
            <a:r>
              <a:rPr lang="en-GB" sz="1400" b="1" dirty="0">
                <a:solidFill>
                  <a:srgbClr val="6A3E3E"/>
                </a:solidFill>
                <a:latin typeface="Consolas" panose="020B0609020204030204" pitchFamily="49" charset="0"/>
              </a:rPr>
              <a:t>pin</a:t>
            </a:r>
            <a:r>
              <a:rPr lang="en-GB" sz="1400" b="1" dirty="0">
                <a:solidFill>
                  <a:srgbClr val="000000"/>
                </a:solidFill>
                <a:latin typeface="Consolas" panose="020B0609020204030204" pitchFamily="49" charset="0"/>
              </a:rPr>
              <a:t>;</a:t>
            </a:r>
          </a:p>
          <a:p>
            <a:r>
              <a:rPr lang="en-GB" sz="1400" dirty="0">
                <a:solidFill>
                  <a:srgbClr val="000000"/>
                </a:solidFill>
                <a:latin typeface="Consolas" panose="020B0609020204030204" pitchFamily="49" charset="0"/>
              </a:rPr>
              <a:t>   }</a:t>
            </a:r>
          </a:p>
          <a:p>
            <a:r>
              <a:rPr lang="en-GB" sz="1400" dirty="0">
                <a:solidFill>
                  <a:srgbClr val="000000"/>
                </a:solidFill>
                <a:latin typeface="Consolas" panose="020B0609020204030204" pitchFamily="49" charset="0"/>
              </a:rPr>
              <a:t>}</a:t>
            </a:r>
          </a:p>
        </p:txBody>
      </p:sp>
      <p:sp>
        <p:nvSpPr>
          <p:cNvPr id="8" name="TextBox 7"/>
          <p:cNvSpPr txBox="1"/>
          <p:nvPr/>
        </p:nvSpPr>
        <p:spPr>
          <a:xfrm>
            <a:off x="6066499" y="5596243"/>
            <a:ext cx="550151" cy="584775"/>
          </a:xfrm>
          <a:prstGeom prst="rect">
            <a:avLst/>
          </a:prstGeom>
          <a:noFill/>
          <a:ln>
            <a:noFill/>
          </a:ln>
        </p:spPr>
        <p:txBody>
          <a:bodyPr wrap="none" rtlCol="0">
            <a:spAutoFit/>
          </a:bodyPr>
          <a:lstStyle/>
          <a:p>
            <a:r>
              <a:rPr lang="en-GB" sz="3200" dirty="0">
                <a:solidFill>
                  <a:srgbClr val="00B050"/>
                </a:solidFill>
                <a:latin typeface="Courier New" pitchFamily="49" charset="0"/>
                <a:cs typeface="Courier New" pitchFamily="49" charset="0"/>
                <a:sym typeface="Wingdings" panose="05000000000000000000" pitchFamily="2" charset="2"/>
              </a:rPr>
              <a:t></a:t>
            </a:r>
            <a:endParaRPr lang="en-GB" sz="3200" dirty="0">
              <a:solidFill>
                <a:srgbClr val="00B050"/>
              </a:solidFill>
              <a:latin typeface="Courier New" pitchFamily="49" charset="0"/>
              <a:cs typeface="Courier New" pitchFamily="49" charset="0"/>
            </a:endParaRPr>
          </a:p>
        </p:txBody>
      </p:sp>
      <p:sp>
        <p:nvSpPr>
          <p:cNvPr id="4" name="Speech Bubble: Rectangle with Corners Rounded 3">
            <a:extLst>
              <a:ext uri="{FF2B5EF4-FFF2-40B4-BE49-F238E27FC236}">
                <a16:creationId xmlns:a16="http://schemas.microsoft.com/office/drawing/2014/main" id="{230D29B2-925D-3C5F-DAAE-A93CDB1EC6A0}"/>
              </a:ext>
            </a:extLst>
          </p:cNvPr>
          <p:cNvSpPr/>
          <p:nvPr/>
        </p:nvSpPr>
        <p:spPr>
          <a:xfrm>
            <a:off x="7736304" y="5065295"/>
            <a:ext cx="3188370" cy="943788"/>
          </a:xfrm>
          <a:prstGeom prst="wedgeRoundRectCallout">
            <a:avLst>
              <a:gd name="adj1" fmla="val -59663"/>
              <a:gd name="adj2" fmla="val 9933"/>
              <a:gd name="adj3" fmla="val 16667"/>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r>
              <a:rPr lang="en-GB" sz="1600" dirty="0"/>
              <a:t>Available to subclasses, even when they’re defined in a different project.</a:t>
            </a:r>
            <a:endParaRPr lang="en-GB" sz="1600" b="1" dirty="0">
              <a:latin typeface="Consolas" panose="020B0609020204030204" pitchFamily="49" charset="0"/>
              <a:cs typeface="Courier New" pitchFamily="49" charset="0"/>
            </a:endParaRPr>
          </a:p>
        </p:txBody>
      </p:sp>
    </p:spTree>
    <p:extLst>
      <p:ext uri="{BB962C8B-B14F-4D97-AF65-F5344CB8AC3E}">
        <p14:creationId xmlns:p14="http://schemas.microsoft.com/office/powerpoint/2010/main" val="16553142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sz="3200" dirty="0"/>
              <a:t>Using Inheritance for creating custom exceptions</a:t>
            </a:r>
            <a:endParaRPr lang="en-IN" sz="3200" dirty="0"/>
          </a:p>
        </p:txBody>
      </p:sp>
      <p:sp>
        <p:nvSpPr>
          <p:cNvPr id="3" name="Text Placeholder 2"/>
          <p:cNvSpPr>
            <a:spLocks noGrp="1"/>
          </p:cNvSpPr>
          <p:nvPr>
            <p:ph type="body" sz="quarter" idx="15"/>
          </p:nvPr>
        </p:nvSpPr>
        <p:spPr>
          <a:xfrm>
            <a:off x="4375400" y="1253730"/>
            <a:ext cx="7475704" cy="4094163"/>
          </a:xfrm>
        </p:spPr>
        <p:txBody>
          <a:bodyPr vert="horz" lIns="0" tIns="0" rIns="0" bIns="0" rtlCol="0" anchor="t" anchorCtr="0">
            <a:noAutofit/>
          </a:bodyPr>
          <a:lstStyle/>
          <a:p>
            <a:pPr marL="342900" indent="-342900">
              <a:buChar char="•"/>
            </a:pPr>
            <a:r>
              <a:rPr lang="en-GB" b="1" dirty="0"/>
              <a:t>Custom exception class must derive from </a:t>
            </a:r>
            <a:r>
              <a:rPr lang="en-GB" b="1" dirty="0">
                <a:solidFill>
                  <a:schemeClr val="tx1">
                    <a:lumMod val="75000"/>
                    <a:lumOff val="25000"/>
                  </a:schemeClr>
                </a:solidFill>
                <a:latin typeface="Lucida Console" panose="020B0609040504020204" pitchFamily="49" charset="0"/>
              </a:rPr>
              <a:t>Exception </a:t>
            </a:r>
          </a:p>
          <a:p>
            <a:pPr marL="684000" lvl="1" indent="-342900">
              <a:spcAft>
                <a:spcPts val="650"/>
              </a:spcAft>
              <a:buSzPct val="115000"/>
            </a:pPr>
            <a:r>
              <a:rPr lang="en-GB" dirty="0"/>
              <a:t>Duplicate  constructors</a:t>
            </a:r>
          </a:p>
          <a:p>
            <a:pPr marL="1026000" lvl="2" indent="-342900">
              <a:buSzPct val="115000"/>
            </a:pPr>
            <a:r>
              <a:rPr lang="en-GB" dirty="0"/>
              <a:t>Pass  </a:t>
            </a:r>
            <a:r>
              <a:rPr lang="en-GB" dirty="0">
                <a:latin typeface="Lucida Console" panose="020B0609040504020204" pitchFamily="49" charset="0"/>
              </a:rPr>
              <a:t>'String message’ </a:t>
            </a:r>
            <a:r>
              <a:rPr lang="en-GB" dirty="0"/>
              <a:t>up to base class</a:t>
            </a:r>
            <a:br>
              <a:rPr lang="en-GB" dirty="0"/>
            </a:br>
            <a:r>
              <a:rPr lang="en-GB" dirty="0"/>
              <a:t>(t</a:t>
            </a:r>
            <a:r>
              <a:rPr lang="en-GB" sz="1600" dirty="0"/>
              <a:t>he only time you can write to the inherited message field)</a:t>
            </a:r>
            <a:endParaRPr lang="en-GB" dirty="0"/>
          </a:p>
          <a:p>
            <a:pPr marL="1026000" lvl="2" indent="-342900">
              <a:buSzPct val="115000"/>
            </a:pPr>
            <a:r>
              <a:rPr lang="en-GB" dirty="0"/>
              <a:t>Can add additional methods</a:t>
            </a:r>
            <a:br>
              <a:rPr lang="en-GB" dirty="0"/>
            </a:br>
            <a:endParaRPr lang="en-GB" dirty="0"/>
          </a:p>
          <a:p>
            <a:pPr marL="342900" indent="-342900">
              <a:buChar char="•"/>
            </a:pPr>
            <a:r>
              <a:rPr lang="en-GB" b="1" dirty="0"/>
              <a:t>View code example on the next slide …</a:t>
            </a:r>
          </a:p>
          <a:p>
            <a:pPr marL="342900" indent="-342900">
              <a:buChar char="•"/>
            </a:pPr>
            <a:endParaRPr lang="en-IN" b="1" dirty="0"/>
          </a:p>
        </p:txBody>
      </p:sp>
    </p:spTree>
    <p:extLst>
      <p:ext uri="{BB962C8B-B14F-4D97-AF65-F5344CB8AC3E}">
        <p14:creationId xmlns:p14="http://schemas.microsoft.com/office/powerpoint/2010/main" val="3166714552"/>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C# example</a:t>
            </a:r>
          </a:p>
        </p:txBody>
      </p:sp>
      <p:sp>
        <p:nvSpPr>
          <p:cNvPr id="5" name="Rectangle 4"/>
          <p:cNvSpPr/>
          <p:nvPr/>
        </p:nvSpPr>
        <p:spPr>
          <a:xfrm>
            <a:off x="6744540" y="2893871"/>
            <a:ext cx="5033123" cy="2554545"/>
          </a:xfrm>
          <a:prstGeom prst="rect">
            <a:avLst/>
          </a:prstGeom>
          <a:solidFill>
            <a:schemeClr val="accent1">
              <a:lumMod val="10000"/>
              <a:lumOff val="90000"/>
            </a:schemeClr>
          </a:solidFill>
          <a:ln w="19050">
            <a:noFill/>
          </a:ln>
          <a:effectLst>
            <a:outerShdw blurRad="50800" dist="38100" algn="l" rotWithShape="0">
              <a:prstClr val="black">
                <a:alpha val="40000"/>
              </a:prstClr>
            </a:outerShdw>
          </a:effectLst>
        </p:spPr>
        <p:txBody>
          <a:bodyPr wrap="square">
            <a:spAutoFit/>
          </a:bodyPr>
          <a:lstStyle/>
          <a:p>
            <a:r>
              <a:rPr lang="en-GB" sz="1600" b="1" dirty="0">
                <a:solidFill>
                  <a:srgbClr val="7F0055"/>
                </a:solidFill>
                <a:latin typeface="Consolas" panose="020B0609020204030204" pitchFamily="49" charset="0"/>
              </a:rPr>
              <a:t>void</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methodX</a:t>
            </a:r>
            <a:r>
              <a:rPr lang="en-GB" sz="1600" b="1" dirty="0">
                <a:solidFill>
                  <a:srgbClr val="000000"/>
                </a:solidFill>
                <a:latin typeface="Consolas" panose="020B0609020204030204" pitchFamily="49" charset="0"/>
              </a:rPr>
              <a:t>() {</a:t>
            </a:r>
          </a:p>
          <a:p>
            <a:pPr lvl="1"/>
            <a:endParaRPr lang="en-GB" sz="1600" b="1" dirty="0">
              <a:solidFill>
                <a:srgbClr val="7F0055"/>
              </a:solidFill>
              <a:latin typeface="Consolas" panose="020B0609020204030204" pitchFamily="49" charset="0"/>
            </a:endParaRPr>
          </a:p>
          <a:p>
            <a:pPr lvl="1"/>
            <a:r>
              <a:rPr lang="en-GB" sz="1600" b="1" dirty="0">
                <a:solidFill>
                  <a:srgbClr val="7F0055"/>
                </a:solidFill>
                <a:latin typeface="Consolas" panose="020B0609020204030204" pitchFamily="49" charset="0"/>
              </a:rPr>
              <a:t>try</a:t>
            </a:r>
            <a:r>
              <a:rPr lang="en-GB" sz="1600" b="1" dirty="0">
                <a:solidFill>
                  <a:srgbClr val="000000"/>
                </a:solidFill>
                <a:latin typeface="Consolas" panose="020B0609020204030204" pitchFamily="49" charset="0"/>
              </a:rPr>
              <a:t> {</a:t>
            </a:r>
          </a:p>
          <a:p>
            <a:pPr lvl="1"/>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methodY</a:t>
            </a:r>
            <a:r>
              <a:rPr lang="en-GB" sz="1600" b="1" dirty="0">
                <a:solidFill>
                  <a:srgbClr val="000000"/>
                </a:solidFill>
                <a:latin typeface="Consolas" panose="020B0609020204030204" pitchFamily="49" charset="0"/>
              </a:rPr>
              <a:t>();</a:t>
            </a:r>
          </a:p>
          <a:p>
            <a:pPr lvl="1"/>
            <a:endParaRPr lang="en-GB" sz="1600" dirty="0">
              <a:solidFill>
                <a:srgbClr val="000000"/>
              </a:solidFill>
              <a:latin typeface="Consolas" panose="020B0609020204030204" pitchFamily="49" charset="0"/>
            </a:endParaRPr>
          </a:p>
          <a:p>
            <a:pPr lvl="1"/>
            <a:r>
              <a:rPr lang="en-GB" sz="1600"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catch</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QAException</a:t>
            </a:r>
            <a:r>
              <a:rPr lang="en-GB" sz="1600" b="1" dirty="0">
                <a:solidFill>
                  <a:srgbClr val="000000"/>
                </a:solidFill>
                <a:latin typeface="Consolas" panose="020B0609020204030204" pitchFamily="49" charset="0"/>
              </a:rPr>
              <a:t> </a:t>
            </a:r>
            <a:r>
              <a:rPr lang="en-GB" sz="1600" b="1" dirty="0">
                <a:solidFill>
                  <a:srgbClr val="6A3E3E"/>
                </a:solidFill>
                <a:latin typeface="Consolas" panose="020B0609020204030204" pitchFamily="49" charset="0"/>
              </a:rPr>
              <a:t>e</a:t>
            </a:r>
            <a:r>
              <a:rPr lang="en-GB" sz="1600" b="1" dirty="0">
                <a:solidFill>
                  <a:srgbClr val="000000"/>
                </a:solidFill>
                <a:latin typeface="Consolas" panose="020B0609020204030204" pitchFamily="49" charset="0"/>
              </a:rPr>
              <a:t>) {</a:t>
            </a:r>
          </a:p>
          <a:p>
            <a:pPr lvl="2"/>
            <a:r>
              <a:rPr lang="en-GB" sz="1600" b="1" dirty="0" err="1">
                <a:solidFill>
                  <a:srgbClr val="000000"/>
                </a:solidFill>
                <a:latin typeface="Consolas" panose="020B0609020204030204" pitchFamily="49" charset="0"/>
              </a:rPr>
              <a:t>Console.WriteLine</a:t>
            </a:r>
            <a:r>
              <a:rPr lang="en-GB" sz="1600" b="1" i="1" dirty="0">
                <a:solidFill>
                  <a:srgbClr val="000000"/>
                </a:solidFill>
                <a:latin typeface="Consolas" panose="020B0609020204030204" pitchFamily="49" charset="0"/>
              </a:rPr>
              <a:t>(</a:t>
            </a:r>
            <a:r>
              <a:rPr lang="en-GB" sz="1600" b="1" i="1" dirty="0" err="1">
                <a:solidFill>
                  <a:srgbClr val="6A3E3E"/>
                </a:solidFill>
                <a:latin typeface="Consolas" panose="020B0609020204030204" pitchFamily="49" charset="0"/>
              </a:rPr>
              <a:t>e</a:t>
            </a:r>
            <a:r>
              <a:rPr lang="en-GB" sz="1600" b="1" i="1" dirty="0" err="1">
                <a:solidFill>
                  <a:srgbClr val="000000"/>
                </a:solidFill>
                <a:latin typeface="Consolas" panose="020B0609020204030204" pitchFamily="49" charset="0"/>
              </a:rPr>
              <a:t>.Message</a:t>
            </a:r>
            <a:r>
              <a:rPr lang="en-GB" sz="1600" b="1" i="1" dirty="0">
                <a:solidFill>
                  <a:srgbClr val="000000"/>
                </a:solidFill>
                <a:latin typeface="Consolas" panose="020B0609020204030204" pitchFamily="49" charset="0"/>
              </a:rPr>
              <a:t>);</a:t>
            </a:r>
          </a:p>
          <a:p>
            <a:pPr lvl="2"/>
            <a:r>
              <a:rPr lang="en-GB" sz="1600" b="1" dirty="0">
                <a:solidFill>
                  <a:srgbClr val="6A3E3E"/>
                </a:solidFill>
                <a:latin typeface="Consolas" panose="020B0609020204030204" pitchFamily="49" charset="0"/>
              </a:rPr>
              <a:t>e</a:t>
            </a:r>
            <a:r>
              <a:rPr lang="en-GB" sz="1600" b="1" dirty="0">
                <a:solidFill>
                  <a:srgbClr val="000000"/>
                </a:solidFill>
                <a:latin typeface="Consolas" panose="020B0609020204030204" pitchFamily="49" charset="0"/>
              </a:rPr>
              <a:t>.log();</a:t>
            </a:r>
          </a:p>
          <a:p>
            <a:pPr lvl="1"/>
            <a:r>
              <a:rPr lang="en-GB" sz="1600" b="1" dirty="0">
                <a:solidFill>
                  <a:srgbClr val="000000"/>
                </a:solidFill>
                <a:latin typeface="Consolas" panose="020B0609020204030204" pitchFamily="49" charset="0"/>
              </a:rPr>
              <a:t>}</a:t>
            </a:r>
          </a:p>
          <a:p>
            <a:r>
              <a:rPr lang="en-GB" sz="1600" dirty="0">
                <a:solidFill>
                  <a:srgbClr val="000000"/>
                </a:solidFill>
                <a:latin typeface="Consolas" panose="020B0609020204030204" pitchFamily="49" charset="0"/>
              </a:rPr>
              <a:t>}</a:t>
            </a:r>
          </a:p>
        </p:txBody>
      </p:sp>
      <p:sp>
        <p:nvSpPr>
          <p:cNvPr id="6" name="Rectangle 5"/>
          <p:cNvSpPr/>
          <p:nvPr/>
        </p:nvSpPr>
        <p:spPr>
          <a:xfrm>
            <a:off x="7164393" y="1554481"/>
            <a:ext cx="4193418" cy="1077218"/>
          </a:xfrm>
          <a:prstGeom prst="rect">
            <a:avLst/>
          </a:prstGeom>
          <a:solidFill>
            <a:schemeClr val="bg1"/>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b="1" dirty="0">
                <a:solidFill>
                  <a:srgbClr val="7F0055"/>
                </a:solidFill>
                <a:latin typeface="Consolas" panose="020B0609020204030204" pitchFamily="49" charset="0"/>
              </a:rPr>
              <a:t>void</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methodY</a:t>
            </a:r>
            <a:r>
              <a:rPr lang="en-GB" sz="1600" b="1" dirty="0">
                <a:solidFill>
                  <a:srgbClr val="000000"/>
                </a:solidFill>
                <a:latin typeface="Consolas" panose="020B0609020204030204" pitchFamily="49" charset="0"/>
              </a:rPr>
              <a:t>() {</a:t>
            </a:r>
          </a:p>
          <a:p>
            <a:r>
              <a:rPr lang="en-GB" sz="1600" b="1" dirty="0">
                <a:solidFill>
                  <a:srgbClr val="7F0055"/>
                </a:solidFill>
                <a:latin typeface="Consolas" panose="020B0609020204030204" pitchFamily="49" charset="0"/>
              </a:rPr>
              <a:t>    </a:t>
            </a:r>
          </a:p>
          <a:p>
            <a:r>
              <a:rPr lang="en-GB" sz="1600" b="1" dirty="0">
                <a:solidFill>
                  <a:srgbClr val="7F0055"/>
                </a:solidFill>
                <a:latin typeface="Consolas" panose="020B0609020204030204" pitchFamily="49" charset="0"/>
              </a:rPr>
              <a:t>	throw</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new</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QAException</a:t>
            </a:r>
            <a:r>
              <a:rPr lang="en-GB" sz="1600" b="1" dirty="0">
                <a:solidFill>
                  <a:srgbClr val="000000"/>
                </a:solidFill>
                <a:latin typeface="Consolas" panose="020B0609020204030204" pitchFamily="49" charset="0"/>
              </a:rPr>
              <a:t>();</a:t>
            </a:r>
          </a:p>
          <a:p>
            <a:r>
              <a:rPr lang="en-GB" sz="1600" dirty="0">
                <a:solidFill>
                  <a:srgbClr val="000000"/>
                </a:solidFill>
                <a:latin typeface="Consolas" panose="020B0609020204030204" pitchFamily="49" charset="0"/>
              </a:rPr>
              <a:t>}</a:t>
            </a:r>
          </a:p>
        </p:txBody>
      </p:sp>
      <p:cxnSp>
        <p:nvCxnSpPr>
          <p:cNvPr id="8" name="Straight Arrow Connector 7"/>
          <p:cNvCxnSpPr/>
          <p:nvPr/>
        </p:nvCxnSpPr>
        <p:spPr>
          <a:xfrm flipV="1">
            <a:off x="8706552" y="2623792"/>
            <a:ext cx="155274" cy="963642"/>
          </a:xfrm>
          <a:prstGeom prst="straightConnector1">
            <a:avLst/>
          </a:prstGeom>
          <a:ln>
            <a:noFill/>
            <a:tailEnd type="triangle"/>
          </a:ln>
          <a:effectLst>
            <a:outerShdw blurRad="50800" dist="38100" algn="l" rotWithShape="0">
              <a:prstClr val="black">
                <a:alpha val="40000"/>
              </a:prstClr>
            </a:outerShdw>
          </a:effectLst>
        </p:spPr>
        <p:style>
          <a:lnRef idx="3">
            <a:schemeClr val="accent4"/>
          </a:lnRef>
          <a:fillRef idx="0">
            <a:schemeClr val="accent4"/>
          </a:fillRef>
          <a:effectRef idx="2">
            <a:schemeClr val="accent4"/>
          </a:effectRef>
          <a:fontRef idx="minor">
            <a:schemeClr val="tx1"/>
          </a:fontRef>
        </p:style>
      </p:cxnSp>
      <p:sp>
        <p:nvSpPr>
          <p:cNvPr id="4" name="Rectangle 3"/>
          <p:cNvSpPr/>
          <p:nvPr/>
        </p:nvSpPr>
        <p:spPr>
          <a:xfrm>
            <a:off x="410400" y="1771047"/>
            <a:ext cx="6334140" cy="3046988"/>
          </a:xfrm>
          <a:prstGeom prst="rect">
            <a:avLst/>
          </a:prstGeom>
          <a:solidFill>
            <a:schemeClr val="accent5">
              <a:lumMod val="20000"/>
              <a:lumOff val="80000"/>
            </a:schemeClr>
          </a:solidFill>
          <a:ln>
            <a:noFill/>
          </a:ln>
          <a:effectLst>
            <a:outerShdw blurRad="50800" dist="38100" algn="l" rotWithShape="0">
              <a:prstClr val="black">
                <a:alpha val="40000"/>
              </a:prstClr>
            </a:outerShdw>
          </a:effectLst>
        </p:spPr>
        <p:txBody>
          <a:bodyPr wrap="square">
            <a:spAutoFit/>
          </a:bodyPr>
          <a:lstStyle/>
          <a:p>
            <a:r>
              <a:rPr lang="en-GB" sz="1600" b="1" dirty="0">
                <a:solidFill>
                  <a:srgbClr val="7F0055"/>
                </a:solidFill>
                <a:latin typeface="Consolas" panose="020B0609020204030204" pitchFamily="49" charset="0"/>
              </a:rPr>
              <a:t>public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class</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QAException</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a:t>
            </a:r>
            <a:r>
              <a:rPr lang="en-GB" sz="1600" b="1" dirty="0">
                <a:solidFill>
                  <a:srgbClr val="000000"/>
                </a:solidFill>
                <a:latin typeface="Consolas" panose="020B0609020204030204" pitchFamily="49" charset="0"/>
              </a:rPr>
              <a:t> Exception {</a:t>
            </a:r>
            <a:br>
              <a:rPr lang="en-GB" sz="1600" b="1" dirty="0">
                <a:solidFill>
                  <a:srgbClr val="000000"/>
                </a:solidFill>
                <a:latin typeface="Consolas" panose="020B0609020204030204" pitchFamily="49" charset="0"/>
              </a:rPr>
            </a:br>
            <a:endParaRPr lang="en-GB" sz="1600" dirty="0">
              <a:latin typeface="Consolas" panose="020B0609020204030204" pitchFamily="49" charset="0"/>
            </a:endParaRPr>
          </a:p>
          <a:p>
            <a:pPr lvl="1"/>
            <a:r>
              <a:rPr lang="en-GB" sz="1600" b="1" dirty="0">
                <a:solidFill>
                  <a:srgbClr val="7F0055"/>
                </a:solidFill>
                <a:latin typeface="Consolas" panose="020B0609020204030204" pitchFamily="49" charset="0"/>
              </a:rPr>
              <a:t>public</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QAException</a:t>
            </a:r>
            <a:r>
              <a:rPr lang="en-GB" sz="1600" b="1" dirty="0">
                <a:solidFill>
                  <a:srgbClr val="000000"/>
                </a:solidFill>
                <a:latin typeface="Consolas" panose="020B0609020204030204" pitchFamily="49" charset="0"/>
              </a:rPr>
              <a:t>(String </a:t>
            </a:r>
            <a:r>
              <a:rPr lang="en-GB" sz="1600" b="1" dirty="0">
                <a:solidFill>
                  <a:srgbClr val="6A3E3E"/>
                </a:solidFill>
                <a:latin typeface="Consolas" panose="020B0609020204030204" pitchFamily="49" charset="0"/>
              </a:rPr>
              <a:t>message</a:t>
            </a:r>
            <a:r>
              <a:rPr lang="en-GB" sz="1600" b="1" dirty="0">
                <a:solidFill>
                  <a:srgbClr val="000000"/>
                </a:solidFill>
                <a:latin typeface="Consolas" panose="020B0609020204030204" pitchFamily="49" charset="0"/>
              </a:rPr>
              <a:t>) : base(</a:t>
            </a:r>
            <a:r>
              <a:rPr lang="en-GB" sz="1600" b="1" dirty="0">
                <a:solidFill>
                  <a:srgbClr val="6A3E3E"/>
                </a:solidFill>
                <a:latin typeface="Consolas" panose="020B0609020204030204" pitchFamily="49" charset="0"/>
              </a:rPr>
              <a:t>message</a:t>
            </a:r>
            <a:r>
              <a:rPr lang="en-GB" sz="1600" b="1" dirty="0">
                <a:solidFill>
                  <a:srgbClr val="000000"/>
                </a:solidFill>
                <a:latin typeface="Consolas" panose="020B0609020204030204" pitchFamily="49" charset="0"/>
              </a:rPr>
              <a:t>);</a:t>
            </a:r>
          </a:p>
          <a:p>
            <a:pPr lvl="1"/>
            <a:r>
              <a:rPr lang="en-GB" sz="1600" dirty="0">
                <a:solidFill>
                  <a:srgbClr val="000000"/>
                </a:solidFill>
                <a:latin typeface="Consolas" panose="020B0609020204030204" pitchFamily="49" charset="0"/>
              </a:rPr>
              <a:t>}</a:t>
            </a:r>
          </a:p>
          <a:p>
            <a:pPr lvl="1"/>
            <a:endParaRPr lang="en-GB" sz="1600" dirty="0">
              <a:solidFill>
                <a:srgbClr val="000000"/>
              </a:solidFill>
              <a:latin typeface="Consolas" panose="020B0609020204030204" pitchFamily="49" charset="0"/>
            </a:endParaRPr>
          </a:p>
          <a:p>
            <a:pPr lvl="1"/>
            <a:r>
              <a:rPr lang="en-GB" sz="1600" b="1" dirty="0">
                <a:solidFill>
                  <a:srgbClr val="7F0055"/>
                </a:solidFill>
                <a:latin typeface="Consolas" panose="020B0609020204030204" pitchFamily="49" charset="0"/>
              </a:rPr>
              <a:t>public</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QAException</a:t>
            </a:r>
            <a:r>
              <a:rPr lang="en-GB" sz="1600" b="1" dirty="0">
                <a:solidFill>
                  <a:srgbClr val="000000"/>
                </a:solidFill>
                <a:latin typeface="Consolas" panose="020B0609020204030204" pitchFamily="49" charset="0"/>
              </a:rPr>
              <a:t>() : base(</a:t>
            </a:r>
            <a:r>
              <a:rPr lang="en-GB" sz="1600" b="1" dirty="0">
                <a:solidFill>
                  <a:srgbClr val="2A00FF"/>
                </a:solidFill>
                <a:latin typeface="Consolas" panose="020B0609020204030204" pitchFamily="49" charset="0"/>
              </a:rPr>
              <a:t>"General error"</a:t>
            </a:r>
            <a:r>
              <a:rPr lang="en-GB" sz="1600" b="1" dirty="0">
                <a:solidFill>
                  <a:srgbClr val="000000"/>
                </a:solidFill>
                <a:latin typeface="Consolas" panose="020B0609020204030204" pitchFamily="49" charset="0"/>
              </a:rPr>
              <a:t>);</a:t>
            </a:r>
          </a:p>
          <a:p>
            <a:pPr lvl="1"/>
            <a:r>
              <a:rPr lang="en-GB" sz="1600" dirty="0">
                <a:solidFill>
                  <a:srgbClr val="000000"/>
                </a:solidFill>
                <a:latin typeface="Consolas" panose="020B0609020204030204" pitchFamily="49" charset="0"/>
              </a:rPr>
              <a:t>}</a:t>
            </a:r>
          </a:p>
          <a:p>
            <a:pPr lvl="1"/>
            <a:endParaRPr lang="en-GB" sz="1600" dirty="0">
              <a:latin typeface="Consolas" panose="020B0609020204030204" pitchFamily="49" charset="0"/>
            </a:endParaRPr>
          </a:p>
          <a:p>
            <a:pPr lvl="1"/>
            <a:r>
              <a:rPr lang="en-GB" sz="1600" b="1" dirty="0">
                <a:solidFill>
                  <a:srgbClr val="7F0055"/>
                </a:solidFill>
                <a:latin typeface="Consolas" panose="020B0609020204030204" pitchFamily="49" charset="0"/>
              </a:rPr>
              <a:t>public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void</a:t>
            </a:r>
            <a:r>
              <a:rPr lang="en-GB" sz="1600" b="1" dirty="0">
                <a:solidFill>
                  <a:srgbClr val="000000"/>
                </a:solidFill>
                <a:latin typeface="Consolas" panose="020B0609020204030204" pitchFamily="49" charset="0"/>
              </a:rPr>
              <a:t> log() {</a:t>
            </a:r>
          </a:p>
          <a:p>
            <a:pPr lvl="1"/>
            <a:r>
              <a:rPr lang="en-GB" sz="1600" dirty="0">
                <a:solidFill>
                  <a:srgbClr val="3F7F5F"/>
                </a:solidFill>
                <a:latin typeface="Consolas" panose="020B0609020204030204" pitchFamily="49" charset="0"/>
              </a:rPr>
              <a:t>	// log the message field</a:t>
            </a:r>
          </a:p>
          <a:p>
            <a:pPr lvl="1"/>
            <a:r>
              <a:rPr lang="en-GB" sz="1600" dirty="0">
                <a:solidFill>
                  <a:srgbClr val="000000"/>
                </a:solidFill>
                <a:latin typeface="Consolas" panose="020B0609020204030204" pitchFamily="49" charset="0"/>
              </a:rPr>
              <a:t>}</a:t>
            </a:r>
          </a:p>
          <a:p>
            <a:r>
              <a:rPr lang="en-GB" sz="1600" dirty="0">
                <a:solidFill>
                  <a:srgbClr val="000000"/>
                </a:solidFill>
                <a:latin typeface="Consolas" panose="020B0609020204030204" pitchFamily="49" charset="0"/>
              </a:rPr>
              <a:t>}</a:t>
            </a:r>
            <a:endParaRPr lang="en-GB" dirty="0"/>
          </a:p>
        </p:txBody>
      </p:sp>
    </p:spTree>
    <p:extLst>
      <p:ext uri="{BB962C8B-B14F-4D97-AF65-F5344CB8AC3E}">
        <p14:creationId xmlns:p14="http://schemas.microsoft.com/office/powerpoint/2010/main" val="3303290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dirty="0"/>
              <a:t>Review</a:t>
            </a:r>
            <a:endParaRPr lang="en-IN" dirty="0"/>
          </a:p>
        </p:txBody>
      </p:sp>
      <p:sp>
        <p:nvSpPr>
          <p:cNvPr id="3" name="Text Placeholder 2"/>
          <p:cNvSpPr>
            <a:spLocks noGrp="1"/>
          </p:cNvSpPr>
          <p:nvPr>
            <p:ph type="body" sz="quarter" idx="11"/>
          </p:nvPr>
        </p:nvSpPr>
        <p:spPr/>
        <p:txBody>
          <a:bodyPr vert="horz" lIns="0" tIns="0" rIns="0" bIns="0" rtlCol="0" anchor="t" anchorCtr="0">
            <a:noAutofit/>
          </a:bodyPr>
          <a:lstStyle/>
          <a:p>
            <a:pPr marL="342900" indent="-342900">
              <a:buChar char="•"/>
            </a:pPr>
            <a:r>
              <a:rPr lang="en-GB" b="1" dirty="0"/>
              <a:t>Why do we do inheritance?</a:t>
            </a:r>
          </a:p>
          <a:p>
            <a:pPr marL="684000" lvl="1" indent="-342900">
              <a:spcAft>
                <a:spcPts val="650"/>
              </a:spcAft>
              <a:buSzPct val="115000"/>
            </a:pPr>
            <a:r>
              <a:rPr lang="en-GB" dirty="0"/>
              <a:t>Code reuse</a:t>
            </a:r>
          </a:p>
          <a:p>
            <a:pPr marL="684000" lvl="1" indent="-342900">
              <a:spcAft>
                <a:spcPts val="650"/>
              </a:spcAft>
              <a:buSzPct val="115000"/>
            </a:pPr>
            <a:r>
              <a:rPr lang="en-GB" dirty="0"/>
              <a:t>Perhaps there will be other </a:t>
            </a:r>
            <a:br>
              <a:rPr lang="en-GB" dirty="0"/>
            </a:br>
            <a:r>
              <a:rPr lang="en-GB" dirty="0"/>
              <a:t>reasons soon!</a:t>
            </a:r>
          </a:p>
          <a:p>
            <a:pPr marL="342900" indent="-342900">
              <a:buChar char="•"/>
            </a:pPr>
            <a:endParaRPr lang="en-GB" b="1" dirty="0"/>
          </a:p>
          <a:p>
            <a:pPr marL="342900" indent="-342900">
              <a:buChar char="•"/>
            </a:pPr>
            <a:r>
              <a:rPr lang="en-GB" b="1" dirty="0"/>
              <a:t>Sub class inherits and can add additional functionality</a:t>
            </a:r>
          </a:p>
          <a:p>
            <a:pPr marL="342900" indent="-342900">
              <a:buChar char="•"/>
            </a:pPr>
            <a:endParaRPr lang="en-IN" b="1" dirty="0"/>
          </a:p>
        </p:txBody>
      </p:sp>
      <p:pic>
        <p:nvPicPr>
          <p:cNvPr id="4" name="Picture 2" descr="Reviews - Web Sites: Recommended - Research Guides at Thrift Library">
            <a:extLst>
              <a:ext uri="{FF2B5EF4-FFF2-40B4-BE49-F238E27FC236}">
                <a16:creationId xmlns:a16="http://schemas.microsoft.com/office/drawing/2014/main" id="{BE258F91-1929-29DB-B779-EC13D4F147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062" y="165790"/>
            <a:ext cx="2251845" cy="22518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0596313"/>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dirty="0"/>
              <a:t>Lab</a:t>
            </a:r>
          </a:p>
        </p:txBody>
      </p:sp>
      <p:sp>
        <p:nvSpPr>
          <p:cNvPr id="4" name="Text Placeholder 3">
            <a:extLst>
              <a:ext uri="{FF2B5EF4-FFF2-40B4-BE49-F238E27FC236}">
                <a16:creationId xmlns:a16="http://schemas.microsoft.com/office/drawing/2014/main" id="{3686FDCC-6DF1-139C-5812-433DF36C93C4}"/>
              </a:ext>
            </a:extLst>
          </p:cNvPr>
          <p:cNvSpPr txBox="1">
            <a:spLocks/>
          </p:cNvSpPr>
          <p:nvPr/>
        </p:nvSpPr>
        <p:spPr>
          <a:xfrm>
            <a:off x="5225996" y="1786936"/>
            <a:ext cx="6565582" cy="4094163"/>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50"/>
              </a:spcAft>
              <a:buSzPct val="115000"/>
              <a:buFont typeface="Arial" panose="020B0604020202020204" pitchFamily="34" charset="0"/>
              <a:buNone/>
              <a:defRPr sz="2000" b="0" i="0" kern="1200">
                <a:solidFill>
                  <a:schemeClr val="tx1"/>
                </a:solidFill>
                <a:latin typeface="Montserrat" pitchFamily="2" charset="77"/>
                <a:ea typeface="+mn-ea"/>
                <a:cs typeface="+mn-cs"/>
              </a:defRPr>
            </a:lvl1pPr>
            <a:lvl2pPr marL="180000" indent="-180000" algn="l" defTabSz="914400" rtl="0" eaLnBrk="1" latinLnBrk="0" hangingPunct="1">
              <a:lnSpc>
                <a:spcPct val="100000"/>
              </a:lnSpc>
              <a:spcBef>
                <a:spcPts val="0"/>
              </a:spcBef>
              <a:spcAft>
                <a:spcPts val="650"/>
              </a:spcAft>
              <a:buSzPct val="125000"/>
              <a:buFont typeface="Arial" panose="020B0604020202020204" pitchFamily="34" charset="0"/>
              <a:buChar char="•"/>
              <a:tabLst/>
              <a:defRPr sz="2000" b="0" kern="1200">
                <a:solidFill>
                  <a:schemeClr val="tx1"/>
                </a:solidFill>
                <a:latin typeface="Montserrat" pitchFamily="2" charset="77"/>
                <a:ea typeface="+mn-ea"/>
                <a:cs typeface="+mn-cs"/>
              </a:defRPr>
            </a:lvl2pPr>
            <a:lvl3pPr marL="180000" indent="-180000" algn="l" defTabSz="914400" rtl="0" eaLnBrk="1" latinLnBrk="0" hangingPunct="1">
              <a:lnSpc>
                <a:spcPct val="100000"/>
              </a:lnSpc>
              <a:spcBef>
                <a:spcPts val="0"/>
              </a:spcBef>
              <a:spcAft>
                <a:spcPts val="650"/>
              </a:spcAft>
              <a:buSzPct val="120000"/>
              <a:buFont typeface="Arial" panose="020B0604020202020204" pitchFamily="34" charset="0"/>
              <a:buChar char="•"/>
              <a:tabLst/>
              <a:defRPr sz="2000" b="0" i="0" kern="1200">
                <a:solidFill>
                  <a:schemeClr val="tx1"/>
                </a:solidFill>
                <a:latin typeface="Montserrat" pitchFamily="2" charset="77"/>
                <a:ea typeface="+mn-ea"/>
                <a:cs typeface="+mn-cs"/>
              </a:defRPr>
            </a:lvl3pPr>
            <a:lvl4pPr marL="180000" indent="-180000" algn="l" defTabSz="914400" rtl="0" eaLnBrk="1" latinLnBrk="0" hangingPunct="1">
              <a:lnSpc>
                <a:spcPct val="100000"/>
              </a:lnSpc>
              <a:spcBef>
                <a:spcPts val="0"/>
              </a:spcBef>
              <a:spcAft>
                <a:spcPts val="650"/>
              </a:spcAft>
              <a:buSzPct val="120000"/>
              <a:buFont typeface="Arial" panose="020B0604020202020204" pitchFamily="34" charset="0"/>
              <a:buChar char="•"/>
              <a:tabLst/>
              <a:defRPr sz="2000" b="0" kern="1200">
                <a:solidFill>
                  <a:schemeClr val="tx1"/>
                </a:solidFill>
                <a:latin typeface="Montserrat" pitchFamily="2" charset="77"/>
                <a:ea typeface="+mn-ea"/>
                <a:cs typeface="+mn-cs"/>
              </a:defRPr>
            </a:lvl4pPr>
            <a:lvl5pPr marL="180000" indent="-180000" algn="l" defTabSz="914400" rtl="0" eaLnBrk="1" latinLnBrk="0" hangingPunct="1">
              <a:lnSpc>
                <a:spcPct val="100000"/>
              </a:lnSpc>
              <a:spcBef>
                <a:spcPts val="0"/>
              </a:spcBef>
              <a:spcAft>
                <a:spcPts val="650"/>
              </a:spcAft>
              <a:buSzPct val="125000"/>
              <a:buFont typeface="Arial" panose="020B0604020202020204" pitchFamily="34" charset="0"/>
              <a:buChar char="•"/>
              <a:tabLst/>
              <a:defRPr sz="20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1" indent="-342900">
              <a:buSzPct val="115000"/>
            </a:pPr>
            <a:endParaRPr lang="en-GB"/>
          </a:p>
          <a:p>
            <a:pPr marL="342900" indent="-342900">
              <a:buFont typeface="Arial" panose="020B0604020202020204" pitchFamily="34" charset="0"/>
              <a:buChar char="•"/>
            </a:pPr>
            <a:endParaRPr lang="en-IN" b="1"/>
          </a:p>
          <a:p>
            <a:endParaRPr lang="en-IN" dirty="0"/>
          </a:p>
        </p:txBody>
      </p:sp>
      <p:graphicFrame>
        <p:nvGraphicFramePr>
          <p:cNvPr id="5" name="Text Placeholder 1">
            <a:extLst>
              <a:ext uri="{FF2B5EF4-FFF2-40B4-BE49-F238E27FC236}">
                <a16:creationId xmlns:a16="http://schemas.microsoft.com/office/drawing/2014/main" id="{3CC32F3E-E1A8-CBF7-EDB3-3CC1124349CC}"/>
              </a:ext>
            </a:extLst>
          </p:cNvPr>
          <p:cNvGraphicFramePr/>
          <p:nvPr>
            <p:extLst>
              <p:ext uri="{D42A27DB-BD31-4B8C-83A1-F6EECF244321}">
                <p14:modId xmlns:p14="http://schemas.microsoft.com/office/powerpoint/2010/main" val="2647779053"/>
              </p:ext>
            </p:extLst>
          </p:nvPr>
        </p:nvGraphicFramePr>
        <p:xfrm>
          <a:off x="4710058" y="1616037"/>
          <a:ext cx="6565582" cy="377354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10916087"/>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861ba5a240904b86632099fc56e12dead204a13"/>
</p:tagLst>
</file>

<file path=ppt/theme/theme1.xml><?xml version="1.0" encoding="utf-8"?>
<a:theme xmlns:a="http://schemas.openxmlformats.org/drawingml/2006/main" name="Master">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Courseware" ma:contentTypeID="0x010100F0967B7CEE8D417F966757887D9466FB00B3EF5B1D149FDF49B1880C030D548140" ma:contentTypeVersion="0" ma:contentTypeDescription="Base content type which represents courseware documents" ma:contentTypeScope="" ma:versionID="ab0d7ca79e0ea5a537b031f986da336c">
  <xsd:schema xmlns:xsd="http://www.w3.org/2001/XMLSchema" xmlns:xs="http://www.w3.org/2001/XMLSchema" xmlns:p="http://schemas.microsoft.com/office/2006/metadata/properties" xmlns:ns2="6794D9DE-4FDF-4DC0-8B2C-5438320C69D5" targetNamespace="http://schemas.microsoft.com/office/2006/metadata/properties" ma:root="true" ma:fieldsID="7ff8e7c62cc10108c036e94c947d8fb9" ns2:_="">
    <xsd:import namespace="6794D9DE-4FDF-4DC0-8B2C-5438320C69D5"/>
    <xsd:element name="properties">
      <xsd:complexType>
        <xsd:sequence>
          <xsd:element name="documentManagement">
            <xsd:complexType>
              <xsd:all>
                <xsd:element ref="ns2:BookTypeField0" minOccurs="0"/>
                <xsd:element ref="ns2:SequenceNumber" minOccurs="0"/>
                <xsd:element ref="ns2:IsBuildFil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794D9DE-4FDF-4DC0-8B2C-5438320C69D5" elementFormDefault="qualified">
    <xsd:import namespace="http://schemas.microsoft.com/office/2006/documentManagement/types"/>
    <xsd:import namespace="http://schemas.microsoft.com/office/infopath/2007/PartnerControls"/>
    <xsd:element name="BookTypeField0" ma:index="9" nillable="true" ma:taxonomy="true" ma:internalName="BookTypeField0" ma:taxonomyFieldName="BookType" ma:displayName="Book Type" ma:fieldId="{e7c6b654-e04e-4e45-9cfd-676dbef3a3c6}" ma:sspId="63102202-80dd-4165-b1ca-d09cf2756dc1" ma:termSetId="3300959e-7346-4208-831a-90b552f1677b" ma:anchorId="00000000-0000-0000-0000-000000000000" ma:open="false" ma:isKeyword="false">
      <xsd:complexType>
        <xsd:sequence>
          <xsd:element ref="pc:Terms" minOccurs="0" maxOccurs="1"/>
        </xsd:sequence>
      </xsd:complexType>
    </xsd:element>
    <xsd:element name="SequenceNumber" ma:index="10" nillable="true" ma:displayName="Sequence Number" ma:decimals="0" ma:internalName="SequenceNumber">
      <xsd:simpleType>
        <xsd:restriction base="dms:Number"/>
      </xsd:simpleType>
    </xsd:element>
    <xsd:element name="IsBuildFile" ma:index="11" nillable="true" ma:displayName="Is Build File" ma:hidden="true" ma:internalName="IsBuildFil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equenceNumber xmlns="6794D9DE-4FDF-4DC0-8B2C-5438320C69D5" xsi:nil="true"/>
    <IsBuildFile xmlns="6794D9DE-4FDF-4DC0-8B2C-5438320C69D5" xsi:nil="true"/>
    <BookTypeField0 xmlns="6794D9DE-4FDF-4DC0-8B2C-5438320C69D5">
      <Terms xmlns="http://schemas.microsoft.com/office/infopath/2007/PartnerControls">
        <TermInfo xmlns="http://schemas.microsoft.com/office/infopath/2007/PartnerControls">
          <TermName xmlns="http://schemas.microsoft.com/office/infopath/2007/PartnerControls">IK</TermName>
          <TermId xmlns="http://schemas.microsoft.com/office/infopath/2007/PartnerControls">5abe6401-e87a-4499-80b4-3d21a1a6ebd7</TermId>
        </TermInfo>
      </Terms>
    </BookTypeField0>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771406A-7DBB-42CE-8C4F-35C6A00FA61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794D9DE-4FDF-4DC0-8B2C-5438320C69D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9E5BF4A-6CC8-42EA-8DD6-FE314F3AC34B}">
  <ds:schemaRefs>
    <ds:schemaRef ds:uri="http://schemas.openxmlformats.org/package/2006/metadata/core-properties"/>
    <ds:schemaRef ds:uri="http://purl.org/dc/elements/1.1/"/>
    <ds:schemaRef ds:uri="http://schemas.microsoft.com/office/2006/metadata/properties"/>
    <ds:schemaRef ds:uri="http://schemas.microsoft.com/office/infopath/2007/PartnerControls"/>
    <ds:schemaRef ds:uri="http://purl.org/dc/terms/"/>
    <ds:schemaRef ds:uri="http://schemas.microsoft.com/office/2006/documentManagement/types"/>
    <ds:schemaRef ds:uri="6794D9DE-4FDF-4DC0-8B2C-5438320C69D5"/>
    <ds:schemaRef ds:uri="http://www.w3.org/XML/1998/namespace"/>
    <ds:schemaRef ds:uri="http://purl.org/dc/dcmitype/"/>
  </ds:schemaRefs>
</ds:datastoreItem>
</file>

<file path=customXml/itemProps3.xml><?xml version="1.0" encoding="utf-8"?>
<ds:datastoreItem xmlns:ds="http://schemas.openxmlformats.org/officeDocument/2006/customXml" ds:itemID="{320D39E5-0EAE-4956-BD50-21BAC04EF28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2876</Words>
  <Application>Microsoft Office PowerPoint</Application>
  <PresentationFormat>Widescreen</PresentationFormat>
  <Paragraphs>309</Paragraphs>
  <Slides>17</Slides>
  <Notes>17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Arial</vt:lpstr>
      <vt:lpstr>Calibri</vt:lpstr>
      <vt:lpstr>Consolas</vt:lpstr>
      <vt:lpstr>Courier New</vt:lpstr>
      <vt:lpstr>Krana Fat B</vt:lpstr>
      <vt:lpstr>Lucida Console</vt:lpstr>
      <vt:lpstr>Montserrat</vt:lpstr>
      <vt:lpstr>Wingdings</vt:lpstr>
      <vt:lpstr>Master</vt:lpstr>
      <vt:lpstr>Inheritance</vt:lpstr>
      <vt:lpstr>PowerPoint Presentation</vt:lpstr>
      <vt:lpstr>Base and derived classes</vt:lpstr>
      <vt:lpstr>Inheritance in action</vt:lpstr>
      <vt:lpstr>The inheritance hierarchy</vt:lpstr>
      <vt:lpstr>Specifying the base class</vt:lpstr>
      <vt:lpstr>Sub class inherits all the super class fields</vt:lpstr>
      <vt:lpstr>Constructing the derived objects</vt:lpstr>
      <vt:lpstr>Derived class constructor</vt:lpstr>
      <vt:lpstr>Derived class constructor – chaining</vt:lpstr>
      <vt:lpstr>PowerPoint Presentation</vt:lpstr>
      <vt:lpstr>Protected access modifier</vt:lpstr>
      <vt:lpstr>Protected example within inheritance</vt:lpstr>
      <vt:lpstr>PowerPoint Presentation</vt:lpstr>
      <vt:lpstr>A C# example</vt:lpstr>
      <vt:lpstr>PowerPoint Presentation</vt:lpstr>
      <vt:lpstr>PowerPoint Presentation</vt:lpstr>
    </vt:vector>
  </TitlesOfParts>
  <Manager/>
  <Company>QA Ltd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Singh, Vaishali</dc:creator>
  <cp:keywords/>
  <dc:description/>
  <cp:lastModifiedBy>mike baradaran</cp:lastModifiedBy>
  <cp:revision>217</cp:revision>
  <cp:lastPrinted>2019-07-03T09:46:41Z</cp:lastPrinted>
  <dcterms:created xsi:type="dcterms:W3CDTF">2019-09-05T08:17:12Z</dcterms:created>
  <dcterms:modified xsi:type="dcterms:W3CDTF">2026-08-06T12:13:02Z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0x010100F0967B7CEE8D417F966757887D9466FB00B3EF5B1D149FDF49B1880C030D548140</vt:lpwstr>
  </property>
  <property fmtid="{D5CDD505-2E9C-101B-9397-08002B2CF9AE}" pid="3" name="BookType">
    <vt:lpwstr>7</vt:lpwstr>
  </property>
</Properties>
</file>