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1560" r:id="rId5"/>
    <p:sldId id="1557" r:id="rId6"/>
    <p:sldId id="269" r:id="rId7"/>
    <p:sldId id="1559" r:id="rId8"/>
    <p:sldId id="1558" r:id="rId9"/>
    <p:sldId id="312" r:id="rId10"/>
    <p:sldId id="313" r:id="rId11"/>
    <p:sldId id="309" r:id="rId12"/>
    <p:sldId id="299" r:id="rId13"/>
    <p:sldId id="274" r:id="rId14"/>
    <p:sldId id="273" r:id="rId15"/>
  </p:sldIdLst>
  <p:sldSz cx="12192000" cy="6858000"/>
  <p:notesSz cx="9775825" cy="6645275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  <p:cmAuthor id="3" name="Sterne, Symon" initials="SS" lastIdx="71" clrIdx="2">
    <p:extLst>
      <p:ext uri="{19B8F6BF-5375-455C-9EA6-DF929625EA0E}">
        <p15:presenceInfo xmlns:p15="http://schemas.microsoft.com/office/powerpoint/2012/main" userId="S-1-5-21-3476036342-1731177862-1559577602-528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7E007C"/>
    <a:srgbClr val="A9EEFF"/>
    <a:srgbClr val="BE7FBD"/>
    <a:srgbClr val="F7916D"/>
    <a:srgbClr val="FF004C"/>
    <a:srgbClr val="28CFF9"/>
    <a:srgbClr val="F3622C"/>
    <a:srgbClr val="000000"/>
    <a:srgbClr val="09E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74" autoAdjust="0"/>
    <p:restoredTop sz="89643" autoAdjust="0"/>
  </p:normalViewPr>
  <p:slideViewPr>
    <p:cSldViewPr snapToGrid="0" snapToObjects="1" showGuides="1">
      <p:cViewPr varScale="1">
        <p:scale>
          <a:sx n="82" d="100"/>
          <a:sy n="82" d="100"/>
        </p:scale>
        <p:origin x="1114" y="58"/>
      </p:cViewPr>
      <p:guideLst>
        <p:guide pos="3840"/>
        <p:guide orient="horz" pos="377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33" d="100"/>
          <a:sy n="133" d="100"/>
        </p:scale>
        <p:origin x="2016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36347" cy="33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37144" y="0"/>
            <a:ext cx="4236347" cy="33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311825"/>
            <a:ext cx="4236347" cy="33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37144" y="6311825"/>
            <a:ext cx="4236347" cy="33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36191" cy="3334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37372" y="0"/>
            <a:ext cx="4236191" cy="33341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B66C6-1E92-0F4E-A300-9D4ED1F0C23F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4013" y="830263"/>
            <a:ext cx="3987800" cy="2243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77583" y="3198039"/>
            <a:ext cx="7820660" cy="26165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311859"/>
            <a:ext cx="4236191" cy="3334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37372" y="6311859"/>
            <a:ext cx="4236191" cy="33341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901C6-1DA1-FB44-ABEE-06A0FEB773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931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221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Enumerated types are a convenient way of grouping related constants together in a single definition and should be used frequently. The Java framework defines quite a few.</a:t>
            </a:r>
          </a:p>
          <a:p>
            <a:r>
              <a:rPr lang="en-US" dirty="0"/>
              <a:t>When a new </a:t>
            </a:r>
            <a:r>
              <a:rPr lang="en-US" dirty="0" err="1"/>
              <a:t>enum</a:t>
            </a:r>
            <a:r>
              <a:rPr lang="en-US" dirty="0"/>
              <a:t> type is defined, a set of identifiers must be enclosed in braces to indicate the allowed values for this </a:t>
            </a:r>
            <a:r>
              <a:rPr lang="en-US" dirty="0" err="1"/>
              <a:t>enum</a:t>
            </a:r>
            <a:r>
              <a:rPr lang="en-US" dirty="0"/>
              <a:t> type. </a:t>
            </a:r>
          </a:p>
          <a:p>
            <a:r>
              <a:rPr lang="en-US" dirty="0"/>
              <a:t>Typically</a:t>
            </a:r>
            <a:r>
              <a:rPr lang="en-US" baseline="0" dirty="0"/>
              <a:t> processed via a Switch statement.</a:t>
            </a:r>
          </a:p>
          <a:p>
            <a:r>
              <a:rPr lang="en-US" baseline="0" dirty="0"/>
              <a:t>Java converts the </a:t>
            </a:r>
            <a:r>
              <a:rPr lang="en-US" baseline="0" dirty="0" err="1"/>
              <a:t>enum</a:t>
            </a:r>
            <a:r>
              <a:rPr lang="en-US" baseline="0" dirty="0"/>
              <a:t> into a class with a public static field in for each value in the </a:t>
            </a:r>
            <a:r>
              <a:rPr lang="en-US" baseline="0" dirty="0" err="1"/>
              <a:t>enum</a:t>
            </a:r>
            <a:r>
              <a:rPr lang="en-US" baseline="0" dirty="0"/>
              <a:t>.</a:t>
            </a:r>
          </a:p>
          <a:p>
            <a:r>
              <a:rPr lang="en-US" baseline="0" dirty="0"/>
              <a:t>So in the example above. </a:t>
            </a:r>
            <a:r>
              <a:rPr lang="en-US" baseline="0" dirty="0" err="1"/>
              <a:t>Status.ACTIVE</a:t>
            </a:r>
            <a:r>
              <a:rPr lang="en-US" baseline="0" dirty="0"/>
              <a:t> is actually a public static field of type Status as are the other entries in the </a:t>
            </a:r>
            <a:r>
              <a:rPr lang="en-US" baseline="0" dirty="0" err="1"/>
              <a:t>enum</a:t>
            </a:r>
            <a:r>
              <a:rPr lang="en-US" baseline="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51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Method substring is used to extract a portion of a string. Its parameters are ‘</a:t>
            </a:r>
            <a:r>
              <a:rPr lang="en-US" dirty="0" err="1"/>
              <a:t>beginIndex</a:t>
            </a:r>
            <a:r>
              <a:rPr lang="en-US" dirty="0"/>
              <a:t>’ (start position) and ‘</a:t>
            </a:r>
            <a:r>
              <a:rPr lang="en-US" dirty="0" err="1"/>
              <a:t>endIndex</a:t>
            </a:r>
            <a:r>
              <a:rPr lang="en-US" dirty="0"/>
              <a:t>’ , not start position and length which many will assume, especially if you come to Java from the database world.</a:t>
            </a:r>
          </a:p>
          <a:p>
            <a:r>
              <a:rPr lang="en-US" dirty="0"/>
              <a:t>The 1</a:t>
            </a:r>
            <a:r>
              <a:rPr lang="en-US" baseline="30000" dirty="0"/>
              <a:t>st</a:t>
            </a:r>
            <a:r>
              <a:rPr lang="en-US" dirty="0"/>
              <a:t> character of course is character 0.</a:t>
            </a:r>
            <a:br>
              <a:rPr lang="en-US" dirty="0"/>
            </a:br>
            <a:r>
              <a:rPr lang="en-US" dirty="0"/>
              <a:t>So you might think 2,4 means from</a:t>
            </a:r>
            <a:r>
              <a:rPr lang="en-US" baseline="0" dirty="0"/>
              <a:t> </a:t>
            </a:r>
            <a:r>
              <a:rPr lang="en-US" dirty="0"/>
              <a:t>characters 2 through 4 i.e. a 3 character String.</a:t>
            </a:r>
          </a:p>
          <a:p>
            <a:r>
              <a:rPr lang="en-US" dirty="0"/>
              <a:t>However although you might supply 2,4 what you get is from 2 ‘up to but not</a:t>
            </a:r>
            <a:r>
              <a:rPr lang="en-US" baseline="0" dirty="0"/>
              <a:t> including’ 4 </a:t>
            </a:r>
            <a:r>
              <a:rPr lang="en-US" baseline="0" dirty="0" err="1"/>
              <a:t>i.e</a:t>
            </a:r>
            <a:r>
              <a:rPr lang="en-US" baseline="0" dirty="0"/>
              <a:t> characters 2 &amp; 3.</a:t>
            </a:r>
            <a:br>
              <a:rPr lang="en-US" baseline="0" dirty="0"/>
            </a:br>
            <a:r>
              <a:rPr lang="en-US" baseline="0" dirty="0"/>
              <a:t>To begin with this is disconcerting and you suspect ‘out by 1 errors’ to crop up.</a:t>
            </a:r>
            <a:br>
              <a:rPr lang="en-US" baseline="0" dirty="0"/>
            </a:br>
            <a:r>
              <a:rPr lang="en-US" baseline="0" dirty="0"/>
              <a:t>Once you </a:t>
            </a:r>
            <a:r>
              <a:rPr lang="en-US" baseline="0" dirty="0" err="1"/>
              <a:t>realise</a:t>
            </a:r>
            <a:r>
              <a:rPr lang="en-US" baseline="0" dirty="0"/>
              <a:t> the design decision was "the numeric difference between the parameters is the number of characters you get, it makes it easy to read and write.</a:t>
            </a:r>
            <a:br>
              <a:rPr lang="en-US" baseline="0" dirty="0"/>
            </a:br>
            <a:r>
              <a:rPr lang="en-US" baseline="0" dirty="0"/>
              <a:t>e.g. </a:t>
            </a:r>
            <a:r>
              <a:rPr lang="en-US" baseline="0" dirty="0" err="1"/>
              <a:t>s.subString</a:t>
            </a:r>
            <a:r>
              <a:rPr lang="en-US" baseline="0" dirty="0"/>
              <a:t>(47,63);</a:t>
            </a:r>
          </a:p>
          <a:p>
            <a:r>
              <a:rPr lang="en-US" baseline="0" dirty="0"/>
              <a:t>63-47 = 16 so you get 16 characters, characters 47 thru 62.</a:t>
            </a:r>
            <a:br>
              <a:rPr lang="en-US" dirty="0"/>
            </a:br>
            <a:endParaRPr lang="en-US" baseline="0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3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3050" algn="l"/>
                <a:tab pos="544513" algn="l"/>
                <a:tab pos="796925" algn="l"/>
                <a:tab pos="1069975" algn="l"/>
                <a:tab pos="1343025" algn="l"/>
                <a:tab pos="1614488" algn="l"/>
                <a:tab pos="1887538" algn="l"/>
                <a:tab pos="2159000" algn="l"/>
                <a:tab pos="2413000" algn="l"/>
                <a:tab pos="2684463" algn="l"/>
              </a:tabLst>
              <a:defRPr/>
            </a:pPr>
            <a:r>
              <a:rPr lang="en-US" baseline="0" dirty="0"/>
              <a:t>The 1</a:t>
            </a:r>
            <a:r>
              <a:rPr lang="en-US" baseline="30000" dirty="0"/>
              <a:t>st</a:t>
            </a:r>
            <a:r>
              <a:rPr lang="en-US" baseline="0" dirty="0"/>
              <a:t> code sample will display ‘</a:t>
            </a:r>
            <a:r>
              <a:rPr lang="en-US" baseline="0" dirty="0" err="1"/>
              <a:t>ed</a:t>
            </a:r>
            <a:r>
              <a:rPr lang="en-US" baseline="0" dirty="0"/>
              <a:t>’ and ‘Frederic’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3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3050" algn="l"/>
                <a:tab pos="544513" algn="l"/>
                <a:tab pos="796925" algn="l"/>
                <a:tab pos="1069975" algn="l"/>
                <a:tab pos="1343025" algn="l"/>
                <a:tab pos="1614488" algn="l"/>
                <a:tab pos="1887538" algn="l"/>
                <a:tab pos="2159000" algn="l"/>
                <a:tab pos="2413000" algn="l"/>
                <a:tab pos="2684463" algn="l"/>
              </a:tabLst>
              <a:defRPr/>
            </a:pPr>
            <a:r>
              <a:rPr lang="en-US" baseline="0" dirty="0"/>
              <a:t>The 2</a:t>
            </a:r>
            <a:r>
              <a:rPr lang="en-US" baseline="30000" dirty="0"/>
              <a:t>nd</a:t>
            </a:r>
            <a:r>
              <a:rPr lang="en-US" baseline="0" dirty="0"/>
              <a:t> code sample will display ‘Fred </a:t>
            </a:r>
            <a:r>
              <a:rPr lang="en-US" baseline="0" dirty="0" err="1"/>
              <a:t>Bloggs</a:t>
            </a:r>
            <a:r>
              <a:rPr lang="en-US" baseline="0" dirty="0"/>
              <a:t>    ’ because the trim() </a:t>
            </a:r>
            <a:r>
              <a:rPr lang="en-US" baseline="0" dirty="0" err="1"/>
              <a:t>toUpperCase</a:t>
            </a:r>
            <a:r>
              <a:rPr lang="en-US" baseline="0" dirty="0"/>
              <a:t>() and </a:t>
            </a:r>
            <a:r>
              <a:rPr lang="en-US" baseline="0" dirty="0" err="1"/>
              <a:t>toLowerCase</a:t>
            </a:r>
            <a:r>
              <a:rPr lang="en-US" baseline="0" dirty="0"/>
              <a:t>() calls all achieve nothing. These are not void methods.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243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Just remember String is immutable, methods that appear to change one don’t.</a:t>
            </a:r>
          </a:p>
          <a:p>
            <a:r>
              <a:rPr lang="en-GB" dirty="0"/>
              <a:t>They take a copy, they change the copy, they return a reference to the changed copy leaving the original intact so any other reference to the original String does not see the change.</a:t>
            </a:r>
          </a:p>
        </p:txBody>
      </p:sp>
    </p:spTree>
    <p:extLst>
      <p:ext uri="{BB962C8B-B14F-4D97-AF65-F5344CB8AC3E}">
        <p14:creationId xmlns:p14="http://schemas.microsoft.com/office/powerpoint/2010/main" val="399644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As strings just have to be immutable – a side effect of being a ref type that behaves largely like a value type a line of code that says </a:t>
            </a:r>
            <a:br>
              <a:rPr lang="en-US" dirty="0"/>
            </a:br>
            <a:r>
              <a:rPr lang="en-US" dirty="0"/>
              <a:t>s += "a"’; </a:t>
            </a:r>
            <a:br>
              <a:rPr lang="en-US" dirty="0"/>
            </a:br>
            <a:r>
              <a:rPr lang="en-US" dirty="0"/>
              <a:t>creates a new string each time it runs.</a:t>
            </a:r>
          </a:p>
          <a:p>
            <a:r>
              <a:rPr lang="en-US" dirty="0"/>
              <a:t>So if you have to build up a string using many statements</a:t>
            </a:r>
            <a:r>
              <a:rPr lang="en-US" baseline="0" dirty="0"/>
              <a:t> it is very inefficient to start with a string and keep creating new versions of it forcing all the old versions no longer referenced to be garbage collected. S</a:t>
            </a:r>
            <a:r>
              <a:rPr lang="en-US" dirty="0"/>
              <a:t>o the Java class libraries offer a class called </a:t>
            </a:r>
            <a:r>
              <a:rPr lang="en-US" dirty="0" err="1"/>
              <a:t>StringBuilder</a:t>
            </a:r>
            <a:r>
              <a:rPr lang="en-US" dirty="0"/>
              <a:t> which is a mutable string buffer with a hugely overloaded append methods plus insert(..) , replace(..) and </a:t>
            </a:r>
            <a:r>
              <a:rPr lang="en-US" dirty="0" err="1"/>
              <a:t>toString</a:t>
            </a:r>
            <a:r>
              <a:rPr lang="en-US" dirty="0"/>
              <a:t>().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036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45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45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&amp;A/what's next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FF004C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20985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004050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-1" y="3844205"/>
            <a:ext cx="8314267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-10132" y="4967139"/>
            <a:ext cx="8324398" cy="432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-6057" y="3264823"/>
            <a:ext cx="5967455" cy="28592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rgbClr val="004050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28CFF9"/>
          </a:solidFill>
        </p:grpSpPr>
        <p:sp>
          <p:nvSpPr>
            <p:cNvPr id="12" name="Rectangle 11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3297651" y="2366578"/>
            <a:ext cx="7767721" cy="4491421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-1" y="3841786"/>
            <a:ext cx="8212667" cy="4320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-10132" y="4965471"/>
            <a:ext cx="8146316" cy="4320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5030515"/>
            <a:ext cx="2361189" cy="132089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 userDrawn="1"/>
        </p:nvSpPr>
        <p:spPr>
          <a:xfrm>
            <a:off x="0" y="5379138"/>
            <a:ext cx="2746241" cy="1332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2203017" y="4568506"/>
            <a:ext cx="2424152" cy="1401684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F3622C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2327195" y="4606108"/>
            <a:ext cx="2293146" cy="1326143"/>
            <a:chOff x="7799133" y="1870745"/>
            <a:chExt cx="1010349" cy="584292"/>
          </a:xfrm>
          <a:solidFill>
            <a:srgbClr val="FF004C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Rectangle 2"/>
          <p:cNvSpPr/>
          <p:nvPr userDrawn="1"/>
        </p:nvSpPr>
        <p:spPr>
          <a:xfrm>
            <a:off x="-11069" y="5042941"/>
            <a:ext cx="2506981" cy="126517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0" y="5374222"/>
            <a:ext cx="2506981" cy="126000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7E007C"/>
          </a:solidFill>
        </p:grpSpPr>
        <p:sp>
          <p:nvSpPr>
            <p:cNvPr id="16" name="Rectangle 15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2pPr marL="355600" indent="-266700">
              <a:buFont typeface="Arial" panose="020B0604020202020204" pitchFamily="34" charset="0"/>
              <a:buChar char="•"/>
              <a:defRPr/>
            </a:lvl2pPr>
            <a:lvl3pPr marL="355600" indent="-266700">
              <a:buFont typeface="Arial" panose="020B0604020202020204" pitchFamily="34" charset="0"/>
              <a:buChar char="•"/>
              <a:defRPr/>
            </a:lvl3pPr>
            <a:lvl4pPr marL="355600" indent="-266700">
              <a:buFont typeface="Arial" panose="020B0604020202020204" pitchFamily="34" charset="0"/>
              <a:buChar char="•"/>
              <a:defRPr/>
            </a:lvl4pPr>
            <a:lvl5pPr marL="355600" indent="-2667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marL="342900" lvl="1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342900" lvl="1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tabLst/>
            </a:pPr>
            <a:r>
              <a:rPr lang="en-US" dirty="0"/>
              <a:t>Third level</a:t>
            </a:r>
          </a:p>
          <a:p>
            <a:pPr marL="342900" lvl="1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tabLst/>
            </a:pPr>
            <a:r>
              <a:rPr lang="en-US" dirty="0"/>
              <a:t>Fourth level</a:t>
            </a:r>
          </a:p>
          <a:p>
            <a:pPr marL="342900" lvl="1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 typeface="Arial" panose="020B0604020202020204" pitchFamily="34" charset="0"/>
              <a:buChar char="•"/>
              <a:defRPr lang="en-US" sz="2000" b="0" i="0" kern="1200" dirty="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-1" y="3516594"/>
            <a:ext cx="7016814" cy="2396903"/>
            <a:chOff x="623461" y="4580698"/>
            <a:chExt cx="4009018" cy="1370734"/>
          </a:xfrm>
          <a:solidFill>
            <a:srgbClr val="004050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623462" y="5031740"/>
              <a:ext cx="19306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623461" y="5373431"/>
              <a:ext cx="1930689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9061491" y="649290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ABFB6-A9C6-4619-9721-3B608E8ED143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4529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0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902" r:id="rId2"/>
    <p:sldLayoutId id="2147483812" r:id="rId3"/>
    <p:sldLayoutId id="2147483813" r:id="rId4"/>
    <p:sldLayoutId id="2147483798" r:id="rId5"/>
    <p:sldLayoutId id="2147483806" r:id="rId6"/>
    <p:sldLayoutId id="2147483709" r:id="rId7"/>
    <p:sldLayoutId id="2147483822" r:id="rId8"/>
    <p:sldLayoutId id="2147483802" r:id="rId9"/>
    <p:sldLayoutId id="2147483792" r:id="rId10"/>
    <p:sldLayoutId id="2147483810" r:id="rId11"/>
    <p:sldLayoutId id="2147483804" r:id="rId12"/>
    <p:sldLayoutId id="2147483821" r:id="rId13"/>
    <p:sldLayoutId id="2147483824" r:id="rId14"/>
    <p:sldLayoutId id="2147483828" r:id="rId15"/>
    <p:sldLayoutId id="2147483853" r:id="rId16"/>
    <p:sldLayoutId id="2147483899" r:id="rId17"/>
    <p:sldLayoutId id="2147483832" r:id="rId18"/>
    <p:sldLayoutId id="2147483833" r:id="rId19"/>
    <p:sldLayoutId id="2147483836" r:id="rId20"/>
    <p:sldLayoutId id="2147483852" r:id="rId21"/>
    <p:sldLayoutId id="2147483900" r:id="rId22"/>
    <p:sldLayoutId id="2147483820" r:id="rId23"/>
    <p:sldLayoutId id="2147483842" r:id="rId24"/>
    <p:sldLayoutId id="2147483845" r:id="rId25"/>
    <p:sldLayoutId id="2147483851" r:id="rId26"/>
    <p:sldLayoutId id="2147483901" r:id="rId27"/>
    <p:sldLayoutId id="2147483650" r:id="rId28"/>
    <p:sldLayoutId id="2147483734" r:id="rId29"/>
    <p:sldLayoutId id="2147483796" r:id="rId30"/>
    <p:sldLayoutId id="2147483719" r:id="rId31"/>
    <p:sldLayoutId id="2147483721" r:id="rId32"/>
    <p:sldLayoutId id="2147483724" r:id="rId33"/>
    <p:sldLayoutId id="2147483797" r:id="rId34"/>
    <p:sldLayoutId id="2147483814" r:id="rId35"/>
    <p:sldLayoutId id="2147483906" r:id="rId36"/>
    <p:sldLayoutId id="2147483907" r:id="rId3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9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9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9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9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10A2E5-A3AA-7BE3-7C87-983A58C15C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and String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34D79-CFC0-C4F4-AD12-F13DBCAB1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93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Contents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5037137" y="1349984"/>
            <a:ext cx="6018789" cy="4588998"/>
          </a:xfrm>
        </p:spPr>
        <p:txBody>
          <a:bodyPr vert="horz" lIns="0" tIns="0" rIns="0" bIns="0" rtlCol="0" anchor="t" anchorCtr="0">
            <a:noAutofit/>
          </a:bodyPr>
          <a:lstStyle/>
          <a:p>
            <a:pPr marL="342900" indent="-342900">
              <a:buChar char="•"/>
            </a:pPr>
            <a:r>
              <a:rPr lang="en-GB" b="1" dirty="0"/>
              <a:t>Objectives</a:t>
            </a:r>
          </a:p>
          <a:p>
            <a:pPr marL="684000" lvl="1" indent="-342900">
              <a:buSzPct val="115000"/>
            </a:pPr>
            <a:r>
              <a:rPr lang="en-IN" dirty="0"/>
              <a:t>Cover some miscellaneous details touched on but not needed so far</a:t>
            </a:r>
            <a:endParaRPr lang="en-GB" dirty="0"/>
          </a:p>
          <a:p>
            <a:pPr marL="342900" indent="-342900">
              <a:buChar char="•"/>
            </a:pPr>
            <a:r>
              <a:rPr lang="en-GB" b="1" dirty="0"/>
              <a:t>Contents</a:t>
            </a:r>
          </a:p>
          <a:p>
            <a:pPr marL="684000" lvl="1" indent="-342900">
              <a:buSzPct val="115000"/>
            </a:pPr>
            <a:r>
              <a:rPr lang="en-IN" dirty="0"/>
              <a:t>Enumerated types  - keyword </a:t>
            </a:r>
            <a:r>
              <a:rPr lang="en-IN" dirty="0" err="1">
                <a:latin typeface="Lucida Console" panose="020B0609040504020204" pitchFamily="49" charset="0"/>
              </a:rPr>
              <a:t>enum</a:t>
            </a:r>
            <a:endParaRPr lang="en-IN" dirty="0">
              <a:latin typeface="Lucida Console" panose="020B0609040504020204" pitchFamily="49" charset="0"/>
            </a:endParaRPr>
          </a:p>
          <a:p>
            <a:pPr marL="684000" lvl="1" indent="-342900">
              <a:buSzPct val="115000"/>
            </a:pPr>
            <a:r>
              <a:rPr lang="en-IN" dirty="0"/>
              <a:t>classes </a:t>
            </a:r>
            <a:r>
              <a:rPr lang="en-IN" dirty="0">
                <a:latin typeface="Lucida Console" panose="020B0609040504020204" pitchFamily="49" charset="0"/>
              </a:rPr>
              <a:t>String</a:t>
            </a:r>
            <a:r>
              <a:rPr lang="en-IN" dirty="0"/>
              <a:t> and </a:t>
            </a:r>
            <a:r>
              <a:rPr lang="en-IN" dirty="0">
                <a:latin typeface="Lucida Console" panose="020B0609040504020204" pitchFamily="49" charset="0"/>
              </a:rPr>
              <a:t>StringBuilder</a:t>
            </a:r>
          </a:p>
          <a:p>
            <a:pPr marL="684000" lvl="1" indent="-342900">
              <a:buSzPct val="115000"/>
            </a:pPr>
            <a:r>
              <a:rPr lang="en-IN" dirty="0"/>
              <a:t>Variable number of parameters</a:t>
            </a:r>
          </a:p>
          <a:p>
            <a:pPr marL="684000" lvl="1" indent="-342900">
              <a:buSzPct val="115000"/>
            </a:pPr>
            <a:r>
              <a:rPr lang="en-IN" dirty="0"/>
              <a:t>Wrapper classes</a:t>
            </a:r>
          </a:p>
          <a:p>
            <a:pPr marL="684000" lvl="1" indent="-342900">
              <a:buSzPct val="115000"/>
            </a:pPr>
            <a:r>
              <a:rPr lang="en-IN" dirty="0"/>
              <a:t>Review</a:t>
            </a:r>
            <a:endParaRPr lang="en-GB" dirty="0"/>
          </a:p>
          <a:p>
            <a:pPr marL="342900" indent="-342900">
              <a:buChar char="•"/>
            </a:pPr>
            <a:r>
              <a:rPr lang="en-GB" b="1" dirty="0"/>
              <a:t>Hands on Labs</a:t>
            </a:r>
          </a:p>
        </p:txBody>
      </p:sp>
      <p:sp>
        <p:nvSpPr>
          <p:cNvPr id="4" name="Rectangle 3" descr="Document">
            <a:extLst>
              <a:ext uri="{FF2B5EF4-FFF2-40B4-BE49-F238E27FC236}">
                <a16:creationId xmlns:a16="http://schemas.microsoft.com/office/drawing/2014/main" id="{0623CED8-36BE-2D26-53D3-21979034BA5C}"/>
              </a:ext>
            </a:extLst>
          </p:cNvPr>
          <p:cNvSpPr/>
          <p:nvPr/>
        </p:nvSpPr>
        <p:spPr>
          <a:xfrm>
            <a:off x="4257040" y="2927000"/>
            <a:ext cx="796640" cy="70012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Rectangle 4" descr="Bullseye">
            <a:extLst>
              <a:ext uri="{FF2B5EF4-FFF2-40B4-BE49-F238E27FC236}">
                <a16:creationId xmlns:a16="http://schemas.microsoft.com/office/drawing/2014/main" id="{7F1BC784-64CC-AA42-5B7A-F5A2390A8666}"/>
              </a:ext>
            </a:extLst>
          </p:cNvPr>
          <p:cNvSpPr/>
          <p:nvPr/>
        </p:nvSpPr>
        <p:spPr>
          <a:xfrm>
            <a:off x="4277360" y="1494440"/>
            <a:ext cx="796640" cy="80172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4632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42000" y="1368001"/>
            <a:ext cx="10119507" cy="1906168"/>
          </a:xfrm>
        </p:spPr>
        <p:txBody>
          <a:bodyPr/>
          <a:lstStyle/>
          <a:p>
            <a:r>
              <a:rPr lang="en-US" b="1" dirty="0"/>
              <a:t>Using the ‘class’ keyword is not the only way to define a type</a:t>
            </a:r>
          </a:p>
          <a:p>
            <a:pPr marL="3420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Lucida Console" pitchFamily="49" charset="0"/>
              </a:rPr>
              <a:t>A</a:t>
            </a:r>
            <a:r>
              <a:rPr lang="en-US" dirty="0"/>
              <a:t> variable of type </a:t>
            </a:r>
            <a:r>
              <a:rPr lang="en-US" b="1" dirty="0" err="1"/>
              <a:t>enum</a:t>
            </a:r>
            <a:r>
              <a:rPr lang="en-US" dirty="0"/>
              <a:t> is restricted to a set of predefined constants</a:t>
            </a:r>
          </a:p>
          <a:p>
            <a:pPr marL="697600" lvl="1" indent="-342900"/>
            <a:r>
              <a:rPr lang="en-US" dirty="0"/>
              <a:t>Usually defined in uppercase</a:t>
            </a:r>
            <a:endParaRPr lang="en-US" dirty="0">
              <a:latin typeface="Lucida Console" pitchFamily="49" charset="0"/>
            </a:endParaRPr>
          </a:p>
          <a:p>
            <a:pPr marL="342000" indent="-342900">
              <a:buFont typeface="Arial" panose="020B0604020202020204" pitchFamily="34" charset="0"/>
              <a:buChar char="•"/>
            </a:pPr>
            <a:r>
              <a:rPr lang="en-US" dirty="0"/>
              <a:t>Treat an </a:t>
            </a:r>
            <a:r>
              <a:rPr lang="en-US" b="1" dirty="0" err="1">
                <a:latin typeface="Lucida Console" pitchFamily="49" charset="0"/>
              </a:rPr>
              <a:t>enum</a:t>
            </a:r>
            <a:r>
              <a:rPr lang="en-US" dirty="0"/>
              <a:t> variable just like other </a:t>
            </a:r>
            <a:r>
              <a:rPr lang="en-US" b="1" dirty="0"/>
              <a:t>value type</a:t>
            </a:r>
          </a:p>
        </p:txBody>
      </p:sp>
      <p:sp>
        <p:nvSpPr>
          <p:cNvPr id="873474" name="Rectangle 2"/>
          <p:cNvSpPr>
            <a:spLocks noChangeArrowheads="1"/>
          </p:cNvSpPr>
          <p:nvPr/>
        </p:nvSpPr>
        <p:spPr bwMode="auto">
          <a:xfrm>
            <a:off x="1771870" y="3176877"/>
            <a:ext cx="3102199" cy="15670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90488" tIns="44450" rIns="90488" bIns="44450">
            <a:spAutoFit/>
          </a:bodyPr>
          <a:lstStyle/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  <a:tab pos="1712913" algn="l"/>
              </a:tabLst>
              <a:defRPr/>
            </a:pPr>
            <a:r>
              <a:rPr lang="en-GB" sz="1600" dirty="0">
                <a:solidFill>
                  <a:srgbClr val="0000C8"/>
                </a:solidFill>
                <a:latin typeface="Lucida Console" pitchFamily="49" charset="0"/>
              </a:rPr>
              <a:t>public </a:t>
            </a:r>
            <a:r>
              <a:rPr lang="en-GB" sz="1600" dirty="0" err="1">
                <a:solidFill>
                  <a:srgbClr val="FF0000"/>
                </a:solidFill>
                <a:latin typeface="Lucida Console" pitchFamily="49" charset="0"/>
              </a:rPr>
              <a:t>enum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 </a:t>
            </a:r>
            <a:r>
              <a:rPr lang="en-GB" sz="1600" dirty="0">
                <a:latin typeface="Lucida Console" pitchFamily="49" charset="0"/>
              </a:rPr>
              <a:t>Status {</a:t>
            </a: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  <a:tab pos="1712913" algn="l"/>
              </a:tabLst>
              <a:defRPr/>
            </a:pPr>
            <a:r>
              <a:rPr lang="en-GB" sz="1600" dirty="0">
                <a:latin typeface="Lucida Console" pitchFamily="49" charset="0"/>
              </a:rPr>
              <a:t>	ACTIVE,</a:t>
            </a: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  <a:tab pos="1712913" algn="l"/>
              </a:tabLst>
              <a:defRPr/>
            </a:pPr>
            <a:r>
              <a:rPr lang="en-GB" sz="1600" dirty="0">
                <a:latin typeface="Lucida Console" pitchFamily="49" charset="0"/>
              </a:rPr>
              <a:t>	RETIRED,</a:t>
            </a: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  <a:tab pos="1712913" algn="l"/>
              </a:tabLst>
              <a:defRPr/>
            </a:pPr>
            <a:r>
              <a:rPr lang="en-GB" sz="1600" dirty="0">
                <a:latin typeface="Lucida Console" pitchFamily="49" charset="0"/>
              </a:rPr>
              <a:t>	CONTRACTOR,</a:t>
            </a: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  <a:tab pos="1712913" algn="l"/>
              </a:tabLst>
              <a:defRPr/>
            </a:pPr>
            <a:r>
              <a:rPr lang="en-GB" sz="1600" dirty="0">
                <a:latin typeface="Lucida Console" pitchFamily="49" charset="0"/>
              </a:rPr>
              <a:t>	PERMANENT</a:t>
            </a: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  <a:tab pos="1712913" algn="l"/>
              </a:tabLst>
              <a:defRPr/>
            </a:pPr>
            <a:r>
              <a:rPr lang="en-GB" sz="1600" dirty="0">
                <a:latin typeface="Lucida Console" pitchFamily="49" charset="0"/>
              </a:rPr>
              <a:t>}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Enumerated Data Types</a:t>
            </a:r>
          </a:p>
        </p:txBody>
      </p:sp>
      <p:sp>
        <p:nvSpPr>
          <p:cNvPr id="873476" name="Rectangle 4"/>
          <p:cNvSpPr>
            <a:spLocks noChangeArrowheads="1"/>
          </p:cNvSpPr>
          <p:nvPr/>
        </p:nvSpPr>
        <p:spPr bwMode="auto">
          <a:xfrm>
            <a:off x="5030852" y="3993447"/>
            <a:ext cx="5430655" cy="2059538"/>
          </a:xfrm>
          <a:prstGeom prst="rect">
            <a:avLst/>
          </a:prstGeom>
          <a:solidFill>
            <a:schemeClr val="bg1"/>
          </a:solidFill>
          <a:ln w="19050">
            <a:noFill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0488" tIns="44450" rIns="90488" bIns="44450">
            <a:spAutoFit/>
          </a:bodyPr>
          <a:lstStyle/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</a:tabLst>
              <a:defRPr/>
            </a:pPr>
            <a:r>
              <a:rPr lang="en-GB" sz="1600" dirty="0">
                <a:solidFill>
                  <a:srgbClr val="0000C8"/>
                </a:solidFill>
                <a:latin typeface="Lucida Console" pitchFamily="49" charset="0"/>
              </a:rPr>
              <a:t>public void</a:t>
            </a:r>
            <a:r>
              <a:rPr lang="en-GB" sz="1600" dirty="0">
                <a:solidFill>
                  <a:schemeClr val="tx1">
                    <a:lumMod val="60000"/>
                    <a:lumOff val="40000"/>
                  </a:schemeClr>
                </a:solidFill>
                <a:latin typeface="Lucida Console" pitchFamily="49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latin typeface="Lucida Console" pitchFamily="49" charset="0"/>
              </a:rPr>
              <a:t>expectStatus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 (</a:t>
            </a:r>
            <a:r>
              <a:rPr lang="en-GB" sz="1600" b="1" dirty="0">
                <a:solidFill>
                  <a:srgbClr val="000000"/>
                </a:solidFill>
                <a:latin typeface="Lucida Console" pitchFamily="49" charset="0"/>
              </a:rPr>
              <a:t>Status </a:t>
            </a:r>
            <a:r>
              <a:rPr lang="en-GB" sz="1600" b="1" dirty="0" err="1">
                <a:solidFill>
                  <a:srgbClr val="000000"/>
                </a:solidFill>
                <a:latin typeface="Lucida Console" pitchFamily="49" charset="0"/>
              </a:rPr>
              <a:t>st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) {</a:t>
            </a:r>
            <a:b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    </a:t>
            </a:r>
            <a:r>
              <a:rPr lang="en-GB" sz="1600" dirty="0">
                <a:solidFill>
                  <a:srgbClr val="0000C8"/>
                </a:solidFill>
                <a:latin typeface="Lucida Console" pitchFamily="49" charset="0"/>
              </a:rPr>
              <a:t>if(</a:t>
            </a:r>
            <a:r>
              <a:rPr lang="en-GB" sz="1600" dirty="0" err="1">
                <a:solidFill>
                  <a:srgbClr val="000000"/>
                </a:solidFill>
                <a:latin typeface="Lucida Console" pitchFamily="49" charset="0"/>
              </a:rPr>
              <a:t>st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 == </a:t>
            </a:r>
            <a:r>
              <a:rPr lang="en-GB" sz="1600" dirty="0" err="1">
                <a:solidFill>
                  <a:srgbClr val="000000"/>
                </a:solidFill>
                <a:latin typeface="Lucida Console" pitchFamily="49" charset="0"/>
              </a:rPr>
              <a:t>Status.ACTIVE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)</a:t>
            </a: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</a:tabLst>
              <a:defRPr/>
            </a:pP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      </a:t>
            </a: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Lucida Console" pitchFamily="49" charset="0"/>
              </a:rPr>
              <a:t> …process Active</a:t>
            </a: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</a:tabLst>
              <a:defRPr/>
            </a:pPr>
            <a:b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    </a:t>
            </a:r>
            <a:r>
              <a:rPr lang="en-GB" sz="1600" dirty="0">
                <a:solidFill>
                  <a:srgbClr val="0000C8"/>
                </a:solidFill>
                <a:latin typeface="Lucida Console" pitchFamily="49" charset="0"/>
              </a:rPr>
              <a:t>else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 </a:t>
            </a:r>
            <a:r>
              <a:rPr lang="en-GB" sz="1600" dirty="0">
                <a:solidFill>
                  <a:srgbClr val="0000C8"/>
                </a:solidFill>
                <a:latin typeface="Lucida Console" pitchFamily="49" charset="0"/>
              </a:rPr>
              <a:t>if(</a:t>
            </a:r>
            <a:r>
              <a:rPr lang="en-GB" sz="1600" dirty="0" err="1">
                <a:solidFill>
                  <a:srgbClr val="000000"/>
                </a:solidFill>
                <a:latin typeface="Lucida Console" pitchFamily="49" charset="0"/>
              </a:rPr>
              <a:t>st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 == </a:t>
            </a:r>
            <a:r>
              <a:rPr lang="en-GB" sz="1600" dirty="0" err="1">
                <a:solidFill>
                  <a:srgbClr val="000000"/>
                </a:solidFill>
                <a:latin typeface="Lucida Console" pitchFamily="49" charset="0"/>
              </a:rPr>
              <a:t>Status.RETIRED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)</a:t>
            </a:r>
            <a:b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Lucida Console" pitchFamily="49" charset="0"/>
              </a:rPr>
              <a:t> 		 …process Retired</a:t>
            </a:r>
            <a:b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</a:br>
            <a:endParaRPr lang="en-GB" sz="1600" dirty="0">
              <a:solidFill>
                <a:srgbClr val="000000"/>
              </a:solidFill>
              <a:latin typeface="Lucida Console" pitchFamily="49" charset="0"/>
            </a:endParaRP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</a:tabLst>
              <a:defRPr/>
            </a:pP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}</a:t>
            </a:r>
          </a:p>
        </p:txBody>
      </p:sp>
      <p:sp>
        <p:nvSpPr>
          <p:cNvPr id="873478" name="Rectangle 6"/>
          <p:cNvSpPr>
            <a:spLocks noChangeArrowheads="1"/>
          </p:cNvSpPr>
          <p:nvPr/>
        </p:nvSpPr>
        <p:spPr bwMode="auto">
          <a:xfrm>
            <a:off x="5030852" y="3185222"/>
            <a:ext cx="5422168" cy="58221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>
            <a:noFill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0488" tIns="44450" rIns="90488" bIns="44450">
            <a:spAutoFit/>
          </a:bodyPr>
          <a:lstStyle/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</a:tabLst>
              <a:defRPr/>
            </a:pP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Status st1 = </a:t>
            </a:r>
            <a:r>
              <a:rPr lang="en-GB" sz="1600" b="1" dirty="0" err="1">
                <a:solidFill>
                  <a:srgbClr val="000000"/>
                </a:solidFill>
                <a:latin typeface="Lucida Console" pitchFamily="49" charset="0"/>
              </a:rPr>
              <a:t>Status.RETIRED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;</a:t>
            </a:r>
          </a:p>
          <a:p>
            <a:pPr defTabSz="739775" eaLnBrk="0" hangingPunct="0">
              <a:tabLst>
                <a:tab pos="341313" algn="l"/>
                <a:tab pos="690563" algn="l"/>
                <a:tab pos="1030288" algn="l"/>
                <a:tab pos="1371600" algn="l"/>
              </a:tabLst>
              <a:defRPr/>
            </a:pPr>
            <a:r>
              <a:rPr lang="en-GB" sz="1600" dirty="0" err="1">
                <a:solidFill>
                  <a:srgbClr val="000000"/>
                </a:solidFill>
                <a:latin typeface="Lucida Console" pitchFamily="49" charset="0"/>
              </a:rPr>
              <a:t>expectStatus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</a:rPr>
              <a:t>(st1);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0C1DA5-F3A6-4B25-9C76-11E59081E7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227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Strings are immutable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60359" y="1371528"/>
            <a:ext cx="4572000" cy="584775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string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 = </a:t>
            </a:r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string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</a:t>
            </a:r>
            <a:r>
              <a:rPr lang="en-GB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"Bob"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Rectangle 4"/>
          <p:cNvSpPr/>
          <p:nvPr/>
        </p:nvSpPr>
        <p:spPr>
          <a:xfrm>
            <a:off x="1660359" y="2763863"/>
            <a:ext cx="4572000" cy="584775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"by"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</a:t>
            </a:r>
            <a:r>
              <a:rPr lang="en-GB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GB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"by"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660360" y="2190805"/>
            <a:ext cx="2269957" cy="344462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[0] =</a:t>
            </a:r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'R'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45183" y="1519536"/>
            <a:ext cx="753979" cy="2923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E00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name</a:t>
            </a:r>
          </a:p>
        </p:txBody>
      </p:sp>
      <p:sp>
        <p:nvSpPr>
          <p:cNvPr id="8" name="Oval 7"/>
          <p:cNvSpPr/>
          <p:nvPr/>
        </p:nvSpPr>
        <p:spPr>
          <a:xfrm>
            <a:off x="7844593" y="1251902"/>
            <a:ext cx="1219198" cy="641680"/>
          </a:xfrm>
          <a:prstGeom prst="ellipse">
            <a:avLst/>
          </a:prstGeom>
          <a:solidFill>
            <a:srgbClr val="7E007C">
              <a:alpha val="25000"/>
            </a:srgbClr>
          </a:solidFill>
          <a:ln w="19050">
            <a:solidFill>
              <a:srgbClr val="004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</a:t>
            </a:r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Bob</a:t>
            </a:r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</a:t>
            </a:r>
          </a:p>
        </p:txBody>
      </p:sp>
      <p:cxnSp>
        <p:nvCxnSpPr>
          <p:cNvPr id="10" name="Straight Arrow Connector 9"/>
          <p:cNvCxnSpPr>
            <a:stCxn id="7" idx="3"/>
            <a:endCxn id="8" idx="2"/>
          </p:cNvCxnSpPr>
          <p:nvPr/>
        </p:nvCxnSpPr>
        <p:spPr>
          <a:xfrm flipV="1">
            <a:off x="7299161" y="1572742"/>
            <a:ext cx="545432" cy="929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65093" y="2072536"/>
            <a:ext cx="596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</a:t>
            </a:r>
            <a:endParaRPr lang="en-GB" sz="36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60359" y="3739568"/>
            <a:ext cx="8253663" cy="2554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GB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changeName</a:t>
            </a:r>
            <a:r>
              <a:rPr lang="en-GB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i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changeName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</a:t>
            </a:r>
            <a:r>
              <a:rPr lang="en-GB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    name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"Bobby"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22171" y="4174505"/>
            <a:ext cx="753979" cy="2923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E00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name</a:t>
            </a:r>
          </a:p>
        </p:txBody>
      </p:sp>
      <p:sp>
        <p:nvSpPr>
          <p:cNvPr id="24" name="Oval 23"/>
          <p:cNvSpPr/>
          <p:nvPr/>
        </p:nvSpPr>
        <p:spPr>
          <a:xfrm>
            <a:off x="8221581" y="3906871"/>
            <a:ext cx="1219198" cy="641680"/>
          </a:xfrm>
          <a:prstGeom prst="ellipse">
            <a:avLst/>
          </a:prstGeom>
          <a:solidFill>
            <a:srgbClr val="7E007C">
              <a:alpha val="25000"/>
            </a:srgbClr>
          </a:solidFill>
          <a:ln w="19050">
            <a:solidFill>
              <a:srgbClr val="004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</a:t>
            </a:r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Bob</a:t>
            </a:r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</a:t>
            </a:r>
          </a:p>
        </p:txBody>
      </p:sp>
      <p:cxnSp>
        <p:nvCxnSpPr>
          <p:cNvPr id="25" name="Straight Arrow Connector 24"/>
          <p:cNvCxnSpPr>
            <a:stCxn id="23" idx="3"/>
            <a:endCxn id="24" idx="2"/>
          </p:cNvCxnSpPr>
          <p:nvPr/>
        </p:nvCxnSpPr>
        <p:spPr>
          <a:xfrm flipV="1">
            <a:off x="7676149" y="4227711"/>
            <a:ext cx="545432" cy="929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77729" y="5470972"/>
            <a:ext cx="1307427" cy="641680"/>
          </a:xfrm>
          <a:prstGeom prst="ellipse">
            <a:avLst/>
          </a:prstGeom>
          <a:solidFill>
            <a:srgbClr val="7E007C">
              <a:alpha val="25000"/>
            </a:srgbClr>
          </a:solidFill>
          <a:ln w="19050">
            <a:solidFill>
              <a:srgbClr val="004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</a:t>
            </a:r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Bobby</a:t>
            </a:r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</a:t>
            </a:r>
          </a:p>
        </p:txBody>
      </p:sp>
      <p:cxnSp>
        <p:nvCxnSpPr>
          <p:cNvPr id="27" name="Straight Arrow Connector 26"/>
          <p:cNvCxnSpPr>
            <a:stCxn id="28" idx="3"/>
            <a:endCxn id="26" idx="2"/>
          </p:cNvCxnSpPr>
          <p:nvPr/>
        </p:nvCxnSpPr>
        <p:spPr>
          <a:xfrm flipV="1">
            <a:off x="7668130" y="5791812"/>
            <a:ext cx="609599" cy="44866"/>
          </a:xfrm>
          <a:prstGeom prst="straightConnector1">
            <a:avLst/>
          </a:prstGeom>
          <a:ln w="19050">
            <a:solidFill>
              <a:srgbClr val="7E007C"/>
            </a:solidFill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8" name="Rounded Rectangle 27"/>
          <p:cNvSpPr/>
          <p:nvPr/>
        </p:nvSpPr>
        <p:spPr>
          <a:xfrm>
            <a:off x="6914151" y="5690484"/>
            <a:ext cx="753979" cy="2923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E00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name</a:t>
            </a:r>
          </a:p>
        </p:txBody>
      </p:sp>
      <p:sp>
        <p:nvSpPr>
          <p:cNvPr id="2" name="Rounded Rectangular Callout 1"/>
          <p:cNvSpPr/>
          <p:nvPr/>
        </p:nvSpPr>
        <p:spPr>
          <a:xfrm>
            <a:off x="5518950" y="1714271"/>
            <a:ext cx="656947" cy="378881"/>
          </a:xfrm>
          <a:prstGeom prst="wedgeRoundRectCallout">
            <a:avLst>
              <a:gd name="adj1" fmla="val -70833"/>
              <a:gd name="adj2" fmla="val -26539"/>
              <a:gd name="adj3" fmla="val 16667"/>
            </a:avLst>
          </a:prstGeom>
          <a:solidFill>
            <a:schemeClr val="bg1"/>
          </a:solidFill>
          <a:ln w="19050">
            <a:solidFill>
              <a:srgbClr val="7E0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itchFamily="34" charset="0"/>
              </a:rPr>
              <a:t>Is like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5422773" y="3100665"/>
            <a:ext cx="656947" cy="378881"/>
          </a:xfrm>
          <a:prstGeom prst="wedgeRoundRectCallout">
            <a:avLst>
              <a:gd name="adj1" fmla="val -70833"/>
              <a:gd name="adj2" fmla="val -26539"/>
              <a:gd name="adj3" fmla="val 16667"/>
            </a:avLst>
          </a:prstGeom>
          <a:solidFill>
            <a:schemeClr val="bg1"/>
          </a:solidFill>
          <a:ln w="19050">
            <a:solidFill>
              <a:srgbClr val="7E0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itchFamily="34" charset="0"/>
              </a:rPr>
              <a:t>Is like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39393" y="2762797"/>
            <a:ext cx="753979" cy="2923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E00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name</a:t>
            </a:r>
          </a:p>
        </p:txBody>
      </p:sp>
      <p:sp>
        <p:nvSpPr>
          <p:cNvPr id="30" name="Oval 29"/>
          <p:cNvSpPr/>
          <p:nvPr/>
        </p:nvSpPr>
        <p:spPr>
          <a:xfrm>
            <a:off x="8636941" y="1957387"/>
            <a:ext cx="1219198" cy="641680"/>
          </a:xfrm>
          <a:prstGeom prst="ellipse">
            <a:avLst/>
          </a:prstGeom>
          <a:solidFill>
            <a:schemeClr val="bg2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"Bob"</a:t>
            </a:r>
          </a:p>
        </p:txBody>
      </p:sp>
      <p:sp>
        <p:nvSpPr>
          <p:cNvPr id="32" name="Oval 31"/>
          <p:cNvSpPr/>
          <p:nvPr/>
        </p:nvSpPr>
        <p:spPr>
          <a:xfrm>
            <a:off x="8033632" y="2699356"/>
            <a:ext cx="1307427" cy="641680"/>
          </a:xfrm>
          <a:prstGeom prst="ellipse">
            <a:avLst/>
          </a:prstGeom>
          <a:solidFill>
            <a:srgbClr val="7E007C">
              <a:alpha val="25000"/>
            </a:srgbClr>
          </a:solidFill>
          <a:ln w="19050">
            <a:solidFill>
              <a:srgbClr val="004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</a:t>
            </a:r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Bobby</a:t>
            </a:r>
            <a:r>
              <a:rPr lang="en-GB" sz="1400" dirty="0">
                <a:solidFill>
                  <a:schemeClr val="tx1"/>
                </a:solidFill>
                <a:cs typeface="Arial" pitchFamily="34" charset="0"/>
              </a:rPr>
              <a:t>"</a:t>
            </a:r>
          </a:p>
        </p:txBody>
      </p:sp>
      <p:cxnSp>
        <p:nvCxnSpPr>
          <p:cNvPr id="33" name="Straight Arrow Connector 32"/>
          <p:cNvCxnSpPr>
            <a:stCxn id="29" idx="3"/>
            <a:endCxn id="32" idx="2"/>
          </p:cNvCxnSpPr>
          <p:nvPr/>
        </p:nvCxnSpPr>
        <p:spPr>
          <a:xfrm>
            <a:off x="7393372" y="2908991"/>
            <a:ext cx="640260" cy="111205"/>
          </a:xfrm>
          <a:prstGeom prst="straightConnector1">
            <a:avLst/>
          </a:prstGeom>
          <a:ln w="19050">
            <a:solidFill>
              <a:srgbClr val="7E007C"/>
            </a:solidFill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7" name="Rounded Rectangular Callout 16"/>
          <p:cNvSpPr/>
          <p:nvPr/>
        </p:nvSpPr>
        <p:spPr>
          <a:xfrm>
            <a:off x="9966687" y="1619236"/>
            <a:ext cx="1891102" cy="721624"/>
          </a:xfrm>
          <a:prstGeom prst="wedgeRoundRectCallout">
            <a:avLst>
              <a:gd name="adj1" fmla="val -57522"/>
              <a:gd name="adj2" fmla="val 24748"/>
              <a:gd name="adj3" fmla="val 166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accent3">
                    <a:lumMod val="75000"/>
                  </a:schemeClr>
                </a:solidFill>
              </a:rPr>
              <a:t>Memory allocated will be freed by the Garbage collector!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E3EA8-F885-57D6-EB0D-34A01879D602}"/>
              </a:ext>
            </a:extLst>
          </p:cNvPr>
          <p:cNvCxnSpPr>
            <a:cxnSpLocks/>
          </p:cNvCxnSpPr>
          <p:nvPr/>
        </p:nvCxnSpPr>
        <p:spPr>
          <a:xfrm flipV="1">
            <a:off x="7316950" y="4466893"/>
            <a:ext cx="960779" cy="12321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33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  <p:bldP spid="23" grpId="0" animBg="1"/>
      <p:bldP spid="24" grpId="0" animBg="1"/>
      <p:bldP spid="26" grpId="0" animBg="1"/>
      <p:bldP spid="28" grpId="0" animBg="1"/>
      <p:bldP spid="20" grpId="0" animBg="1"/>
      <p:bldP spid="29" grpId="0" animBg="1"/>
      <p:bldP spid="30" grpId="0" animBg="1"/>
      <p:bldP spid="32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2198689" y="6267450"/>
            <a:ext cx="1912937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4678364" y="6267450"/>
            <a:ext cx="2835275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 String methods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String has a method </a:t>
            </a:r>
            <a:r>
              <a:rPr lang="en-US" b="1" dirty="0">
                <a:latin typeface="Lucida Console" pitchFamily="49" charset="0"/>
              </a:rPr>
              <a:t>substring. </a:t>
            </a:r>
            <a:r>
              <a:rPr lang="en-US" dirty="0"/>
              <a:t>What will this code display?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42000" indent="-342900">
              <a:buFont typeface="Arial" panose="020B0604020202020204" pitchFamily="34" charset="0"/>
              <a:buChar char="•"/>
            </a:pPr>
            <a:r>
              <a:rPr lang="en-US" dirty="0"/>
              <a:t>and this?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None/>
            </a:pPr>
            <a:br>
              <a:rPr lang="en-US" dirty="0"/>
            </a:br>
            <a:endParaRPr lang="en-US" dirty="0"/>
          </a:p>
          <a:p>
            <a:pPr lvl="1">
              <a:buNone/>
            </a:pPr>
            <a:endParaRPr lang="en-US" dirty="0"/>
          </a:p>
        </p:txBody>
      </p:sp>
      <p:sp>
        <p:nvSpPr>
          <p:cNvPr id="875528" name="Rectangle 8"/>
          <p:cNvSpPr>
            <a:spLocks noChangeArrowheads="1"/>
          </p:cNvSpPr>
          <p:nvPr/>
        </p:nvSpPr>
        <p:spPr bwMode="auto">
          <a:xfrm>
            <a:off x="694800" y="1834262"/>
            <a:ext cx="7504112" cy="11977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90488" tIns="44450" rIns="90488" bIns="44450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s1 = 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"Frederica"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b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(s1.Substring(2, 4)); </a:t>
            </a:r>
          </a:p>
          <a:p>
            <a:r>
              <a:rPr lang="en-GB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(s1.Substring(0, s1.Length - 1));</a:t>
            </a:r>
            <a:endParaRPr lang="en-US" dirty="0">
              <a:solidFill>
                <a:srgbClr val="000000"/>
              </a:solidFill>
              <a:latin typeface="Lucida Console" pitchFamily="49" charset="0"/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702060" y="3801937"/>
            <a:ext cx="7504112" cy="23057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90488" tIns="44450" rIns="90488" bIns="44450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s1 = 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"Fred"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s1 += 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 Bloggs    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s1.Trim(); </a:t>
            </a:r>
            <a:b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s1.Substring(0, 4).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ToLower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s1.Substring(5, s1.Length - 1).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ToUpper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b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(s1);</a:t>
            </a:r>
          </a:p>
        </p:txBody>
      </p:sp>
    </p:spTree>
    <p:extLst>
      <p:ext uri="{BB962C8B-B14F-4D97-AF65-F5344CB8AC3E}">
        <p14:creationId xmlns:p14="http://schemas.microsoft.com/office/powerpoint/2010/main" val="391978343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Java: Other String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5238299"/>
            <a:ext cx="11516239" cy="303526"/>
          </a:xfrm>
        </p:spPr>
        <p:txBody>
          <a:bodyPr>
            <a:normAutofit lnSpcReduction="10000"/>
          </a:bodyPr>
          <a:lstStyle/>
          <a:p>
            <a:pPr marL="404600" indent="-342900">
              <a:buFont typeface="Arial" panose="020B0604020202020204" pitchFamily="34" charset="0"/>
              <a:buChar char="•"/>
            </a:pPr>
            <a:r>
              <a:rPr lang="en-GB" dirty="0"/>
              <a:t>None of these methods are </a:t>
            </a:r>
            <a:r>
              <a:rPr lang="en-GB" dirty="0">
                <a:latin typeface="Lucida Console" pitchFamily="49" charset="0"/>
              </a:rPr>
              <a:t>void</a:t>
            </a:r>
            <a:r>
              <a:rPr lang="en-GB" dirty="0"/>
              <a:t>, you need to catch what they return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778617" y="1389932"/>
            <a:ext cx="10399666" cy="3690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90488" tIns="44450" rIns="90488" bIns="44450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 = 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"Fred Smith"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GB" sz="18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s[2];          </a:t>
            </a:r>
            <a:r>
              <a:rPr lang="en-GB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would be 'e' foreach(char c in s) {..}</a:t>
            </a:r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s.EndsWith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"h"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       </a:t>
            </a:r>
            <a:r>
              <a:rPr lang="en-GB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returns a Boolean value</a:t>
            </a:r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s.StartsWith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"F"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b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s.IndexOf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'r'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b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GB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words =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s.Split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 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s.Length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GB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s =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s.Replace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"ed"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"eddy"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s =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s.Trim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08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+mj-lt"/>
              </a:rPr>
              <a:t>StringBuilder</a:t>
            </a:r>
            <a:endParaRPr lang="en-GB" b="1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latin typeface="+mn-lt"/>
              </a:rPr>
              <a:t>StringBuilder is a mutable String buffer</a:t>
            </a:r>
          </a:p>
          <a:p>
            <a:pPr marL="342000" indent="-342900">
              <a:buFont typeface="Arial" panose="020B0604020202020204" pitchFamily="34" charset="0"/>
              <a:buChar char="•"/>
            </a:pPr>
            <a:r>
              <a:rPr lang="en-GB" dirty="0"/>
              <a:t>Key methods:</a:t>
            </a:r>
            <a:r>
              <a:rPr lang="en-GB" sz="2400" dirty="0"/>
              <a:t> </a:t>
            </a:r>
            <a:r>
              <a:rPr lang="en-GB" sz="1800" dirty="0">
                <a:latin typeface="Lucida Console" pitchFamily="49" charset="0"/>
              </a:rPr>
              <a:t>Append(), Insert(), Replace(), Remove()</a:t>
            </a:r>
            <a:endParaRPr lang="en-GB" dirty="0">
              <a:latin typeface="Lucida Console" pitchFamily="49" charset="0"/>
            </a:endParaRPr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186178" y="2957025"/>
            <a:ext cx="5414212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StringBuilder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sb</a:t>
            </a:r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GB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StringBuilder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"Bob"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600" dirty="0">
              <a:solidFill>
                <a:srgbClr val="6A3E3E"/>
              </a:solidFill>
              <a:latin typeface="Consolas" panose="020B0609020204030204" pitchFamily="49" charset="0"/>
            </a:endParaRPr>
          </a:p>
          <a:p>
            <a:r>
              <a:rPr lang="en-GB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sb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.append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"by"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6178" y="4062484"/>
            <a:ext cx="3449052" cy="338554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GB" sz="1600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sb</a:t>
            </a:r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sz="1600" dirty="0" err="1">
                <a:solidFill>
                  <a:srgbClr val="2A00FF"/>
                </a:solidFill>
                <a:latin typeface="Consolas" panose="020B0609020204030204" pitchFamily="49" charset="0"/>
              </a:rPr>
              <a:t>ToString</a:t>
            </a:r>
            <a:r>
              <a:rPr lang="en-GB" sz="1600" dirty="0">
                <a:solidFill>
                  <a:srgbClr val="2A00FF"/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0" name="Rounded Rectangle 28">
            <a:extLst>
              <a:ext uri="{FF2B5EF4-FFF2-40B4-BE49-F238E27FC236}">
                <a16:creationId xmlns:a16="http://schemas.microsoft.com/office/drawing/2014/main" id="{DADA0A2C-FCED-4C89-736B-15F10DB16853}"/>
              </a:ext>
            </a:extLst>
          </p:cNvPr>
          <p:cNvSpPr/>
          <p:nvPr/>
        </p:nvSpPr>
        <p:spPr>
          <a:xfrm>
            <a:off x="7001065" y="2944255"/>
            <a:ext cx="753979" cy="2923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E00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>
                <a:solidFill>
                  <a:schemeClr val="tx1"/>
                </a:solidFill>
                <a:cs typeface="Arial" pitchFamily="34" charset="0"/>
              </a:rPr>
              <a:t>sb</a:t>
            </a:r>
            <a:endParaRPr lang="en-GB" b="1" dirty="0">
              <a:solidFill>
                <a:schemeClr val="tx1"/>
              </a:solidFill>
              <a:cs typeface="Arial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72EA04-1159-1171-9838-0B0495EB57AD}"/>
              </a:ext>
            </a:extLst>
          </p:cNvPr>
          <p:cNvCxnSpPr>
            <a:cxnSpLocks/>
            <a:stCxn id="10" idx="3"/>
            <a:endCxn id="17" idx="0"/>
          </p:cNvCxnSpPr>
          <p:nvPr/>
        </p:nvCxnSpPr>
        <p:spPr>
          <a:xfrm>
            <a:off x="7755044" y="3090449"/>
            <a:ext cx="1638899" cy="708093"/>
          </a:xfrm>
          <a:prstGeom prst="straightConnector1">
            <a:avLst/>
          </a:prstGeom>
          <a:ln w="19050">
            <a:solidFill>
              <a:srgbClr val="7E007C"/>
            </a:solidFill>
            <a:tailEnd type="triangle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BBD2C34-461F-3EF1-6FD2-60CB9A66160A}"/>
              </a:ext>
            </a:extLst>
          </p:cNvPr>
          <p:cNvSpPr/>
          <p:nvPr/>
        </p:nvSpPr>
        <p:spPr>
          <a:xfrm>
            <a:off x="7001065" y="3798542"/>
            <a:ext cx="4785755" cy="819397"/>
          </a:xfrm>
          <a:prstGeom prst="rect">
            <a:avLst/>
          </a:prstGeom>
          <a:ln/>
          <a:effectLst>
            <a:softEdge rad="635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cs typeface="Arial" pitchFamily="34" charset="0"/>
              </a:rPr>
              <a:t>"</a:t>
            </a:r>
            <a:r>
              <a:rPr lang="en-GB" b="1" dirty="0">
                <a:solidFill>
                  <a:schemeClr val="bg1"/>
                </a:solidFill>
                <a:cs typeface="Arial" pitchFamily="34" charset="0"/>
              </a:rPr>
              <a:t>Bob</a:t>
            </a:r>
            <a:r>
              <a:rPr lang="en-GB" dirty="0">
                <a:solidFill>
                  <a:schemeClr val="bg1"/>
                </a:solidFill>
                <a:cs typeface="Arial" pitchFamily="34" charset="0"/>
              </a:rPr>
              <a:t>by🔲🔲🔲🔲🔲🔲🔲🔲🔲🔲🔲"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108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748581" y="4924478"/>
            <a:ext cx="1912937" cy="438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endParaRPr lang="en-US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 StringBuilder - Examples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idx="1"/>
          </p:nvPr>
        </p:nvSpPr>
        <p:spPr>
          <a:xfrm>
            <a:off x="337880" y="1328532"/>
            <a:ext cx="11516239" cy="495535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Any change to a String creates a new String. </a:t>
            </a:r>
            <a:r>
              <a:rPr lang="en-US" dirty="0"/>
              <a:t>Old one will be garbage collected</a:t>
            </a:r>
          </a:p>
          <a:p>
            <a:pPr marL="684000" indent="-342900">
              <a:buFont typeface="Arial" panose="020B0604020202020204" pitchFamily="34" charset="0"/>
              <a:buChar char="•"/>
            </a:pPr>
            <a:r>
              <a:rPr lang="en-US" dirty="0" err="1"/>
              <a:t>StringBuilder</a:t>
            </a:r>
            <a:r>
              <a:rPr lang="en-US" dirty="0"/>
              <a:t> Uses a buffer space in memory</a:t>
            </a:r>
            <a:r>
              <a:rPr lang="en-US" dirty="0">
                <a:latin typeface="Lucida Console" pitchFamily="49" charset="0"/>
              </a:rPr>
              <a:t> </a:t>
            </a:r>
          </a:p>
        </p:txBody>
      </p:sp>
      <p:sp>
        <p:nvSpPr>
          <p:cNvPr id="875531" name="Rectangle 11"/>
          <p:cNvSpPr>
            <a:spLocks noChangeArrowheads="1"/>
          </p:cNvSpPr>
          <p:nvPr/>
        </p:nvSpPr>
        <p:spPr bwMode="auto">
          <a:xfrm>
            <a:off x="668624" y="1373857"/>
            <a:ext cx="4567945" cy="11669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90488" tIns="44450" rIns="90488" bIns="44450">
            <a:spAutoFit/>
          </a:bodyPr>
          <a:lstStyle/>
          <a:p>
            <a:pPr defTabSz="739775" eaLnBrk="0" hangingPunct="0">
              <a:defRPr/>
            </a:pPr>
            <a:r>
              <a:rPr lang="en-US" sz="1400" b="1" dirty="0">
                <a:latin typeface="Lucida Console" pitchFamily="49" charset="0"/>
              </a:rPr>
              <a:t>String</a:t>
            </a:r>
            <a:r>
              <a:rPr lang="en-US" sz="1400" b="1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  <a:t>s = "Fred";</a:t>
            </a:r>
            <a:b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US" sz="1400" b="1" dirty="0">
                <a:solidFill>
                  <a:srgbClr val="0000FF"/>
                </a:solidFill>
                <a:latin typeface="Lucida Console" pitchFamily="49" charset="0"/>
              </a:rPr>
              <a:t>for </a:t>
            </a:r>
            <a:r>
              <a:rPr lang="en-US" sz="1400" b="1" dirty="0">
                <a:latin typeface="Lucida Console" pitchFamily="49" charset="0"/>
              </a:rPr>
              <a:t>(</a:t>
            </a:r>
            <a:r>
              <a:rPr lang="en-US" sz="1400" b="1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sz="1400" b="1" dirty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Lucida Console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  <a:t> = 0; </a:t>
            </a:r>
            <a:r>
              <a:rPr lang="en-US" sz="1400" b="1" dirty="0" err="1">
                <a:solidFill>
                  <a:srgbClr val="000000"/>
                </a:solidFill>
                <a:latin typeface="Lucida Console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  <a:t> &lt; 200; </a:t>
            </a:r>
            <a:r>
              <a:rPr lang="en-US" sz="1400" b="1" dirty="0" err="1">
                <a:solidFill>
                  <a:srgbClr val="000000"/>
                </a:solidFill>
                <a:latin typeface="Lucida Console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  <a:t>++) {</a:t>
            </a:r>
          </a:p>
          <a:p>
            <a:pPr defTabSz="739775" eaLnBrk="0" hangingPunct="0">
              <a:defRPr/>
            </a:pPr>
            <a: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  <a:t>  s += "a"; </a:t>
            </a:r>
          </a:p>
          <a:p>
            <a:pPr defTabSz="739775" eaLnBrk="0" hangingPunct="0">
              <a:defRPr/>
            </a:pPr>
            <a: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  <a:t>}				</a:t>
            </a:r>
            <a:b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US" sz="1400" b="1" dirty="0">
                <a:solidFill>
                  <a:srgbClr val="000000"/>
                </a:solidFill>
                <a:latin typeface="Lucida Console" pitchFamily="49" charset="0"/>
              </a:rPr>
              <a:t>print(s);</a:t>
            </a:r>
          </a:p>
        </p:txBody>
      </p:sp>
      <p:sp>
        <p:nvSpPr>
          <p:cNvPr id="26651" name="Text Box 16"/>
          <p:cNvSpPr txBox="1">
            <a:spLocks noChangeArrowheads="1"/>
          </p:cNvSpPr>
          <p:nvPr/>
        </p:nvSpPr>
        <p:spPr bwMode="auto">
          <a:xfrm>
            <a:off x="5619404" y="2086934"/>
            <a:ext cx="5726620" cy="338554"/>
          </a:xfrm>
          <a:prstGeom prst="rect">
            <a:avLst/>
          </a:prstGeom>
          <a:solidFill>
            <a:srgbClr val="F1CDFF"/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GB" sz="1600" b="1" dirty="0"/>
              <a:t>But</a:t>
            </a:r>
            <a:r>
              <a:rPr lang="en-GB" sz="1600" dirty="0"/>
              <a:t> generates 200 string objects</a:t>
            </a:r>
          </a:p>
        </p:txBody>
      </p:sp>
      <p:sp>
        <p:nvSpPr>
          <p:cNvPr id="26643" name="Text Box 22"/>
          <p:cNvSpPr txBox="1">
            <a:spLocks noChangeArrowheads="1"/>
          </p:cNvSpPr>
          <p:nvPr/>
        </p:nvSpPr>
        <p:spPr bwMode="auto">
          <a:xfrm>
            <a:off x="5602780" y="1373858"/>
            <a:ext cx="5743244" cy="338554"/>
          </a:xfrm>
          <a:prstGeom prst="rect">
            <a:avLst/>
          </a:prstGeom>
          <a:solidFill>
            <a:srgbClr val="F1CDFF"/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GB" sz="1600" dirty="0"/>
              <a:t>It would display ‘Fred’ followed by 200 ‘a’s</a:t>
            </a:r>
          </a:p>
        </p:txBody>
      </p:sp>
      <p:sp>
        <p:nvSpPr>
          <p:cNvPr id="875551" name="Rectangle 31"/>
          <p:cNvSpPr>
            <a:spLocks noChangeArrowheads="1"/>
          </p:cNvSpPr>
          <p:nvPr/>
        </p:nvSpPr>
        <p:spPr bwMode="auto">
          <a:xfrm>
            <a:off x="668624" y="3806209"/>
            <a:ext cx="7479513" cy="15670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90488" tIns="44450" rIns="90488" bIns="44450">
            <a:spAutoFit/>
          </a:bodyPr>
          <a:lstStyle/>
          <a:p>
            <a:pPr defTabSz="739775" eaLnBrk="0" hangingPunct="0">
              <a:defRPr/>
            </a:pPr>
            <a:r>
              <a:rPr lang="en-US" sz="1600" dirty="0" err="1">
                <a:solidFill>
                  <a:srgbClr val="000000"/>
                </a:solidFill>
                <a:latin typeface="Lucida Console" pitchFamily="49" charset="0"/>
              </a:rPr>
              <a:t>StringBuilder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Lucida Console" pitchFamily="49" charset="0"/>
              </a:rPr>
              <a:t>sb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Lucida Console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Lucida Console" pitchFamily="49" charset="0"/>
              </a:rPr>
              <a:t>StringBuilder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("Fred");</a:t>
            </a:r>
            <a:b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Lucida Console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(</a:t>
            </a:r>
            <a:r>
              <a:rPr lang="en-US" sz="1600" dirty="0" err="1">
                <a:solidFill>
                  <a:srgbClr val="0000FF"/>
                </a:solidFill>
                <a:latin typeface="Lucida Console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Lucida Console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 = 0; </a:t>
            </a:r>
            <a:r>
              <a:rPr lang="en-US" sz="1600" dirty="0" err="1">
                <a:solidFill>
                  <a:srgbClr val="000000"/>
                </a:solidFill>
                <a:latin typeface="Lucida Console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 &lt; 200; </a:t>
            </a:r>
            <a:r>
              <a:rPr lang="en-US" sz="1600" dirty="0" err="1">
                <a:solidFill>
                  <a:srgbClr val="000000"/>
                </a:solidFill>
                <a:latin typeface="Lucida Console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++) { </a:t>
            </a:r>
          </a:p>
          <a:p>
            <a:pPr defTabSz="739775" eaLnBrk="0" hangingPunct="0">
              <a:defRPr/>
            </a:pP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Lucida Console" pitchFamily="49" charset="0"/>
              </a:rPr>
              <a:t>sb.Append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("a"); </a:t>
            </a:r>
          </a:p>
          <a:p>
            <a:pPr defTabSz="739775" eaLnBrk="0" hangingPunct="0">
              <a:defRPr/>
            </a:pP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</a:br>
            <a:endParaRPr lang="en-US" sz="1600" dirty="0">
              <a:solidFill>
                <a:srgbClr val="000000"/>
              </a:solidFill>
              <a:latin typeface="Lucida Console" pitchFamily="49" charset="0"/>
            </a:endParaRPr>
          </a:p>
          <a:p>
            <a:pPr defTabSz="739775" eaLnBrk="0" hangingPunct="0">
              <a:defRPr/>
            </a:pP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Lucida Console" pitchFamily="49" charset="0"/>
              </a:rPr>
              <a:t>sb.ToString</a:t>
            </a:r>
            <a:r>
              <a:rPr lang="en-US" sz="1600" dirty="0">
                <a:solidFill>
                  <a:srgbClr val="000000"/>
                </a:solidFill>
                <a:latin typeface="Lucida Console" pitchFamily="49" charset="0"/>
              </a:rPr>
              <a:t>());			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hidden">
          <a:xfrm>
            <a:off x="6033985" y="4586388"/>
            <a:ext cx="2656114" cy="335989"/>
          </a:xfrm>
          <a:prstGeom prst="rect">
            <a:avLst/>
          </a:prstGeom>
          <a:solidFill>
            <a:srgbClr val="A9EEFF"/>
          </a:solidFill>
          <a:ln w="19050">
            <a:noFill/>
            <a:miter lim="800000"/>
            <a:headEnd/>
            <a:tailE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90488" tIns="44450" rIns="90488" bIns="44450">
            <a:spAutoFit/>
          </a:bodyPr>
          <a:lstStyle/>
          <a:p>
            <a:pPr defTabSz="739775" eaLnBrk="0" hangingPunct="0">
              <a:tabLst>
                <a:tab pos="342900" algn="l"/>
              </a:tabLst>
              <a:defRPr/>
            </a:pPr>
            <a:r>
              <a:rPr lang="en-GB" sz="1600" dirty="0" err="1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Fredaaaaaaaaaaa</a:t>
            </a:r>
            <a:r>
              <a:rPr lang="en-GB" sz="1600" dirty="0">
                <a:solidFill>
                  <a:srgbClr val="000000"/>
                </a:solidFill>
                <a:latin typeface="Lucida Console" pitchFamily="49" charset="0"/>
                <a:ea typeface="Times New Roman" pitchFamily="18" charset="0"/>
                <a:cs typeface="Courier New" pitchFamily="49" charset="0"/>
              </a:rPr>
              <a:t>.....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88C6A-2D41-BAD7-C0CC-A565079251E4}"/>
              </a:ext>
            </a:extLst>
          </p:cNvPr>
          <p:cNvSpPr txBox="1"/>
          <p:nvPr/>
        </p:nvSpPr>
        <p:spPr>
          <a:xfrm>
            <a:off x="4744943" y="1367059"/>
            <a:ext cx="674731" cy="593785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Lucida Console" pitchFamily="49" charset="0"/>
              </a:rPr>
              <a:t>👎🏻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6EC3F-F246-D214-859E-2F868C6CA161}"/>
              </a:ext>
            </a:extLst>
          </p:cNvPr>
          <p:cNvSpPr txBox="1"/>
          <p:nvPr/>
        </p:nvSpPr>
        <p:spPr>
          <a:xfrm>
            <a:off x="7586561" y="3845933"/>
            <a:ext cx="674731" cy="593785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/>
          <a:p>
            <a:r>
              <a:rPr lang="en-GB" sz="3600" dirty="0">
                <a:solidFill>
                  <a:srgbClr val="000000"/>
                </a:solidFill>
                <a:latin typeface="Lucida Console" pitchFamily="49" charset="0"/>
              </a:rPr>
              <a:t>👍🏻</a:t>
            </a:r>
            <a:endParaRPr lang="en-GB" sz="36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91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Review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97007D-520C-487D-A239-9A34A44F8F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+mn-lt"/>
              </a:rPr>
              <a:t>Enumerated types  - keyword </a:t>
            </a:r>
            <a:r>
              <a:rPr lang="en-GB" b="1" dirty="0" err="1">
                <a:latin typeface="+mn-lt"/>
              </a:rPr>
              <a:t>enum</a:t>
            </a:r>
            <a:endParaRPr lang="en-GB" b="1" dirty="0">
              <a:latin typeface="+mn-lt"/>
            </a:endParaRPr>
          </a:p>
          <a:p>
            <a:pPr marL="6840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</a:rPr>
              <a:t>C# creates a class for you, can store ‘extra’ data</a:t>
            </a:r>
          </a:p>
          <a:p>
            <a:pPr marL="684000" indent="-342900">
              <a:buFont typeface="Arial" panose="020B0604020202020204" pitchFamily="34" charset="0"/>
              <a:buChar char="•"/>
            </a:pPr>
            <a:endParaRPr lang="en-GB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+mn-lt"/>
              </a:rPr>
              <a:t>classes String  and StringBuilder</a:t>
            </a:r>
          </a:p>
          <a:p>
            <a:pPr marL="6840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Lucida Console" panose="020B0609040504020204" pitchFamily="49" charset="0"/>
              </a:rPr>
              <a:t>String</a:t>
            </a:r>
            <a:r>
              <a:rPr lang="en-GB" dirty="0">
                <a:latin typeface="+mn-lt"/>
              </a:rPr>
              <a:t> is a class but with many value type behaviours</a:t>
            </a:r>
          </a:p>
          <a:p>
            <a:pPr marL="6840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Lucida Console" panose="020B0609040504020204" pitchFamily="49" charset="0"/>
              </a:rPr>
              <a:t>StringBuilder</a:t>
            </a:r>
            <a:r>
              <a:rPr lang="en-GB" dirty="0">
                <a:latin typeface="+mn-lt"/>
              </a:rPr>
              <a:t> – mutable String Buffer with append, replace, insert </a:t>
            </a:r>
          </a:p>
          <a:p>
            <a:endParaRPr lang="en-IN" dirty="0"/>
          </a:p>
        </p:txBody>
      </p:sp>
      <p:pic>
        <p:nvPicPr>
          <p:cNvPr id="3" name="Picture 2" descr="Reviews - Web Sites: Recommended - Research Guides at Thrift Library">
            <a:extLst>
              <a:ext uri="{FF2B5EF4-FFF2-40B4-BE49-F238E27FC236}">
                <a16:creationId xmlns:a16="http://schemas.microsoft.com/office/drawing/2014/main" id="{9C121EE2-76F5-CACE-D930-941897A88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62" y="208821"/>
            <a:ext cx="2251845" cy="225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dirty="0"/>
              <a:t>Hands On Lab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Part 1 – Defining and using </a:t>
            </a:r>
            <a:r>
              <a:rPr lang="en-GB" b="1" dirty="0" err="1">
                <a:latin typeface="Lucida Console" pitchFamily="49" charset="0"/>
              </a:rPr>
              <a:t>enum</a:t>
            </a:r>
            <a:endParaRPr lang="en-GB" b="1" dirty="0">
              <a:latin typeface="Lucida Console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Part 2 – Using </a:t>
            </a:r>
            <a:r>
              <a:rPr lang="en-GB" b="1" dirty="0">
                <a:latin typeface="Lucida Console" pitchFamily="49" charset="0"/>
              </a:rPr>
              <a:t>String</a:t>
            </a:r>
            <a:r>
              <a:rPr lang="en-GB" b="1" dirty="0"/>
              <a:t> and its key methods</a:t>
            </a:r>
          </a:p>
          <a:p>
            <a:pPr marL="671300" indent="-342900">
              <a:buFont typeface="Arial" panose="020B0604020202020204" pitchFamily="34" charset="0"/>
              <a:buChar char="•"/>
            </a:pPr>
            <a:r>
              <a:rPr lang="en-GB" dirty="0"/>
              <a:t> Also using class </a:t>
            </a:r>
            <a:r>
              <a:rPr lang="en-GB" dirty="0">
                <a:latin typeface="Lucida Console" pitchFamily="49" charset="0"/>
              </a:rPr>
              <a:t>StringBuilder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quenceNumber xmlns="6794D9DE-4FDF-4DC0-8B2C-5438320C69D5" xsi:nil="true"/>
    <IsBuildFile xmlns="6794D9DE-4FDF-4DC0-8B2C-5438320C69D5" xsi:nil="true"/>
    <BookTypeField0 xmlns="6794D9DE-4FDF-4DC0-8B2C-5438320C69D5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B3EF5B1D149FDF49B1880C030D548140" ma:contentTypeVersion="0" ma:contentTypeDescription="Base content type which represents courseware documents" ma:contentTypeScope="" ma:versionID="ab0d7ca79e0ea5a537b031f986da336c">
  <xsd:schema xmlns:xsd="http://www.w3.org/2001/XMLSchema" xmlns:xs="http://www.w3.org/2001/XMLSchema" xmlns:p="http://schemas.microsoft.com/office/2006/metadata/properties" xmlns:ns2="6794D9DE-4FDF-4DC0-8B2C-5438320C69D5" targetNamespace="http://schemas.microsoft.com/office/2006/metadata/properties" ma:root="true" ma:fieldsID="7ff8e7c62cc10108c036e94c947d8fb9" ns2:_="">
    <xsd:import namespace="6794D9DE-4FDF-4DC0-8B2C-5438320C69D5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4D9DE-4FDF-4DC0-8B2C-5438320C69D5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E1CB9A-5EC4-425A-85D0-28DD43E2C0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DDB195-2A36-4352-B80E-2793AA1BAD86}">
  <ds:schemaRefs>
    <ds:schemaRef ds:uri="http://schemas.microsoft.com/office/2006/metadata/properties"/>
    <ds:schemaRef ds:uri="http://schemas.microsoft.com/office/infopath/2007/PartnerControls"/>
    <ds:schemaRef ds:uri="6794D9DE-4FDF-4DC0-8B2C-5438320C69D5"/>
  </ds:schemaRefs>
</ds:datastoreItem>
</file>

<file path=customXml/itemProps3.xml><?xml version="1.0" encoding="utf-8"?>
<ds:datastoreItem xmlns:ds="http://schemas.openxmlformats.org/officeDocument/2006/customXml" ds:itemID="{DBD51E68-90DB-4350-A500-7CA85ABA4F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94D9DE-4FDF-4DC0-8B2C-5438320C69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1217</Words>
  <Application>Microsoft Office PowerPoint</Application>
  <PresentationFormat>Widescreen</PresentationFormat>
  <Paragraphs>145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Cascadia Mono</vt:lpstr>
      <vt:lpstr>Consolas</vt:lpstr>
      <vt:lpstr>Courier New</vt:lpstr>
      <vt:lpstr>Krana Fat B</vt:lpstr>
      <vt:lpstr>Lucida Console</vt:lpstr>
      <vt:lpstr>Montserrat</vt:lpstr>
      <vt:lpstr>Wingdings</vt:lpstr>
      <vt:lpstr>Master</vt:lpstr>
      <vt:lpstr>enum and String</vt:lpstr>
      <vt:lpstr>PowerPoint Presentation</vt:lpstr>
      <vt:lpstr>Enumerated Data Types</vt:lpstr>
      <vt:lpstr>Strings</vt:lpstr>
      <vt:lpstr>Strings are immutable</vt:lpstr>
      <vt:lpstr>class String methods</vt:lpstr>
      <vt:lpstr>Java: Other String methods</vt:lpstr>
      <vt:lpstr>StringBuilder</vt:lpstr>
      <vt:lpstr>class StringBuilder - Examples</vt:lpstr>
      <vt:lpstr>PowerPoint Presentation</vt:lpstr>
      <vt:lpstr>Hands On Lab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1029</cp:revision>
  <cp:lastPrinted>2019-07-03T09:46:41Z</cp:lastPrinted>
  <dcterms:created xsi:type="dcterms:W3CDTF">2019-09-05T08:17:12Z</dcterms:created>
  <dcterms:modified xsi:type="dcterms:W3CDTF">2026-08-05T12:51:36Z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1400</vt:r8>
  </property>
  <property fmtid="{D5CDD505-2E9C-101B-9397-08002B2CF9AE}" pid="3" name="Chapter">
    <vt:lpwstr>1</vt:lpwstr>
  </property>
  <property fmtid="{D5CDD505-2E9C-101B-9397-08002B2CF9AE}" pid="4" name="ContentTypeId">
    <vt:lpwstr>0x010100F0967B7CEE8D417F966757887D9466FB00B3EF5B1D149FDF49B1880C030D548140</vt:lpwstr>
  </property>
  <property fmtid="{D5CDD505-2E9C-101B-9397-08002B2CF9AE}" pid="5" name="BookType">
    <vt:lpwstr>7</vt:lpwstr>
  </property>
</Properties>
</file>