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handoutMasterIdLst>
    <p:handoutMasterId r:id="rId32"/>
  </p:handoutMasterIdLst>
  <p:sldIdLst>
    <p:sldId id="299" r:id="rId5"/>
    <p:sldId id="1567" r:id="rId6"/>
    <p:sldId id="1568" r:id="rId7"/>
    <p:sldId id="1611" r:id="rId8"/>
    <p:sldId id="1572" r:id="rId9"/>
    <p:sldId id="1575" r:id="rId10"/>
    <p:sldId id="1576" r:id="rId11"/>
    <p:sldId id="1609" r:id="rId12"/>
    <p:sldId id="1578" r:id="rId13"/>
    <p:sldId id="1612" r:id="rId14"/>
    <p:sldId id="1579" r:id="rId15"/>
    <p:sldId id="1558" r:id="rId16"/>
    <p:sldId id="1560" r:id="rId17"/>
    <p:sldId id="1583" r:id="rId18"/>
    <p:sldId id="1586" r:id="rId19"/>
    <p:sldId id="1588" r:id="rId20"/>
    <p:sldId id="1561" r:id="rId21"/>
    <p:sldId id="1590" r:id="rId22"/>
    <p:sldId id="1595" r:id="rId23"/>
    <p:sldId id="1599" r:id="rId24"/>
    <p:sldId id="1600" r:id="rId25"/>
    <p:sldId id="1613" r:id="rId26"/>
    <p:sldId id="1615" r:id="rId27"/>
    <p:sldId id="1614" r:id="rId28"/>
    <p:sldId id="1605" r:id="rId29"/>
    <p:sldId id="790" r:id="rId30"/>
  </p:sldIdLst>
  <p:sldSz cx="12192000" cy="6858000"/>
  <p:notesSz cx="9775825" cy="6645275"/>
  <p:custDataLst>
    <p:tags r:id="rId3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 id="3" name="Sterne, Symon" initials="SS" lastIdx="71" clrIdx="2">
    <p:extLst>
      <p:ext uri="{19B8F6BF-5375-455C-9EA6-DF929625EA0E}">
        <p15:presenceInfo xmlns:p15="http://schemas.microsoft.com/office/powerpoint/2012/main" userId="S-1-5-21-3476036342-1731177862-1559577602-528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4050"/>
    <a:srgbClr val="F3622C"/>
    <a:srgbClr val="F7916D"/>
    <a:srgbClr val="28CFF9"/>
    <a:srgbClr val="000000"/>
    <a:srgbClr val="09EDB8"/>
    <a:srgbClr val="7E007C"/>
    <a:srgbClr val="BE7FBD"/>
    <a:srgbClr val="E5EC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89" autoAdjust="0"/>
    <p:restoredTop sz="59325" autoAdjust="0"/>
  </p:normalViewPr>
  <p:slideViewPr>
    <p:cSldViewPr snapToGrid="0" snapToObjects="1" showGuides="1">
      <p:cViewPr varScale="1">
        <p:scale>
          <a:sx n="57" d="100"/>
          <a:sy n="57" d="100"/>
        </p:scale>
        <p:origin x="2026" y="53"/>
      </p:cViewPr>
      <p:guideLst>
        <p:guide pos="3840"/>
        <p:guide orient="horz" pos="3770"/>
      </p:guideLst>
    </p:cSldViewPr>
  </p:slideViewPr>
  <p:notesTextViewPr>
    <p:cViewPr>
      <p:scale>
        <a:sx n="75" d="100"/>
        <a:sy n="75" d="100"/>
      </p:scale>
      <p:origin x="0" y="0"/>
    </p:cViewPr>
  </p:notesTextViewPr>
  <p:sorterViewPr>
    <p:cViewPr>
      <p:scale>
        <a:sx n="66" d="100"/>
        <a:sy n="66" d="100"/>
      </p:scale>
      <p:origin x="0" y="0"/>
    </p:cViewPr>
  </p:sorterViewPr>
  <p:notesViewPr>
    <p:cSldViewPr snapToGrid="0" snapToObjects="1" showGuides="1">
      <p:cViewPr varScale="1">
        <p:scale>
          <a:sx n="133" d="100"/>
          <a:sy n="133" d="100"/>
        </p:scale>
        <p:origin x="2016" y="8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236347" cy="333451"/>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5537144" y="0"/>
            <a:ext cx="4236347" cy="333451"/>
          </a:xfrm>
          <a:prstGeom prst="rect">
            <a:avLst/>
          </a:prstGeom>
        </p:spPr>
        <p:txBody>
          <a:bodyPr vert="horz" lIns="91440" tIns="45720" rIns="91440" bIns="45720" rtlCol="0"/>
          <a:lstStyle>
            <a:lvl1pPr algn="r">
              <a:defRPr sz="1200"/>
            </a:lvl1pPr>
          </a:lstStyle>
          <a:p>
            <a:fld id="{86D088FE-3E68-47FE-8BA4-634CD34BABBC}" type="datetimeFigureOut">
              <a:rPr lang="en-GB" smtClean="0"/>
              <a:t>14/09/2026</a:t>
            </a:fld>
            <a:endParaRPr lang="en-GB"/>
          </a:p>
        </p:txBody>
      </p:sp>
      <p:sp>
        <p:nvSpPr>
          <p:cNvPr id="4" name="Footer Placeholder 3"/>
          <p:cNvSpPr>
            <a:spLocks noGrp="1"/>
          </p:cNvSpPr>
          <p:nvPr>
            <p:ph type="ftr" sz="quarter" idx="2"/>
          </p:nvPr>
        </p:nvSpPr>
        <p:spPr>
          <a:xfrm>
            <a:off x="0" y="6311825"/>
            <a:ext cx="4236347" cy="333450"/>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5537144" y="6311825"/>
            <a:ext cx="4236347" cy="333450"/>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36191" cy="33341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537372" y="0"/>
            <a:ext cx="4236191" cy="333418"/>
          </a:xfrm>
          <a:prstGeom prst="rect">
            <a:avLst/>
          </a:prstGeom>
        </p:spPr>
        <p:txBody>
          <a:bodyPr vert="horz" lIns="91440" tIns="45720" rIns="91440" bIns="45720" rtlCol="0"/>
          <a:lstStyle>
            <a:lvl1pPr algn="r">
              <a:defRPr sz="1200"/>
            </a:lvl1pPr>
          </a:lstStyle>
          <a:p>
            <a:fld id="{1D6B66C6-1E92-0F4E-A300-9D4ED1F0C23F}" type="datetimeFigureOut">
              <a:rPr lang="en-GB" smtClean="0"/>
              <a:t>14/09/2026</a:t>
            </a:fld>
            <a:endParaRPr lang="en-GB"/>
          </a:p>
        </p:txBody>
      </p:sp>
      <p:sp>
        <p:nvSpPr>
          <p:cNvPr id="4" name="Slide Image Placeholder 3"/>
          <p:cNvSpPr>
            <a:spLocks noGrp="1" noRot="1" noChangeAspect="1"/>
          </p:cNvSpPr>
          <p:nvPr>
            <p:ph type="sldImg" idx="2"/>
          </p:nvPr>
        </p:nvSpPr>
        <p:spPr>
          <a:xfrm>
            <a:off x="2894013" y="830263"/>
            <a:ext cx="3987800" cy="22431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77583" y="3198039"/>
            <a:ext cx="7820660" cy="26165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311859"/>
            <a:ext cx="4236191" cy="33341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537372" y="6311859"/>
            <a:ext cx="4236191" cy="333417"/>
          </a:xfrm>
          <a:prstGeom prst="rect">
            <a:avLst/>
          </a:prstGeom>
        </p:spPr>
        <p:txBody>
          <a:bodyPr vert="horz" lIns="91440" tIns="45720" rIns="91440" bIns="45720" rtlCol="0" anchor="b"/>
          <a:lstStyle>
            <a:lvl1pPr algn="r">
              <a:defRPr sz="1200"/>
            </a:lvl1pPr>
          </a:lstStyle>
          <a:p>
            <a:fld id="{548901C6-1DA1-FB44-ABEE-06A0FEB7738E}" type="slidenum">
              <a:rPr lang="en-GB" smtClean="0"/>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a:t>
            </a:fld>
            <a:endParaRPr lang="en-GB"/>
          </a:p>
        </p:txBody>
      </p:sp>
    </p:spTree>
    <p:extLst>
      <p:ext uri="{BB962C8B-B14F-4D97-AF65-F5344CB8AC3E}">
        <p14:creationId xmlns:p14="http://schemas.microsoft.com/office/powerpoint/2010/main" val="2546931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3185112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extLst>
      <p:ext uri="{BB962C8B-B14F-4D97-AF65-F5344CB8AC3E}">
        <p14:creationId xmlns:p14="http://schemas.microsoft.com/office/powerpoint/2010/main" val="15175923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Tree>
    <p:extLst>
      <p:ext uri="{BB962C8B-B14F-4D97-AF65-F5344CB8AC3E}">
        <p14:creationId xmlns:p14="http://schemas.microsoft.com/office/powerpoint/2010/main" val="2737698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3039039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noFill/>
          <a:ln/>
        </p:spPr>
        <p:txBody>
          <a:bodyPr/>
          <a:lstStyle/>
          <a:p>
            <a:r>
              <a:rPr lang="en-GB" dirty="0"/>
              <a:t>You can also simplify statements when you are performing assignments. As shown on the slide, these two statements are identical:</a:t>
            </a:r>
          </a:p>
          <a:p>
            <a:r>
              <a:rPr lang="en-GB" dirty="0"/>
              <a:t>  x = x + 10;</a:t>
            </a:r>
          </a:p>
          <a:p>
            <a:r>
              <a:rPr lang="en-GB" dirty="0"/>
              <a:t>  x += 10;</a:t>
            </a:r>
          </a:p>
          <a:p>
            <a:endParaRPr lang="en-GB" dirty="0"/>
          </a:p>
          <a:p>
            <a:r>
              <a:rPr lang="en-GB" dirty="0"/>
              <a:t>A common mistake is to write an expression where a complete statement is needed, a statement</a:t>
            </a:r>
            <a:r>
              <a:rPr lang="en-GB" baseline="0" dirty="0"/>
              <a:t> often contains an expression, statements change things, expressions don’t.</a:t>
            </a:r>
          </a:p>
          <a:p>
            <a:endParaRPr lang="en-GB" baseline="0" dirty="0"/>
          </a:p>
          <a:p>
            <a:r>
              <a:rPr lang="en-GB" baseline="0" dirty="0"/>
              <a:t>The line of code</a:t>
            </a:r>
          </a:p>
          <a:p>
            <a:r>
              <a:rPr lang="en-GB" baseline="0" dirty="0"/>
              <a:t>2 + 3; is clearly nonsensical it does nothing whereas</a:t>
            </a:r>
          </a:p>
          <a:p>
            <a:r>
              <a:rPr lang="en-GB" baseline="0" dirty="0" err="1"/>
              <a:t>System.out.println</a:t>
            </a:r>
            <a:r>
              <a:rPr lang="en-GB" baseline="0" dirty="0"/>
              <a:t>(2 + 3); would at least do something</a:t>
            </a:r>
          </a:p>
          <a:p>
            <a:r>
              <a:rPr lang="en-GB" baseline="0" dirty="0"/>
              <a:t>x + 345; is not a statement it does nothing, it changes nothing, it is an expression</a:t>
            </a:r>
          </a:p>
          <a:p>
            <a:endParaRPr lang="en-GB" baseline="0" dirty="0"/>
          </a:p>
          <a:p>
            <a:r>
              <a:rPr lang="en-GB" dirty="0"/>
              <a:t> </a:t>
            </a:r>
          </a:p>
        </p:txBody>
      </p:sp>
    </p:spTree>
    <p:extLst>
      <p:ext uri="{BB962C8B-B14F-4D97-AF65-F5344CB8AC3E}">
        <p14:creationId xmlns:p14="http://schemas.microsoft.com/office/powerpoint/2010/main" val="591196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a:noFill/>
          <a:ln/>
        </p:spPr>
        <p:txBody>
          <a:bodyPr/>
          <a:lstStyle/>
          <a:p>
            <a:r>
              <a:rPr lang="en-GB" dirty="0"/>
              <a:t>Incrementing or decrementing a value by one is a very common operation in any language. Like C</a:t>
            </a:r>
            <a:r>
              <a:rPr lang="en-GB" baseline="0" dirty="0"/>
              <a:t> and </a:t>
            </a:r>
            <a:r>
              <a:rPr lang="en-GB" dirty="0"/>
              <a:t>C++ Java and C# provides special operators for this purpose. Both the increment (++) and decrement (--) operators can be prefixed or post-fixed. The difference in behaviour is subtle: using the prefix version returns the value of the variable after it has been incremented, using the postfix version returns the value of the variable before it has been incremented.</a:t>
            </a:r>
            <a:br>
              <a:rPr lang="en-GB" dirty="0"/>
            </a:br>
            <a:endParaRPr lang="en-GB" dirty="0"/>
          </a:p>
          <a:p>
            <a:r>
              <a:rPr lang="en-GB" dirty="0"/>
              <a:t>Also, note that the ++ and -- operators have higher precedence than most operators. </a:t>
            </a:r>
          </a:p>
        </p:txBody>
      </p:sp>
    </p:spTree>
    <p:extLst>
      <p:ext uri="{BB962C8B-B14F-4D97-AF65-F5344CB8AC3E}">
        <p14:creationId xmlns:p14="http://schemas.microsoft.com/office/powerpoint/2010/main" val="21344049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a:ln/>
        </p:spPr>
        <p:txBody>
          <a:bodyPr/>
          <a:lstStyle/>
          <a:p>
            <a:endParaRPr lang="en-GB" dirty="0"/>
          </a:p>
        </p:txBody>
      </p:sp>
    </p:spTree>
    <p:extLst>
      <p:ext uri="{BB962C8B-B14F-4D97-AF65-F5344CB8AC3E}">
        <p14:creationId xmlns:p14="http://schemas.microsoft.com/office/powerpoint/2010/main" val="12851635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u="none" dirty="0"/>
          </a:p>
        </p:txBody>
      </p:sp>
    </p:spTree>
    <p:extLst>
      <p:ext uri="{BB962C8B-B14F-4D97-AF65-F5344CB8AC3E}">
        <p14:creationId xmlns:p14="http://schemas.microsoft.com/office/powerpoint/2010/main" val="2654236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0870D-1A79-16EA-B07D-678587B1D3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433645-F2A3-28EA-7569-5AD982C78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9FDAF-F4BC-E5E0-1E6B-23D0DC44795F}"/>
              </a:ext>
            </a:extLst>
          </p:cNvPr>
          <p:cNvSpPr>
            <a:spLocks noGrp="1"/>
          </p:cNvSpPr>
          <p:nvPr>
            <p:ph type="body" idx="1"/>
          </p:nvPr>
        </p:nvSpPr>
        <p:spPr/>
        <p:txBody>
          <a:bodyPr/>
          <a:lstStyle/>
          <a:p>
            <a:endParaRPr lang="en-GB" u="none" dirty="0"/>
          </a:p>
        </p:txBody>
      </p:sp>
    </p:spTree>
    <p:extLst>
      <p:ext uri="{BB962C8B-B14F-4D97-AF65-F5344CB8AC3E}">
        <p14:creationId xmlns:p14="http://schemas.microsoft.com/office/powerpoint/2010/main" val="3055215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ln/>
        </p:spPr>
        <p:txBody>
          <a:bodyPr/>
          <a:lstStyle/>
          <a:p>
            <a:r>
              <a:rPr lang="en-GB" dirty="0"/>
              <a:t>The primary means of decision making is the if statement. A Boolean control-expression determines which branch of the two-way fork is taken. If the expression evaluates to true, the first branch (i.e. the if-body) is taken. But if the expression is false, then the second branch (the else-body) is taken. The else clause is optional; if it is omitted, nothing is executed if the control expression evaluates to false.</a:t>
            </a:r>
          </a:p>
          <a:p>
            <a:endParaRPr lang="en-GB" dirty="0"/>
          </a:p>
          <a:p>
            <a:endParaRPr lang="en-GB" dirty="0"/>
          </a:p>
        </p:txBody>
      </p:sp>
    </p:spTree>
    <p:extLst>
      <p:ext uri="{BB962C8B-B14F-4D97-AF65-F5344CB8AC3E}">
        <p14:creationId xmlns:p14="http://schemas.microsoft.com/office/powerpoint/2010/main" val="3565416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p:spPr>
      </p:sp>
      <p:sp>
        <p:nvSpPr>
          <p:cNvPr id="49155" name="Rectangle 3"/>
          <p:cNvSpPr>
            <a:spLocks noGrp="1" noChangeArrowheads="1"/>
          </p:cNvSpPr>
          <p:nvPr>
            <p:ph type="body" idx="1"/>
          </p:nvPr>
        </p:nvSpPr>
        <p:spPr>
          <a:noFill/>
          <a:ln/>
        </p:spPr>
        <p:txBody>
          <a:bodyPr/>
          <a:lstStyle/>
          <a:p>
            <a:r>
              <a:rPr lang="en-GB" dirty="0"/>
              <a:t>The previous slide looked at 2 way branching. However you</a:t>
            </a:r>
            <a:r>
              <a:rPr lang="en-GB" baseline="0" dirty="0"/>
              <a:t> may need multi-way selection. One of several routes needs to be taken through the code. This can be effected by introducing one or many  ‘else if’ constructs into your code. </a:t>
            </a:r>
            <a:br>
              <a:rPr lang="en-GB" baseline="0" dirty="0"/>
            </a:br>
            <a:r>
              <a:rPr lang="en-GB" baseline="0" dirty="0"/>
              <a:t>If the 1</a:t>
            </a:r>
            <a:r>
              <a:rPr lang="en-GB" baseline="30000" dirty="0"/>
              <a:t>st</a:t>
            </a:r>
            <a:r>
              <a:rPr lang="en-GB" baseline="0" dirty="0"/>
              <a:t> </a:t>
            </a:r>
            <a:r>
              <a:rPr lang="en-GB" baseline="0" dirty="0" err="1"/>
              <a:t>boolean</a:t>
            </a:r>
            <a:r>
              <a:rPr lang="en-GB" baseline="0" dirty="0"/>
              <a:t> test is true it will execute the ‘if’ block of code and then branch past all the else if’s and any ‘else’ that is coded. This may mean exiting the method. </a:t>
            </a:r>
          </a:p>
          <a:p>
            <a:r>
              <a:rPr lang="en-GB" baseline="0" dirty="0"/>
              <a:t>A </a:t>
            </a:r>
            <a:r>
              <a:rPr lang="en-GB" baseline="0" dirty="0" err="1"/>
              <a:t>boolean</a:t>
            </a:r>
            <a:r>
              <a:rPr lang="en-GB" baseline="0" dirty="0"/>
              <a:t> expression is only evaluated if all the above </a:t>
            </a:r>
            <a:r>
              <a:rPr lang="en-GB" baseline="0" dirty="0" err="1"/>
              <a:t>boolean</a:t>
            </a:r>
            <a:r>
              <a:rPr lang="en-GB" baseline="0" dirty="0"/>
              <a:t> expressions in this ‘if’ construct are false. The ‘else’ code only runs when the ‘if’ and all the ‘else if’s have evaluated to false.</a:t>
            </a:r>
            <a:endParaRPr lang="en-GB" dirty="0"/>
          </a:p>
          <a:p>
            <a:endParaRPr lang="en-GB" dirty="0"/>
          </a:p>
        </p:txBody>
      </p:sp>
    </p:spTree>
    <p:extLst>
      <p:ext uri="{BB962C8B-B14F-4D97-AF65-F5344CB8AC3E}">
        <p14:creationId xmlns:p14="http://schemas.microsoft.com/office/powerpoint/2010/main" val="42326283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Boolean values, or expressions that result in Boolean values, can be combined using the logical operators &amp;&amp;, || and !, which represent AND, OR and NOT operations, respectively.</a:t>
            </a: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Watch out for operator precedence. If resolved</a:t>
            </a:r>
            <a:r>
              <a:rPr lang="en-GB" baseline="0" dirty="0"/>
              <a:t> from left to right (as we would read it) the third example would appear to yield a result of </a:t>
            </a:r>
            <a:r>
              <a:rPr lang="en-GB" b="1" baseline="0" dirty="0"/>
              <a:t>false</a:t>
            </a:r>
            <a:r>
              <a:rPr lang="en-GB" b="0" baseline="0" dirty="0"/>
              <a:t> </a:t>
            </a:r>
            <a:r>
              <a:rPr lang="en-GB" baseline="0" dirty="0"/>
              <a:t>such that the message would not be written to the console. This is incorrect.</a:t>
            </a:r>
            <a:br>
              <a:rPr lang="en-GB" baseline="0" dirty="0"/>
            </a:br>
            <a:r>
              <a:rPr lang="en-GB" baseline="0" dirty="0"/>
              <a:t>From left to right a </a:t>
            </a:r>
            <a:r>
              <a:rPr lang="en-GB" b="1" baseline="0" dirty="0"/>
              <a:t>true </a:t>
            </a:r>
            <a:r>
              <a:rPr lang="en-GB" b="0" baseline="0" dirty="0"/>
              <a:t>(var1 does equal 1) </a:t>
            </a:r>
            <a:r>
              <a:rPr lang="en-GB" baseline="0" dirty="0" err="1"/>
              <a:t>OR’d</a:t>
            </a:r>
            <a:r>
              <a:rPr lang="en-GB" baseline="0" dirty="0"/>
              <a:t> with a </a:t>
            </a:r>
            <a:r>
              <a:rPr lang="en-GB" b="1" baseline="0" dirty="0"/>
              <a:t>true</a:t>
            </a:r>
            <a:r>
              <a:rPr lang="en-GB" baseline="0" dirty="0"/>
              <a:t> </a:t>
            </a:r>
            <a:r>
              <a:rPr lang="en-GB" b="0" baseline="0" dirty="0"/>
              <a:t>(var2 does equal 2) </a:t>
            </a:r>
            <a:r>
              <a:rPr lang="en-GB" baseline="0" dirty="0"/>
              <a:t>yields a </a:t>
            </a:r>
            <a:r>
              <a:rPr lang="en-GB" b="1" baseline="0" dirty="0"/>
              <a:t>true</a:t>
            </a:r>
            <a:r>
              <a:rPr lang="en-GB" b="0" baseline="0" dirty="0"/>
              <a:t>, </a:t>
            </a:r>
            <a:r>
              <a:rPr lang="en-GB" b="0" baseline="0" dirty="0" err="1"/>
              <a:t>AND’ing</a:t>
            </a:r>
            <a:r>
              <a:rPr lang="en-GB" b="0" baseline="0" dirty="0"/>
              <a:t> this result with a </a:t>
            </a:r>
            <a:r>
              <a:rPr lang="en-GB" b="1" baseline="0" dirty="0"/>
              <a:t>false</a:t>
            </a:r>
            <a:r>
              <a:rPr lang="en-GB" b="0" baseline="0" dirty="0"/>
              <a:t> (var3 does not equal 1) would yield a final result of </a:t>
            </a:r>
            <a:r>
              <a:rPr lang="en-GB" b="1" baseline="0" dirty="0"/>
              <a:t>false</a:t>
            </a:r>
            <a:r>
              <a:rPr lang="en-GB" b="0" baseline="0" dirty="0"/>
              <a:t>. However, although this appears to make logical sense, it is not the result that a running program would produce. This is because all AND’s are executed before OR’s no matter where they appear in the sequence. Consequently we would do the AND first followed by the OR.  </a:t>
            </a:r>
            <a:r>
              <a:rPr lang="en-GB" b="0" baseline="0" dirty="0" err="1"/>
              <a:t>AND’ing</a:t>
            </a:r>
            <a:r>
              <a:rPr lang="en-GB" b="0" baseline="0" dirty="0"/>
              <a:t> a </a:t>
            </a:r>
            <a:r>
              <a:rPr lang="en-GB" b="1" baseline="0" dirty="0"/>
              <a:t>true </a:t>
            </a:r>
            <a:r>
              <a:rPr lang="en-GB" b="0" baseline="0" dirty="0"/>
              <a:t>(var2 does equal 2) with a </a:t>
            </a:r>
            <a:r>
              <a:rPr lang="en-GB" b="1" baseline="0" dirty="0"/>
              <a:t>false </a:t>
            </a:r>
            <a:r>
              <a:rPr lang="en-GB" b="0" baseline="0" dirty="0"/>
              <a:t>(var3 does not equal 1) would yield a </a:t>
            </a:r>
            <a:r>
              <a:rPr lang="en-GB" b="1" baseline="0" dirty="0"/>
              <a:t>false</a:t>
            </a:r>
            <a:r>
              <a:rPr lang="en-GB" b="0" baseline="0" dirty="0"/>
              <a:t>, </a:t>
            </a:r>
            <a:r>
              <a:rPr lang="en-GB" b="0" baseline="0" dirty="0" err="1"/>
              <a:t>OR’ing</a:t>
            </a:r>
            <a:r>
              <a:rPr lang="en-GB" b="0" baseline="0" dirty="0"/>
              <a:t> this result with a </a:t>
            </a:r>
            <a:r>
              <a:rPr lang="en-GB" b="1" baseline="0" dirty="0"/>
              <a:t>true</a:t>
            </a:r>
            <a:r>
              <a:rPr lang="en-GB" b="0" baseline="0" dirty="0"/>
              <a:t> (var1 does equal 1) would yield a final result of </a:t>
            </a:r>
            <a:r>
              <a:rPr lang="en-GB" b="1" baseline="0" dirty="0"/>
              <a:t>true </a:t>
            </a:r>
            <a:r>
              <a:rPr lang="en-GB" b="0" baseline="0" dirty="0"/>
              <a:t>and the message would get written to the Console! If you would prefer to get the former outcome you can always prioritise things by using parentheses in much the same way you would when doing a maths calculation when you wanted an addition to be done before a multiplication:</a:t>
            </a:r>
          </a:p>
          <a:p>
            <a:pPr marL="0" marR="0" indent="0" algn="l" defTabSz="914400" rtl="0" eaLnBrk="0" fontAlgn="base" latinLnBrk="0" hangingPunct="0">
              <a:lnSpc>
                <a:spcPct val="100000"/>
              </a:lnSpc>
              <a:spcBef>
                <a:spcPct val="33000"/>
              </a:spcBef>
              <a:spcAft>
                <a:spcPct val="0"/>
              </a:spcAft>
              <a:buClrTx/>
              <a:buSzTx/>
              <a:buFontTx/>
              <a:buNone/>
              <a:tabLst>
                <a:tab pos="273050" algn="l"/>
                <a:tab pos="544513" algn="l"/>
                <a:tab pos="796925" algn="l"/>
                <a:tab pos="1069975" algn="l"/>
                <a:tab pos="1343025" algn="l"/>
                <a:tab pos="1614488" algn="l"/>
                <a:tab pos="1887538" algn="l"/>
                <a:tab pos="2159000" algn="l"/>
                <a:tab pos="2413000" algn="l"/>
                <a:tab pos="2684463" algn="l"/>
              </a:tabLst>
              <a:defRPr/>
            </a:pPr>
            <a:r>
              <a:rPr lang="en-GB" dirty="0"/>
              <a:t>if </a:t>
            </a:r>
            <a:r>
              <a:rPr lang="en-GB" b="1" dirty="0"/>
              <a:t>((</a:t>
            </a:r>
            <a:r>
              <a:rPr lang="en-GB" dirty="0"/>
              <a:t>(var1 == 1) || (var2 == 2)</a:t>
            </a:r>
            <a:r>
              <a:rPr lang="en-GB" b="1" dirty="0"/>
              <a:t>)</a:t>
            </a:r>
            <a:r>
              <a:rPr lang="en-GB" dirty="0"/>
              <a:t> &amp;&amp; (var3 == 1)).</a:t>
            </a:r>
            <a:endParaRPr lang="en-GB" b="1" dirty="0"/>
          </a:p>
          <a:p>
            <a:endParaRPr lang="en-GB" dirty="0"/>
          </a:p>
        </p:txBody>
      </p:sp>
    </p:spTree>
    <p:extLst>
      <p:ext uri="{BB962C8B-B14F-4D97-AF65-F5344CB8AC3E}">
        <p14:creationId xmlns:p14="http://schemas.microsoft.com/office/powerpoint/2010/main" val="1735968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p:spPr>
        <p:txBody>
          <a:bodyPr/>
          <a:lstStyle/>
          <a:p>
            <a:r>
              <a:rPr lang="en-GB" dirty="0"/>
              <a:t>A method that returns nothing should be rare. Testing</a:t>
            </a:r>
            <a:r>
              <a:rPr lang="en-GB" baseline="0" dirty="0"/>
              <a:t> these kinds of methods are quite difficult. If a method returns nothing, how would a caller know it has succeeded?</a:t>
            </a:r>
          </a:p>
          <a:p>
            <a:r>
              <a:rPr lang="en-GB" baseline="0" dirty="0"/>
              <a:t>In the above example, the add method prints the sum of a + b to console. We might want the result to be put in a text file instead of just printing to console.</a:t>
            </a:r>
          </a:p>
          <a:p>
            <a:r>
              <a:rPr lang="en-GB" baseline="0" dirty="0"/>
              <a:t>See the next slide for an example of a method that returns a value to the caller.</a:t>
            </a:r>
          </a:p>
          <a:p>
            <a:endParaRPr lang="en-GB" dirty="0"/>
          </a:p>
        </p:txBody>
      </p:sp>
    </p:spTree>
    <p:extLst>
      <p:ext uri="{BB962C8B-B14F-4D97-AF65-F5344CB8AC3E}">
        <p14:creationId xmlns:p14="http://schemas.microsoft.com/office/powerpoint/2010/main" val="23722389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p:spPr>
        <p:txBody>
          <a:bodyPr/>
          <a:lstStyle/>
          <a:p>
            <a:r>
              <a:rPr lang="en-GB" dirty="0"/>
              <a:t>The </a:t>
            </a:r>
            <a:r>
              <a:rPr lang="en-GB" dirty="0" err="1"/>
              <a:t>getSum</a:t>
            </a:r>
            <a:r>
              <a:rPr lang="en-GB" dirty="0"/>
              <a:t> method return an</a:t>
            </a:r>
            <a:r>
              <a:rPr lang="en-GB" baseline="0" dirty="0"/>
              <a:t> integer to the caller which is the sum of a + b. </a:t>
            </a:r>
          </a:p>
          <a:p>
            <a:r>
              <a:rPr lang="en-GB" baseline="0" dirty="0"/>
              <a:t>This is done via the line   </a:t>
            </a:r>
            <a:r>
              <a:rPr lang="en-GB" b="1" baseline="0" dirty="0"/>
              <a:t>return a + b;</a:t>
            </a:r>
          </a:p>
          <a:p>
            <a:r>
              <a:rPr lang="en-GB" b="0" baseline="0" dirty="0"/>
              <a:t>A method can have multiple return statements. Wen the return statement is executed the method ends and returns whatever follows the return keyword.</a:t>
            </a:r>
          </a:p>
          <a:p>
            <a:r>
              <a:rPr lang="en-GB" b="0" baseline="0" dirty="0"/>
              <a:t>Although it is possible to have many return statements in a method, we always try to stick to one. A method with too many return statements is like a room with many exit doors, and that's just too confusing!</a:t>
            </a:r>
          </a:p>
          <a:p>
            <a:r>
              <a:rPr lang="en-GB" b="0" baseline="0" dirty="0"/>
              <a:t>We'll have examples of this in your labs, and you'll see what I exactly mean.</a:t>
            </a:r>
            <a:endParaRPr lang="en-GB" b="0" dirty="0"/>
          </a:p>
        </p:txBody>
      </p:sp>
    </p:spTree>
    <p:extLst>
      <p:ext uri="{BB962C8B-B14F-4D97-AF65-F5344CB8AC3E}">
        <p14:creationId xmlns:p14="http://schemas.microsoft.com/office/powerpoint/2010/main" val="980528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p:spPr>
      </p:sp>
      <p:sp>
        <p:nvSpPr>
          <p:cNvPr id="55299" name="Rectangle 3"/>
          <p:cNvSpPr>
            <a:spLocks noGrp="1" noChangeArrowheads="1"/>
          </p:cNvSpPr>
          <p:nvPr>
            <p:ph type="body" idx="1"/>
          </p:nvPr>
        </p:nvSpPr>
        <p:spPr>
          <a:noFill/>
          <a:ln/>
        </p:spPr>
        <p:txBody>
          <a:bodyPr/>
          <a:lstStyle/>
          <a:p>
            <a:r>
              <a:rPr lang="en-GB" dirty="0"/>
              <a:t>There will be a number of situations where you will want to pass different parameter types to a method. A classic example of this is the </a:t>
            </a:r>
            <a:r>
              <a:rPr lang="en-GB" dirty="0" err="1"/>
              <a:t>System.out.println</a:t>
            </a:r>
            <a:r>
              <a:rPr lang="en-GB" dirty="0"/>
              <a:t>() method, to which you might want to pass a String, and integer, a </a:t>
            </a:r>
            <a:r>
              <a:rPr lang="en-GB" dirty="0" err="1"/>
              <a:t>boolean</a:t>
            </a:r>
            <a:r>
              <a:rPr lang="en-GB" dirty="0"/>
              <a:t>  etc.</a:t>
            </a:r>
          </a:p>
          <a:p>
            <a:r>
              <a:rPr lang="en-GB" dirty="0"/>
              <a:t>To support this, C# lets you overload a method. All this means is that your type contains multiple definitions for the method, each of which differs from the others in the number, order and types of parameters. In the example above there are two overloads for the print method, one of which takes 2 parameters and one that takes 3. Each overload must have a unique signature (remember, it's not the names of the parameters that is considered, it is their type).</a:t>
            </a:r>
          </a:p>
          <a:p>
            <a:r>
              <a:rPr lang="en-GB" dirty="0"/>
              <a:t>An important thing to note is that the return type or access modifier is not considered in determining whether methods are unique or not.</a:t>
            </a:r>
          </a:p>
          <a:p>
            <a:r>
              <a:rPr lang="en-GB" dirty="0"/>
              <a:t>Finally, one thing that you can do with overloads is to emulate other languages concept of default parameters.</a:t>
            </a:r>
          </a:p>
          <a:p>
            <a:endParaRPr lang="en-GB" dirty="0"/>
          </a:p>
          <a:p>
            <a:r>
              <a:rPr lang="en-GB" dirty="0"/>
              <a:t>In the above example, the first call to </a:t>
            </a:r>
            <a:r>
              <a:rPr lang="en-GB" dirty="0" err="1"/>
              <a:t>getTax</a:t>
            </a:r>
            <a:r>
              <a:rPr lang="en-GB" dirty="0"/>
              <a:t> is directed to the </a:t>
            </a:r>
            <a:r>
              <a:rPr lang="en-GB" dirty="0" err="1"/>
              <a:t>getTax</a:t>
            </a:r>
            <a:r>
              <a:rPr lang="en-GB" dirty="0"/>
              <a:t> version with one parameter. Here we assume a tax rate of 0.25.</a:t>
            </a:r>
          </a:p>
          <a:p>
            <a:r>
              <a:rPr lang="en-GB" dirty="0"/>
              <a:t>The second call to </a:t>
            </a:r>
            <a:r>
              <a:rPr lang="en-GB" dirty="0" err="1"/>
              <a:t>getTax</a:t>
            </a:r>
            <a:r>
              <a:rPr lang="en-GB" dirty="0"/>
              <a:t> passes two parameters and therefore will call the version</a:t>
            </a:r>
            <a:r>
              <a:rPr lang="en-GB" baseline="0" dirty="0"/>
              <a:t> of </a:t>
            </a:r>
            <a:r>
              <a:rPr lang="en-GB" baseline="0" dirty="0" err="1"/>
              <a:t>getTax</a:t>
            </a:r>
            <a:r>
              <a:rPr lang="en-GB" baseline="0" dirty="0"/>
              <a:t> that accepts two parameters. Here we pass in the tax rate instead of accepting the default 0.25 tax rate.</a:t>
            </a:r>
          </a:p>
          <a:p>
            <a:r>
              <a:rPr lang="en-GB" baseline="0" dirty="0"/>
              <a:t>Method overloading is very common and can be </a:t>
            </a:r>
            <a:r>
              <a:rPr lang="en-GB" baseline="0" dirty="0" err="1"/>
              <a:t>extreamely</a:t>
            </a:r>
            <a:r>
              <a:rPr lang="en-GB" baseline="0" dirty="0"/>
              <a:t> useful.</a:t>
            </a:r>
            <a:endParaRPr lang="en-GB" dirty="0"/>
          </a:p>
        </p:txBody>
      </p:sp>
    </p:spTree>
    <p:extLst>
      <p:ext uri="{BB962C8B-B14F-4D97-AF65-F5344CB8AC3E}">
        <p14:creationId xmlns:p14="http://schemas.microsoft.com/office/powerpoint/2010/main" val="25236087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p:spPr>
        <p:txBody>
          <a:bodyPr/>
          <a:lstStyle/>
          <a:p>
            <a:r>
              <a:rPr lang="en-GB" dirty="0"/>
              <a:t>It is important to be able to control execution flow within a loop, although it is generally regarded to be good programming practice to design your code so that control flow is easy to follow.</a:t>
            </a:r>
          </a:p>
          <a:p>
            <a:r>
              <a:rPr lang="en-GB" dirty="0"/>
              <a:t>C# provides two mechanisms for controlling loop execution, as shown above.</a:t>
            </a:r>
          </a:p>
          <a:p>
            <a:r>
              <a:rPr lang="en-GB" dirty="0"/>
              <a:t>A break statement can be used to exit a while, do while or for loop prematurely. Control is transferred to the first statement following the closing brace of the loop body. </a:t>
            </a:r>
          </a:p>
          <a:p>
            <a:r>
              <a:rPr lang="en-GB" dirty="0"/>
              <a:t>A continue statement can be used to transfer control to the end of a loop body prior to the re-evaluation of the loop's test expression. Note that in a for loop, the update expression is executed before the re-evaluation of the test. </a:t>
            </a:r>
          </a:p>
          <a:p>
            <a:endParaRPr lang="en-GB" dirty="0"/>
          </a:p>
          <a:p>
            <a:r>
              <a:rPr lang="en-GB" dirty="0"/>
              <a:t>C# also allows a loop</a:t>
            </a:r>
            <a:r>
              <a:rPr lang="en-GB" baseline="0" dirty="0"/>
              <a:t> to be labelled e.g.</a:t>
            </a:r>
            <a:br>
              <a:rPr lang="en-GB" baseline="0" dirty="0"/>
            </a:br>
            <a:r>
              <a:rPr lang="en-GB" baseline="0" dirty="0" err="1"/>
              <a:t>outer_loop</a:t>
            </a:r>
            <a:r>
              <a:rPr lang="en-GB" baseline="0" dirty="0"/>
              <a:t>:</a:t>
            </a:r>
            <a:br>
              <a:rPr lang="en-GB" baseline="0" dirty="0"/>
            </a:br>
            <a:r>
              <a:rPr lang="en-GB" baseline="0" dirty="0"/>
              <a:t>for(..) {</a:t>
            </a:r>
            <a:br>
              <a:rPr lang="en-GB" baseline="0" dirty="0"/>
            </a:br>
            <a:r>
              <a:rPr lang="en-GB" dirty="0"/>
              <a:t>This is occasionally of use as a nested loop inside it can then code the statement</a:t>
            </a:r>
            <a:br>
              <a:rPr lang="en-GB" dirty="0"/>
            </a:br>
            <a:r>
              <a:rPr lang="en-GB" dirty="0"/>
              <a:t>break </a:t>
            </a:r>
            <a:r>
              <a:rPr lang="en-GB" dirty="0" err="1"/>
              <a:t>outer_loop</a:t>
            </a:r>
            <a:r>
              <a:rPr lang="en-GB" dirty="0"/>
              <a:t>; </a:t>
            </a:r>
            <a:br>
              <a:rPr lang="en-GB" dirty="0"/>
            </a:br>
            <a:r>
              <a:rPr lang="en-GB" dirty="0"/>
              <a:t>as opposed to just </a:t>
            </a:r>
            <a:br>
              <a:rPr lang="en-GB" dirty="0"/>
            </a:br>
            <a:r>
              <a:rPr lang="en-GB" dirty="0"/>
              <a:t>break; </a:t>
            </a:r>
            <a:br>
              <a:rPr lang="en-GB" dirty="0"/>
            </a:br>
            <a:r>
              <a:rPr lang="en-GB" dirty="0"/>
              <a:t>which would only exit the nested loop potentially re-entering</a:t>
            </a:r>
            <a:r>
              <a:rPr lang="en-GB" baseline="0" dirty="0"/>
              <a:t> it from the outer loop.</a:t>
            </a:r>
            <a:endParaRPr lang="en-GB" dirty="0"/>
          </a:p>
          <a:p>
            <a:r>
              <a:rPr lang="en-GB" b="0" dirty="0"/>
              <a:t>It avoids having to potentially</a:t>
            </a:r>
            <a:r>
              <a:rPr lang="en-GB" b="0" baseline="0" dirty="0"/>
              <a:t> code a break statement in each loop.</a:t>
            </a:r>
            <a:endParaRPr lang="en-GB" b="0" dirty="0"/>
          </a:p>
          <a:p>
            <a:endParaRPr lang="en-GB" dirty="0"/>
          </a:p>
        </p:txBody>
      </p:sp>
    </p:spTree>
    <p:extLst>
      <p:ext uri="{BB962C8B-B14F-4D97-AF65-F5344CB8AC3E}">
        <p14:creationId xmlns:p14="http://schemas.microsoft.com/office/powerpoint/2010/main" val="41355256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p:spPr>
        <p:txBody>
          <a:bodyPr/>
          <a:lstStyle/>
          <a:p>
            <a:endParaRPr lang="en-US" dirty="0"/>
          </a:p>
        </p:txBody>
      </p:sp>
      <p:sp>
        <p:nvSpPr>
          <p:cNvPr id="2" name="Slide Number Placeholder 1"/>
          <p:cNvSpPr>
            <a:spLocks noGrp="1"/>
          </p:cNvSpPr>
          <p:nvPr>
            <p:ph type="sldNum" sz="quarter" idx="10"/>
          </p:nvPr>
        </p:nvSpPr>
        <p:spPr/>
        <p:txBody>
          <a:bodyPr/>
          <a:lstStyle/>
          <a:p>
            <a:fld id="{548901C6-1DA1-FB44-ABEE-06A0FEB7738E}" type="slidenum">
              <a:rPr lang="en-GB" smtClean="0"/>
              <a:pPr/>
              <a:t>26</a:t>
            </a:fld>
            <a:endParaRPr lang="en-GB"/>
          </a:p>
        </p:txBody>
      </p:sp>
    </p:spTree>
    <p:extLst>
      <p:ext uri="{BB962C8B-B14F-4D97-AF65-F5344CB8AC3E}">
        <p14:creationId xmlns:p14="http://schemas.microsoft.com/office/powerpoint/2010/main" val="32439068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Q&amp;A/what's next">
    <p:bg>
      <p:bgPr>
        <a:solidFill>
          <a:srgbClr val="7E007C"/>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FF004C"/>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solidFill>
                  <a:schemeClr val="bg1"/>
                </a:solidFill>
              </a:defRPr>
            </a:lvl1pPr>
          </a:lstStyle>
          <a:p>
            <a:r>
              <a:rPr lang="en-US" noProof="0" dirty="0"/>
              <a:t>CLICK TO EDIT TITLE</a:t>
            </a:r>
            <a:endParaRPr lang="en-GB" noProof="0" dirty="0"/>
          </a:p>
        </p:txBody>
      </p:sp>
    </p:spTree>
    <p:extLst>
      <p:ext uri="{BB962C8B-B14F-4D97-AF65-F5344CB8AC3E}">
        <p14:creationId xmlns:p14="http://schemas.microsoft.com/office/powerpoint/2010/main" val="392098513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grpSp>
        <p:nvGrpSpPr>
          <p:cNvPr id="9" name="Group 8"/>
          <p:cNvGrpSpPr/>
          <p:nvPr userDrawn="1"/>
        </p:nvGrpSpPr>
        <p:grpSpPr>
          <a:xfrm>
            <a:off x="0" y="3516594"/>
            <a:ext cx="6358189" cy="2396903"/>
            <a:chOff x="999763" y="4580698"/>
            <a:chExt cx="3632716" cy="1370734"/>
          </a:xfrm>
          <a:solidFill>
            <a:srgbClr val="004050"/>
          </a:solidFill>
        </p:grpSpPr>
        <p:sp>
          <p:nvSpPr>
            <p:cNvPr id="10" name="Rectangle 9"/>
            <p:cNvSpPr/>
            <p:nvPr userDrawn="1"/>
          </p:nvSpPr>
          <p:spPr>
            <a:xfrm>
              <a:off x="999763" y="5031740"/>
              <a:ext cx="1554386"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p:cNvSpPr/>
            <p:nvPr userDrawn="1"/>
          </p:nvSpPr>
          <p:spPr>
            <a:xfrm>
              <a:off x="999763" y="5373431"/>
              <a:ext cx="15543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2" name="Group 11">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3" name="Freeform 12">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4205"/>
            <a:ext cx="8314267"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7139"/>
            <a:ext cx="8324398"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2002921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10" name="Text Placeholder 2"/>
          <p:cNvSpPr>
            <a:spLocks noGrp="1"/>
          </p:cNvSpPr>
          <p:nvPr>
            <p:ph type="body" sz="quarter" idx="16"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r="-1"/>
          <a:stretch/>
        </p:blipFill>
        <p:spPr>
          <a:xfrm>
            <a:off x="-6057" y="3264823"/>
            <a:ext cx="5967455" cy="2859259"/>
          </a:xfrm>
          <a:prstGeom prst="rect">
            <a:avLst/>
          </a:prstGeom>
        </p:spPr>
      </p:pic>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ct val="100000"/>
              </a:lnSpc>
              <a:defRPr sz="3600" spc="60" baseline="0">
                <a:solidFill>
                  <a:srgbClr val="004050"/>
                </a:solidFill>
              </a:defRPr>
            </a:lvl1pPr>
          </a:lstStyle>
          <a:p>
            <a:r>
              <a:rPr lang="en-US" noProof="0" dirty="0"/>
              <a:t>CLICK TO EDIT MASTER TITLE STYLE</a:t>
            </a:r>
            <a:endParaRPr lang="en-GB" noProof="0" dirty="0"/>
          </a:p>
        </p:txBody>
      </p:sp>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rgbClr val="004050"/>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21161448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grpSp>
        <p:nvGrpSpPr>
          <p:cNvPr id="2" name="Group 1"/>
          <p:cNvGrpSpPr/>
          <p:nvPr userDrawn="1"/>
        </p:nvGrpSpPr>
        <p:grpSpPr>
          <a:xfrm>
            <a:off x="-6058" y="3516217"/>
            <a:ext cx="5797612" cy="2396903"/>
            <a:chOff x="1320045" y="4580698"/>
            <a:chExt cx="3312434" cy="1370734"/>
          </a:xfrm>
          <a:solidFill>
            <a:srgbClr val="28CFF9"/>
          </a:solidFill>
        </p:grpSpPr>
        <p:sp>
          <p:nvSpPr>
            <p:cNvPr id="12" name="Rectangle 11"/>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4" name="Group 13">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5" name="Freeform 14">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7" name="Freeform 16">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1" y="2366578"/>
            <a:ext cx="7767721" cy="4491421"/>
            <a:chOff x="7799133" y="1870745"/>
            <a:chExt cx="1010349" cy="584292"/>
          </a:xfrm>
          <a:solidFill>
            <a:srgbClr val="F8D237"/>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2" name="Rectangle 1"/>
          <p:cNvSpPr/>
          <p:nvPr userDrawn="1"/>
        </p:nvSpPr>
        <p:spPr>
          <a:xfrm>
            <a:off x="-1" y="3841786"/>
            <a:ext cx="8212667" cy="432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10132" y="4965471"/>
            <a:ext cx="8146316" cy="432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spTree>
    <p:extLst>
      <p:ext uri="{BB962C8B-B14F-4D97-AF65-F5344CB8AC3E}">
        <p14:creationId xmlns:p14="http://schemas.microsoft.com/office/powerpoint/2010/main" val="12235614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4" name="Rectangle 13"/>
          <p:cNvSpPr/>
          <p:nvPr userDrawn="1"/>
        </p:nvSpPr>
        <p:spPr>
          <a:xfrm>
            <a:off x="0" y="5030515"/>
            <a:ext cx="2361189" cy="132089"/>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userDrawn="1"/>
        </p:nvSpPr>
        <p:spPr>
          <a:xfrm>
            <a:off x="0" y="5379138"/>
            <a:ext cx="2746241" cy="1332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203017" y="4568506"/>
            <a:ext cx="2424152" cy="1401684"/>
            <a:chOff x="7799133" y="1870745"/>
            <a:chExt cx="1010349" cy="584292"/>
          </a:xfrm>
          <a:solidFill>
            <a:srgbClr val="F8D237"/>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grpSp>
        <p:nvGrpSpPr>
          <p:cNvPr id="8" name="Group 7"/>
          <p:cNvGrpSpPr/>
          <p:nvPr userDrawn="1"/>
        </p:nvGrpSpPr>
        <p:grpSpPr>
          <a:xfrm>
            <a:off x="-6058" y="3516217"/>
            <a:ext cx="5797612" cy="2396903"/>
            <a:chOff x="1320045" y="4580698"/>
            <a:chExt cx="3312434" cy="1370734"/>
          </a:xfrm>
          <a:solidFill>
            <a:srgbClr val="F3622C"/>
          </a:solidFill>
        </p:grpSpPr>
        <p:sp>
          <p:nvSpPr>
            <p:cNvPr id="9" name="Rectangle 8"/>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7" name="Group 6">
            <a:extLst>
              <a:ext uri="{FF2B5EF4-FFF2-40B4-BE49-F238E27FC236}">
                <a16:creationId xmlns:a16="http://schemas.microsoft.com/office/drawing/2014/main" id="{51C13B23-0164-1C4E-9E7A-3F1ECA7824F7}"/>
              </a:ext>
            </a:extLst>
          </p:cNvPr>
          <p:cNvGrpSpPr/>
          <p:nvPr userDrawn="1"/>
        </p:nvGrpSpPr>
        <p:grpSpPr>
          <a:xfrm>
            <a:off x="2327195" y="4606108"/>
            <a:ext cx="2293146" cy="1326143"/>
            <a:chOff x="7799133" y="1870745"/>
            <a:chExt cx="1010349" cy="584292"/>
          </a:xfrm>
          <a:solidFill>
            <a:srgbClr val="FF004C"/>
          </a:solidFill>
        </p:grpSpPr>
        <p:sp>
          <p:nvSpPr>
            <p:cNvPr id="11" name="Freeform 10">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2" name="Freeform 11">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sp>
        <p:nvSpPr>
          <p:cNvPr id="3" name="Rectangle 2"/>
          <p:cNvSpPr/>
          <p:nvPr userDrawn="1"/>
        </p:nvSpPr>
        <p:spPr>
          <a:xfrm>
            <a:off x="-11069" y="5042941"/>
            <a:ext cx="2506981" cy="126517"/>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13"/>
          <p:cNvSpPr/>
          <p:nvPr userDrawn="1"/>
        </p:nvSpPr>
        <p:spPr>
          <a:xfrm>
            <a:off x="0" y="5374222"/>
            <a:ext cx="2506981" cy="126000"/>
          </a:xfrm>
          <a:prstGeom prst="rect">
            <a:avLst/>
          </a:prstGeom>
          <a:solidFill>
            <a:srgbClr val="FF00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grpSp>
        <p:nvGrpSpPr>
          <p:cNvPr id="15" name="Group 14"/>
          <p:cNvGrpSpPr/>
          <p:nvPr userDrawn="1"/>
        </p:nvGrpSpPr>
        <p:grpSpPr>
          <a:xfrm>
            <a:off x="-6058" y="3516217"/>
            <a:ext cx="5797612" cy="2396903"/>
            <a:chOff x="1320045" y="4580698"/>
            <a:chExt cx="3312434" cy="1370734"/>
          </a:xfrm>
          <a:solidFill>
            <a:srgbClr val="7E007C"/>
          </a:solidFill>
        </p:grpSpPr>
        <p:sp>
          <p:nvSpPr>
            <p:cNvPr id="16" name="Rectangle 15"/>
            <p:cNvSpPr/>
            <p:nvPr userDrawn="1"/>
          </p:nvSpPr>
          <p:spPr>
            <a:xfrm>
              <a:off x="1320045" y="5031740"/>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p:cNvSpPr/>
            <p:nvPr userDrawn="1"/>
          </p:nvSpPr>
          <p:spPr>
            <a:xfrm>
              <a:off x="1320046" y="5373431"/>
              <a:ext cx="1234104"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8" name="Group 17">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9" name="Freeform 18">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lvl2pPr marL="355600" indent="-266700">
              <a:buFont typeface="Arial" panose="020B0604020202020204" pitchFamily="34" charset="0"/>
              <a:buChar char="•"/>
              <a:defRPr/>
            </a:lvl2pPr>
            <a:lvl3pPr marL="355600" indent="-266700">
              <a:buFont typeface="Arial" panose="020B0604020202020204" pitchFamily="34" charset="0"/>
              <a:buChar char="•"/>
              <a:defRPr/>
            </a:lvl3pPr>
            <a:lvl4pPr marL="355600" indent="-266700">
              <a:buFont typeface="Arial" panose="020B0604020202020204" pitchFamily="34" charset="0"/>
              <a:buChar char="•"/>
              <a:defRPr/>
            </a:lvl4pPr>
            <a:lvl5pPr marL="355600" indent="-266700">
              <a:buFont typeface="Arial" panose="020B0604020202020204" pitchFamily="34" charset="0"/>
              <a:buChar char="•"/>
              <a:defRPr/>
            </a:lvl5p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Second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Third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Fourth level</a:t>
            </a:r>
          </a:p>
          <a:p>
            <a:pPr marL="342900" lvl="1" indent="-342900" algn="l" defTabSz="914400" rtl="0" eaLnBrk="1" latinLnBrk="0" hangingPunct="1">
              <a:lnSpc>
                <a:spcPct val="100000"/>
              </a:lnSpc>
              <a:spcBef>
                <a:spcPts val="0"/>
              </a:spcBef>
              <a:spcAft>
                <a:spcPts val="650"/>
              </a:spcAft>
              <a:buSzPct val="115000"/>
              <a:buFont typeface="Arial" panose="020B0604020202020204" pitchFamily="34" charset="0"/>
              <a:buChar char="•"/>
              <a:tabLst/>
            </a:pPr>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342900" indent="-342900" algn="l" defTabSz="914400" rtl="0" eaLnBrk="1" latinLnBrk="0" hangingPunct="1">
              <a:lnSpc>
                <a:spcPct val="100000"/>
              </a:lnSpc>
              <a:spcBef>
                <a:spcPts val="0"/>
              </a:spcBef>
              <a:spcAft>
                <a:spcPts val="650"/>
              </a:spcAft>
              <a:buSzPct val="115000"/>
              <a:buFont typeface="Arial" panose="020B0604020202020204" pitchFamily="34" charset="0"/>
              <a:buChar char="•"/>
              <a:defRPr lang="en-US" sz="2000" b="0" i="0" kern="1200" dirty="0">
                <a:solidFill>
                  <a:schemeClr val="tx1"/>
                </a:solidFill>
                <a:latin typeface="Montserrat" pitchFamily="2" charset="77"/>
                <a:ea typeface="+mn-ea"/>
                <a:cs typeface="+mn-cs"/>
              </a:defRPr>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7" name="Group 6"/>
          <p:cNvGrpSpPr/>
          <p:nvPr userDrawn="1"/>
        </p:nvGrpSpPr>
        <p:grpSpPr>
          <a:xfrm>
            <a:off x="-1" y="3516594"/>
            <a:ext cx="7016814" cy="2396903"/>
            <a:chOff x="623461" y="4580698"/>
            <a:chExt cx="4009018" cy="1370734"/>
          </a:xfrm>
          <a:solidFill>
            <a:srgbClr val="004050"/>
          </a:solidFill>
        </p:grpSpPr>
        <p:sp>
          <p:nvSpPr>
            <p:cNvPr id="9" name="Rectangle 8"/>
            <p:cNvSpPr/>
            <p:nvPr userDrawn="1"/>
          </p:nvSpPr>
          <p:spPr>
            <a:xfrm>
              <a:off x="623462" y="5031740"/>
              <a:ext cx="1930687"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userDrawn="1"/>
          </p:nvSpPr>
          <p:spPr>
            <a:xfrm>
              <a:off x="623461" y="5373431"/>
              <a:ext cx="1930689" cy="133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up 10">
              <a:extLst>
                <a:ext uri="{FF2B5EF4-FFF2-40B4-BE49-F238E27FC236}">
                  <a16:creationId xmlns:a16="http://schemas.microsoft.com/office/drawing/2014/main" id="{51C13B23-0164-1C4E-9E7A-3F1ECA7824F7}"/>
                </a:ext>
              </a:extLst>
            </p:cNvPr>
            <p:cNvGrpSpPr/>
            <p:nvPr userDrawn="1"/>
          </p:nvGrpSpPr>
          <p:grpSpPr>
            <a:xfrm>
              <a:off x="2227580" y="4580698"/>
              <a:ext cx="2404899" cy="1370734"/>
              <a:chOff x="7799133" y="1870745"/>
              <a:chExt cx="1010349" cy="584292"/>
            </a:xfrm>
            <a:grpFill/>
          </p:grpSpPr>
          <p:sp>
            <p:nvSpPr>
              <p:cNvPr id="12" name="Freeform 11">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a:p>
            </p:txBody>
          </p:sp>
          <p:sp>
            <p:nvSpPr>
              <p:cNvPr id="14" name="Freeform 13">
                <a:extLst>
                  <a:ext uri="{FF2B5EF4-FFF2-40B4-BE49-F238E27FC236}">
                    <a16:creationId xmlns:a16="http://schemas.microsoft.com/office/drawing/2014/main" id="{17BA7C41-EA1C-2F4D-90C7-EC472AB85B8A}"/>
                  </a:ext>
                </a:extLst>
              </p:cNvPr>
              <p:cNvSpPr/>
              <p:nvPr userDrawn="1"/>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gr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61568229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902" r:id="rId2"/>
    <p:sldLayoutId id="2147483812" r:id="rId3"/>
    <p:sldLayoutId id="2147483813" r:id="rId4"/>
    <p:sldLayoutId id="2147483798" r:id="rId5"/>
    <p:sldLayoutId id="2147483806" r:id="rId6"/>
    <p:sldLayoutId id="2147483709" r:id="rId7"/>
    <p:sldLayoutId id="2147483822" r:id="rId8"/>
    <p:sldLayoutId id="2147483802" r:id="rId9"/>
    <p:sldLayoutId id="2147483792" r:id="rId10"/>
    <p:sldLayoutId id="2147483810" r:id="rId11"/>
    <p:sldLayoutId id="2147483804" r:id="rId12"/>
    <p:sldLayoutId id="2147483821" r:id="rId13"/>
    <p:sldLayoutId id="2147483824" r:id="rId14"/>
    <p:sldLayoutId id="2147483828" r:id="rId15"/>
    <p:sldLayoutId id="2147483853" r:id="rId16"/>
    <p:sldLayoutId id="2147483899" r:id="rId17"/>
    <p:sldLayoutId id="2147483832" r:id="rId18"/>
    <p:sldLayoutId id="2147483833" r:id="rId19"/>
    <p:sldLayoutId id="2147483836" r:id="rId20"/>
    <p:sldLayoutId id="2147483852" r:id="rId21"/>
    <p:sldLayoutId id="2147483900" r:id="rId22"/>
    <p:sldLayoutId id="2147483820" r:id="rId23"/>
    <p:sldLayoutId id="2147483842" r:id="rId24"/>
    <p:sldLayoutId id="2147483845" r:id="rId25"/>
    <p:sldLayoutId id="2147483851" r:id="rId26"/>
    <p:sldLayoutId id="2147483901" r:id="rId27"/>
    <p:sldLayoutId id="2147483650" r:id="rId28"/>
    <p:sldLayoutId id="2147483734" r:id="rId29"/>
    <p:sldLayoutId id="2147483796" r:id="rId30"/>
    <p:sldLayoutId id="2147483719" r:id="rId31"/>
    <p:sldLayoutId id="2147483721" r:id="rId32"/>
    <p:sldLayoutId id="2147483724" r:id="rId33"/>
    <p:sldLayoutId id="2147483797" r:id="rId34"/>
    <p:sldLayoutId id="2147483814" r:id="rId35"/>
    <p:sldLayoutId id="2147483904" r:id="rId36"/>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8"/>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8"/>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8"/>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8"/>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GB" dirty="0"/>
              <a:t> </a:t>
            </a:r>
            <a:br>
              <a:rPr lang="en-GB" dirty="0"/>
            </a:br>
            <a:r>
              <a:rPr lang="en-GB" dirty="0"/>
              <a:t>C# Basics – revision of Day 1</a:t>
            </a:r>
            <a:endParaRPr lang="en-US" dirty="0"/>
          </a:p>
        </p:txBody>
      </p:sp>
    </p:spTree>
    <p:extLst>
      <p:ext uri="{BB962C8B-B14F-4D97-AF65-F5344CB8AC3E}">
        <p14:creationId xmlns:p14="http://schemas.microsoft.com/office/powerpoint/2010/main" val="1003932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b="1" dirty="0"/>
              <a:t>namespaces </a:t>
            </a:r>
            <a:r>
              <a:rPr lang="en-US" dirty="0"/>
              <a:t>- </a:t>
            </a:r>
            <a:r>
              <a:rPr lang="en-US" sz="2400" b="1" dirty="0"/>
              <a:t>Used to group types and avoid naming conflicts</a:t>
            </a:r>
            <a:br>
              <a:rPr lang="en-US" b="1" dirty="0"/>
            </a:br>
            <a:r>
              <a:rPr lang="en-US" dirty="0"/>
              <a:t> </a:t>
            </a:r>
          </a:p>
        </p:txBody>
      </p:sp>
      <p:sp>
        <p:nvSpPr>
          <p:cNvPr id="7" name="Rectangle 4"/>
          <p:cNvSpPr>
            <a:spLocks noChangeArrowheads="1"/>
          </p:cNvSpPr>
          <p:nvPr/>
        </p:nvSpPr>
        <p:spPr bwMode="auto">
          <a:xfrm>
            <a:off x="890866" y="1475737"/>
            <a:ext cx="4557434" cy="1751762"/>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sz="1800" b="1" dirty="0">
                <a:solidFill>
                  <a:srgbClr val="0000FF"/>
                </a:solidFill>
                <a:latin typeface="Cascadia Mono" panose="020B0609020000020004" pitchFamily="49" charset="0"/>
              </a:rPr>
              <a:t>namespace</a:t>
            </a:r>
            <a:r>
              <a:rPr lang="en-US" dirty="0">
                <a:latin typeface="Lucida Console" pitchFamily="49" charset="0"/>
              </a:rPr>
              <a:t> </a:t>
            </a:r>
            <a:r>
              <a:rPr lang="en-US" b="1" dirty="0">
                <a:solidFill>
                  <a:srgbClr val="000000"/>
                </a:solidFill>
                <a:latin typeface="Lucida Console" pitchFamily="49" charset="0"/>
              </a:rPr>
              <a:t>QA.hr </a:t>
            </a:r>
            <a:r>
              <a:rPr lang="en-US" dirty="0">
                <a:solidFill>
                  <a:srgbClr val="000000"/>
                </a:solidFill>
                <a:latin typeface="Lucida Console" pitchFamily="49" charset="0"/>
              </a:rPr>
              <a:t>{</a:t>
            </a:r>
            <a:br>
              <a:rPr lang="en-US" dirty="0">
                <a:solidFill>
                  <a:srgbClr val="000000"/>
                </a:solidFill>
                <a:latin typeface="Lucida Console" pitchFamily="49" charset="0"/>
              </a:rPr>
            </a:br>
            <a:endParaRPr lang="en-US" dirty="0">
              <a:solidFill>
                <a:srgbClr val="000000"/>
              </a:solidFill>
              <a:latin typeface="Lucida Console" pitchFamily="49" charset="0"/>
            </a:endParaRPr>
          </a:p>
          <a:p>
            <a:pPr defTabSz="739775" eaLnBrk="0" hangingPunct="0">
              <a:defRPr/>
            </a:pPr>
            <a:r>
              <a:rPr lang="en-US" dirty="0">
                <a:solidFill>
                  <a:srgbClr val="0000FF"/>
                </a:solidFill>
                <a:latin typeface="Lucida Console" pitchFamily="49" charset="0"/>
              </a:rPr>
              <a:t>  public class</a:t>
            </a:r>
            <a:r>
              <a:rPr lang="en-US" dirty="0">
                <a:latin typeface="Lucida Console" pitchFamily="49" charset="0"/>
              </a:rPr>
              <a:t> </a:t>
            </a:r>
            <a:r>
              <a:rPr lang="en-US" dirty="0">
                <a:solidFill>
                  <a:srgbClr val="000000"/>
                </a:solidFill>
                <a:latin typeface="Lucida Console" pitchFamily="49" charset="0"/>
              </a:rPr>
              <a:t>Timetable {</a:t>
            </a:r>
          </a:p>
          <a:p>
            <a:pPr defTabSz="739775" eaLnBrk="0" hangingPunct="0">
              <a:defRPr/>
            </a:pPr>
            <a:r>
              <a:rPr lang="en-US" dirty="0">
                <a:solidFill>
                  <a:schemeClr val="accent6">
                    <a:lumMod val="50000"/>
                  </a:schemeClr>
                </a:solidFill>
                <a:latin typeface="Lucida Console" pitchFamily="49" charset="0"/>
              </a:rPr>
              <a:t> 	// code</a:t>
            </a:r>
            <a:endParaRPr lang="en-US" dirty="0">
              <a:solidFill>
                <a:srgbClr val="000000"/>
              </a:solidFill>
              <a:latin typeface="Lucida Console" pitchFamily="49" charset="0"/>
            </a:endParaRPr>
          </a:p>
          <a:p>
            <a:pPr defTabSz="739775" eaLnBrk="0" hangingPunct="0">
              <a:defRPr/>
            </a:pPr>
            <a:r>
              <a:rPr lang="en-US" dirty="0">
                <a:solidFill>
                  <a:srgbClr val="000000"/>
                </a:solidFill>
                <a:latin typeface="Lucida Console" pitchFamily="49" charset="0"/>
              </a:rPr>
              <a:t>  }</a:t>
            </a:r>
          </a:p>
          <a:p>
            <a:pPr defTabSz="739775" eaLnBrk="0" hangingPunct="0">
              <a:defRPr/>
            </a:pPr>
            <a:r>
              <a:rPr lang="en-US" dirty="0">
                <a:solidFill>
                  <a:srgbClr val="000000"/>
                </a:solidFill>
                <a:latin typeface="Lucida Console" pitchFamily="49" charset="0"/>
              </a:rPr>
              <a:t>}</a:t>
            </a:r>
            <a:endParaRPr lang="en-US" dirty="0">
              <a:solidFill>
                <a:srgbClr val="008000"/>
              </a:solidFill>
              <a:latin typeface="Lucida Console" pitchFamily="49" charset="0"/>
            </a:endParaRPr>
          </a:p>
        </p:txBody>
      </p:sp>
      <p:sp>
        <p:nvSpPr>
          <p:cNvPr id="8" name="Rectangle 4"/>
          <p:cNvSpPr>
            <a:spLocks noChangeArrowheads="1"/>
          </p:cNvSpPr>
          <p:nvPr/>
        </p:nvSpPr>
        <p:spPr bwMode="auto">
          <a:xfrm>
            <a:off x="5950413" y="1475737"/>
            <a:ext cx="4806487" cy="1751762"/>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sz="1800" b="1" dirty="0">
                <a:solidFill>
                  <a:srgbClr val="0000FF"/>
                </a:solidFill>
                <a:latin typeface="Cascadia Mono" panose="020B0609020000020004" pitchFamily="49" charset="0"/>
              </a:rPr>
              <a:t>namespace</a:t>
            </a:r>
            <a:r>
              <a:rPr lang="en-US" dirty="0">
                <a:latin typeface="Lucida Console" pitchFamily="49" charset="0"/>
              </a:rPr>
              <a:t> </a:t>
            </a:r>
            <a:r>
              <a:rPr lang="en-US" b="1" dirty="0" err="1">
                <a:solidFill>
                  <a:srgbClr val="000000"/>
                </a:solidFill>
                <a:latin typeface="Lucida Console" pitchFamily="49" charset="0"/>
              </a:rPr>
              <a:t>QA.apprentice</a:t>
            </a:r>
            <a:r>
              <a:rPr lang="en-US" b="1" dirty="0">
                <a:solidFill>
                  <a:srgbClr val="000000"/>
                </a:solidFill>
                <a:latin typeface="Lucida Console" pitchFamily="49" charset="0"/>
              </a:rPr>
              <a:t> </a:t>
            </a:r>
            <a:r>
              <a:rPr lang="en-US" dirty="0">
                <a:solidFill>
                  <a:srgbClr val="000000"/>
                </a:solidFill>
                <a:latin typeface="Lucida Console" pitchFamily="49" charset="0"/>
              </a:rPr>
              <a:t>{</a:t>
            </a:r>
            <a:br>
              <a:rPr lang="en-US" dirty="0">
                <a:solidFill>
                  <a:srgbClr val="000000"/>
                </a:solidFill>
                <a:latin typeface="Lucida Console" pitchFamily="49" charset="0"/>
              </a:rPr>
            </a:br>
            <a:endParaRPr lang="en-US" dirty="0">
              <a:solidFill>
                <a:srgbClr val="000000"/>
              </a:solidFill>
              <a:latin typeface="Lucida Console" pitchFamily="49" charset="0"/>
            </a:endParaRPr>
          </a:p>
          <a:p>
            <a:pPr defTabSz="739775" eaLnBrk="0" hangingPunct="0">
              <a:defRPr/>
            </a:pPr>
            <a:r>
              <a:rPr lang="en-US" dirty="0">
                <a:solidFill>
                  <a:srgbClr val="0000FF"/>
                </a:solidFill>
                <a:latin typeface="Lucida Console" pitchFamily="49" charset="0"/>
              </a:rPr>
              <a:t>  public class</a:t>
            </a:r>
            <a:r>
              <a:rPr lang="en-US" dirty="0">
                <a:latin typeface="Lucida Console" pitchFamily="49" charset="0"/>
              </a:rPr>
              <a:t> </a:t>
            </a:r>
            <a:r>
              <a:rPr lang="en-US" dirty="0">
                <a:solidFill>
                  <a:srgbClr val="000000"/>
                </a:solidFill>
                <a:latin typeface="Lucida Console" pitchFamily="49" charset="0"/>
              </a:rPr>
              <a:t>Timetable {</a:t>
            </a:r>
          </a:p>
          <a:p>
            <a:pPr defTabSz="739775" eaLnBrk="0" hangingPunct="0">
              <a:defRPr/>
            </a:pPr>
            <a:r>
              <a:rPr lang="en-US" dirty="0">
                <a:solidFill>
                  <a:schemeClr val="accent6">
                    <a:lumMod val="50000"/>
                  </a:schemeClr>
                </a:solidFill>
                <a:latin typeface="Lucida Console" pitchFamily="49" charset="0"/>
              </a:rPr>
              <a:t> 	// code</a:t>
            </a:r>
            <a:endParaRPr lang="en-US" dirty="0">
              <a:solidFill>
                <a:srgbClr val="000000"/>
              </a:solidFill>
              <a:latin typeface="Lucida Console" pitchFamily="49" charset="0"/>
            </a:endParaRPr>
          </a:p>
          <a:p>
            <a:pPr defTabSz="739775" eaLnBrk="0" hangingPunct="0">
              <a:defRPr/>
            </a:pPr>
            <a:r>
              <a:rPr lang="en-US" dirty="0">
                <a:solidFill>
                  <a:srgbClr val="000000"/>
                </a:solidFill>
                <a:latin typeface="Lucida Console" pitchFamily="49" charset="0"/>
              </a:rPr>
              <a:t>  }</a:t>
            </a:r>
          </a:p>
          <a:p>
            <a:pPr defTabSz="739775" eaLnBrk="0" hangingPunct="0">
              <a:defRPr/>
            </a:pPr>
            <a:r>
              <a:rPr lang="en-US" dirty="0">
                <a:solidFill>
                  <a:srgbClr val="000000"/>
                </a:solidFill>
                <a:latin typeface="Lucida Console" pitchFamily="49" charset="0"/>
              </a:rPr>
              <a:t>}</a:t>
            </a:r>
            <a:endParaRPr lang="en-US" dirty="0">
              <a:solidFill>
                <a:srgbClr val="008000"/>
              </a:solidFill>
              <a:latin typeface="Lucida Console" pitchFamily="49" charset="0"/>
            </a:endParaRPr>
          </a:p>
        </p:txBody>
      </p:sp>
      <p:sp>
        <p:nvSpPr>
          <p:cNvPr id="3" name="TextBox 2">
            <a:extLst>
              <a:ext uri="{FF2B5EF4-FFF2-40B4-BE49-F238E27FC236}">
                <a16:creationId xmlns:a16="http://schemas.microsoft.com/office/drawing/2014/main" id="{552EFF8C-D68A-EA79-3D3B-C7E2C3EFFD61}"/>
              </a:ext>
            </a:extLst>
          </p:cNvPr>
          <p:cNvSpPr txBox="1"/>
          <p:nvPr/>
        </p:nvSpPr>
        <p:spPr>
          <a:xfrm>
            <a:off x="890866" y="3428957"/>
            <a:ext cx="9866034" cy="2862322"/>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dirty="0">
                <a:solidFill>
                  <a:srgbClr val="0000FF"/>
                </a:solidFill>
                <a:latin typeface="Cascadia Mono" panose="020B0609020000020004" pitchFamily="49" charset="0"/>
              </a:rPr>
              <a:t>namespace</a:t>
            </a:r>
            <a:r>
              <a:rPr lang="en-GB" sz="1800" dirty="0">
                <a:solidFill>
                  <a:srgbClr val="000000"/>
                </a:solidFill>
                <a:latin typeface="Cascadia Mono" panose="020B0609020000020004" pitchFamily="49" charset="0"/>
              </a:rPr>
              <a:t> QA</a:t>
            </a:r>
          </a:p>
          <a:p>
            <a:r>
              <a:rPr lang="en-GB" sz="1800" dirty="0">
                <a:solidFill>
                  <a:srgbClr val="000000"/>
                </a:solidFill>
                <a:latin typeface="Cascadia Mono" panose="020B0609020000020004" pitchFamily="49" charset="0"/>
              </a:rPr>
              <a:t>{</a:t>
            </a:r>
          </a:p>
          <a:p>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public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class</a:t>
            </a:r>
            <a:r>
              <a:rPr lang="en-GB" sz="1800" dirty="0">
                <a:solidFill>
                  <a:srgbClr val="000000"/>
                </a:solidFill>
                <a:latin typeface="Cascadia Mono" panose="020B0609020000020004" pitchFamily="49" charset="0"/>
              </a:rPr>
              <a:t> </a:t>
            </a:r>
            <a:r>
              <a:rPr lang="en-GB" sz="1800" dirty="0">
                <a:solidFill>
                  <a:srgbClr val="2B91AF"/>
                </a:solidFill>
                <a:latin typeface="Cascadia Mono" panose="020B0609020000020004" pitchFamily="49" charset="0"/>
              </a:rPr>
              <a:t>Program</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static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void</a:t>
            </a:r>
            <a:r>
              <a:rPr lang="en-GB" sz="1800" dirty="0">
                <a:solidFill>
                  <a:srgbClr val="000000"/>
                </a:solidFill>
                <a:latin typeface="Cascadia Mono" panose="020B0609020000020004" pitchFamily="49" charset="0"/>
              </a:rPr>
              <a:t> Main(</a:t>
            </a:r>
            <a:r>
              <a:rPr lang="en-GB" sz="1800" dirty="0">
                <a:solidFill>
                  <a:srgbClr val="0000FF"/>
                </a:solidFill>
                <a:latin typeface="Cascadia Mono" panose="020B0609020000020004" pitchFamily="49" charset="0"/>
              </a:rPr>
              <a:t>string</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args</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QA.hr.Timesheet</a:t>
            </a:r>
            <a:r>
              <a:rPr lang="en-GB" sz="1800" dirty="0">
                <a:solidFill>
                  <a:srgbClr val="000000"/>
                </a:solidFill>
                <a:latin typeface="Cascadia Mono" panose="020B0609020000020004" pitchFamily="49" charset="0"/>
              </a:rPr>
              <a:t> t1 = </a:t>
            </a:r>
            <a:r>
              <a:rPr lang="en-GB" sz="1800" dirty="0">
                <a:solidFill>
                  <a:srgbClr val="0000FF"/>
                </a:solidFill>
                <a:latin typeface="Cascadia Mono" panose="020B0609020000020004" pitchFamily="49" charset="0"/>
              </a:rPr>
              <a:t>new</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QA.hr.Timesheet</a:t>
            </a:r>
            <a:r>
              <a:rPr lang="en-GB" sz="1800" dirty="0">
                <a:solidFill>
                  <a:srgbClr val="000000"/>
                </a:solidFill>
                <a:latin typeface="Cascadia Mono" panose="020B0609020000020004" pitchFamily="49" charset="0"/>
              </a:rPr>
              <a:t>();</a:t>
            </a:r>
          </a:p>
          <a:p>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QA.apprentice.Timesheet</a:t>
            </a:r>
            <a:r>
              <a:rPr lang="en-GB" sz="1800" dirty="0">
                <a:solidFill>
                  <a:srgbClr val="000000"/>
                </a:solidFill>
                <a:latin typeface="Cascadia Mono" panose="020B0609020000020004" pitchFamily="49" charset="0"/>
              </a:rPr>
              <a:t> t2 = </a:t>
            </a:r>
            <a:r>
              <a:rPr lang="en-GB" sz="1800" dirty="0">
                <a:solidFill>
                  <a:srgbClr val="0000FF"/>
                </a:solidFill>
                <a:latin typeface="Cascadia Mono" panose="020B0609020000020004" pitchFamily="49" charset="0"/>
              </a:rPr>
              <a:t>new</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QA.apprentice.Timesheet</a:t>
            </a:r>
            <a:r>
              <a:rPr lang="en-GB" sz="1800" dirty="0">
                <a:solidFill>
                  <a:srgbClr val="000000"/>
                </a:solidFill>
                <a:latin typeface="Cascadia Mono" panose="020B0609020000020004" pitchFamily="49" charset="0"/>
              </a:rPr>
              <a:t>();</a:t>
            </a:r>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a:t>
            </a:r>
            <a:endParaRPr lang="en-GB" dirty="0"/>
          </a:p>
        </p:txBody>
      </p:sp>
    </p:spTree>
    <p:extLst>
      <p:ext uri="{BB962C8B-B14F-4D97-AF65-F5344CB8AC3E}">
        <p14:creationId xmlns:p14="http://schemas.microsoft.com/office/powerpoint/2010/main" val="271451650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using statement</a:t>
            </a:r>
          </a:p>
        </p:txBody>
      </p:sp>
      <p:sp>
        <p:nvSpPr>
          <p:cNvPr id="3" name="Rectangle 3"/>
          <p:cNvSpPr txBox="1">
            <a:spLocks noChangeArrowheads="1"/>
          </p:cNvSpPr>
          <p:nvPr/>
        </p:nvSpPr>
        <p:spPr>
          <a:xfrm>
            <a:off x="1773239" y="780615"/>
            <a:ext cx="8709025" cy="5568950"/>
          </a:xfrm>
          <a:prstGeom prst="rect">
            <a:avLst/>
          </a:prstGeom>
        </p:spPr>
        <p:txBody>
          <a:bodyPr/>
          <a:lstStyle/>
          <a:p>
            <a:pPr marL="288925" indent="-288925" eaLnBrk="0" fontAlgn="base" hangingPunct="0">
              <a:lnSpc>
                <a:spcPct val="120000"/>
              </a:lnSpc>
              <a:spcBef>
                <a:spcPct val="60000"/>
              </a:spcBef>
              <a:spcAft>
                <a:spcPct val="0"/>
              </a:spcAft>
              <a:buClr>
                <a:schemeClr val="bg2"/>
              </a:buClr>
              <a:buFontTx/>
              <a:buChar char="•"/>
              <a:defRPr/>
            </a:pPr>
            <a:endParaRPr lang="en-US" sz="2400" b="1" kern="0" dirty="0">
              <a:solidFill>
                <a:srgbClr val="134183"/>
              </a:solidFill>
            </a:endParaRPr>
          </a:p>
        </p:txBody>
      </p:sp>
      <p:sp>
        <p:nvSpPr>
          <p:cNvPr id="4" name="TextBox 3">
            <a:extLst>
              <a:ext uri="{FF2B5EF4-FFF2-40B4-BE49-F238E27FC236}">
                <a16:creationId xmlns:a16="http://schemas.microsoft.com/office/drawing/2014/main" id="{E7A83753-8D2A-B7F7-A8F5-94B7B4FE213A}"/>
              </a:ext>
            </a:extLst>
          </p:cNvPr>
          <p:cNvSpPr txBox="1"/>
          <p:nvPr/>
        </p:nvSpPr>
        <p:spPr>
          <a:xfrm>
            <a:off x="616230" y="1756496"/>
            <a:ext cx="10496270" cy="4524315"/>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ascadia Mono" panose="020B0609020000020004" pitchFamily="49" charset="0"/>
              </a:rPr>
              <a:t>using</a:t>
            </a:r>
            <a:r>
              <a:rPr lang="en-GB" sz="1800" b="1" dirty="0">
                <a:solidFill>
                  <a:srgbClr val="000000"/>
                </a:solidFill>
                <a:latin typeface="Cascadia Mono" panose="020B0609020000020004" pitchFamily="49" charset="0"/>
              </a:rPr>
              <a:t> </a:t>
            </a:r>
            <a:r>
              <a:rPr lang="en-GB" sz="1800" b="1" dirty="0" err="1">
                <a:solidFill>
                  <a:srgbClr val="000000"/>
                </a:solidFill>
                <a:latin typeface="Cascadia Mono" panose="020B0609020000020004" pitchFamily="49" charset="0"/>
              </a:rPr>
              <a:t>QA.apprentice</a:t>
            </a:r>
            <a:r>
              <a:rPr lang="en-GB" sz="1800" b="1" dirty="0">
                <a:solidFill>
                  <a:srgbClr val="000000"/>
                </a:solidFill>
                <a:latin typeface="Cascadia Mono" panose="020B0609020000020004" pitchFamily="49" charset="0"/>
              </a:rPr>
              <a:t>;</a:t>
            </a:r>
          </a:p>
          <a:p>
            <a:endParaRPr lang="en-GB" sz="1800" dirty="0">
              <a:solidFill>
                <a:srgbClr val="0000FF"/>
              </a:solidFill>
              <a:latin typeface="Cascadia Mono" panose="020B0609020000020004" pitchFamily="49" charset="0"/>
            </a:endParaRPr>
          </a:p>
          <a:p>
            <a:r>
              <a:rPr lang="en-GB" sz="1800" dirty="0">
                <a:solidFill>
                  <a:srgbClr val="0000FF"/>
                </a:solidFill>
                <a:latin typeface="Cascadia Mono" panose="020B0609020000020004" pitchFamily="49" charset="0"/>
              </a:rPr>
              <a:t>namespace</a:t>
            </a:r>
            <a:r>
              <a:rPr lang="en-GB" sz="1800" dirty="0">
                <a:solidFill>
                  <a:srgbClr val="000000"/>
                </a:solidFill>
                <a:latin typeface="Cascadia Mono" panose="020B0609020000020004" pitchFamily="49" charset="0"/>
              </a:rPr>
              <a:t> QA</a:t>
            </a:r>
          </a:p>
          <a:p>
            <a:r>
              <a:rPr lang="en-GB" sz="1800" dirty="0">
                <a:solidFill>
                  <a:srgbClr val="000000"/>
                </a:solidFill>
                <a:latin typeface="Cascadia Mono" panose="020B0609020000020004" pitchFamily="49" charset="0"/>
              </a:rPr>
              <a:t>{</a:t>
            </a:r>
          </a:p>
          <a:p>
            <a:endParaRPr lang="en-GB" sz="1800" dirty="0">
              <a:solidFill>
                <a:srgbClr val="000000"/>
              </a:solidFill>
              <a:latin typeface="Cascadia Mono" panose="020B0609020000020004" pitchFamily="49" charset="0"/>
            </a:endParaRPr>
          </a:p>
          <a:p>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public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class</a:t>
            </a:r>
            <a:r>
              <a:rPr lang="en-GB" sz="1800" dirty="0">
                <a:solidFill>
                  <a:srgbClr val="000000"/>
                </a:solidFill>
                <a:latin typeface="Cascadia Mono" panose="020B0609020000020004" pitchFamily="49" charset="0"/>
              </a:rPr>
              <a:t> </a:t>
            </a:r>
            <a:r>
              <a:rPr lang="en-GB" sz="1800" dirty="0">
                <a:solidFill>
                  <a:srgbClr val="2B91AF"/>
                </a:solidFill>
                <a:latin typeface="Cascadia Mono" panose="020B0609020000020004" pitchFamily="49" charset="0"/>
              </a:rPr>
              <a:t>Program</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static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void</a:t>
            </a:r>
            <a:r>
              <a:rPr lang="en-GB" sz="1800" dirty="0">
                <a:solidFill>
                  <a:srgbClr val="000000"/>
                </a:solidFill>
                <a:latin typeface="Cascadia Mono" panose="020B0609020000020004" pitchFamily="49" charset="0"/>
              </a:rPr>
              <a:t> Main(</a:t>
            </a:r>
            <a:r>
              <a:rPr lang="en-GB" sz="1800" dirty="0">
                <a:solidFill>
                  <a:srgbClr val="0000FF"/>
                </a:solidFill>
                <a:latin typeface="Cascadia Mono" panose="020B0609020000020004" pitchFamily="49" charset="0"/>
              </a:rPr>
              <a:t>string</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args</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p>
          <a:p>
            <a:r>
              <a:rPr lang="en-GB" sz="1800" b="1" dirty="0">
                <a:solidFill>
                  <a:srgbClr val="000000"/>
                </a:solidFill>
                <a:latin typeface="Cascadia Mono" panose="020B0609020000020004" pitchFamily="49" charset="0"/>
              </a:rPr>
              <a:t>		Timesheet t1 = </a:t>
            </a:r>
            <a:r>
              <a:rPr lang="en-GB" sz="1800" b="1" dirty="0">
                <a:solidFill>
                  <a:srgbClr val="0000FF"/>
                </a:solidFill>
                <a:latin typeface="Cascadia Mono" panose="020B0609020000020004" pitchFamily="49" charset="0"/>
              </a:rPr>
              <a:t>new</a:t>
            </a:r>
            <a:r>
              <a:rPr lang="en-GB" sz="1800" b="1" dirty="0">
                <a:solidFill>
                  <a:srgbClr val="000000"/>
                </a:solidFill>
                <a:latin typeface="Cascadia Mono" panose="020B0609020000020004" pitchFamily="49" charset="0"/>
              </a:rPr>
              <a:t> Timesheet();</a:t>
            </a:r>
          </a:p>
          <a:p>
            <a:endParaRPr lang="en-GB" b="1" dirty="0">
              <a:solidFill>
                <a:srgbClr val="000000"/>
              </a:solidFill>
              <a:latin typeface="Cascadia Mono" panose="020B0609020000020004" pitchFamily="49" charset="0"/>
            </a:endParaRPr>
          </a:p>
          <a:p>
            <a:endParaRPr lang="en-GB" sz="1800" b="1" dirty="0">
              <a:solidFill>
                <a:srgbClr val="000000"/>
              </a:solidFill>
              <a:latin typeface="Cascadia Mono" panose="020B0609020000020004" pitchFamily="49" charset="0"/>
            </a:endParaRPr>
          </a:p>
          <a:p>
            <a:r>
              <a:rPr lang="en-GB" sz="1800" dirty="0">
                <a:solidFill>
                  <a:srgbClr val="000000"/>
                </a:solidFill>
                <a:latin typeface="Cascadia Mono" panose="020B0609020000020004" pitchFamily="49" charset="0"/>
              </a:rPr>
              <a:t>		</a:t>
            </a:r>
            <a:r>
              <a:rPr lang="en-GB" b="1" dirty="0" err="1">
                <a:solidFill>
                  <a:srgbClr val="0000FF"/>
                </a:solidFill>
                <a:latin typeface="Cascadia Mono" panose="020B0609020000020004" pitchFamily="49" charset="0"/>
              </a:rPr>
              <a:t>QA</a:t>
            </a:r>
            <a:r>
              <a:rPr lang="en-GB" sz="1800" b="1" dirty="0" err="1">
                <a:solidFill>
                  <a:srgbClr val="0070C0"/>
                </a:solidFill>
                <a:latin typeface="Cascadia Mono" panose="020B0609020000020004" pitchFamily="49" charset="0"/>
              </a:rPr>
              <a:t>.</a:t>
            </a:r>
            <a:r>
              <a:rPr lang="en-GB" b="1" dirty="0" err="1">
                <a:solidFill>
                  <a:srgbClr val="0000FF"/>
                </a:solidFill>
                <a:latin typeface="Cascadia Mono" panose="020B0609020000020004" pitchFamily="49" charset="0"/>
              </a:rPr>
              <a:t>hr</a:t>
            </a:r>
            <a:r>
              <a:rPr lang="en-GB" sz="1800" dirty="0" err="1">
                <a:solidFill>
                  <a:srgbClr val="000000"/>
                </a:solidFill>
                <a:latin typeface="Cascadia Mono" panose="020B0609020000020004" pitchFamily="49" charset="0"/>
              </a:rPr>
              <a:t>.Timesheet</a:t>
            </a:r>
            <a:r>
              <a:rPr lang="en-GB" sz="1800" dirty="0">
                <a:solidFill>
                  <a:srgbClr val="000000"/>
                </a:solidFill>
                <a:latin typeface="Cascadia Mono" panose="020B0609020000020004" pitchFamily="49" charset="0"/>
              </a:rPr>
              <a:t> </a:t>
            </a:r>
            <a:r>
              <a:rPr lang="en-GB" sz="1800" b="1" dirty="0">
                <a:solidFill>
                  <a:srgbClr val="000000"/>
                </a:solidFill>
                <a:latin typeface="Cascadia Mono" panose="020B0609020000020004" pitchFamily="49" charset="0"/>
              </a:rPr>
              <a:t>t2</a:t>
            </a:r>
            <a:r>
              <a:rPr lang="en-GB" sz="1800" dirty="0">
                <a:solidFill>
                  <a:srgbClr val="000000"/>
                </a:solidFill>
                <a:latin typeface="Cascadia Mono" panose="020B0609020000020004" pitchFamily="49" charset="0"/>
              </a:rPr>
              <a:t> = </a:t>
            </a:r>
            <a:r>
              <a:rPr lang="en-GB" sz="1800" dirty="0">
                <a:solidFill>
                  <a:srgbClr val="0000FF"/>
                </a:solidFill>
                <a:latin typeface="Cascadia Mono" panose="020B0609020000020004" pitchFamily="49" charset="0"/>
              </a:rPr>
              <a:t>new</a:t>
            </a:r>
            <a:r>
              <a:rPr lang="en-GB" sz="1800" dirty="0">
                <a:solidFill>
                  <a:srgbClr val="000000"/>
                </a:solidFill>
                <a:latin typeface="Cascadia Mono" panose="020B0609020000020004" pitchFamily="49" charset="0"/>
              </a:rPr>
              <a:t> </a:t>
            </a:r>
            <a:r>
              <a:rPr lang="en-GB" b="1" dirty="0" err="1">
                <a:solidFill>
                  <a:srgbClr val="0000FF"/>
                </a:solidFill>
                <a:latin typeface="Cascadia Mono" panose="020B0609020000020004" pitchFamily="49" charset="0"/>
              </a:rPr>
              <a:t>QA</a:t>
            </a:r>
            <a:r>
              <a:rPr lang="en-GB" sz="1800" b="1" dirty="0" err="1">
                <a:solidFill>
                  <a:srgbClr val="0070C0"/>
                </a:solidFill>
                <a:latin typeface="Cascadia Mono" panose="020B0609020000020004" pitchFamily="49" charset="0"/>
              </a:rPr>
              <a:t>.</a:t>
            </a:r>
            <a:r>
              <a:rPr lang="en-GB" b="1" dirty="0" err="1">
                <a:solidFill>
                  <a:srgbClr val="0000FF"/>
                </a:solidFill>
                <a:latin typeface="Cascadia Mono" panose="020B0609020000020004" pitchFamily="49" charset="0"/>
              </a:rPr>
              <a:t>hr</a:t>
            </a:r>
            <a:r>
              <a:rPr lang="en-GB" sz="1800" dirty="0" err="1">
                <a:solidFill>
                  <a:srgbClr val="000000"/>
                </a:solidFill>
                <a:latin typeface="Cascadia Mono" panose="020B0609020000020004" pitchFamily="49" charset="0"/>
              </a:rPr>
              <a:t>.Timesheet</a:t>
            </a:r>
            <a:r>
              <a:rPr lang="en-GB" sz="1800" dirty="0">
                <a:solidFill>
                  <a:srgbClr val="000000"/>
                </a:solidFill>
                <a:latin typeface="Cascadia Mono" panose="020B0609020000020004" pitchFamily="49" charset="0"/>
              </a:rPr>
              <a:t>();</a:t>
            </a:r>
            <a:endParaRPr lang="en-GB" dirty="0"/>
          </a:p>
          <a:p>
            <a:endParaRPr lang="en-GB" sz="1800" b="1" dirty="0">
              <a:solidFill>
                <a:srgbClr val="000000"/>
              </a:solidFill>
              <a:latin typeface="Cascadia Mono" panose="020B0609020000020004" pitchFamily="49" charset="0"/>
            </a:endParaRPr>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a:t>
            </a:r>
            <a:endParaRPr lang="en-GB" dirty="0"/>
          </a:p>
        </p:txBody>
      </p:sp>
      <p:sp>
        <p:nvSpPr>
          <p:cNvPr id="5" name="Speech Bubble: Rectangle with Corners Rounded 4">
            <a:extLst>
              <a:ext uri="{FF2B5EF4-FFF2-40B4-BE49-F238E27FC236}">
                <a16:creationId xmlns:a16="http://schemas.microsoft.com/office/drawing/2014/main" id="{28641BFD-4CCC-2A81-4A76-76732FB29091}"/>
              </a:ext>
            </a:extLst>
          </p:cNvPr>
          <p:cNvSpPr/>
          <p:nvPr/>
        </p:nvSpPr>
        <p:spPr>
          <a:xfrm>
            <a:off x="7099300" y="3937000"/>
            <a:ext cx="3332164" cy="482600"/>
          </a:xfrm>
          <a:prstGeom prst="wedgeRoundRectCallout">
            <a:avLst>
              <a:gd name="adj1" fmla="val -55409"/>
              <a:gd name="adj2" fmla="val -11085"/>
              <a:gd name="adj3" fmla="val 16667"/>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GB" sz="1600" dirty="0" err="1">
                <a:solidFill>
                  <a:srgbClr val="0000FF"/>
                </a:solidFill>
                <a:latin typeface="Cascadia Mono" panose="020B0609020000020004" pitchFamily="49" charset="0"/>
              </a:rPr>
              <a:t>QA</a:t>
            </a:r>
            <a:r>
              <a:rPr lang="en-GB" sz="1600" dirty="0" err="1">
                <a:solidFill>
                  <a:srgbClr val="000000"/>
                </a:solidFill>
                <a:latin typeface="Cascadia Mono" panose="020B0609020000020004" pitchFamily="49" charset="0"/>
              </a:rPr>
              <a:t>.</a:t>
            </a:r>
            <a:r>
              <a:rPr lang="en-GB" sz="1600" dirty="0" err="1">
                <a:solidFill>
                  <a:srgbClr val="0000FF"/>
                </a:solidFill>
                <a:latin typeface="Cascadia Mono" panose="020B0609020000020004" pitchFamily="49" charset="0"/>
              </a:rPr>
              <a:t>apprentice</a:t>
            </a:r>
            <a:r>
              <a:rPr lang="en-GB" sz="1600" dirty="0" err="1">
                <a:solidFill>
                  <a:srgbClr val="000000"/>
                </a:solidFill>
                <a:latin typeface="Cascadia Mono" panose="020B0609020000020004" pitchFamily="49" charset="0"/>
              </a:rPr>
              <a:t>.Timesheet</a:t>
            </a:r>
            <a:endParaRPr lang="en-GB" sz="1600" dirty="0"/>
          </a:p>
        </p:txBody>
      </p:sp>
    </p:spTree>
    <p:extLst>
      <p:ext uri="{BB962C8B-B14F-4D97-AF65-F5344CB8AC3E}">
        <p14:creationId xmlns:p14="http://schemas.microsoft.com/office/powerpoint/2010/main" val="40340510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using statement in .NET 6</a:t>
            </a:r>
          </a:p>
        </p:txBody>
      </p:sp>
      <p:sp>
        <p:nvSpPr>
          <p:cNvPr id="4" name="TextBox 3">
            <a:extLst>
              <a:ext uri="{FF2B5EF4-FFF2-40B4-BE49-F238E27FC236}">
                <a16:creationId xmlns:a16="http://schemas.microsoft.com/office/drawing/2014/main" id="{E7A83753-8D2A-B7F7-A8F5-94B7B4FE213A}"/>
              </a:ext>
            </a:extLst>
          </p:cNvPr>
          <p:cNvSpPr txBox="1"/>
          <p:nvPr/>
        </p:nvSpPr>
        <p:spPr>
          <a:xfrm>
            <a:off x="616230" y="1756496"/>
            <a:ext cx="10496270" cy="4247317"/>
          </a:xfrm>
          <a:prstGeom prst="rect">
            <a:avLst/>
          </a:prstGeom>
          <a:solidFill>
            <a:schemeClr val="accent5">
              <a:lumMod val="20000"/>
              <a:lumOff val="80000"/>
            </a:schemeClr>
          </a:solidFill>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ascadia Mono" panose="020B0609020000020004" pitchFamily="49" charset="0"/>
              </a:rPr>
              <a:t>using</a:t>
            </a:r>
            <a:r>
              <a:rPr lang="en-GB" sz="1800" b="1" dirty="0">
                <a:solidFill>
                  <a:srgbClr val="000000"/>
                </a:solidFill>
                <a:latin typeface="Cascadia Mono" panose="020B0609020000020004" pitchFamily="49" charset="0"/>
              </a:rPr>
              <a:t> </a:t>
            </a:r>
            <a:r>
              <a:rPr lang="en-GB" sz="1800" b="1" dirty="0" err="1">
                <a:solidFill>
                  <a:srgbClr val="000000"/>
                </a:solidFill>
                <a:latin typeface="Cascadia Mono" panose="020B0609020000020004" pitchFamily="49" charset="0"/>
              </a:rPr>
              <a:t>QA.apprentice</a:t>
            </a:r>
            <a:r>
              <a:rPr lang="en-GB" sz="1800" b="1" dirty="0">
                <a:solidFill>
                  <a:srgbClr val="000000"/>
                </a:solidFill>
                <a:latin typeface="Cascadia Mono" panose="020B0609020000020004" pitchFamily="49" charset="0"/>
              </a:rPr>
              <a:t>;</a:t>
            </a:r>
          </a:p>
          <a:p>
            <a:endParaRPr lang="en-GB" sz="1800" dirty="0">
              <a:solidFill>
                <a:srgbClr val="0000FF"/>
              </a:solidFill>
              <a:latin typeface="Cascadia Mono" panose="020B0609020000020004" pitchFamily="49" charset="0"/>
            </a:endParaRPr>
          </a:p>
          <a:p>
            <a:r>
              <a:rPr lang="en-GB" sz="1800" dirty="0">
                <a:solidFill>
                  <a:srgbClr val="0000FF"/>
                </a:solidFill>
                <a:latin typeface="Cascadia Mono" panose="020B0609020000020004" pitchFamily="49" charset="0"/>
              </a:rPr>
              <a:t>namespace</a:t>
            </a:r>
            <a:r>
              <a:rPr lang="en-GB" sz="1800" dirty="0">
                <a:solidFill>
                  <a:srgbClr val="000000"/>
                </a:solidFill>
                <a:latin typeface="Cascadia Mono" panose="020B0609020000020004" pitchFamily="49" charset="0"/>
              </a:rPr>
              <a:t> QA;</a:t>
            </a:r>
          </a:p>
          <a:p>
            <a:endParaRPr lang="en-GB" sz="1800" dirty="0">
              <a:solidFill>
                <a:srgbClr val="000000"/>
              </a:solidFill>
              <a:latin typeface="Cascadia Mono" panose="020B0609020000020004" pitchFamily="49" charset="0"/>
            </a:endParaRPr>
          </a:p>
          <a:p>
            <a:r>
              <a:rPr lang="en-GB" sz="1800" dirty="0">
                <a:solidFill>
                  <a:srgbClr val="0000FF"/>
                </a:solidFill>
                <a:latin typeface="Cascadia Mono" panose="020B0609020000020004" pitchFamily="49" charset="0"/>
              </a:rPr>
              <a:t>public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class</a:t>
            </a:r>
            <a:r>
              <a:rPr lang="en-GB" sz="1800" dirty="0">
                <a:solidFill>
                  <a:srgbClr val="000000"/>
                </a:solidFill>
                <a:latin typeface="Cascadia Mono" panose="020B0609020000020004" pitchFamily="49" charset="0"/>
              </a:rPr>
              <a:t> </a:t>
            </a:r>
            <a:r>
              <a:rPr lang="en-GB" sz="1800" dirty="0">
                <a:solidFill>
                  <a:srgbClr val="2B91AF"/>
                </a:solidFill>
                <a:latin typeface="Cascadia Mono" panose="020B0609020000020004" pitchFamily="49" charset="0"/>
              </a:rPr>
              <a:t>Program</a:t>
            </a:r>
            <a:r>
              <a:rPr lang="en-GB" sz="1800" dirty="0">
                <a:solidFill>
                  <a:srgbClr val="000000"/>
                </a:solidFill>
                <a:latin typeface="Cascadia Mono" panose="020B0609020000020004" pitchFamily="49" charset="0"/>
              </a:rPr>
              <a:t> {</a:t>
            </a:r>
          </a:p>
          <a:p>
            <a:endParaRPr lang="en-GB" sz="1800" dirty="0">
              <a:solidFill>
                <a:srgbClr val="000000"/>
              </a:solidFill>
              <a:latin typeface="Cascadia Mono" panose="020B0609020000020004" pitchFamily="49" charset="0"/>
            </a:endParaRPr>
          </a:p>
          <a:p>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static</a:t>
            </a:r>
            <a:r>
              <a:rPr lang="en-GB" sz="1800" dirty="0">
                <a:solidFill>
                  <a:srgbClr val="000000"/>
                </a:solidFill>
                <a:latin typeface="Cascadia Mono" panose="020B0609020000020004" pitchFamily="49" charset="0"/>
              </a:rPr>
              <a:t> </a:t>
            </a:r>
            <a:r>
              <a:rPr lang="en-GB" sz="1800" dirty="0">
                <a:solidFill>
                  <a:srgbClr val="0000FF"/>
                </a:solidFill>
                <a:latin typeface="Cascadia Mono" panose="020B0609020000020004" pitchFamily="49" charset="0"/>
              </a:rPr>
              <a:t>void</a:t>
            </a:r>
            <a:r>
              <a:rPr lang="en-GB" sz="1800" dirty="0">
                <a:solidFill>
                  <a:srgbClr val="000000"/>
                </a:solidFill>
                <a:latin typeface="Cascadia Mono" panose="020B0609020000020004" pitchFamily="49" charset="0"/>
              </a:rPr>
              <a:t> Main(</a:t>
            </a:r>
            <a:r>
              <a:rPr lang="en-GB" sz="1800" dirty="0">
                <a:solidFill>
                  <a:srgbClr val="0000FF"/>
                </a:solidFill>
                <a:latin typeface="Cascadia Mono" panose="020B0609020000020004" pitchFamily="49" charset="0"/>
              </a:rPr>
              <a:t>string</a:t>
            </a:r>
            <a:r>
              <a:rPr lang="en-GB" sz="1800" dirty="0">
                <a:solidFill>
                  <a:srgbClr val="000000"/>
                </a:solidFill>
                <a:latin typeface="Cascadia Mono" panose="020B0609020000020004" pitchFamily="49" charset="0"/>
              </a:rPr>
              <a:t>[] </a:t>
            </a:r>
            <a:r>
              <a:rPr lang="en-GB" sz="1800" dirty="0" err="1">
                <a:solidFill>
                  <a:srgbClr val="000000"/>
                </a:solidFill>
                <a:latin typeface="Cascadia Mono" panose="020B0609020000020004" pitchFamily="49" charset="0"/>
              </a:rPr>
              <a:t>args</a:t>
            </a:r>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       {</a:t>
            </a:r>
          </a:p>
          <a:p>
            <a:r>
              <a:rPr lang="en-GB" sz="1800" b="1" dirty="0">
                <a:solidFill>
                  <a:srgbClr val="000000"/>
                </a:solidFill>
                <a:latin typeface="Cascadia Mono" panose="020B0609020000020004" pitchFamily="49" charset="0"/>
              </a:rPr>
              <a:t>		Timesheet t1 = </a:t>
            </a:r>
            <a:r>
              <a:rPr lang="en-GB" sz="1800" b="1" dirty="0">
                <a:solidFill>
                  <a:srgbClr val="0000FF"/>
                </a:solidFill>
                <a:latin typeface="Cascadia Mono" panose="020B0609020000020004" pitchFamily="49" charset="0"/>
              </a:rPr>
              <a:t>new</a:t>
            </a:r>
            <a:r>
              <a:rPr lang="en-GB" sz="1800" b="1" dirty="0">
                <a:solidFill>
                  <a:srgbClr val="000000"/>
                </a:solidFill>
                <a:latin typeface="Cascadia Mono" panose="020B0609020000020004" pitchFamily="49" charset="0"/>
              </a:rPr>
              <a:t> Timesheet();</a:t>
            </a:r>
          </a:p>
          <a:p>
            <a:endParaRPr lang="en-GB" b="1" dirty="0">
              <a:solidFill>
                <a:srgbClr val="000000"/>
              </a:solidFill>
              <a:latin typeface="Cascadia Mono" panose="020B0609020000020004" pitchFamily="49" charset="0"/>
            </a:endParaRPr>
          </a:p>
          <a:p>
            <a:endParaRPr lang="en-GB" sz="1800" b="1" dirty="0">
              <a:solidFill>
                <a:srgbClr val="000000"/>
              </a:solidFill>
              <a:latin typeface="Cascadia Mono" panose="020B0609020000020004" pitchFamily="49" charset="0"/>
            </a:endParaRPr>
          </a:p>
          <a:p>
            <a:r>
              <a:rPr lang="en-GB" sz="1800" dirty="0">
                <a:solidFill>
                  <a:srgbClr val="000000"/>
                </a:solidFill>
                <a:latin typeface="Cascadia Mono" panose="020B0609020000020004" pitchFamily="49" charset="0"/>
              </a:rPr>
              <a:t>		</a:t>
            </a:r>
            <a:r>
              <a:rPr lang="en-GB" b="1" dirty="0" err="1">
                <a:solidFill>
                  <a:srgbClr val="0000FF"/>
                </a:solidFill>
                <a:latin typeface="Cascadia Mono" panose="020B0609020000020004" pitchFamily="49" charset="0"/>
              </a:rPr>
              <a:t>QA</a:t>
            </a:r>
            <a:r>
              <a:rPr lang="en-GB" sz="1800" b="1" dirty="0" err="1">
                <a:solidFill>
                  <a:srgbClr val="0070C0"/>
                </a:solidFill>
                <a:latin typeface="Cascadia Mono" panose="020B0609020000020004" pitchFamily="49" charset="0"/>
              </a:rPr>
              <a:t>.</a:t>
            </a:r>
            <a:r>
              <a:rPr lang="en-GB" b="1" dirty="0" err="1">
                <a:solidFill>
                  <a:srgbClr val="0000FF"/>
                </a:solidFill>
                <a:latin typeface="Cascadia Mono" panose="020B0609020000020004" pitchFamily="49" charset="0"/>
              </a:rPr>
              <a:t>hr</a:t>
            </a:r>
            <a:r>
              <a:rPr lang="en-GB" sz="1800" dirty="0" err="1">
                <a:solidFill>
                  <a:srgbClr val="000000"/>
                </a:solidFill>
                <a:latin typeface="Cascadia Mono" panose="020B0609020000020004" pitchFamily="49" charset="0"/>
              </a:rPr>
              <a:t>.Timesheet</a:t>
            </a:r>
            <a:r>
              <a:rPr lang="en-GB" sz="1800" dirty="0">
                <a:solidFill>
                  <a:srgbClr val="000000"/>
                </a:solidFill>
                <a:latin typeface="Cascadia Mono" panose="020B0609020000020004" pitchFamily="49" charset="0"/>
              </a:rPr>
              <a:t> </a:t>
            </a:r>
            <a:r>
              <a:rPr lang="en-GB" sz="1800" b="1" dirty="0">
                <a:solidFill>
                  <a:srgbClr val="000000"/>
                </a:solidFill>
                <a:latin typeface="Cascadia Mono" panose="020B0609020000020004" pitchFamily="49" charset="0"/>
              </a:rPr>
              <a:t>t2</a:t>
            </a:r>
            <a:r>
              <a:rPr lang="en-GB" sz="1800" dirty="0">
                <a:solidFill>
                  <a:srgbClr val="000000"/>
                </a:solidFill>
                <a:latin typeface="Cascadia Mono" panose="020B0609020000020004" pitchFamily="49" charset="0"/>
              </a:rPr>
              <a:t> = </a:t>
            </a:r>
            <a:r>
              <a:rPr lang="en-GB" sz="1800" dirty="0">
                <a:solidFill>
                  <a:srgbClr val="0000FF"/>
                </a:solidFill>
                <a:latin typeface="Cascadia Mono" panose="020B0609020000020004" pitchFamily="49" charset="0"/>
              </a:rPr>
              <a:t>new</a:t>
            </a:r>
            <a:r>
              <a:rPr lang="en-GB" sz="1800" dirty="0">
                <a:solidFill>
                  <a:srgbClr val="000000"/>
                </a:solidFill>
                <a:latin typeface="Cascadia Mono" panose="020B0609020000020004" pitchFamily="49" charset="0"/>
              </a:rPr>
              <a:t> </a:t>
            </a:r>
            <a:r>
              <a:rPr lang="en-GB" b="1" dirty="0" err="1">
                <a:solidFill>
                  <a:srgbClr val="0000FF"/>
                </a:solidFill>
                <a:latin typeface="Cascadia Mono" panose="020B0609020000020004" pitchFamily="49" charset="0"/>
              </a:rPr>
              <a:t>QA</a:t>
            </a:r>
            <a:r>
              <a:rPr lang="en-GB" sz="1800" b="1" dirty="0" err="1">
                <a:solidFill>
                  <a:srgbClr val="0070C0"/>
                </a:solidFill>
                <a:latin typeface="Cascadia Mono" panose="020B0609020000020004" pitchFamily="49" charset="0"/>
              </a:rPr>
              <a:t>.</a:t>
            </a:r>
            <a:r>
              <a:rPr lang="en-GB" b="1" dirty="0" err="1">
                <a:solidFill>
                  <a:srgbClr val="0000FF"/>
                </a:solidFill>
                <a:latin typeface="Cascadia Mono" panose="020B0609020000020004" pitchFamily="49" charset="0"/>
              </a:rPr>
              <a:t>hr</a:t>
            </a:r>
            <a:r>
              <a:rPr lang="en-GB" sz="1800" dirty="0" err="1">
                <a:solidFill>
                  <a:srgbClr val="000000"/>
                </a:solidFill>
                <a:latin typeface="Cascadia Mono" panose="020B0609020000020004" pitchFamily="49" charset="0"/>
              </a:rPr>
              <a:t>.Timesheet</a:t>
            </a:r>
            <a:r>
              <a:rPr lang="en-GB" sz="1800" dirty="0">
                <a:solidFill>
                  <a:srgbClr val="000000"/>
                </a:solidFill>
                <a:latin typeface="Cascadia Mono" panose="020B0609020000020004" pitchFamily="49" charset="0"/>
              </a:rPr>
              <a:t>();</a:t>
            </a:r>
            <a:endParaRPr lang="en-GB" dirty="0"/>
          </a:p>
          <a:p>
            <a:r>
              <a:rPr lang="en-GB" sz="1800" dirty="0">
                <a:solidFill>
                  <a:srgbClr val="000000"/>
                </a:solidFill>
                <a:latin typeface="Cascadia Mono" panose="020B0609020000020004" pitchFamily="49" charset="0"/>
              </a:rPr>
              <a:t>	 }</a:t>
            </a:r>
          </a:p>
          <a:p>
            <a:r>
              <a:rPr lang="en-GB" sz="1800" dirty="0">
                <a:solidFill>
                  <a:srgbClr val="000000"/>
                </a:solidFill>
                <a:latin typeface="Cascadia Mono" panose="020B0609020000020004" pitchFamily="49" charset="0"/>
              </a:rPr>
              <a:t>}</a:t>
            </a:r>
          </a:p>
          <a:p>
            <a:endParaRPr lang="en-GB" dirty="0"/>
          </a:p>
        </p:txBody>
      </p:sp>
      <p:sp>
        <p:nvSpPr>
          <p:cNvPr id="5" name="Speech Bubble: Rectangle with Corners Rounded 4">
            <a:extLst>
              <a:ext uri="{FF2B5EF4-FFF2-40B4-BE49-F238E27FC236}">
                <a16:creationId xmlns:a16="http://schemas.microsoft.com/office/drawing/2014/main" id="{28641BFD-4CCC-2A81-4A76-76732FB29091}"/>
              </a:ext>
            </a:extLst>
          </p:cNvPr>
          <p:cNvSpPr/>
          <p:nvPr/>
        </p:nvSpPr>
        <p:spPr>
          <a:xfrm>
            <a:off x="6972300" y="3924300"/>
            <a:ext cx="3332164" cy="508000"/>
          </a:xfrm>
          <a:prstGeom prst="wedgeRoundRectCallout">
            <a:avLst>
              <a:gd name="adj1" fmla="val -55409"/>
              <a:gd name="adj2" fmla="val -11085"/>
              <a:gd name="adj3" fmla="val 16667"/>
            </a:avLst>
          </a:prstGeom>
          <a:ln/>
          <a:effectLst>
            <a:innerShdw blurRad="63500" dist="50800" dir="13500000">
              <a:prstClr val="black">
                <a:alpha val="50000"/>
              </a:prstClr>
            </a:innerShdw>
          </a:effectLst>
        </p:spPr>
        <p:style>
          <a:lnRef idx="2">
            <a:schemeClr val="dk1"/>
          </a:lnRef>
          <a:fillRef idx="1">
            <a:schemeClr val="lt1"/>
          </a:fillRef>
          <a:effectRef idx="0">
            <a:schemeClr val="dk1"/>
          </a:effectRef>
          <a:fontRef idx="minor">
            <a:schemeClr val="dk1"/>
          </a:fontRef>
        </p:style>
        <p:txBody>
          <a:bodyPr rtlCol="0" anchor="ctr"/>
          <a:lstStyle/>
          <a:p>
            <a:pPr algn="ctr"/>
            <a:r>
              <a:rPr lang="en-GB" sz="1600" dirty="0" err="1">
                <a:solidFill>
                  <a:srgbClr val="0000FF"/>
                </a:solidFill>
                <a:latin typeface="Cascadia Mono" panose="020B0609020000020004" pitchFamily="49" charset="0"/>
              </a:rPr>
              <a:t>QA</a:t>
            </a:r>
            <a:r>
              <a:rPr lang="en-GB" sz="1600" dirty="0" err="1">
                <a:solidFill>
                  <a:srgbClr val="000000"/>
                </a:solidFill>
                <a:latin typeface="Cascadia Mono" panose="020B0609020000020004" pitchFamily="49" charset="0"/>
              </a:rPr>
              <a:t>.</a:t>
            </a:r>
            <a:r>
              <a:rPr lang="en-GB" sz="1600" dirty="0" err="1">
                <a:solidFill>
                  <a:srgbClr val="0000FF"/>
                </a:solidFill>
                <a:latin typeface="Cascadia Mono" panose="020B0609020000020004" pitchFamily="49" charset="0"/>
              </a:rPr>
              <a:t>apprentice</a:t>
            </a:r>
            <a:r>
              <a:rPr lang="en-GB" sz="1600" dirty="0" err="1">
                <a:solidFill>
                  <a:srgbClr val="000000"/>
                </a:solidFill>
                <a:latin typeface="Cascadia Mono" panose="020B0609020000020004" pitchFamily="49" charset="0"/>
              </a:rPr>
              <a:t>.Timesheet</a:t>
            </a:r>
            <a:endParaRPr lang="en-GB" sz="1600" dirty="0"/>
          </a:p>
        </p:txBody>
      </p:sp>
    </p:spTree>
    <p:extLst>
      <p:ext uri="{BB962C8B-B14F-4D97-AF65-F5344CB8AC3E}">
        <p14:creationId xmlns:p14="http://schemas.microsoft.com/office/powerpoint/2010/main" val="873547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GB" dirty="0"/>
              <a:t>Variables</a:t>
            </a:r>
          </a:p>
        </p:txBody>
      </p:sp>
      <p:sp>
        <p:nvSpPr>
          <p:cNvPr id="8195" name="Rectangle 3"/>
          <p:cNvSpPr>
            <a:spLocks noGrp="1" noChangeArrowheads="1"/>
          </p:cNvSpPr>
          <p:nvPr>
            <p:ph idx="1"/>
          </p:nvPr>
        </p:nvSpPr>
        <p:spPr>
          <a:xfrm>
            <a:off x="912434" y="1465729"/>
            <a:ext cx="10006577" cy="4948517"/>
          </a:xfrm>
          <a:ln>
            <a:solidFill>
              <a:schemeClr val="bg1">
                <a:lumMod val="95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vert="horz" lIns="0" tIns="0" rIns="0" bIns="0" rtlCol="0" anchor="t" anchorCtr="0">
            <a:noAutofit/>
          </a:bodyPr>
          <a:lstStyle/>
          <a:p>
            <a:pPr marL="0" lvl="1" indent="0">
              <a:buSzPct val="115000"/>
              <a:buNone/>
            </a:pPr>
            <a:r>
              <a:rPr lang="en-GB" dirty="0">
                <a:solidFill>
                  <a:srgbClr val="0000FF"/>
                </a:solidFill>
                <a:effectLst/>
                <a:latin typeface="Cascadia Mono" panose="020B0609020000020004" pitchFamily="49" charset="0"/>
              </a:rPr>
              <a:t>  static</a:t>
            </a:r>
            <a:r>
              <a:rPr lang="en-GB" dirty="0">
                <a:solidFill>
                  <a:srgbClr val="000000"/>
                </a:solidFill>
                <a:effectLst/>
                <a:latin typeface="Cascadia Mono" panose="020B0609020000020004" pitchFamily="49" charset="0"/>
              </a:rPr>
              <a:t> </a:t>
            </a:r>
            <a:r>
              <a:rPr lang="en-GB" dirty="0">
                <a:solidFill>
                  <a:srgbClr val="0000FF"/>
                </a:solidFill>
                <a:effectLst/>
                <a:latin typeface="Cascadia Mono" panose="020B0609020000020004" pitchFamily="49" charset="0"/>
              </a:rPr>
              <a:t>void</a:t>
            </a:r>
            <a:r>
              <a:rPr lang="en-GB" dirty="0">
                <a:solidFill>
                  <a:srgbClr val="000000"/>
                </a:solidFill>
                <a:effectLst/>
                <a:latin typeface="Cascadia Mono" panose="020B0609020000020004" pitchFamily="49" charset="0"/>
              </a:rPr>
              <a:t> </a:t>
            </a:r>
            <a:r>
              <a:rPr lang="en-GB" dirty="0">
                <a:solidFill>
                  <a:srgbClr val="74531F"/>
                </a:solidFill>
                <a:effectLst/>
                <a:latin typeface="Cascadia Mono" panose="020B0609020000020004" pitchFamily="49" charset="0"/>
              </a:rPr>
              <a:t>Main</a:t>
            </a:r>
            <a:r>
              <a:rPr lang="en-GB" dirty="0">
                <a:solidFill>
                  <a:srgbClr val="000000"/>
                </a:solidFill>
                <a:effectLst/>
                <a:latin typeface="Cascadia Mono" panose="020B0609020000020004" pitchFamily="49" charset="0"/>
              </a:rPr>
              <a:t>() {</a:t>
            </a:r>
          </a:p>
          <a:p>
            <a:pPr>
              <a:buNone/>
            </a:pPr>
            <a:r>
              <a:rPr lang="en-GB" dirty="0">
                <a:solidFill>
                  <a:srgbClr val="0000FF"/>
                </a:solidFill>
                <a:effectLst/>
                <a:latin typeface="Cascadia Mono" panose="020B0609020000020004" pitchFamily="49" charset="0"/>
              </a:rPr>
              <a:t>	int</a:t>
            </a:r>
            <a:r>
              <a:rPr lang="en-GB" dirty="0">
                <a:solidFill>
                  <a:srgbClr val="000000"/>
                </a:solidFill>
                <a:effectLst/>
                <a:latin typeface="Cascadia Mono" panose="020B0609020000020004" pitchFamily="49" charset="0"/>
              </a:rPr>
              <a:t> </a:t>
            </a:r>
            <a:r>
              <a:rPr lang="en-GB" dirty="0">
                <a:solidFill>
                  <a:srgbClr val="1F377F"/>
                </a:solidFill>
                <a:effectLst/>
                <a:latin typeface="Cascadia Mono" panose="020B0609020000020004" pitchFamily="49" charset="0"/>
              </a:rPr>
              <a:t>age</a:t>
            </a:r>
            <a:r>
              <a:rPr lang="en-GB" dirty="0">
                <a:solidFill>
                  <a:srgbClr val="000000"/>
                </a:solidFill>
                <a:effectLst/>
                <a:latin typeface="Cascadia Mono" panose="020B0609020000020004" pitchFamily="49" charset="0"/>
              </a:rPr>
              <a:t>=21;</a:t>
            </a:r>
          </a:p>
          <a:p>
            <a:pPr>
              <a:buNone/>
            </a:pPr>
            <a:r>
              <a:rPr lang="en-GB" dirty="0">
                <a:solidFill>
                  <a:srgbClr val="000000"/>
                </a:solidFill>
                <a:effectLst/>
                <a:latin typeface="Cascadia Mono" panose="020B0609020000020004" pitchFamily="49" charset="0"/>
              </a:rPr>
              <a:t>    	</a:t>
            </a:r>
            <a:r>
              <a:rPr lang="en-GB" dirty="0">
                <a:solidFill>
                  <a:srgbClr val="0000FF"/>
                </a:solidFill>
                <a:effectLst/>
                <a:latin typeface="Cascadia Mono" panose="020B0609020000020004" pitchFamily="49" charset="0"/>
              </a:rPr>
              <a:t>long</a:t>
            </a:r>
            <a:r>
              <a:rPr lang="en-GB" dirty="0">
                <a:solidFill>
                  <a:srgbClr val="000000"/>
                </a:solidFill>
                <a:effectLst/>
                <a:latin typeface="Cascadia Mono" panose="020B0609020000020004" pitchFamily="49" charset="0"/>
              </a:rPr>
              <a:t> </a:t>
            </a:r>
            <a:r>
              <a:rPr lang="en-GB" dirty="0" err="1">
                <a:solidFill>
                  <a:srgbClr val="1F377F"/>
                </a:solidFill>
                <a:effectLst/>
                <a:latin typeface="Cascadia Mono" panose="020B0609020000020004" pitchFamily="49" charset="0"/>
              </a:rPr>
              <a:t>planetsInOurGalaxy</a:t>
            </a:r>
            <a:r>
              <a:rPr lang="en-GB" dirty="0">
                <a:solidFill>
                  <a:srgbClr val="000000"/>
                </a:solidFill>
                <a:effectLst/>
                <a:latin typeface="Cascadia Mono" panose="020B0609020000020004" pitchFamily="49" charset="0"/>
              </a:rPr>
              <a:t>;</a:t>
            </a:r>
          </a:p>
          <a:p>
            <a:pPr>
              <a:buNone/>
            </a:pPr>
            <a:r>
              <a:rPr lang="en-GB" dirty="0">
                <a:solidFill>
                  <a:srgbClr val="000000"/>
                </a:solidFill>
                <a:effectLst/>
                <a:latin typeface="Cascadia Mono" panose="020B0609020000020004" pitchFamily="49" charset="0"/>
              </a:rPr>
              <a:t>    	</a:t>
            </a:r>
            <a:r>
              <a:rPr lang="en-GB" dirty="0">
                <a:solidFill>
                  <a:srgbClr val="0000FF"/>
                </a:solidFill>
                <a:effectLst/>
                <a:latin typeface="Cascadia Mono" panose="020B0609020000020004" pitchFamily="49" charset="0"/>
              </a:rPr>
              <a:t>bool</a:t>
            </a:r>
            <a:r>
              <a:rPr lang="en-GB" dirty="0">
                <a:solidFill>
                  <a:srgbClr val="000000"/>
                </a:solidFill>
                <a:effectLst/>
                <a:latin typeface="Cascadia Mono" panose="020B0609020000020004" pitchFamily="49" charset="0"/>
              </a:rPr>
              <a:t> </a:t>
            </a:r>
            <a:r>
              <a:rPr lang="en-GB" dirty="0">
                <a:solidFill>
                  <a:srgbClr val="1F377F"/>
                </a:solidFill>
                <a:effectLst/>
                <a:latin typeface="Cascadia Mono" panose="020B0609020000020004" pitchFamily="49" charset="0"/>
              </a:rPr>
              <a:t>answer</a:t>
            </a:r>
            <a:r>
              <a:rPr lang="en-GB" dirty="0">
                <a:solidFill>
                  <a:srgbClr val="000000"/>
                </a:solidFill>
                <a:effectLst/>
                <a:latin typeface="Cascadia Mono" panose="020B0609020000020004" pitchFamily="49" charset="0"/>
              </a:rPr>
              <a:t> = </a:t>
            </a:r>
            <a:r>
              <a:rPr lang="en-GB" dirty="0">
                <a:solidFill>
                  <a:srgbClr val="0000FF"/>
                </a:solidFill>
                <a:effectLst/>
                <a:latin typeface="Cascadia Mono" panose="020B0609020000020004" pitchFamily="49" charset="0"/>
              </a:rPr>
              <a:t>true</a:t>
            </a:r>
            <a:r>
              <a:rPr lang="en-GB" dirty="0">
                <a:solidFill>
                  <a:srgbClr val="000000"/>
                </a:solidFill>
                <a:effectLst/>
                <a:latin typeface="Cascadia Mono" panose="020B0609020000020004" pitchFamily="49" charset="0"/>
              </a:rPr>
              <a:t>;</a:t>
            </a:r>
          </a:p>
          <a:p>
            <a:pPr>
              <a:buNone/>
            </a:pPr>
            <a:r>
              <a:rPr lang="en-GB" dirty="0">
                <a:solidFill>
                  <a:srgbClr val="000000"/>
                </a:solidFill>
                <a:effectLst/>
                <a:latin typeface="Cascadia Mono" panose="020B0609020000020004" pitchFamily="49" charset="0"/>
              </a:rPr>
              <a:t>    	</a:t>
            </a:r>
            <a:r>
              <a:rPr lang="en-GB" dirty="0">
                <a:solidFill>
                  <a:srgbClr val="0000FF"/>
                </a:solidFill>
                <a:effectLst/>
                <a:latin typeface="Cascadia Mono" panose="020B0609020000020004" pitchFamily="49" charset="0"/>
              </a:rPr>
              <a:t>string</a:t>
            </a:r>
            <a:r>
              <a:rPr lang="en-GB" dirty="0">
                <a:solidFill>
                  <a:srgbClr val="000000"/>
                </a:solidFill>
                <a:effectLst/>
                <a:latin typeface="Cascadia Mono" panose="020B0609020000020004" pitchFamily="49" charset="0"/>
              </a:rPr>
              <a:t> </a:t>
            </a:r>
            <a:r>
              <a:rPr lang="en-GB" dirty="0">
                <a:solidFill>
                  <a:srgbClr val="1F377F"/>
                </a:solidFill>
                <a:effectLst/>
                <a:latin typeface="Cascadia Mono" panose="020B0609020000020004" pitchFamily="49" charset="0"/>
              </a:rPr>
              <a:t>name</a:t>
            </a:r>
            <a:r>
              <a:rPr lang="en-GB" dirty="0">
                <a:solidFill>
                  <a:srgbClr val="000000"/>
                </a:solidFill>
                <a:effectLst/>
                <a:latin typeface="Cascadia Mono" panose="020B0609020000020004" pitchFamily="49" charset="0"/>
              </a:rPr>
              <a:t> = </a:t>
            </a:r>
            <a:r>
              <a:rPr lang="en-GB" dirty="0">
                <a:solidFill>
                  <a:srgbClr val="A31515"/>
                </a:solidFill>
                <a:effectLst/>
                <a:latin typeface="Cascadia Mono" panose="020B0609020000020004" pitchFamily="49" charset="0"/>
              </a:rPr>
              <a:t>"Bob"</a:t>
            </a:r>
            <a:r>
              <a:rPr lang="en-GB" dirty="0">
                <a:solidFill>
                  <a:srgbClr val="000000"/>
                </a:solidFill>
                <a:effectLst/>
                <a:latin typeface="Cascadia Mono" panose="020B0609020000020004" pitchFamily="49" charset="0"/>
              </a:rPr>
              <a:t>;</a:t>
            </a:r>
          </a:p>
          <a:p>
            <a:pPr>
              <a:buNone/>
            </a:pPr>
            <a:r>
              <a:rPr lang="en-GB" dirty="0">
                <a:solidFill>
                  <a:srgbClr val="000000"/>
                </a:solidFill>
                <a:effectLst/>
                <a:latin typeface="Cascadia Mono" panose="020B0609020000020004" pitchFamily="49" charset="0"/>
              </a:rPr>
              <a:t>    	</a:t>
            </a:r>
            <a:r>
              <a:rPr lang="en-GB" dirty="0">
                <a:solidFill>
                  <a:srgbClr val="0000FF"/>
                </a:solidFill>
                <a:effectLst/>
                <a:latin typeface="Cascadia Mono" panose="020B0609020000020004" pitchFamily="49" charset="0"/>
              </a:rPr>
              <a:t>char</a:t>
            </a:r>
            <a:r>
              <a:rPr lang="en-GB" dirty="0">
                <a:solidFill>
                  <a:srgbClr val="000000"/>
                </a:solidFill>
                <a:effectLst/>
                <a:latin typeface="Cascadia Mono" panose="020B0609020000020004" pitchFamily="49" charset="0"/>
              </a:rPr>
              <a:t> </a:t>
            </a:r>
            <a:r>
              <a:rPr lang="en-GB" dirty="0">
                <a:solidFill>
                  <a:srgbClr val="1F377F"/>
                </a:solidFill>
                <a:effectLst/>
                <a:latin typeface="Cascadia Mono" panose="020B0609020000020004" pitchFamily="49" charset="0"/>
              </a:rPr>
              <a:t>initial</a:t>
            </a:r>
            <a:r>
              <a:rPr lang="en-GB" dirty="0">
                <a:solidFill>
                  <a:srgbClr val="000000"/>
                </a:solidFill>
                <a:effectLst/>
                <a:latin typeface="Cascadia Mono" panose="020B0609020000020004" pitchFamily="49" charset="0"/>
              </a:rPr>
              <a:t> = </a:t>
            </a:r>
            <a:r>
              <a:rPr lang="en-GB" dirty="0">
                <a:solidFill>
                  <a:srgbClr val="A31515"/>
                </a:solidFill>
                <a:effectLst/>
                <a:latin typeface="Cascadia Mono" panose="020B0609020000020004" pitchFamily="49" charset="0"/>
              </a:rPr>
              <a:t>'B'</a:t>
            </a:r>
            <a:r>
              <a:rPr lang="en-GB" dirty="0">
                <a:solidFill>
                  <a:srgbClr val="000000"/>
                </a:solidFill>
                <a:effectLst/>
                <a:latin typeface="Cascadia Mono" panose="020B0609020000020004" pitchFamily="49" charset="0"/>
              </a:rPr>
              <a:t>;</a:t>
            </a:r>
          </a:p>
          <a:p>
            <a:pPr>
              <a:buNone/>
            </a:pPr>
            <a:r>
              <a:rPr lang="en-GB" dirty="0">
                <a:solidFill>
                  <a:srgbClr val="000000"/>
                </a:solidFill>
                <a:effectLst/>
                <a:latin typeface="Cascadia Mono" panose="020B0609020000020004" pitchFamily="49" charset="0"/>
              </a:rPr>
              <a:t>    	</a:t>
            </a:r>
            <a:r>
              <a:rPr lang="en-GB" dirty="0">
                <a:solidFill>
                  <a:srgbClr val="74531F"/>
                </a:solidFill>
                <a:effectLst/>
                <a:latin typeface="Cascadia Mono" panose="020B0609020000020004" pitchFamily="49" charset="0"/>
              </a:rPr>
              <a:t>print</a:t>
            </a:r>
            <a:r>
              <a:rPr lang="en-GB" dirty="0">
                <a:solidFill>
                  <a:srgbClr val="000000"/>
                </a:solidFill>
                <a:effectLst/>
                <a:latin typeface="Cascadia Mono" panose="020B0609020000020004" pitchFamily="49" charset="0"/>
              </a:rPr>
              <a:t>(</a:t>
            </a:r>
            <a:r>
              <a:rPr lang="en-GB" dirty="0">
                <a:solidFill>
                  <a:srgbClr val="A31515"/>
                </a:solidFill>
                <a:effectLst/>
                <a:latin typeface="Cascadia Mono" panose="020B0609020000020004" pitchFamily="49" charset="0"/>
              </a:rPr>
              <a:t>$"Hello </a:t>
            </a:r>
            <a:r>
              <a:rPr lang="en-GB" dirty="0">
                <a:solidFill>
                  <a:srgbClr val="000000"/>
                </a:solidFill>
                <a:effectLst/>
                <a:latin typeface="Cascadia Mono" panose="020B0609020000020004" pitchFamily="49" charset="0"/>
              </a:rPr>
              <a:t>{</a:t>
            </a:r>
            <a:r>
              <a:rPr lang="en-GB" dirty="0">
                <a:solidFill>
                  <a:srgbClr val="1F377F"/>
                </a:solidFill>
                <a:effectLst/>
                <a:latin typeface="Cascadia Mono" panose="020B0609020000020004" pitchFamily="49" charset="0"/>
              </a:rPr>
              <a:t>initial</a:t>
            </a:r>
            <a:r>
              <a:rPr lang="en-GB" dirty="0">
                <a:solidFill>
                  <a:srgbClr val="000000"/>
                </a:solidFill>
                <a:effectLst/>
                <a:latin typeface="Cascadia Mono" panose="020B0609020000020004" pitchFamily="49" charset="0"/>
              </a:rPr>
              <a:t>}</a:t>
            </a:r>
            <a:r>
              <a:rPr lang="en-GB" dirty="0">
                <a:solidFill>
                  <a:srgbClr val="A31515"/>
                </a:solidFill>
                <a:effectLst/>
                <a:latin typeface="Cascadia Mono" panose="020B0609020000020004" pitchFamily="49" charset="0"/>
              </a:rPr>
              <a:t>-</a:t>
            </a:r>
            <a:r>
              <a:rPr lang="en-GB" dirty="0">
                <a:solidFill>
                  <a:srgbClr val="000000"/>
                </a:solidFill>
                <a:effectLst/>
                <a:latin typeface="Cascadia Mono" panose="020B0609020000020004" pitchFamily="49" charset="0"/>
              </a:rPr>
              <a:t>{</a:t>
            </a:r>
            <a:r>
              <a:rPr lang="en-GB" dirty="0">
                <a:solidFill>
                  <a:srgbClr val="1F377F"/>
                </a:solidFill>
                <a:effectLst/>
                <a:latin typeface="Cascadia Mono" panose="020B0609020000020004" pitchFamily="49" charset="0"/>
              </a:rPr>
              <a:t>name</a:t>
            </a:r>
            <a:r>
              <a:rPr lang="en-GB" dirty="0">
                <a:solidFill>
                  <a:srgbClr val="000000"/>
                </a:solidFill>
                <a:effectLst/>
                <a:latin typeface="Cascadia Mono" panose="020B0609020000020004" pitchFamily="49" charset="0"/>
              </a:rPr>
              <a:t>}</a:t>
            </a:r>
            <a:r>
              <a:rPr lang="en-GB" dirty="0">
                <a:solidFill>
                  <a:srgbClr val="A31515"/>
                </a:solidFill>
                <a:effectLst/>
                <a:latin typeface="Cascadia Mono" panose="020B0609020000020004" pitchFamily="49" charset="0"/>
              </a:rPr>
              <a:t>. You are </a:t>
            </a:r>
            <a:r>
              <a:rPr lang="en-GB" dirty="0">
                <a:solidFill>
                  <a:srgbClr val="000000"/>
                </a:solidFill>
                <a:effectLst/>
                <a:latin typeface="Cascadia Mono" panose="020B0609020000020004" pitchFamily="49" charset="0"/>
              </a:rPr>
              <a:t>{</a:t>
            </a:r>
            <a:r>
              <a:rPr lang="en-GB" dirty="0">
                <a:solidFill>
                  <a:srgbClr val="1F377F"/>
                </a:solidFill>
                <a:effectLst/>
                <a:latin typeface="Cascadia Mono" panose="020B0609020000020004" pitchFamily="49" charset="0"/>
              </a:rPr>
              <a:t>age</a:t>
            </a:r>
            <a:r>
              <a:rPr lang="en-GB" dirty="0">
                <a:solidFill>
                  <a:srgbClr val="000000"/>
                </a:solidFill>
                <a:effectLst/>
                <a:latin typeface="Cascadia Mono" panose="020B0609020000020004" pitchFamily="49" charset="0"/>
              </a:rPr>
              <a:t>}</a:t>
            </a:r>
            <a:r>
              <a:rPr lang="en-GB" dirty="0">
                <a:solidFill>
                  <a:srgbClr val="A31515"/>
                </a:solidFill>
                <a:effectLst/>
                <a:latin typeface="Cascadia Mono" panose="020B0609020000020004" pitchFamily="49" charset="0"/>
              </a:rPr>
              <a:t> years old"</a:t>
            </a:r>
            <a:r>
              <a:rPr lang="en-GB" dirty="0">
                <a:solidFill>
                  <a:srgbClr val="000000"/>
                </a:solidFill>
                <a:effectLst/>
                <a:latin typeface="Cascadia Mono" panose="020B0609020000020004" pitchFamily="49" charset="0"/>
              </a:rPr>
              <a:t>);</a:t>
            </a:r>
          </a:p>
          <a:p>
            <a:pPr>
              <a:buNone/>
            </a:pPr>
            <a:r>
              <a:rPr lang="en-GB" dirty="0">
                <a:solidFill>
                  <a:srgbClr val="000000"/>
                </a:solidFill>
                <a:effectLst/>
                <a:latin typeface="Cascadia Mono" panose="020B0609020000020004" pitchFamily="49" charset="0"/>
              </a:rPr>
              <a:t>  }</a:t>
            </a:r>
          </a:p>
          <a:p>
            <a:pPr>
              <a:buNone/>
            </a:pPr>
            <a:endParaRPr lang="en-GB" dirty="0">
              <a:solidFill>
                <a:srgbClr val="000000"/>
              </a:solidFill>
              <a:effectLst/>
              <a:latin typeface="Cascadia Mono" panose="020B0609020000020004" pitchFamily="49" charset="0"/>
            </a:endParaRPr>
          </a:p>
          <a:p>
            <a:pPr>
              <a:buNone/>
            </a:pPr>
            <a:r>
              <a:rPr lang="en-GB" dirty="0">
                <a:solidFill>
                  <a:srgbClr val="0000FF"/>
                </a:solidFill>
                <a:effectLst/>
                <a:latin typeface="Cascadia Mono" panose="020B0609020000020004" pitchFamily="49" charset="0"/>
              </a:rPr>
              <a:t>  private</a:t>
            </a:r>
            <a:r>
              <a:rPr lang="en-GB" dirty="0">
                <a:solidFill>
                  <a:srgbClr val="000000"/>
                </a:solidFill>
                <a:effectLst/>
                <a:latin typeface="Cascadia Mono" panose="020B0609020000020004" pitchFamily="49" charset="0"/>
              </a:rPr>
              <a:t> </a:t>
            </a:r>
            <a:r>
              <a:rPr lang="en-GB" dirty="0">
                <a:solidFill>
                  <a:srgbClr val="0000FF"/>
                </a:solidFill>
                <a:effectLst/>
                <a:latin typeface="Cascadia Mono" panose="020B0609020000020004" pitchFamily="49" charset="0"/>
              </a:rPr>
              <a:t>static</a:t>
            </a:r>
            <a:r>
              <a:rPr lang="en-GB" dirty="0">
                <a:solidFill>
                  <a:srgbClr val="000000"/>
                </a:solidFill>
                <a:effectLst/>
                <a:latin typeface="Cascadia Mono" panose="020B0609020000020004" pitchFamily="49" charset="0"/>
              </a:rPr>
              <a:t> </a:t>
            </a:r>
            <a:r>
              <a:rPr lang="en-GB" dirty="0">
                <a:solidFill>
                  <a:srgbClr val="0000FF"/>
                </a:solidFill>
                <a:effectLst/>
                <a:latin typeface="Cascadia Mono" panose="020B0609020000020004" pitchFamily="49" charset="0"/>
              </a:rPr>
              <a:t>void</a:t>
            </a:r>
            <a:r>
              <a:rPr lang="en-GB" dirty="0">
                <a:solidFill>
                  <a:srgbClr val="000000"/>
                </a:solidFill>
                <a:effectLst/>
                <a:latin typeface="Cascadia Mono" panose="020B0609020000020004" pitchFamily="49" charset="0"/>
              </a:rPr>
              <a:t> </a:t>
            </a:r>
            <a:r>
              <a:rPr lang="en-GB" dirty="0">
                <a:solidFill>
                  <a:srgbClr val="74531F"/>
                </a:solidFill>
                <a:effectLst/>
                <a:latin typeface="Cascadia Mono" panose="020B0609020000020004" pitchFamily="49" charset="0"/>
              </a:rPr>
              <a:t>print</a:t>
            </a:r>
            <a:r>
              <a:rPr lang="en-GB" dirty="0">
                <a:solidFill>
                  <a:srgbClr val="000000"/>
                </a:solidFill>
                <a:effectLst/>
                <a:latin typeface="Cascadia Mono" panose="020B0609020000020004" pitchFamily="49" charset="0"/>
              </a:rPr>
              <a:t>(</a:t>
            </a:r>
            <a:r>
              <a:rPr lang="en-GB" dirty="0">
                <a:solidFill>
                  <a:srgbClr val="0000FF"/>
                </a:solidFill>
                <a:effectLst/>
                <a:latin typeface="Cascadia Mono" panose="020B0609020000020004" pitchFamily="49" charset="0"/>
              </a:rPr>
              <a:t>string</a:t>
            </a:r>
            <a:r>
              <a:rPr lang="en-GB" dirty="0">
                <a:solidFill>
                  <a:srgbClr val="000000"/>
                </a:solidFill>
                <a:effectLst/>
                <a:latin typeface="Cascadia Mono" panose="020B0609020000020004" pitchFamily="49" charset="0"/>
              </a:rPr>
              <a:t> </a:t>
            </a:r>
            <a:r>
              <a:rPr lang="en-GB" dirty="0">
                <a:solidFill>
                  <a:srgbClr val="1F377F"/>
                </a:solidFill>
                <a:effectLst/>
                <a:latin typeface="Cascadia Mono" panose="020B0609020000020004" pitchFamily="49" charset="0"/>
              </a:rPr>
              <a:t>s</a:t>
            </a:r>
            <a:r>
              <a:rPr lang="en-GB" dirty="0">
                <a:solidFill>
                  <a:srgbClr val="000000"/>
                </a:solidFill>
                <a:effectLst/>
                <a:latin typeface="Cascadia Mono" panose="020B0609020000020004" pitchFamily="49" charset="0"/>
              </a:rPr>
              <a:t>) {</a:t>
            </a:r>
          </a:p>
          <a:p>
            <a:pPr>
              <a:buNone/>
            </a:pPr>
            <a:r>
              <a:rPr lang="en-GB" dirty="0">
                <a:solidFill>
                  <a:srgbClr val="000000"/>
                </a:solidFill>
                <a:effectLst/>
                <a:latin typeface="Cascadia Mono" panose="020B0609020000020004" pitchFamily="49" charset="0"/>
              </a:rPr>
              <a:t>    </a:t>
            </a:r>
            <a:r>
              <a:rPr lang="en-GB" dirty="0" err="1">
                <a:solidFill>
                  <a:srgbClr val="2B91AF"/>
                </a:solidFill>
                <a:effectLst/>
                <a:latin typeface="Cascadia Mono" panose="020B0609020000020004" pitchFamily="49" charset="0"/>
              </a:rPr>
              <a:t>Console</a:t>
            </a:r>
            <a:r>
              <a:rPr lang="en-GB" dirty="0" err="1">
                <a:solidFill>
                  <a:srgbClr val="000000"/>
                </a:solidFill>
                <a:effectLst/>
                <a:latin typeface="Cascadia Mono" panose="020B0609020000020004" pitchFamily="49" charset="0"/>
              </a:rPr>
              <a:t>.</a:t>
            </a:r>
            <a:r>
              <a:rPr lang="en-GB" dirty="0" err="1">
                <a:solidFill>
                  <a:srgbClr val="0000FF"/>
                </a:solidFill>
                <a:effectLst/>
                <a:latin typeface="Cascadia Mono" panose="020B0609020000020004" pitchFamily="49" charset="0"/>
              </a:rPr>
              <a:t>WriteLine</a:t>
            </a:r>
            <a:r>
              <a:rPr lang="en-GB" dirty="0">
                <a:solidFill>
                  <a:srgbClr val="000000"/>
                </a:solidFill>
                <a:effectLst/>
                <a:latin typeface="Cascadia Mono" panose="020B0609020000020004" pitchFamily="49" charset="0"/>
              </a:rPr>
              <a:t>(</a:t>
            </a:r>
            <a:r>
              <a:rPr lang="en-GB" dirty="0">
                <a:solidFill>
                  <a:srgbClr val="1F377F"/>
                </a:solidFill>
                <a:effectLst/>
                <a:latin typeface="Cascadia Mono" panose="020B0609020000020004" pitchFamily="49" charset="0"/>
              </a:rPr>
              <a:t>s</a:t>
            </a:r>
            <a:r>
              <a:rPr lang="en-GB" dirty="0">
                <a:solidFill>
                  <a:srgbClr val="000000"/>
                </a:solidFill>
                <a:effectLst/>
                <a:latin typeface="Cascadia Mono" panose="020B0609020000020004" pitchFamily="49" charset="0"/>
              </a:rPr>
              <a:t>); ;</a:t>
            </a:r>
          </a:p>
          <a:p>
            <a:pPr>
              <a:buNone/>
            </a:pPr>
            <a:r>
              <a:rPr lang="en-GB" dirty="0">
                <a:solidFill>
                  <a:srgbClr val="000000"/>
                </a:solidFill>
                <a:effectLst/>
                <a:latin typeface="Cascadia Mono" panose="020B0609020000020004" pitchFamily="49" charset="0"/>
              </a:rPr>
              <a:t>  }</a:t>
            </a:r>
          </a:p>
          <a:p>
            <a:pPr marL="342000" lvl="1" indent="-342900">
              <a:buSzPct val="115000"/>
            </a:pPr>
            <a:endParaRPr lang="en-US" dirty="0"/>
          </a:p>
        </p:txBody>
      </p:sp>
      <p:sp>
        <p:nvSpPr>
          <p:cNvPr id="7" name="TextBox 6">
            <a:extLst>
              <a:ext uri="{FF2B5EF4-FFF2-40B4-BE49-F238E27FC236}">
                <a16:creationId xmlns:a16="http://schemas.microsoft.com/office/drawing/2014/main" id="{6BDF1AFB-1C3D-E633-6385-31A02B19DC6D}"/>
              </a:ext>
            </a:extLst>
          </p:cNvPr>
          <p:cNvSpPr txBox="1"/>
          <p:nvPr/>
        </p:nvSpPr>
        <p:spPr>
          <a:xfrm>
            <a:off x="15101047" y="5795682"/>
            <a:ext cx="0" cy="0"/>
          </a:xfrm>
          <a:prstGeom prst="rect">
            <a:avLst/>
          </a:prstGeom>
        </p:spPr>
        <p:txBody>
          <a:bodyPr vert="horz" wrap="none" lIns="0" tIns="0" rIns="0" bIns="0" rtlCol="0" anchor="t" anchorCtr="0">
            <a:normAutofit fontScale="25000" lnSpcReduction="20000"/>
          </a:bodyPr>
          <a:lstStyle/>
          <a:p>
            <a:pPr algn="l"/>
            <a:endParaRPr lang="en-GB" dirty="0"/>
          </a:p>
        </p:txBody>
      </p:sp>
    </p:spTree>
    <p:extLst>
      <p:ext uri="{BB962C8B-B14F-4D97-AF65-F5344CB8AC3E}">
        <p14:creationId xmlns:p14="http://schemas.microsoft.com/office/powerpoint/2010/main" val="119938767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GB" dirty="0"/>
              <a:t>Compound Operators</a:t>
            </a:r>
          </a:p>
        </p:txBody>
      </p:sp>
      <p:sp>
        <p:nvSpPr>
          <p:cNvPr id="8" name="Rectangle 4"/>
          <p:cNvSpPr>
            <a:spLocks noChangeArrowheads="1"/>
          </p:cNvSpPr>
          <p:nvPr/>
        </p:nvSpPr>
        <p:spPr bwMode="auto">
          <a:xfrm>
            <a:off x="1228521" y="1685724"/>
            <a:ext cx="3182114"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1336675" algn="l"/>
                <a:tab pos="2286000" algn="l"/>
                <a:tab pos="3429000" algn="l"/>
                <a:tab pos="4572000" algn="l"/>
                <a:tab pos="5715000" algn="l"/>
              </a:tabLst>
              <a:defRPr/>
            </a:pPr>
            <a:r>
              <a:rPr lang="en-GB" dirty="0">
                <a:solidFill>
                  <a:srgbClr val="0000C8"/>
                </a:solidFill>
                <a:latin typeface="Lucida Console" pitchFamily="49" charset="0"/>
              </a:rPr>
              <a:t>int </a:t>
            </a:r>
            <a:r>
              <a:rPr lang="en-GB" dirty="0">
                <a:latin typeface="Lucida Console" pitchFamily="49" charset="0"/>
              </a:rPr>
              <a:t>x = 4, y = 6;</a:t>
            </a:r>
            <a:br>
              <a:rPr lang="en-GB" dirty="0">
                <a:latin typeface="Lucida Console" pitchFamily="49" charset="0"/>
              </a:rPr>
            </a:br>
            <a:r>
              <a:rPr lang="en-GB" dirty="0">
                <a:latin typeface="Lucida Console" pitchFamily="49" charset="0"/>
              </a:rPr>
              <a:t>x</a:t>
            </a:r>
            <a:r>
              <a:rPr lang="en-GB" dirty="0">
                <a:solidFill>
                  <a:srgbClr val="0000C8"/>
                </a:solidFill>
                <a:latin typeface="Lucida Console" pitchFamily="49" charset="0"/>
              </a:rPr>
              <a:t> </a:t>
            </a:r>
            <a:r>
              <a:rPr lang="en-GB" dirty="0">
                <a:latin typeface="Lucida Console" pitchFamily="49" charset="0"/>
              </a:rPr>
              <a:t>= x + y; 	</a:t>
            </a:r>
            <a:r>
              <a:rPr lang="en-GB" dirty="0">
                <a:solidFill>
                  <a:schemeClr val="accent2">
                    <a:lumMod val="75000"/>
                  </a:schemeClr>
                </a:solidFill>
                <a:latin typeface="Lucida Console" pitchFamily="49" charset="0"/>
              </a:rPr>
              <a:t> </a:t>
            </a:r>
            <a:endParaRPr lang="en-GB" dirty="0">
              <a:solidFill>
                <a:schemeClr val="accent6">
                  <a:lumMod val="50000"/>
                </a:schemeClr>
              </a:solidFill>
              <a:latin typeface="Lucida Console" pitchFamily="49" charset="0"/>
            </a:endParaRPr>
          </a:p>
        </p:txBody>
      </p:sp>
      <p:sp>
        <p:nvSpPr>
          <p:cNvPr id="9" name="Rectangle 4"/>
          <p:cNvSpPr>
            <a:spLocks noChangeArrowheads="1"/>
          </p:cNvSpPr>
          <p:nvPr/>
        </p:nvSpPr>
        <p:spPr bwMode="auto">
          <a:xfrm>
            <a:off x="4999158" y="2427594"/>
            <a:ext cx="4075889" cy="397545"/>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tabLst>
                <a:tab pos="1336675" algn="l"/>
                <a:tab pos="2286000" algn="l"/>
                <a:tab pos="3429000" algn="l"/>
                <a:tab pos="4572000" algn="l"/>
                <a:tab pos="5715000" algn="l"/>
              </a:tabLst>
              <a:defRPr/>
            </a:pPr>
            <a:r>
              <a:rPr lang="en-GB" sz="2000" dirty="0">
                <a:latin typeface="Lucida Console" pitchFamily="49" charset="0"/>
              </a:rPr>
              <a:t>x *= 2</a:t>
            </a:r>
            <a:endParaRPr lang="en-GB" sz="2000" dirty="0">
              <a:solidFill>
                <a:schemeClr val="accent2">
                  <a:lumMod val="75000"/>
                </a:schemeClr>
              </a:solidFill>
              <a:latin typeface="Lucida Console" pitchFamily="49" charset="0"/>
            </a:endParaRPr>
          </a:p>
        </p:txBody>
      </p:sp>
      <p:sp>
        <p:nvSpPr>
          <p:cNvPr id="2" name="Rectangle 4">
            <a:extLst>
              <a:ext uri="{FF2B5EF4-FFF2-40B4-BE49-F238E27FC236}">
                <a16:creationId xmlns:a16="http://schemas.microsoft.com/office/drawing/2014/main" id="{72FAF678-751A-C397-80C2-13ECCC8366B3}"/>
              </a:ext>
            </a:extLst>
          </p:cNvPr>
          <p:cNvSpPr>
            <a:spLocks noChangeArrowheads="1"/>
          </p:cNvSpPr>
          <p:nvPr/>
        </p:nvSpPr>
        <p:spPr bwMode="auto">
          <a:xfrm>
            <a:off x="4999158" y="1670335"/>
            <a:ext cx="4075889" cy="397545"/>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nchor="ctr">
            <a:spAutoFit/>
          </a:bodyPr>
          <a:lstStyle/>
          <a:p>
            <a:pPr defTabSz="739775" eaLnBrk="0" hangingPunct="0">
              <a:tabLst>
                <a:tab pos="1336675" algn="l"/>
                <a:tab pos="2286000" algn="l"/>
                <a:tab pos="3429000" algn="l"/>
                <a:tab pos="4572000" algn="l"/>
                <a:tab pos="5715000" algn="l"/>
              </a:tabLst>
              <a:defRPr/>
            </a:pPr>
            <a:r>
              <a:rPr lang="en-GB" sz="2000" dirty="0">
                <a:latin typeface="Lucida Console" pitchFamily="49" charset="0"/>
              </a:rPr>
              <a:t>x</a:t>
            </a:r>
            <a:r>
              <a:rPr lang="en-GB" sz="2000" dirty="0">
                <a:solidFill>
                  <a:srgbClr val="0000C8"/>
                </a:solidFill>
                <a:latin typeface="Lucida Console" pitchFamily="49" charset="0"/>
              </a:rPr>
              <a:t> </a:t>
            </a:r>
            <a:r>
              <a:rPr lang="en-GB" sz="2000" dirty="0">
                <a:latin typeface="Lucida Console" pitchFamily="49" charset="0"/>
              </a:rPr>
              <a:t>+= y;                  </a:t>
            </a:r>
            <a:endParaRPr lang="en-GB" sz="2000" dirty="0">
              <a:solidFill>
                <a:schemeClr val="accent6">
                  <a:lumMod val="50000"/>
                </a:schemeClr>
              </a:solidFill>
              <a:latin typeface="Lucida Console" pitchFamily="49" charset="0"/>
            </a:endParaRPr>
          </a:p>
        </p:txBody>
      </p:sp>
      <p:sp>
        <p:nvSpPr>
          <p:cNvPr id="11" name="Oval 10"/>
          <p:cNvSpPr/>
          <p:nvPr/>
        </p:nvSpPr>
        <p:spPr bwMode="auto">
          <a:xfrm>
            <a:off x="6172678" y="2360485"/>
            <a:ext cx="404446" cy="346234"/>
          </a:xfrm>
          <a:prstGeom prst="ellipse">
            <a:avLst/>
          </a:prstGeom>
          <a:noFill/>
          <a:ln w="19050" cap="flat" cmpd="sng" algn="ctr">
            <a:noFill/>
            <a:prstDash val="solid"/>
            <a:round/>
            <a:headEnd type="none" w="med" len="med"/>
            <a:tailEnd type="none" w="med" len="med"/>
          </a:ln>
          <a:effectLst>
            <a:outerShdw blurRad="50800" dist="38100" algn="l" rotWithShape="0">
              <a:prstClr val="black">
                <a:alpha val="40000"/>
              </a:prstClr>
            </a:outerShdw>
          </a:effectLst>
        </p:spPr>
        <p:txBody>
          <a:bodyPr vert="horz" wrap="square" lIns="91440" tIns="45720" rIns="91440" bIns="45720" numCol="1" rtlCol="0" anchor="t" anchorCtr="0" compatLnSpc="1">
            <a:prstTxWarp prst="textNoShape">
              <a:avLst/>
            </a:prstTxWarp>
            <a:spAutoFit/>
          </a:bodyPr>
          <a:lstStyle/>
          <a:p>
            <a:pPr eaLnBrk="0" fontAlgn="base" hangingPunct="0">
              <a:spcBef>
                <a:spcPct val="50000"/>
              </a:spcBef>
              <a:spcAft>
                <a:spcPct val="0"/>
              </a:spcAft>
            </a:pPr>
            <a:endParaRPr lang="en-GB" sz="1000">
              <a:latin typeface="Arial" charset="0"/>
            </a:endParaRPr>
          </a:p>
        </p:txBody>
      </p:sp>
      <p:sp>
        <p:nvSpPr>
          <p:cNvPr id="6" name="Rectangle 4">
            <a:extLst>
              <a:ext uri="{FF2B5EF4-FFF2-40B4-BE49-F238E27FC236}">
                <a16:creationId xmlns:a16="http://schemas.microsoft.com/office/drawing/2014/main" id="{D13118AC-7D33-0C80-E532-36DAEAFEAD62}"/>
              </a:ext>
            </a:extLst>
          </p:cNvPr>
          <p:cNvSpPr>
            <a:spLocks noChangeArrowheads="1"/>
          </p:cNvSpPr>
          <p:nvPr/>
        </p:nvSpPr>
        <p:spPr bwMode="auto">
          <a:xfrm>
            <a:off x="1097675" y="3711908"/>
            <a:ext cx="4362308" cy="2121799"/>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lnSpc>
                <a:spcPct val="150000"/>
              </a:lnSpc>
              <a:tabLst>
                <a:tab pos="1336675" algn="l"/>
                <a:tab pos="2286000" algn="l"/>
                <a:tab pos="3429000" algn="l"/>
                <a:tab pos="4572000" algn="l"/>
                <a:tab pos="5715000" algn="l"/>
              </a:tabLst>
              <a:defRPr/>
            </a:pPr>
            <a:r>
              <a:rPr lang="en-GB" dirty="0">
                <a:solidFill>
                  <a:srgbClr val="0000C8"/>
                </a:solidFill>
                <a:latin typeface="Lucida Console" pitchFamily="49" charset="0"/>
              </a:rPr>
              <a:t>int </a:t>
            </a:r>
            <a:r>
              <a:rPr lang="en-GB" dirty="0">
                <a:latin typeface="Lucida Console" pitchFamily="49" charset="0"/>
              </a:rPr>
              <a:t>x = 4, y = 6;</a:t>
            </a:r>
            <a:br>
              <a:rPr lang="en-GB" dirty="0">
                <a:latin typeface="Lucida Console" pitchFamily="49" charset="0"/>
              </a:rPr>
            </a:br>
            <a:r>
              <a:rPr lang="en-GB" dirty="0">
                <a:latin typeface="Lucida Console" pitchFamily="49" charset="0"/>
              </a:rPr>
              <a:t>x</a:t>
            </a:r>
            <a:r>
              <a:rPr lang="en-GB" dirty="0">
                <a:solidFill>
                  <a:srgbClr val="0000C8"/>
                </a:solidFill>
                <a:latin typeface="Lucida Console" pitchFamily="49" charset="0"/>
              </a:rPr>
              <a:t> </a:t>
            </a:r>
            <a:r>
              <a:rPr lang="en-GB" dirty="0">
                <a:latin typeface="Lucida Console" pitchFamily="49" charset="0"/>
              </a:rPr>
              <a:t>= x + 1;</a:t>
            </a:r>
          </a:p>
          <a:p>
            <a:pPr defTabSz="739775" eaLnBrk="0" hangingPunct="0">
              <a:lnSpc>
                <a:spcPct val="150000"/>
              </a:lnSpc>
              <a:tabLst>
                <a:tab pos="1336675" algn="l"/>
                <a:tab pos="2286000" algn="l"/>
                <a:tab pos="3429000" algn="l"/>
                <a:tab pos="4572000" algn="l"/>
                <a:tab pos="5715000" algn="l"/>
              </a:tabLst>
              <a:defRPr/>
            </a:pPr>
            <a:r>
              <a:rPr lang="en-GB" dirty="0">
                <a:latin typeface="Lucida Console" pitchFamily="49" charset="0"/>
              </a:rPr>
              <a:t>X += 1;</a:t>
            </a:r>
          </a:p>
          <a:p>
            <a:pPr defTabSz="739775" eaLnBrk="0" hangingPunct="0">
              <a:lnSpc>
                <a:spcPct val="150000"/>
              </a:lnSpc>
              <a:tabLst>
                <a:tab pos="1336675" algn="l"/>
                <a:tab pos="2286000" algn="l"/>
                <a:tab pos="3429000" algn="l"/>
                <a:tab pos="4572000" algn="l"/>
                <a:tab pos="5715000" algn="l"/>
              </a:tabLst>
              <a:defRPr/>
            </a:pPr>
            <a:r>
              <a:rPr lang="en-GB" dirty="0">
                <a:latin typeface="Lucida Console" pitchFamily="49" charset="0"/>
              </a:rPr>
              <a:t>X++;</a:t>
            </a:r>
          </a:p>
          <a:p>
            <a:pPr defTabSz="739775" eaLnBrk="0" hangingPunct="0">
              <a:lnSpc>
                <a:spcPct val="150000"/>
              </a:lnSpc>
              <a:tabLst>
                <a:tab pos="1336675" algn="l"/>
                <a:tab pos="2286000" algn="l"/>
                <a:tab pos="3429000" algn="l"/>
                <a:tab pos="4572000" algn="l"/>
                <a:tab pos="5715000" algn="l"/>
              </a:tabLst>
              <a:defRPr/>
            </a:pPr>
            <a:r>
              <a:rPr lang="en-GB" dirty="0">
                <a:latin typeface="Lucida Console" pitchFamily="49" charset="0"/>
              </a:rPr>
              <a:t>++x; 	</a:t>
            </a:r>
            <a:r>
              <a:rPr lang="en-GB" dirty="0">
                <a:solidFill>
                  <a:schemeClr val="accent2">
                    <a:lumMod val="75000"/>
                  </a:schemeClr>
                </a:solidFill>
                <a:latin typeface="Lucida Console" pitchFamily="49" charset="0"/>
              </a:rPr>
              <a:t> </a:t>
            </a:r>
            <a:endParaRPr lang="en-GB" dirty="0">
              <a:solidFill>
                <a:schemeClr val="accent6">
                  <a:lumMod val="50000"/>
                </a:schemeClr>
              </a:solidFill>
              <a:latin typeface="Lucida Console" pitchFamily="49" charset="0"/>
            </a:endParaRPr>
          </a:p>
        </p:txBody>
      </p:sp>
    </p:spTree>
    <p:extLst>
      <p:ext uri="{BB962C8B-B14F-4D97-AF65-F5344CB8AC3E}">
        <p14:creationId xmlns:p14="http://schemas.microsoft.com/office/powerpoint/2010/main" val="780255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39970" y="562058"/>
            <a:ext cx="11782899" cy="805001"/>
          </a:xfrm>
        </p:spPr>
        <p:txBody>
          <a:bodyPr/>
          <a:lstStyle/>
          <a:p>
            <a:r>
              <a:rPr lang="en-GB" dirty="0"/>
              <a:t>Pre &amp; Post-fix </a:t>
            </a:r>
            <a:r>
              <a:rPr lang="en-GB" sz="2400" dirty="0">
                <a:latin typeface="+mn-lt"/>
              </a:rPr>
              <a:t>++</a:t>
            </a:r>
            <a:r>
              <a:rPr lang="en-GB" dirty="0"/>
              <a:t> and </a:t>
            </a:r>
            <a:r>
              <a:rPr lang="en-GB" sz="2400" dirty="0">
                <a:latin typeface="+mn-lt"/>
              </a:rPr>
              <a:t>--</a:t>
            </a:r>
            <a:r>
              <a:rPr lang="en-GB" dirty="0"/>
              <a:t> Operators</a:t>
            </a:r>
          </a:p>
        </p:txBody>
      </p:sp>
      <p:sp>
        <p:nvSpPr>
          <p:cNvPr id="824324" name="Rectangle 4"/>
          <p:cNvSpPr>
            <a:spLocks noChangeArrowheads="1"/>
          </p:cNvSpPr>
          <p:nvPr/>
        </p:nvSpPr>
        <p:spPr bwMode="auto">
          <a:xfrm>
            <a:off x="1530711" y="1686826"/>
            <a:ext cx="5783889" cy="643766"/>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C8"/>
                </a:solidFill>
                <a:latin typeface="Lucida Console" pitchFamily="49" charset="0"/>
              </a:rPr>
              <a:t>int</a:t>
            </a:r>
            <a:r>
              <a:rPr lang="en-GB" dirty="0">
                <a:latin typeface="Lucida Console" pitchFamily="49" charset="0"/>
              </a:rPr>
              <a:t> x = 0;</a:t>
            </a:r>
            <a:br>
              <a:rPr lang="en-GB" dirty="0">
                <a:latin typeface="Lucida Console" pitchFamily="49" charset="0"/>
              </a:rPr>
            </a:br>
            <a:r>
              <a:rPr lang="en-GB" dirty="0">
                <a:solidFill>
                  <a:srgbClr val="0000C8"/>
                </a:solidFill>
                <a:latin typeface="Lucida Console" pitchFamily="49" charset="0"/>
              </a:rPr>
              <a:t>int</a:t>
            </a:r>
            <a:r>
              <a:rPr lang="en-GB" dirty="0">
                <a:solidFill>
                  <a:srgbClr val="000000"/>
                </a:solidFill>
                <a:latin typeface="Lucida Console" pitchFamily="49" charset="0"/>
              </a:rPr>
              <a:t> y</a:t>
            </a:r>
            <a:r>
              <a:rPr lang="en-GB" dirty="0">
                <a:solidFill>
                  <a:srgbClr val="FF00FF"/>
                </a:solidFill>
                <a:latin typeface="Lucida Console" pitchFamily="49" charset="0"/>
              </a:rPr>
              <a:t> </a:t>
            </a:r>
            <a:r>
              <a:rPr lang="en-GB" dirty="0">
                <a:solidFill>
                  <a:srgbClr val="000000"/>
                </a:solidFill>
                <a:latin typeface="Lucida Console" pitchFamily="49" charset="0"/>
              </a:rPr>
              <a:t>=</a:t>
            </a:r>
            <a:r>
              <a:rPr lang="en-GB" dirty="0">
                <a:solidFill>
                  <a:srgbClr val="FF00FF"/>
                </a:solidFill>
                <a:latin typeface="Lucida Console" pitchFamily="49" charset="0"/>
              </a:rPr>
              <a:t> </a:t>
            </a:r>
            <a:r>
              <a:rPr lang="en-GB" dirty="0">
                <a:solidFill>
                  <a:srgbClr val="000000"/>
                </a:solidFill>
                <a:latin typeface="Lucida Console" pitchFamily="49" charset="0"/>
              </a:rPr>
              <a:t>++x; 	</a:t>
            </a:r>
            <a:r>
              <a:rPr lang="en-GB" b="1" dirty="0">
                <a:solidFill>
                  <a:schemeClr val="accent2">
                    <a:lumMod val="75000"/>
                  </a:schemeClr>
                </a:solidFill>
                <a:latin typeface="Lucida Console" pitchFamily="49" charset="0"/>
              </a:rPr>
              <a:t>// x=1, y=1</a:t>
            </a:r>
          </a:p>
        </p:txBody>
      </p:sp>
      <p:sp>
        <p:nvSpPr>
          <p:cNvPr id="14" name="Rectangle 4"/>
          <p:cNvSpPr>
            <a:spLocks noChangeArrowheads="1"/>
          </p:cNvSpPr>
          <p:nvPr/>
        </p:nvSpPr>
        <p:spPr bwMode="auto">
          <a:xfrm>
            <a:off x="1533051" y="2718809"/>
            <a:ext cx="5783889"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defRPr/>
            </a:pPr>
            <a:r>
              <a:rPr lang="en-GB" dirty="0">
                <a:solidFill>
                  <a:srgbClr val="0000C8"/>
                </a:solidFill>
                <a:latin typeface="Lucida Console" pitchFamily="49" charset="0"/>
              </a:rPr>
              <a:t>int</a:t>
            </a:r>
            <a:r>
              <a:rPr lang="en-GB" dirty="0">
                <a:latin typeface="Lucida Console" pitchFamily="49" charset="0"/>
              </a:rPr>
              <a:t> x = 0;</a:t>
            </a:r>
            <a:endParaRPr lang="en-GB" dirty="0">
              <a:solidFill>
                <a:srgbClr val="0000C8"/>
              </a:solidFill>
              <a:latin typeface="Lucida Console" pitchFamily="49" charset="0"/>
            </a:endParaRPr>
          </a:p>
          <a:p>
            <a:pPr defTabSz="739775" eaLnBrk="0" hangingPunct="0">
              <a:defRPr/>
            </a:pPr>
            <a:r>
              <a:rPr lang="en-GB" dirty="0">
                <a:solidFill>
                  <a:srgbClr val="0000C8"/>
                </a:solidFill>
                <a:latin typeface="Lucida Console" pitchFamily="49" charset="0"/>
              </a:rPr>
              <a:t>int </a:t>
            </a:r>
            <a:r>
              <a:rPr lang="en-GB" dirty="0">
                <a:solidFill>
                  <a:srgbClr val="000000"/>
                </a:solidFill>
                <a:latin typeface="Lucida Console" pitchFamily="49" charset="0"/>
              </a:rPr>
              <a:t>y</a:t>
            </a:r>
            <a:r>
              <a:rPr lang="en-GB" dirty="0">
                <a:solidFill>
                  <a:srgbClr val="FF00FF"/>
                </a:solidFill>
                <a:latin typeface="Lucida Console" pitchFamily="49" charset="0"/>
              </a:rPr>
              <a:t> </a:t>
            </a:r>
            <a:r>
              <a:rPr lang="en-GB" dirty="0">
                <a:solidFill>
                  <a:srgbClr val="000000"/>
                </a:solidFill>
                <a:latin typeface="Lucida Console" pitchFamily="49" charset="0"/>
              </a:rPr>
              <a:t>=</a:t>
            </a:r>
            <a:r>
              <a:rPr lang="en-GB" dirty="0">
                <a:solidFill>
                  <a:srgbClr val="FF00FF"/>
                </a:solidFill>
                <a:latin typeface="Lucida Console" pitchFamily="49" charset="0"/>
              </a:rPr>
              <a:t> </a:t>
            </a:r>
            <a:r>
              <a:rPr lang="en-GB" dirty="0">
                <a:solidFill>
                  <a:srgbClr val="000000"/>
                </a:solidFill>
                <a:latin typeface="Lucida Console" pitchFamily="49" charset="0"/>
              </a:rPr>
              <a:t>x++; 	</a:t>
            </a:r>
            <a:r>
              <a:rPr lang="en-GB" b="1" dirty="0">
                <a:solidFill>
                  <a:schemeClr val="accent2">
                    <a:lumMod val="75000"/>
                  </a:schemeClr>
                </a:solidFill>
                <a:latin typeface="Lucida Console" pitchFamily="49" charset="0"/>
              </a:rPr>
              <a:t>// x=1, y=0</a:t>
            </a:r>
          </a:p>
        </p:txBody>
      </p:sp>
    </p:spTree>
    <p:extLst>
      <p:ext uri="{BB962C8B-B14F-4D97-AF65-F5344CB8AC3E}">
        <p14:creationId xmlns:p14="http://schemas.microsoft.com/office/powerpoint/2010/main" val="362625076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24324"/>
                                        </p:tgtEl>
                                        <p:attrNameLst>
                                          <p:attrName>style.visibility</p:attrName>
                                        </p:attrNameLst>
                                      </p:cBhvr>
                                      <p:to>
                                        <p:strVal val="visible"/>
                                      </p:to>
                                    </p:set>
                                    <p:animEffect transition="in" filter="fade">
                                      <p:cBhvr>
                                        <p:cTn id="7" dur="500"/>
                                        <p:tgtEl>
                                          <p:spTgt spid="8243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324"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en-GB" dirty="0"/>
              <a:t>Casting</a:t>
            </a:r>
          </a:p>
        </p:txBody>
      </p:sp>
      <p:sp>
        <p:nvSpPr>
          <p:cNvPr id="21" name="Rectangle 29"/>
          <p:cNvSpPr>
            <a:spLocks noChangeArrowheads="1"/>
          </p:cNvSpPr>
          <p:nvPr/>
        </p:nvSpPr>
        <p:spPr bwMode="auto">
          <a:xfrm>
            <a:off x="1246454" y="1922119"/>
            <a:ext cx="3237398"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double</a:t>
            </a:r>
            <a:r>
              <a:rPr lang="en-GB" dirty="0">
                <a:latin typeface="Lucida Console" pitchFamily="49" charset="0"/>
              </a:rPr>
              <a:t> </a:t>
            </a:r>
            <a:r>
              <a:rPr lang="en-GB" dirty="0">
                <a:solidFill>
                  <a:srgbClr val="000000"/>
                </a:solidFill>
                <a:latin typeface="Lucida Console" pitchFamily="49" charset="0"/>
              </a:rPr>
              <a:t>d = 4.5;</a:t>
            </a:r>
          </a:p>
          <a:p>
            <a:pPr defTabSz="733425" eaLnBrk="0" hangingPunct="0">
              <a:tabLst>
                <a:tab pos="257175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int</a:t>
            </a:r>
            <a:r>
              <a:rPr lang="en-GB" dirty="0">
                <a:latin typeface="Lucida Console" pitchFamily="49" charset="0"/>
              </a:rPr>
              <a:t>  x</a:t>
            </a:r>
            <a:r>
              <a:rPr lang="en-GB" dirty="0">
                <a:solidFill>
                  <a:srgbClr val="000000"/>
                </a:solidFill>
                <a:latin typeface="Lucida Console" pitchFamily="49" charset="0"/>
              </a:rPr>
              <a:t> = d;</a:t>
            </a:r>
            <a:endParaRPr lang="en-GB" dirty="0">
              <a:latin typeface="Lucida Console" pitchFamily="49" charset="0"/>
            </a:endParaRPr>
          </a:p>
        </p:txBody>
      </p:sp>
      <p:sp>
        <p:nvSpPr>
          <p:cNvPr id="24" name="Rectangle 29"/>
          <p:cNvSpPr>
            <a:spLocks noChangeArrowheads="1"/>
          </p:cNvSpPr>
          <p:nvPr/>
        </p:nvSpPr>
        <p:spPr bwMode="auto">
          <a:xfrm>
            <a:off x="1246454" y="2934591"/>
            <a:ext cx="3212391" cy="643766"/>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long</a:t>
            </a:r>
            <a:r>
              <a:rPr lang="en-GB" dirty="0">
                <a:latin typeface="Lucida Console" pitchFamily="49" charset="0"/>
              </a:rPr>
              <a:t> </a:t>
            </a:r>
            <a:r>
              <a:rPr lang="en-GB" dirty="0" err="1">
                <a:solidFill>
                  <a:srgbClr val="000000"/>
                </a:solidFill>
                <a:latin typeface="Lucida Console" pitchFamily="49" charset="0"/>
              </a:rPr>
              <a:t>lng</a:t>
            </a:r>
            <a:r>
              <a:rPr lang="en-GB" dirty="0">
                <a:solidFill>
                  <a:srgbClr val="000000"/>
                </a:solidFill>
                <a:latin typeface="Lucida Console" pitchFamily="49" charset="0"/>
              </a:rPr>
              <a:t> = 5;</a:t>
            </a:r>
          </a:p>
          <a:p>
            <a:pPr defTabSz="733425" eaLnBrk="0" hangingPunct="0">
              <a:tabLst>
                <a:tab pos="2571750" algn="l"/>
              </a:tabLst>
              <a:defRPr/>
            </a:pPr>
            <a:r>
              <a:rPr lang="en-GB" dirty="0">
                <a:solidFill>
                  <a:srgbClr val="000000"/>
                </a:solidFill>
                <a:latin typeface="Lucida Console" pitchFamily="49" charset="0"/>
              </a:rPr>
              <a:t> </a:t>
            </a:r>
            <a:r>
              <a:rPr lang="en-GB" dirty="0" err="1">
                <a:solidFill>
                  <a:srgbClr val="0000C8"/>
                </a:solidFill>
                <a:latin typeface="Lucida Console" pitchFamily="49" charset="0"/>
              </a:rPr>
              <a:t>int</a:t>
            </a:r>
            <a:r>
              <a:rPr lang="en-GB" dirty="0">
                <a:latin typeface="Lucida Console" pitchFamily="49" charset="0"/>
              </a:rPr>
              <a:t>  x</a:t>
            </a:r>
            <a:r>
              <a:rPr lang="en-GB" dirty="0">
                <a:solidFill>
                  <a:srgbClr val="000000"/>
                </a:solidFill>
                <a:latin typeface="Lucida Console" pitchFamily="49" charset="0"/>
              </a:rPr>
              <a:t> = </a:t>
            </a:r>
            <a:r>
              <a:rPr lang="en-GB" dirty="0" err="1">
                <a:solidFill>
                  <a:srgbClr val="000000"/>
                </a:solidFill>
                <a:latin typeface="Lucida Console" pitchFamily="49" charset="0"/>
              </a:rPr>
              <a:t>lng</a:t>
            </a:r>
            <a:r>
              <a:rPr lang="en-GB" dirty="0">
                <a:solidFill>
                  <a:srgbClr val="000000"/>
                </a:solidFill>
                <a:latin typeface="Lucida Console" pitchFamily="49" charset="0"/>
              </a:rPr>
              <a:t>;</a:t>
            </a:r>
            <a:endParaRPr lang="en-GB" dirty="0">
              <a:latin typeface="Lucida Console" pitchFamily="49" charset="0"/>
            </a:endParaRPr>
          </a:p>
        </p:txBody>
      </p:sp>
      <p:sp>
        <p:nvSpPr>
          <p:cNvPr id="8" name="Rectangle 7">
            <a:extLst>
              <a:ext uri="{FF2B5EF4-FFF2-40B4-BE49-F238E27FC236}">
                <a16:creationId xmlns:a16="http://schemas.microsoft.com/office/drawing/2014/main" id="{EB8BFC0F-A83B-93AE-F6C5-36542A01A25A}"/>
              </a:ext>
            </a:extLst>
          </p:cNvPr>
          <p:cNvSpPr/>
          <p:nvPr/>
        </p:nvSpPr>
        <p:spPr>
          <a:xfrm>
            <a:off x="3915106" y="2703233"/>
            <a:ext cx="543739" cy="769441"/>
          </a:xfrm>
          <a:prstGeom prst="rect">
            <a:avLst/>
          </a:prstGeom>
          <a:noFill/>
          <a:ln>
            <a:noFill/>
          </a:ln>
          <a:effectLst>
            <a:outerShdw blurRad="50800" dist="38100" algn="l" rotWithShape="0">
              <a:prstClr val="black">
                <a:alpha val="40000"/>
              </a:prstClr>
            </a:outerShdw>
          </a:effectLst>
        </p:spPr>
        <p:txBody>
          <a:bodyPr wrap="none">
            <a:spAutoFit/>
          </a:bodyPr>
          <a:lstStyle/>
          <a:p>
            <a:r>
              <a:rPr lang="en-GB" sz="4400" dirty="0">
                <a:solidFill>
                  <a:srgbClr val="FF0000"/>
                </a:solidFill>
                <a:latin typeface="Consolas" panose="020B0609020204030204" pitchFamily="49" charset="0"/>
                <a:sym typeface="Wingdings" panose="05000000000000000000" pitchFamily="2" charset="2"/>
              </a:rPr>
              <a:t></a:t>
            </a:r>
            <a:endParaRPr lang="en-GB" sz="4400" dirty="0"/>
          </a:p>
        </p:txBody>
      </p:sp>
      <p:sp>
        <p:nvSpPr>
          <p:cNvPr id="10" name="Rectangle 9">
            <a:extLst>
              <a:ext uri="{FF2B5EF4-FFF2-40B4-BE49-F238E27FC236}">
                <a16:creationId xmlns:a16="http://schemas.microsoft.com/office/drawing/2014/main" id="{065A6857-F456-E939-C9D5-D7957A77BD3D}"/>
              </a:ext>
            </a:extLst>
          </p:cNvPr>
          <p:cNvSpPr/>
          <p:nvPr/>
        </p:nvSpPr>
        <p:spPr>
          <a:xfrm>
            <a:off x="3941772" y="1824199"/>
            <a:ext cx="543739" cy="769441"/>
          </a:xfrm>
          <a:prstGeom prst="rect">
            <a:avLst/>
          </a:prstGeom>
          <a:noFill/>
          <a:ln>
            <a:noFill/>
          </a:ln>
          <a:effectLst>
            <a:outerShdw blurRad="50800" dist="38100" algn="l" rotWithShape="0">
              <a:prstClr val="black">
                <a:alpha val="40000"/>
              </a:prstClr>
            </a:outerShdw>
          </a:effectLst>
        </p:spPr>
        <p:txBody>
          <a:bodyPr wrap="none">
            <a:spAutoFit/>
          </a:bodyPr>
          <a:lstStyle/>
          <a:p>
            <a:r>
              <a:rPr lang="en-GB" sz="4400" dirty="0">
                <a:solidFill>
                  <a:srgbClr val="FF0000"/>
                </a:solidFill>
                <a:latin typeface="Consolas" panose="020B0609020204030204" pitchFamily="49" charset="0"/>
                <a:sym typeface="Wingdings" panose="05000000000000000000" pitchFamily="2" charset="2"/>
              </a:rPr>
              <a:t></a:t>
            </a:r>
            <a:endParaRPr lang="en-GB" sz="4400" dirty="0"/>
          </a:p>
        </p:txBody>
      </p:sp>
      <p:sp>
        <p:nvSpPr>
          <p:cNvPr id="4" name="Rectangle 29">
            <a:extLst>
              <a:ext uri="{FF2B5EF4-FFF2-40B4-BE49-F238E27FC236}">
                <a16:creationId xmlns:a16="http://schemas.microsoft.com/office/drawing/2014/main" id="{1939CF5D-B670-3FBF-B98C-97DB7F932CD5}"/>
              </a:ext>
            </a:extLst>
          </p:cNvPr>
          <p:cNvSpPr>
            <a:spLocks noChangeArrowheads="1"/>
          </p:cNvSpPr>
          <p:nvPr/>
        </p:nvSpPr>
        <p:spPr bwMode="auto">
          <a:xfrm>
            <a:off x="1246454" y="3999223"/>
            <a:ext cx="3212391" cy="366767"/>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float</a:t>
            </a:r>
            <a:r>
              <a:rPr lang="en-GB" dirty="0">
                <a:latin typeface="Lucida Console" pitchFamily="49" charset="0"/>
              </a:rPr>
              <a:t> </a:t>
            </a:r>
            <a:r>
              <a:rPr lang="en-GB" dirty="0">
                <a:solidFill>
                  <a:srgbClr val="000000"/>
                </a:solidFill>
                <a:latin typeface="Lucida Console" pitchFamily="49" charset="0"/>
              </a:rPr>
              <a:t>f = 4.5;</a:t>
            </a:r>
          </a:p>
        </p:txBody>
      </p:sp>
      <p:sp>
        <p:nvSpPr>
          <p:cNvPr id="5" name="Rectangle 4">
            <a:extLst>
              <a:ext uri="{FF2B5EF4-FFF2-40B4-BE49-F238E27FC236}">
                <a16:creationId xmlns:a16="http://schemas.microsoft.com/office/drawing/2014/main" id="{7B5F2DB8-AB5A-C568-5180-7A4D57ED21BA}"/>
              </a:ext>
            </a:extLst>
          </p:cNvPr>
          <p:cNvSpPr/>
          <p:nvPr/>
        </p:nvSpPr>
        <p:spPr>
          <a:xfrm>
            <a:off x="3945019" y="3797538"/>
            <a:ext cx="543739" cy="769441"/>
          </a:xfrm>
          <a:prstGeom prst="rect">
            <a:avLst/>
          </a:prstGeom>
          <a:noFill/>
          <a:ln>
            <a:noFill/>
          </a:ln>
          <a:effectLst>
            <a:outerShdw blurRad="50800" dist="38100" algn="l" rotWithShape="0">
              <a:prstClr val="black">
                <a:alpha val="40000"/>
              </a:prstClr>
            </a:outerShdw>
          </a:effectLst>
        </p:spPr>
        <p:txBody>
          <a:bodyPr wrap="none">
            <a:spAutoFit/>
          </a:bodyPr>
          <a:lstStyle/>
          <a:p>
            <a:r>
              <a:rPr lang="en-GB" sz="4400" dirty="0">
                <a:solidFill>
                  <a:srgbClr val="FF0000"/>
                </a:solidFill>
                <a:latin typeface="Consolas" panose="020B0609020204030204" pitchFamily="49" charset="0"/>
                <a:sym typeface="Wingdings" panose="05000000000000000000" pitchFamily="2" charset="2"/>
              </a:rPr>
              <a:t></a:t>
            </a:r>
            <a:endParaRPr lang="en-GB" sz="4400" dirty="0"/>
          </a:p>
        </p:txBody>
      </p:sp>
      <p:sp>
        <p:nvSpPr>
          <p:cNvPr id="30" name="Rectangle 29">
            <a:extLst>
              <a:ext uri="{FF2B5EF4-FFF2-40B4-BE49-F238E27FC236}">
                <a16:creationId xmlns:a16="http://schemas.microsoft.com/office/drawing/2014/main" id="{FF8FA123-17BB-A5A3-26A2-CFF51A298107}"/>
              </a:ext>
            </a:extLst>
          </p:cNvPr>
          <p:cNvSpPr>
            <a:spLocks noChangeArrowheads="1"/>
          </p:cNvSpPr>
          <p:nvPr/>
        </p:nvSpPr>
        <p:spPr bwMode="auto">
          <a:xfrm>
            <a:off x="4959187" y="1918875"/>
            <a:ext cx="3640063" cy="643766"/>
          </a:xfrm>
          <a:prstGeom prst="rect">
            <a:avLst/>
          </a:prstGeom>
          <a:solidFill>
            <a:schemeClr val="accent5">
              <a:lumMod val="20000"/>
              <a:lumOff val="80000"/>
            </a:schemeClr>
          </a:solidFill>
          <a:ln w="19050">
            <a:noFill/>
            <a:miter lim="800000"/>
            <a:headEnd/>
            <a:tailEnd/>
          </a:ln>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double</a:t>
            </a:r>
            <a:r>
              <a:rPr lang="en-GB" dirty="0">
                <a:latin typeface="Lucida Console" pitchFamily="49" charset="0"/>
              </a:rPr>
              <a:t> </a:t>
            </a:r>
            <a:r>
              <a:rPr lang="en-GB" dirty="0">
                <a:solidFill>
                  <a:srgbClr val="000000"/>
                </a:solidFill>
                <a:latin typeface="Lucida Console" pitchFamily="49" charset="0"/>
              </a:rPr>
              <a:t>d = 4.5;</a:t>
            </a:r>
          </a:p>
          <a:p>
            <a:pPr defTabSz="733425" eaLnBrk="0" hangingPunct="0">
              <a:tabLst>
                <a:tab pos="257175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int</a:t>
            </a:r>
            <a:r>
              <a:rPr lang="en-GB" dirty="0">
                <a:latin typeface="Lucida Console" pitchFamily="49" charset="0"/>
              </a:rPr>
              <a:t>  x</a:t>
            </a:r>
            <a:r>
              <a:rPr lang="en-GB" dirty="0">
                <a:solidFill>
                  <a:srgbClr val="000000"/>
                </a:solidFill>
                <a:latin typeface="Lucida Console" pitchFamily="49" charset="0"/>
              </a:rPr>
              <a:t> = </a:t>
            </a:r>
            <a:r>
              <a:rPr lang="en-GB" dirty="0">
                <a:solidFill>
                  <a:srgbClr val="0000C8"/>
                </a:solidFill>
                <a:latin typeface="Lucida Console" pitchFamily="49" charset="0"/>
              </a:rPr>
              <a:t>(int) </a:t>
            </a:r>
            <a:r>
              <a:rPr lang="en-GB" dirty="0">
                <a:solidFill>
                  <a:srgbClr val="000000"/>
                </a:solidFill>
                <a:latin typeface="Lucida Console" pitchFamily="49" charset="0"/>
              </a:rPr>
              <a:t>d;</a:t>
            </a:r>
            <a:endParaRPr lang="en-GB" dirty="0">
              <a:latin typeface="Lucida Console" pitchFamily="49" charset="0"/>
            </a:endParaRPr>
          </a:p>
        </p:txBody>
      </p:sp>
      <p:sp>
        <p:nvSpPr>
          <p:cNvPr id="31" name="Rectangle 29">
            <a:extLst>
              <a:ext uri="{FF2B5EF4-FFF2-40B4-BE49-F238E27FC236}">
                <a16:creationId xmlns:a16="http://schemas.microsoft.com/office/drawing/2014/main" id="{6A3C9CC9-9C95-4745-7422-492981A75E82}"/>
              </a:ext>
            </a:extLst>
          </p:cNvPr>
          <p:cNvSpPr>
            <a:spLocks noChangeArrowheads="1"/>
          </p:cNvSpPr>
          <p:nvPr/>
        </p:nvSpPr>
        <p:spPr bwMode="auto">
          <a:xfrm>
            <a:off x="4959188" y="2931347"/>
            <a:ext cx="3640063" cy="643766"/>
          </a:xfrm>
          <a:prstGeom prst="rect">
            <a:avLst/>
          </a:prstGeom>
          <a:solidFill>
            <a:schemeClr val="accent5">
              <a:lumMod val="20000"/>
              <a:lumOff val="80000"/>
            </a:schemeClr>
          </a:solidFill>
          <a:ln w="19050">
            <a:noFill/>
            <a:miter lim="800000"/>
            <a:headEnd/>
            <a:tailEnd/>
          </a:ln>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long</a:t>
            </a:r>
            <a:r>
              <a:rPr lang="en-GB" dirty="0">
                <a:latin typeface="Lucida Console" pitchFamily="49" charset="0"/>
              </a:rPr>
              <a:t> </a:t>
            </a:r>
            <a:r>
              <a:rPr lang="en-GB" dirty="0" err="1">
                <a:solidFill>
                  <a:srgbClr val="000000"/>
                </a:solidFill>
                <a:latin typeface="Lucida Console" pitchFamily="49" charset="0"/>
              </a:rPr>
              <a:t>lng</a:t>
            </a:r>
            <a:r>
              <a:rPr lang="en-GB" dirty="0">
                <a:solidFill>
                  <a:srgbClr val="000000"/>
                </a:solidFill>
                <a:latin typeface="Lucida Console" pitchFamily="49" charset="0"/>
              </a:rPr>
              <a:t> = 5;</a:t>
            </a:r>
          </a:p>
          <a:p>
            <a:pPr defTabSz="733425" eaLnBrk="0" hangingPunct="0">
              <a:tabLst>
                <a:tab pos="2571750" algn="l"/>
              </a:tabLst>
              <a:defRPr/>
            </a:pPr>
            <a:r>
              <a:rPr lang="en-GB" dirty="0">
                <a:solidFill>
                  <a:srgbClr val="000000"/>
                </a:solidFill>
                <a:latin typeface="Lucida Console" pitchFamily="49" charset="0"/>
              </a:rPr>
              <a:t> </a:t>
            </a:r>
            <a:r>
              <a:rPr lang="en-GB" dirty="0">
                <a:solidFill>
                  <a:srgbClr val="0000C8"/>
                </a:solidFill>
                <a:latin typeface="Lucida Console" pitchFamily="49" charset="0"/>
              </a:rPr>
              <a:t>int</a:t>
            </a:r>
            <a:r>
              <a:rPr lang="en-GB" dirty="0">
                <a:latin typeface="Lucida Console" pitchFamily="49" charset="0"/>
              </a:rPr>
              <a:t>  x</a:t>
            </a:r>
            <a:r>
              <a:rPr lang="en-GB" dirty="0">
                <a:solidFill>
                  <a:srgbClr val="000000"/>
                </a:solidFill>
                <a:latin typeface="Lucida Console" pitchFamily="49" charset="0"/>
              </a:rPr>
              <a:t> = </a:t>
            </a:r>
            <a:r>
              <a:rPr lang="en-GB" dirty="0">
                <a:solidFill>
                  <a:srgbClr val="0000C8"/>
                </a:solidFill>
                <a:latin typeface="Lucida Console" pitchFamily="49" charset="0"/>
              </a:rPr>
              <a:t>(int)</a:t>
            </a:r>
            <a:r>
              <a:rPr lang="en-GB" dirty="0" err="1">
                <a:solidFill>
                  <a:srgbClr val="000000"/>
                </a:solidFill>
                <a:latin typeface="Lucida Console" pitchFamily="49" charset="0"/>
              </a:rPr>
              <a:t>lng</a:t>
            </a:r>
            <a:r>
              <a:rPr lang="en-GB" dirty="0">
                <a:solidFill>
                  <a:srgbClr val="000000"/>
                </a:solidFill>
                <a:latin typeface="Lucida Console" pitchFamily="49" charset="0"/>
              </a:rPr>
              <a:t>;</a:t>
            </a:r>
            <a:endParaRPr lang="en-GB" dirty="0">
              <a:latin typeface="Lucida Console" pitchFamily="49" charset="0"/>
            </a:endParaRPr>
          </a:p>
        </p:txBody>
      </p:sp>
      <p:sp>
        <p:nvSpPr>
          <p:cNvPr id="34" name="Rectangle 29">
            <a:extLst>
              <a:ext uri="{FF2B5EF4-FFF2-40B4-BE49-F238E27FC236}">
                <a16:creationId xmlns:a16="http://schemas.microsoft.com/office/drawing/2014/main" id="{4E074153-344C-2A96-99E1-6CE449FD9933}"/>
              </a:ext>
            </a:extLst>
          </p:cNvPr>
          <p:cNvSpPr>
            <a:spLocks noChangeArrowheads="1"/>
          </p:cNvSpPr>
          <p:nvPr/>
        </p:nvSpPr>
        <p:spPr bwMode="auto">
          <a:xfrm>
            <a:off x="4959188" y="3995979"/>
            <a:ext cx="3640063" cy="674544"/>
          </a:xfrm>
          <a:prstGeom prst="rect">
            <a:avLst/>
          </a:prstGeom>
          <a:solidFill>
            <a:schemeClr val="accent5">
              <a:lumMod val="20000"/>
              <a:lumOff val="80000"/>
            </a:schemeClr>
          </a:solidFill>
          <a:ln w="19050">
            <a:noFill/>
            <a:miter lim="800000"/>
            <a:headEnd/>
            <a:tailEnd/>
          </a:ln>
          <a:effectLst/>
        </p:spPr>
        <p:txBody>
          <a:bodyPr wrap="square" lIns="90488" tIns="44450" rIns="90488" bIns="44450">
            <a:spAutoFit/>
          </a:bodyPr>
          <a:lstStyle/>
          <a:p>
            <a:pPr defTabSz="733425" eaLnBrk="0" hangingPunct="0">
              <a:tabLst>
                <a:tab pos="2571750" algn="l"/>
              </a:tabLst>
              <a:defRPr/>
            </a:pPr>
            <a:r>
              <a:rPr lang="en-GB" dirty="0">
                <a:solidFill>
                  <a:srgbClr val="0000C8"/>
                </a:solidFill>
                <a:latin typeface="Lucida Console" pitchFamily="49" charset="0"/>
              </a:rPr>
              <a:t> float</a:t>
            </a:r>
            <a:r>
              <a:rPr lang="en-GB" dirty="0">
                <a:latin typeface="Lucida Console" pitchFamily="49" charset="0"/>
              </a:rPr>
              <a:t> </a:t>
            </a:r>
            <a:r>
              <a:rPr lang="en-GB" dirty="0">
                <a:solidFill>
                  <a:srgbClr val="000000"/>
                </a:solidFill>
                <a:latin typeface="Lucida Console" pitchFamily="49" charset="0"/>
              </a:rPr>
              <a:t>f = </a:t>
            </a:r>
            <a:r>
              <a:rPr lang="en-GB" dirty="0">
                <a:solidFill>
                  <a:srgbClr val="0000C8"/>
                </a:solidFill>
                <a:latin typeface="Lucida Console" pitchFamily="49" charset="0"/>
              </a:rPr>
              <a:t>(float) </a:t>
            </a:r>
            <a:r>
              <a:rPr lang="en-GB" dirty="0">
                <a:solidFill>
                  <a:srgbClr val="000000"/>
                </a:solidFill>
                <a:latin typeface="Lucida Console" pitchFamily="49" charset="0"/>
              </a:rPr>
              <a:t>4.5;</a:t>
            </a:r>
          </a:p>
          <a:p>
            <a:pPr defTabSz="733425" eaLnBrk="0" hangingPunct="0">
              <a:tabLst>
                <a:tab pos="2571750" algn="l"/>
              </a:tabLst>
              <a:defRPr/>
            </a:pPr>
            <a:r>
              <a:rPr lang="en-GB" dirty="0">
                <a:solidFill>
                  <a:srgbClr val="000000"/>
                </a:solidFill>
                <a:latin typeface="Lucida Console" pitchFamily="49" charset="0"/>
              </a:rPr>
              <a:t>       f = 6.75</a:t>
            </a:r>
            <a:r>
              <a:rPr lang="en-GB" sz="2000" dirty="0">
                <a:solidFill>
                  <a:srgbClr val="C00000"/>
                </a:solidFill>
                <a:latin typeface="Lucida Console" pitchFamily="49" charset="0"/>
              </a:rPr>
              <a:t>F</a:t>
            </a:r>
            <a:r>
              <a:rPr lang="en-GB" dirty="0">
                <a:solidFill>
                  <a:srgbClr val="000000"/>
                </a:solidFill>
                <a:latin typeface="Lucida Console" pitchFamily="49" charset="0"/>
              </a:rPr>
              <a:t>;</a:t>
            </a:r>
          </a:p>
        </p:txBody>
      </p:sp>
    </p:spTree>
    <p:extLst>
      <p:ext uri="{BB962C8B-B14F-4D97-AF65-F5344CB8AC3E}">
        <p14:creationId xmlns:p14="http://schemas.microsoft.com/office/powerpoint/2010/main" val="3377026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1"/>
                                        </p:tgtEl>
                                        <p:attrNameLst>
                                          <p:attrName>style.visibility</p:attrName>
                                        </p:attrNameLst>
                                      </p:cBhvr>
                                      <p:to>
                                        <p:strVal val="visible"/>
                                      </p:to>
                                    </p:set>
                                    <p:animEffect transition="in" filter="fade">
                                      <p:cBhvr>
                                        <p:cTn id="1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Casting strings</a:t>
            </a:r>
          </a:p>
        </p:txBody>
      </p:sp>
      <p:sp>
        <p:nvSpPr>
          <p:cNvPr id="4" name="TextBox 3">
            <a:extLst>
              <a:ext uri="{FF2B5EF4-FFF2-40B4-BE49-F238E27FC236}">
                <a16:creationId xmlns:a16="http://schemas.microsoft.com/office/drawing/2014/main" id="{3525903A-B8A5-A942-85B2-F57498F2DA4F}"/>
              </a:ext>
            </a:extLst>
          </p:cNvPr>
          <p:cNvSpPr txBox="1"/>
          <p:nvPr/>
        </p:nvSpPr>
        <p:spPr>
          <a:xfrm>
            <a:off x="1247215" y="1557679"/>
            <a:ext cx="6780679" cy="4614789"/>
          </a:xfrm>
          <a:prstGeom prst="rect">
            <a:avLst/>
          </a:prstGeom>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buNone/>
            </a:pPr>
            <a:r>
              <a:rPr lang="en-GB" b="1" dirty="0">
                <a:solidFill>
                  <a:srgbClr val="000000"/>
                </a:solidFill>
                <a:effectLst/>
                <a:latin typeface="Cascadia Mono" panose="020B0609020000020004" pitchFamily="49" charset="0"/>
              </a:rPr>
              <a:t> </a:t>
            </a:r>
            <a:r>
              <a:rPr lang="en-GB" b="1" dirty="0">
                <a:solidFill>
                  <a:srgbClr val="0000FF"/>
                </a:solidFill>
                <a:effectLst/>
                <a:latin typeface="Cascadia Mono" panose="020B0609020000020004" pitchFamily="49" charset="0"/>
              </a:rPr>
              <a:t>int</a:t>
            </a:r>
            <a:r>
              <a:rPr lang="en-GB" b="1" dirty="0">
                <a:solidFill>
                  <a:srgbClr val="000000"/>
                </a:solidFill>
                <a:effectLst/>
                <a:latin typeface="Cascadia Mono" panose="020B0609020000020004" pitchFamily="49" charset="0"/>
              </a:rPr>
              <a:t> </a:t>
            </a:r>
            <a:r>
              <a:rPr lang="en-GB" b="1" dirty="0">
                <a:solidFill>
                  <a:srgbClr val="1F377F"/>
                </a:solidFill>
                <a:effectLst/>
                <a:latin typeface="Cascadia Mono" panose="020B0609020000020004" pitchFamily="49" charset="0"/>
              </a:rPr>
              <a:t>age</a:t>
            </a:r>
            <a:r>
              <a:rPr lang="en-GB" b="1" dirty="0">
                <a:solidFill>
                  <a:srgbClr val="000000"/>
                </a:solidFill>
                <a:effectLst/>
                <a:latin typeface="Cascadia Mono" panose="020B0609020000020004" pitchFamily="49" charset="0"/>
              </a:rPr>
              <a:t>;</a:t>
            </a:r>
          </a:p>
          <a:p>
            <a:pPr>
              <a:lnSpc>
                <a:spcPct val="150000"/>
              </a:lnSpc>
              <a:buNone/>
            </a:pPr>
            <a:r>
              <a:rPr lang="en-GB" b="1" dirty="0">
                <a:solidFill>
                  <a:srgbClr val="000000"/>
                </a:solidFill>
                <a:effectLst/>
                <a:latin typeface="Cascadia Mono" panose="020B0609020000020004" pitchFamily="49" charset="0"/>
              </a:rPr>
              <a:t> </a:t>
            </a:r>
            <a:r>
              <a:rPr lang="en-GB" b="1" dirty="0">
                <a:solidFill>
                  <a:srgbClr val="0000FF"/>
                </a:solidFill>
                <a:effectLst/>
                <a:latin typeface="Cascadia Mono" panose="020B0609020000020004" pitchFamily="49" charset="0"/>
              </a:rPr>
              <a:t>double</a:t>
            </a:r>
            <a:r>
              <a:rPr lang="en-GB" b="1" dirty="0">
                <a:solidFill>
                  <a:srgbClr val="000000"/>
                </a:solidFill>
                <a:effectLst/>
                <a:latin typeface="Cascadia Mono" panose="020B0609020000020004" pitchFamily="49" charset="0"/>
              </a:rPr>
              <a:t> </a:t>
            </a:r>
            <a:r>
              <a:rPr lang="en-GB" b="1" dirty="0">
                <a:solidFill>
                  <a:srgbClr val="1F377F"/>
                </a:solidFill>
                <a:effectLst/>
                <a:latin typeface="Cascadia Mono" panose="020B0609020000020004" pitchFamily="49" charset="0"/>
              </a:rPr>
              <a:t>salary</a:t>
            </a:r>
            <a:r>
              <a:rPr lang="en-GB" b="1" dirty="0">
                <a:solidFill>
                  <a:srgbClr val="000000"/>
                </a:solidFill>
                <a:effectLst/>
                <a:latin typeface="Cascadia Mono" panose="020B0609020000020004" pitchFamily="49" charset="0"/>
              </a:rPr>
              <a:t>;</a:t>
            </a:r>
          </a:p>
          <a:p>
            <a:pPr>
              <a:lnSpc>
                <a:spcPct val="150000"/>
              </a:lnSpc>
              <a:buNone/>
            </a:pPr>
            <a:r>
              <a:rPr lang="en-GB" b="1" dirty="0">
                <a:solidFill>
                  <a:srgbClr val="000000"/>
                </a:solidFill>
                <a:effectLst/>
                <a:latin typeface="Cascadia Mono" panose="020B0609020000020004" pitchFamily="49" charset="0"/>
              </a:rPr>
              <a:t> </a:t>
            </a:r>
            <a:r>
              <a:rPr lang="en-GB" b="1" dirty="0" err="1">
                <a:solidFill>
                  <a:srgbClr val="2B91AF"/>
                </a:solidFill>
                <a:effectLst/>
                <a:latin typeface="Cascadia Mono" panose="020B0609020000020004" pitchFamily="49" charset="0"/>
              </a:rPr>
              <a:t>Console</a:t>
            </a:r>
            <a:r>
              <a:rPr lang="en-GB" b="1" dirty="0" err="1">
                <a:solidFill>
                  <a:srgbClr val="000000"/>
                </a:solidFill>
                <a:effectLst/>
                <a:latin typeface="Cascadia Mono" panose="020B0609020000020004" pitchFamily="49" charset="0"/>
              </a:rPr>
              <a:t>.</a:t>
            </a:r>
            <a:r>
              <a:rPr lang="en-GB" b="1" dirty="0" err="1">
                <a:solidFill>
                  <a:srgbClr val="74531F"/>
                </a:solidFill>
                <a:effectLst/>
                <a:latin typeface="Cascadia Mono" panose="020B0609020000020004" pitchFamily="49" charset="0"/>
              </a:rPr>
              <a:t>Write</a:t>
            </a:r>
            <a:r>
              <a:rPr lang="en-GB" b="1" dirty="0">
                <a:solidFill>
                  <a:srgbClr val="000000"/>
                </a:solidFill>
                <a:effectLst/>
                <a:latin typeface="Cascadia Mono" panose="020B0609020000020004" pitchFamily="49" charset="0"/>
              </a:rPr>
              <a:t>(</a:t>
            </a:r>
            <a:r>
              <a:rPr lang="en-GB" b="1" dirty="0">
                <a:solidFill>
                  <a:srgbClr val="A31515"/>
                </a:solidFill>
                <a:effectLst/>
                <a:latin typeface="Cascadia Mono" panose="020B0609020000020004" pitchFamily="49" charset="0"/>
              </a:rPr>
              <a:t>"What is your age? "</a:t>
            </a:r>
            <a:r>
              <a:rPr lang="en-GB" b="1" dirty="0">
                <a:solidFill>
                  <a:srgbClr val="000000"/>
                </a:solidFill>
                <a:effectLst/>
                <a:latin typeface="Cascadia Mono" panose="020B0609020000020004" pitchFamily="49" charset="0"/>
              </a:rPr>
              <a:t>);</a:t>
            </a:r>
          </a:p>
          <a:p>
            <a:pPr>
              <a:lnSpc>
                <a:spcPct val="150000"/>
              </a:lnSpc>
              <a:buNone/>
            </a:pPr>
            <a:r>
              <a:rPr lang="en-GB" b="1" dirty="0">
                <a:solidFill>
                  <a:srgbClr val="000000"/>
                </a:solidFill>
                <a:effectLst/>
                <a:latin typeface="Cascadia Mono" panose="020B0609020000020004" pitchFamily="49" charset="0"/>
              </a:rPr>
              <a:t> </a:t>
            </a:r>
            <a:r>
              <a:rPr lang="en-GB" b="1" dirty="0">
                <a:solidFill>
                  <a:srgbClr val="0000FF"/>
                </a:solidFill>
                <a:effectLst/>
                <a:latin typeface="Cascadia Mono" panose="020B0609020000020004" pitchFamily="49" charset="0"/>
              </a:rPr>
              <a:t>string</a:t>
            </a:r>
            <a:r>
              <a:rPr lang="en-GB" b="1" dirty="0">
                <a:solidFill>
                  <a:srgbClr val="000000"/>
                </a:solidFill>
                <a:effectLst/>
                <a:latin typeface="Cascadia Mono" panose="020B0609020000020004" pitchFamily="49" charset="0"/>
              </a:rPr>
              <a:t> </a:t>
            </a:r>
            <a:r>
              <a:rPr lang="en-GB" b="1" dirty="0" err="1">
                <a:solidFill>
                  <a:srgbClr val="1F377F"/>
                </a:solidFill>
                <a:effectLst/>
                <a:latin typeface="Cascadia Mono" panose="020B0609020000020004" pitchFamily="49" charset="0"/>
              </a:rPr>
              <a:t>ans</a:t>
            </a:r>
            <a:r>
              <a:rPr lang="en-GB" b="1" dirty="0">
                <a:solidFill>
                  <a:srgbClr val="000000"/>
                </a:solidFill>
                <a:effectLst/>
                <a:latin typeface="Cascadia Mono" panose="020B0609020000020004" pitchFamily="49" charset="0"/>
              </a:rPr>
              <a:t> = </a:t>
            </a:r>
            <a:r>
              <a:rPr lang="en-GB" b="1" dirty="0" err="1">
                <a:solidFill>
                  <a:srgbClr val="2B91AF"/>
                </a:solidFill>
                <a:effectLst/>
                <a:latin typeface="Cascadia Mono" panose="020B0609020000020004" pitchFamily="49" charset="0"/>
              </a:rPr>
              <a:t>Console</a:t>
            </a:r>
            <a:r>
              <a:rPr lang="en-GB" b="1" dirty="0" err="1">
                <a:solidFill>
                  <a:srgbClr val="000000"/>
                </a:solidFill>
                <a:effectLst/>
                <a:latin typeface="Cascadia Mono" panose="020B0609020000020004" pitchFamily="49" charset="0"/>
              </a:rPr>
              <a:t>.</a:t>
            </a:r>
            <a:r>
              <a:rPr lang="en-GB" b="1" dirty="0" err="1">
                <a:solidFill>
                  <a:srgbClr val="74531F"/>
                </a:solidFill>
                <a:effectLst/>
                <a:latin typeface="Cascadia Mono" panose="020B0609020000020004" pitchFamily="49" charset="0"/>
              </a:rPr>
              <a:t>ReadLine</a:t>
            </a:r>
            <a:r>
              <a:rPr lang="en-GB" b="1" dirty="0">
                <a:solidFill>
                  <a:srgbClr val="000000"/>
                </a:solidFill>
                <a:effectLst/>
                <a:latin typeface="Cascadia Mono" panose="020B0609020000020004" pitchFamily="49" charset="0"/>
              </a:rPr>
              <a:t>();</a:t>
            </a:r>
          </a:p>
          <a:p>
            <a:pPr>
              <a:lnSpc>
                <a:spcPct val="150000"/>
              </a:lnSpc>
              <a:buNone/>
            </a:pPr>
            <a:r>
              <a:rPr lang="en-GB" b="1" dirty="0">
                <a:solidFill>
                  <a:srgbClr val="000000"/>
                </a:solidFill>
                <a:effectLst/>
                <a:latin typeface="Cascadia Mono" panose="020B0609020000020004" pitchFamily="49" charset="0"/>
              </a:rPr>
              <a:t> </a:t>
            </a:r>
            <a:r>
              <a:rPr lang="en-GB" b="1" dirty="0">
                <a:solidFill>
                  <a:srgbClr val="1F377F"/>
                </a:solidFill>
                <a:effectLst/>
                <a:latin typeface="Cascadia Mono" panose="020B0609020000020004" pitchFamily="49" charset="0"/>
              </a:rPr>
              <a:t>age</a:t>
            </a:r>
            <a:r>
              <a:rPr lang="en-GB" b="1" dirty="0">
                <a:solidFill>
                  <a:srgbClr val="000000"/>
                </a:solidFill>
                <a:effectLst/>
                <a:latin typeface="Cascadia Mono" panose="020B0609020000020004" pitchFamily="49" charset="0"/>
              </a:rPr>
              <a:t> = </a:t>
            </a:r>
            <a:r>
              <a:rPr lang="en-GB" b="1" dirty="0" err="1">
                <a:solidFill>
                  <a:srgbClr val="0000FF"/>
                </a:solidFill>
                <a:effectLst/>
                <a:latin typeface="Cascadia Mono" panose="020B0609020000020004" pitchFamily="49" charset="0"/>
              </a:rPr>
              <a:t>int</a:t>
            </a:r>
            <a:r>
              <a:rPr lang="en-GB" b="1" dirty="0" err="1">
                <a:solidFill>
                  <a:srgbClr val="000000"/>
                </a:solidFill>
                <a:effectLst/>
                <a:latin typeface="Cascadia Mono" panose="020B0609020000020004" pitchFamily="49" charset="0"/>
              </a:rPr>
              <a:t>.</a:t>
            </a:r>
            <a:r>
              <a:rPr lang="en-GB" b="1" dirty="0" err="1">
                <a:solidFill>
                  <a:srgbClr val="74531F"/>
                </a:solidFill>
                <a:effectLst/>
                <a:latin typeface="Cascadia Mono" panose="020B0609020000020004" pitchFamily="49" charset="0"/>
              </a:rPr>
              <a:t>Parse</a:t>
            </a:r>
            <a:r>
              <a:rPr lang="en-GB" b="1" dirty="0">
                <a:solidFill>
                  <a:srgbClr val="000000"/>
                </a:solidFill>
                <a:effectLst/>
                <a:latin typeface="Cascadia Mono" panose="020B0609020000020004" pitchFamily="49" charset="0"/>
              </a:rPr>
              <a:t>(</a:t>
            </a:r>
            <a:r>
              <a:rPr lang="en-GB" b="1" dirty="0" err="1">
                <a:solidFill>
                  <a:srgbClr val="1F377F"/>
                </a:solidFill>
                <a:effectLst/>
                <a:latin typeface="Cascadia Mono" panose="020B0609020000020004" pitchFamily="49" charset="0"/>
              </a:rPr>
              <a:t>ans</a:t>
            </a:r>
            <a:r>
              <a:rPr lang="en-GB" b="1" dirty="0">
                <a:solidFill>
                  <a:srgbClr val="000000"/>
                </a:solidFill>
                <a:effectLst/>
                <a:latin typeface="Cascadia Mono" panose="020B0609020000020004" pitchFamily="49" charset="0"/>
              </a:rPr>
              <a:t>);</a:t>
            </a:r>
          </a:p>
          <a:p>
            <a:pPr>
              <a:lnSpc>
                <a:spcPct val="150000"/>
              </a:lnSpc>
              <a:buNone/>
            </a:pPr>
            <a:endParaRPr lang="en-GB" b="1" dirty="0">
              <a:solidFill>
                <a:srgbClr val="000000"/>
              </a:solidFill>
              <a:effectLst/>
              <a:latin typeface="Cascadia Mono" panose="020B0609020000020004" pitchFamily="49" charset="0"/>
            </a:endParaRPr>
          </a:p>
          <a:p>
            <a:pPr>
              <a:lnSpc>
                <a:spcPct val="150000"/>
              </a:lnSpc>
              <a:buNone/>
            </a:pPr>
            <a:r>
              <a:rPr lang="en-GB" b="1" dirty="0">
                <a:solidFill>
                  <a:srgbClr val="000000"/>
                </a:solidFill>
                <a:effectLst/>
                <a:latin typeface="Cascadia Mono" panose="020B0609020000020004" pitchFamily="49" charset="0"/>
              </a:rPr>
              <a:t> </a:t>
            </a:r>
            <a:r>
              <a:rPr lang="en-GB" b="1" dirty="0" err="1">
                <a:solidFill>
                  <a:srgbClr val="2B91AF"/>
                </a:solidFill>
                <a:effectLst/>
                <a:latin typeface="Cascadia Mono" panose="020B0609020000020004" pitchFamily="49" charset="0"/>
              </a:rPr>
              <a:t>Console</a:t>
            </a:r>
            <a:r>
              <a:rPr lang="en-GB" b="1" dirty="0" err="1">
                <a:solidFill>
                  <a:srgbClr val="000000"/>
                </a:solidFill>
                <a:effectLst/>
                <a:latin typeface="Cascadia Mono" panose="020B0609020000020004" pitchFamily="49" charset="0"/>
              </a:rPr>
              <a:t>.</a:t>
            </a:r>
            <a:r>
              <a:rPr lang="en-GB" b="1" dirty="0" err="1">
                <a:solidFill>
                  <a:srgbClr val="74531F"/>
                </a:solidFill>
                <a:effectLst/>
                <a:latin typeface="Cascadia Mono" panose="020B0609020000020004" pitchFamily="49" charset="0"/>
              </a:rPr>
              <a:t>Write</a:t>
            </a:r>
            <a:r>
              <a:rPr lang="en-GB" b="1" dirty="0">
                <a:solidFill>
                  <a:srgbClr val="000000"/>
                </a:solidFill>
                <a:effectLst/>
                <a:latin typeface="Cascadia Mono" panose="020B0609020000020004" pitchFamily="49" charset="0"/>
              </a:rPr>
              <a:t>(</a:t>
            </a:r>
            <a:r>
              <a:rPr lang="en-GB" b="1" dirty="0">
                <a:solidFill>
                  <a:srgbClr val="A31515"/>
                </a:solidFill>
                <a:effectLst/>
                <a:latin typeface="Cascadia Mono" panose="020B0609020000020004" pitchFamily="49" charset="0"/>
              </a:rPr>
              <a:t>"What is your salary? "</a:t>
            </a:r>
            <a:r>
              <a:rPr lang="en-GB" b="1" dirty="0">
                <a:solidFill>
                  <a:srgbClr val="000000"/>
                </a:solidFill>
                <a:effectLst/>
                <a:latin typeface="Cascadia Mono" panose="020B0609020000020004" pitchFamily="49" charset="0"/>
              </a:rPr>
              <a:t>);</a:t>
            </a:r>
          </a:p>
          <a:p>
            <a:pPr>
              <a:lnSpc>
                <a:spcPct val="150000"/>
              </a:lnSpc>
              <a:buNone/>
            </a:pPr>
            <a:r>
              <a:rPr lang="en-GB" b="1" dirty="0">
                <a:solidFill>
                  <a:srgbClr val="000000"/>
                </a:solidFill>
                <a:effectLst/>
                <a:latin typeface="Cascadia Mono" panose="020B0609020000020004" pitchFamily="49" charset="0"/>
              </a:rPr>
              <a:t> </a:t>
            </a:r>
            <a:r>
              <a:rPr lang="en-GB" b="1" dirty="0" err="1">
                <a:solidFill>
                  <a:srgbClr val="1F377F"/>
                </a:solidFill>
                <a:effectLst/>
                <a:latin typeface="Cascadia Mono" panose="020B0609020000020004" pitchFamily="49" charset="0"/>
              </a:rPr>
              <a:t>ans</a:t>
            </a:r>
            <a:r>
              <a:rPr lang="en-GB" b="1" dirty="0">
                <a:solidFill>
                  <a:srgbClr val="000000"/>
                </a:solidFill>
                <a:effectLst/>
                <a:latin typeface="Cascadia Mono" panose="020B0609020000020004" pitchFamily="49" charset="0"/>
              </a:rPr>
              <a:t> = </a:t>
            </a:r>
            <a:r>
              <a:rPr lang="en-GB" b="1" dirty="0" err="1">
                <a:solidFill>
                  <a:srgbClr val="2B91AF"/>
                </a:solidFill>
                <a:effectLst/>
                <a:latin typeface="Cascadia Mono" panose="020B0609020000020004" pitchFamily="49" charset="0"/>
              </a:rPr>
              <a:t>Console</a:t>
            </a:r>
            <a:r>
              <a:rPr lang="en-GB" b="1" dirty="0" err="1">
                <a:solidFill>
                  <a:srgbClr val="000000"/>
                </a:solidFill>
                <a:effectLst/>
                <a:latin typeface="Cascadia Mono" panose="020B0609020000020004" pitchFamily="49" charset="0"/>
              </a:rPr>
              <a:t>.</a:t>
            </a:r>
            <a:r>
              <a:rPr lang="en-GB" b="1" dirty="0" err="1">
                <a:solidFill>
                  <a:srgbClr val="74531F"/>
                </a:solidFill>
                <a:effectLst/>
                <a:latin typeface="Cascadia Mono" panose="020B0609020000020004" pitchFamily="49" charset="0"/>
              </a:rPr>
              <a:t>ReadLine</a:t>
            </a:r>
            <a:r>
              <a:rPr lang="en-GB" b="1" dirty="0">
                <a:solidFill>
                  <a:srgbClr val="000000"/>
                </a:solidFill>
                <a:effectLst/>
                <a:latin typeface="Cascadia Mono" panose="020B0609020000020004" pitchFamily="49" charset="0"/>
              </a:rPr>
              <a:t>();</a:t>
            </a:r>
          </a:p>
          <a:p>
            <a:pPr>
              <a:lnSpc>
                <a:spcPct val="150000"/>
              </a:lnSpc>
              <a:buNone/>
            </a:pPr>
            <a:r>
              <a:rPr lang="en-GB" b="1" dirty="0">
                <a:solidFill>
                  <a:srgbClr val="000000"/>
                </a:solidFill>
                <a:effectLst/>
                <a:latin typeface="Cascadia Mono" panose="020B0609020000020004" pitchFamily="49" charset="0"/>
              </a:rPr>
              <a:t> </a:t>
            </a:r>
            <a:r>
              <a:rPr lang="en-GB" b="1" dirty="0">
                <a:solidFill>
                  <a:srgbClr val="1F377F"/>
                </a:solidFill>
                <a:effectLst/>
                <a:latin typeface="Cascadia Mono" panose="020B0609020000020004" pitchFamily="49" charset="0"/>
              </a:rPr>
              <a:t>salary</a:t>
            </a:r>
            <a:r>
              <a:rPr lang="en-GB" b="1" dirty="0">
                <a:solidFill>
                  <a:srgbClr val="000000"/>
                </a:solidFill>
                <a:effectLst/>
                <a:latin typeface="Cascadia Mono" panose="020B0609020000020004" pitchFamily="49" charset="0"/>
              </a:rPr>
              <a:t> = </a:t>
            </a:r>
            <a:r>
              <a:rPr lang="en-GB" b="1" dirty="0" err="1">
                <a:solidFill>
                  <a:srgbClr val="0000FF"/>
                </a:solidFill>
                <a:effectLst/>
                <a:latin typeface="Cascadia Mono" panose="020B0609020000020004" pitchFamily="49" charset="0"/>
              </a:rPr>
              <a:t>double</a:t>
            </a:r>
            <a:r>
              <a:rPr lang="en-GB" b="1" dirty="0" err="1">
                <a:solidFill>
                  <a:srgbClr val="000000"/>
                </a:solidFill>
                <a:effectLst/>
                <a:latin typeface="Cascadia Mono" panose="020B0609020000020004" pitchFamily="49" charset="0"/>
              </a:rPr>
              <a:t>.</a:t>
            </a:r>
            <a:r>
              <a:rPr lang="en-GB" b="1" dirty="0" err="1">
                <a:solidFill>
                  <a:srgbClr val="74531F"/>
                </a:solidFill>
                <a:effectLst/>
                <a:latin typeface="Cascadia Mono" panose="020B0609020000020004" pitchFamily="49" charset="0"/>
              </a:rPr>
              <a:t>Parse</a:t>
            </a:r>
            <a:r>
              <a:rPr lang="en-GB" b="1" dirty="0">
                <a:solidFill>
                  <a:srgbClr val="000000"/>
                </a:solidFill>
                <a:effectLst/>
                <a:latin typeface="Cascadia Mono" panose="020B0609020000020004" pitchFamily="49" charset="0"/>
              </a:rPr>
              <a:t>(</a:t>
            </a:r>
            <a:r>
              <a:rPr lang="en-GB" b="1" dirty="0" err="1">
                <a:solidFill>
                  <a:srgbClr val="1F377F"/>
                </a:solidFill>
                <a:effectLst/>
                <a:latin typeface="Cascadia Mono" panose="020B0609020000020004" pitchFamily="49" charset="0"/>
              </a:rPr>
              <a:t>ans</a:t>
            </a:r>
            <a:r>
              <a:rPr lang="en-GB" b="1" dirty="0">
                <a:solidFill>
                  <a:srgbClr val="000000"/>
                </a:solidFill>
                <a:effectLst/>
                <a:latin typeface="Cascadia Mono" panose="020B0609020000020004" pitchFamily="49" charset="0"/>
              </a:rPr>
              <a:t>);</a:t>
            </a:r>
          </a:p>
          <a:p>
            <a:pPr>
              <a:lnSpc>
                <a:spcPct val="150000"/>
              </a:lnSpc>
              <a:buNone/>
            </a:pPr>
            <a:endParaRPr lang="en-GB" b="1" dirty="0">
              <a:solidFill>
                <a:srgbClr val="000000"/>
              </a:solidFill>
              <a:effectLst/>
              <a:latin typeface="Cascadia Mono" panose="020B0609020000020004" pitchFamily="49" charset="0"/>
            </a:endParaRPr>
          </a:p>
          <a:p>
            <a:pPr>
              <a:lnSpc>
                <a:spcPct val="150000"/>
              </a:lnSpc>
              <a:buNone/>
            </a:pPr>
            <a:r>
              <a:rPr lang="en-GB" b="1" dirty="0">
                <a:solidFill>
                  <a:srgbClr val="000000"/>
                </a:solidFill>
                <a:effectLst/>
                <a:latin typeface="Cascadia Mono" panose="020B0609020000020004" pitchFamily="49" charset="0"/>
              </a:rPr>
              <a:t> </a:t>
            </a:r>
            <a:r>
              <a:rPr lang="en-GB" b="1" dirty="0">
                <a:solidFill>
                  <a:srgbClr val="74531F"/>
                </a:solidFill>
                <a:effectLst/>
                <a:latin typeface="Cascadia Mono" panose="020B0609020000020004" pitchFamily="49" charset="0"/>
              </a:rPr>
              <a:t>print</a:t>
            </a:r>
            <a:r>
              <a:rPr lang="en-GB" b="1" dirty="0">
                <a:solidFill>
                  <a:srgbClr val="000000"/>
                </a:solidFill>
                <a:effectLst/>
                <a:latin typeface="Cascadia Mono" panose="020B0609020000020004" pitchFamily="49" charset="0"/>
              </a:rPr>
              <a:t>(</a:t>
            </a:r>
            <a:r>
              <a:rPr lang="en-GB" b="1" dirty="0">
                <a:solidFill>
                  <a:srgbClr val="A31515"/>
                </a:solidFill>
                <a:effectLst/>
                <a:latin typeface="Cascadia Mono" panose="020B0609020000020004" pitchFamily="49" charset="0"/>
              </a:rPr>
              <a:t>$"Age: </a:t>
            </a:r>
            <a:r>
              <a:rPr lang="en-GB" b="1" dirty="0">
                <a:solidFill>
                  <a:srgbClr val="000000"/>
                </a:solidFill>
                <a:effectLst/>
                <a:latin typeface="Cascadia Mono" panose="020B0609020000020004" pitchFamily="49" charset="0"/>
              </a:rPr>
              <a:t>{</a:t>
            </a:r>
            <a:r>
              <a:rPr lang="en-GB" b="1" dirty="0">
                <a:solidFill>
                  <a:srgbClr val="1F377F"/>
                </a:solidFill>
                <a:effectLst/>
                <a:latin typeface="Cascadia Mono" panose="020B0609020000020004" pitchFamily="49" charset="0"/>
              </a:rPr>
              <a:t>age</a:t>
            </a:r>
            <a:r>
              <a:rPr lang="en-GB" b="1" dirty="0">
                <a:solidFill>
                  <a:srgbClr val="000000"/>
                </a:solidFill>
                <a:effectLst/>
                <a:latin typeface="Cascadia Mono" panose="020B0609020000020004" pitchFamily="49" charset="0"/>
              </a:rPr>
              <a:t>}</a:t>
            </a:r>
            <a:r>
              <a:rPr lang="en-GB" b="1" dirty="0">
                <a:solidFill>
                  <a:srgbClr val="A31515"/>
                </a:solidFill>
                <a:effectLst/>
                <a:latin typeface="Cascadia Mono" panose="020B0609020000020004" pitchFamily="49" charset="0"/>
              </a:rPr>
              <a:t> Salary: </a:t>
            </a:r>
            <a:r>
              <a:rPr lang="en-GB" b="1" dirty="0">
                <a:solidFill>
                  <a:srgbClr val="000000"/>
                </a:solidFill>
                <a:effectLst/>
                <a:latin typeface="Cascadia Mono" panose="020B0609020000020004" pitchFamily="49" charset="0"/>
              </a:rPr>
              <a:t>{</a:t>
            </a:r>
            <a:r>
              <a:rPr lang="en-GB" b="1" dirty="0">
                <a:solidFill>
                  <a:srgbClr val="1F377F"/>
                </a:solidFill>
                <a:effectLst/>
                <a:latin typeface="Cascadia Mono" panose="020B0609020000020004" pitchFamily="49" charset="0"/>
              </a:rPr>
              <a:t>salary</a:t>
            </a:r>
            <a:r>
              <a:rPr lang="en-GB" b="1" dirty="0">
                <a:solidFill>
                  <a:srgbClr val="000000"/>
                </a:solidFill>
                <a:effectLst/>
                <a:latin typeface="Cascadia Mono" panose="020B0609020000020004" pitchFamily="49" charset="0"/>
              </a:rPr>
              <a:t>}</a:t>
            </a:r>
            <a:r>
              <a:rPr lang="en-GB" b="1" dirty="0">
                <a:solidFill>
                  <a:srgbClr val="A31515"/>
                </a:solidFill>
                <a:effectLst/>
                <a:latin typeface="Cascadia Mono" panose="020B0609020000020004" pitchFamily="49" charset="0"/>
              </a:rPr>
              <a:t>"</a:t>
            </a:r>
            <a:r>
              <a:rPr lang="en-GB" b="1" dirty="0">
                <a:solidFill>
                  <a:srgbClr val="000000"/>
                </a:solidFill>
                <a:effectLst/>
                <a:latin typeface="Cascadia Mono" panose="020B0609020000020004" pitchFamily="49" charset="0"/>
              </a:rPr>
              <a:t>);</a:t>
            </a:r>
          </a:p>
        </p:txBody>
      </p:sp>
    </p:spTree>
    <p:extLst>
      <p:ext uri="{BB962C8B-B14F-4D97-AF65-F5344CB8AC3E}">
        <p14:creationId xmlns:p14="http://schemas.microsoft.com/office/powerpoint/2010/main" val="3502001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64E51-8914-DDF0-2EA9-4FA991D659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CE75BA-9CD3-2375-F33F-F7B88AB18CA7}"/>
              </a:ext>
            </a:extLst>
          </p:cNvPr>
          <p:cNvSpPr>
            <a:spLocks noGrp="1"/>
          </p:cNvSpPr>
          <p:nvPr>
            <p:ph type="title"/>
          </p:nvPr>
        </p:nvSpPr>
        <p:spPr/>
        <p:txBody>
          <a:bodyPr/>
          <a:lstStyle/>
          <a:p>
            <a:r>
              <a:rPr lang="en-GB" dirty="0"/>
              <a:t>Casting strings - </a:t>
            </a:r>
            <a:r>
              <a:rPr lang="en-GB" dirty="0" err="1"/>
              <a:t>TryParse</a:t>
            </a:r>
            <a:r>
              <a:rPr lang="en-GB" dirty="0"/>
              <a:t> methods</a:t>
            </a:r>
          </a:p>
        </p:txBody>
      </p:sp>
      <p:sp>
        <p:nvSpPr>
          <p:cNvPr id="4" name="TextBox 3">
            <a:extLst>
              <a:ext uri="{FF2B5EF4-FFF2-40B4-BE49-F238E27FC236}">
                <a16:creationId xmlns:a16="http://schemas.microsoft.com/office/drawing/2014/main" id="{86701819-3AA2-F0BA-910C-B6DB28A82F0C}"/>
              </a:ext>
            </a:extLst>
          </p:cNvPr>
          <p:cNvSpPr txBox="1"/>
          <p:nvPr/>
        </p:nvSpPr>
        <p:spPr>
          <a:xfrm>
            <a:off x="1099297" y="1393631"/>
            <a:ext cx="8058149" cy="4614789"/>
          </a:xfrm>
          <a:prstGeom prst="rect">
            <a:avLst/>
          </a:prstGeom>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lnSpc>
                <a:spcPct val="150000"/>
              </a:lnSpc>
              <a:buNone/>
            </a:pPr>
            <a:r>
              <a:rPr lang="en-GB" b="1" dirty="0">
                <a:solidFill>
                  <a:srgbClr val="0000FF"/>
                </a:solidFill>
                <a:effectLst/>
                <a:latin typeface="Cascadia Mono" panose="020B0609020000020004" pitchFamily="49" charset="0"/>
              </a:rPr>
              <a:t>int</a:t>
            </a:r>
            <a:r>
              <a:rPr lang="en-GB" b="1" dirty="0">
                <a:solidFill>
                  <a:srgbClr val="000000"/>
                </a:solidFill>
                <a:effectLst/>
                <a:latin typeface="Cascadia Mono" panose="020B0609020000020004" pitchFamily="49" charset="0"/>
              </a:rPr>
              <a:t> </a:t>
            </a:r>
            <a:r>
              <a:rPr lang="en-GB" b="1" dirty="0">
                <a:solidFill>
                  <a:srgbClr val="1F377F"/>
                </a:solidFill>
                <a:effectLst/>
                <a:latin typeface="Cascadia Mono" panose="020B0609020000020004" pitchFamily="49" charset="0"/>
              </a:rPr>
              <a:t>age</a:t>
            </a:r>
            <a:r>
              <a:rPr lang="en-GB" b="1" dirty="0">
                <a:solidFill>
                  <a:srgbClr val="000000"/>
                </a:solidFill>
                <a:effectLst/>
                <a:latin typeface="Cascadia Mono" panose="020B0609020000020004" pitchFamily="49" charset="0"/>
              </a:rPr>
              <a:t>;</a:t>
            </a:r>
          </a:p>
          <a:p>
            <a:pPr>
              <a:lnSpc>
                <a:spcPct val="150000"/>
              </a:lnSpc>
              <a:buNone/>
            </a:pPr>
            <a:r>
              <a:rPr lang="en-GB" b="1" dirty="0" err="1">
                <a:solidFill>
                  <a:srgbClr val="2B91AF"/>
                </a:solidFill>
                <a:effectLst/>
                <a:latin typeface="Cascadia Mono" panose="020B0609020000020004" pitchFamily="49" charset="0"/>
              </a:rPr>
              <a:t>Console</a:t>
            </a:r>
            <a:r>
              <a:rPr lang="en-GB" b="1" dirty="0" err="1">
                <a:solidFill>
                  <a:srgbClr val="000000"/>
                </a:solidFill>
                <a:effectLst/>
                <a:latin typeface="Cascadia Mono" panose="020B0609020000020004" pitchFamily="49" charset="0"/>
              </a:rPr>
              <a:t>.</a:t>
            </a:r>
            <a:r>
              <a:rPr lang="en-GB" b="1" dirty="0" err="1">
                <a:solidFill>
                  <a:srgbClr val="74531F"/>
                </a:solidFill>
                <a:effectLst/>
                <a:latin typeface="Cascadia Mono" panose="020B0609020000020004" pitchFamily="49" charset="0"/>
              </a:rPr>
              <a:t>Write</a:t>
            </a:r>
            <a:r>
              <a:rPr lang="en-GB" b="1" dirty="0">
                <a:solidFill>
                  <a:srgbClr val="000000"/>
                </a:solidFill>
                <a:effectLst/>
                <a:latin typeface="Cascadia Mono" panose="020B0609020000020004" pitchFamily="49" charset="0"/>
              </a:rPr>
              <a:t>(</a:t>
            </a:r>
            <a:r>
              <a:rPr lang="en-GB" b="1" dirty="0">
                <a:solidFill>
                  <a:srgbClr val="A31515"/>
                </a:solidFill>
                <a:effectLst/>
                <a:latin typeface="Cascadia Mono" panose="020B0609020000020004" pitchFamily="49" charset="0"/>
              </a:rPr>
              <a:t>"What is your age? "</a:t>
            </a:r>
            <a:r>
              <a:rPr lang="en-GB" b="1" dirty="0">
                <a:solidFill>
                  <a:srgbClr val="000000"/>
                </a:solidFill>
                <a:effectLst/>
                <a:latin typeface="Cascadia Mono" panose="020B0609020000020004" pitchFamily="49" charset="0"/>
              </a:rPr>
              <a:t>);</a:t>
            </a:r>
          </a:p>
          <a:p>
            <a:pPr>
              <a:lnSpc>
                <a:spcPct val="150000"/>
              </a:lnSpc>
              <a:buNone/>
            </a:pPr>
            <a:r>
              <a:rPr lang="en-GB" b="1" dirty="0">
                <a:solidFill>
                  <a:srgbClr val="0000FF"/>
                </a:solidFill>
                <a:effectLst/>
                <a:latin typeface="Cascadia Mono" panose="020B0609020000020004" pitchFamily="49" charset="0"/>
              </a:rPr>
              <a:t>string</a:t>
            </a:r>
            <a:r>
              <a:rPr lang="en-GB" b="1" dirty="0">
                <a:solidFill>
                  <a:srgbClr val="000000"/>
                </a:solidFill>
                <a:effectLst/>
                <a:latin typeface="Cascadia Mono" panose="020B0609020000020004" pitchFamily="49" charset="0"/>
              </a:rPr>
              <a:t> </a:t>
            </a:r>
            <a:r>
              <a:rPr lang="en-GB" b="1" dirty="0" err="1">
                <a:solidFill>
                  <a:srgbClr val="1F377F"/>
                </a:solidFill>
                <a:effectLst/>
                <a:latin typeface="Cascadia Mono" panose="020B0609020000020004" pitchFamily="49" charset="0"/>
              </a:rPr>
              <a:t>ans</a:t>
            </a:r>
            <a:r>
              <a:rPr lang="en-GB" b="1" dirty="0">
                <a:solidFill>
                  <a:srgbClr val="000000"/>
                </a:solidFill>
                <a:effectLst/>
                <a:latin typeface="Cascadia Mono" panose="020B0609020000020004" pitchFamily="49" charset="0"/>
              </a:rPr>
              <a:t> = </a:t>
            </a:r>
            <a:r>
              <a:rPr lang="en-GB" b="1" dirty="0" err="1">
                <a:solidFill>
                  <a:srgbClr val="2B91AF"/>
                </a:solidFill>
                <a:effectLst/>
                <a:latin typeface="Cascadia Mono" panose="020B0609020000020004" pitchFamily="49" charset="0"/>
              </a:rPr>
              <a:t>Console</a:t>
            </a:r>
            <a:r>
              <a:rPr lang="en-GB" b="1" dirty="0" err="1">
                <a:solidFill>
                  <a:srgbClr val="000000"/>
                </a:solidFill>
                <a:effectLst/>
                <a:latin typeface="Cascadia Mono" panose="020B0609020000020004" pitchFamily="49" charset="0"/>
              </a:rPr>
              <a:t>.</a:t>
            </a:r>
            <a:r>
              <a:rPr lang="en-GB" b="1" dirty="0" err="1">
                <a:solidFill>
                  <a:srgbClr val="74531F"/>
                </a:solidFill>
                <a:effectLst/>
                <a:latin typeface="Cascadia Mono" panose="020B0609020000020004" pitchFamily="49" charset="0"/>
              </a:rPr>
              <a:t>ReadLine</a:t>
            </a:r>
            <a:r>
              <a:rPr lang="en-GB" b="1" dirty="0">
                <a:solidFill>
                  <a:srgbClr val="000000"/>
                </a:solidFill>
                <a:effectLst/>
                <a:latin typeface="Cascadia Mono" panose="020B0609020000020004" pitchFamily="49" charset="0"/>
              </a:rPr>
              <a:t>();</a:t>
            </a:r>
          </a:p>
          <a:p>
            <a:pPr>
              <a:lnSpc>
                <a:spcPct val="150000"/>
              </a:lnSpc>
              <a:buNone/>
            </a:pPr>
            <a:r>
              <a:rPr lang="en-GB" b="1" dirty="0">
                <a:solidFill>
                  <a:srgbClr val="8F08C4"/>
                </a:solidFill>
                <a:effectLst/>
                <a:latin typeface="Cascadia Mono" panose="020B0609020000020004" pitchFamily="49" charset="0"/>
              </a:rPr>
              <a:t>if</a:t>
            </a:r>
            <a:r>
              <a:rPr lang="en-GB" b="1" dirty="0">
                <a:solidFill>
                  <a:srgbClr val="000000"/>
                </a:solidFill>
                <a:effectLst/>
                <a:latin typeface="Cascadia Mono" panose="020B0609020000020004" pitchFamily="49" charset="0"/>
              </a:rPr>
              <a:t> (</a:t>
            </a:r>
            <a:r>
              <a:rPr lang="en-GB" b="1" dirty="0" err="1">
                <a:solidFill>
                  <a:srgbClr val="0000FF"/>
                </a:solidFill>
                <a:effectLst/>
                <a:latin typeface="Cascadia Mono" panose="020B0609020000020004" pitchFamily="49" charset="0"/>
              </a:rPr>
              <a:t>int</a:t>
            </a:r>
            <a:r>
              <a:rPr lang="en-GB" b="1" dirty="0" err="1">
                <a:solidFill>
                  <a:srgbClr val="000000"/>
                </a:solidFill>
                <a:effectLst/>
                <a:latin typeface="Cascadia Mono" panose="020B0609020000020004" pitchFamily="49" charset="0"/>
              </a:rPr>
              <a:t>.</a:t>
            </a:r>
            <a:r>
              <a:rPr lang="en-GB" b="1" dirty="0" err="1">
                <a:solidFill>
                  <a:srgbClr val="74531F"/>
                </a:solidFill>
                <a:effectLst/>
                <a:latin typeface="Cascadia Mono" panose="020B0609020000020004" pitchFamily="49" charset="0"/>
              </a:rPr>
              <a:t>TryParse</a:t>
            </a:r>
            <a:r>
              <a:rPr lang="en-GB" b="1" dirty="0">
                <a:solidFill>
                  <a:srgbClr val="000000"/>
                </a:solidFill>
                <a:effectLst/>
                <a:latin typeface="Cascadia Mono" panose="020B0609020000020004" pitchFamily="49" charset="0"/>
              </a:rPr>
              <a:t>(</a:t>
            </a:r>
            <a:r>
              <a:rPr lang="en-GB" b="1" dirty="0" err="1">
                <a:solidFill>
                  <a:srgbClr val="1F377F"/>
                </a:solidFill>
                <a:effectLst/>
                <a:latin typeface="Cascadia Mono" panose="020B0609020000020004" pitchFamily="49" charset="0"/>
              </a:rPr>
              <a:t>ans</a:t>
            </a:r>
            <a:r>
              <a:rPr lang="en-GB" b="1" dirty="0">
                <a:solidFill>
                  <a:srgbClr val="000000"/>
                </a:solidFill>
                <a:effectLst/>
                <a:latin typeface="Cascadia Mono" panose="020B0609020000020004" pitchFamily="49" charset="0"/>
              </a:rPr>
              <a:t>, </a:t>
            </a:r>
            <a:r>
              <a:rPr lang="en-GB" b="1" dirty="0">
                <a:solidFill>
                  <a:srgbClr val="0000FF"/>
                </a:solidFill>
                <a:effectLst/>
                <a:latin typeface="Cascadia Mono" panose="020B0609020000020004" pitchFamily="49" charset="0"/>
              </a:rPr>
              <a:t>out</a:t>
            </a:r>
            <a:r>
              <a:rPr lang="en-GB" b="1" dirty="0">
                <a:solidFill>
                  <a:srgbClr val="000000"/>
                </a:solidFill>
                <a:effectLst/>
                <a:latin typeface="Cascadia Mono" panose="020B0609020000020004" pitchFamily="49" charset="0"/>
              </a:rPr>
              <a:t> </a:t>
            </a:r>
            <a:r>
              <a:rPr lang="en-GB" b="1" dirty="0">
                <a:solidFill>
                  <a:srgbClr val="1F377F"/>
                </a:solidFill>
                <a:effectLst/>
                <a:latin typeface="Cascadia Mono" panose="020B0609020000020004" pitchFamily="49" charset="0"/>
              </a:rPr>
              <a:t>age</a:t>
            </a:r>
            <a:r>
              <a:rPr lang="en-GB" b="1" dirty="0">
                <a:solidFill>
                  <a:srgbClr val="000000"/>
                </a:solidFill>
                <a:effectLst/>
                <a:latin typeface="Cascadia Mono" panose="020B0609020000020004" pitchFamily="49" charset="0"/>
              </a:rPr>
              <a:t>))</a:t>
            </a:r>
          </a:p>
          <a:p>
            <a:pPr>
              <a:lnSpc>
                <a:spcPct val="150000"/>
              </a:lnSpc>
              <a:buNone/>
            </a:pPr>
            <a:r>
              <a:rPr lang="en-GB" b="1" dirty="0">
                <a:solidFill>
                  <a:srgbClr val="000000"/>
                </a:solidFill>
                <a:effectLst/>
                <a:latin typeface="Cascadia Mono" panose="020B0609020000020004" pitchFamily="49" charset="0"/>
              </a:rPr>
              <a:t>{</a:t>
            </a:r>
          </a:p>
          <a:p>
            <a:pPr>
              <a:lnSpc>
                <a:spcPct val="150000"/>
              </a:lnSpc>
              <a:buNone/>
            </a:pPr>
            <a:r>
              <a:rPr lang="en-GB" b="1" dirty="0">
                <a:solidFill>
                  <a:srgbClr val="000000"/>
                </a:solidFill>
                <a:effectLst/>
                <a:latin typeface="Cascadia Mono" panose="020B0609020000020004" pitchFamily="49" charset="0"/>
              </a:rPr>
              <a:t>    </a:t>
            </a:r>
            <a:r>
              <a:rPr lang="en-GB" b="1" dirty="0" err="1">
                <a:solidFill>
                  <a:srgbClr val="2B91AF"/>
                </a:solidFill>
                <a:effectLst/>
                <a:latin typeface="Cascadia Mono" panose="020B0609020000020004" pitchFamily="49" charset="0"/>
              </a:rPr>
              <a:t>Console</a:t>
            </a:r>
            <a:r>
              <a:rPr lang="en-GB" b="1" dirty="0" err="1">
                <a:solidFill>
                  <a:srgbClr val="000000"/>
                </a:solidFill>
                <a:effectLst/>
                <a:latin typeface="Cascadia Mono" panose="020B0609020000020004" pitchFamily="49" charset="0"/>
              </a:rPr>
              <a:t>.</a:t>
            </a:r>
            <a:r>
              <a:rPr lang="en-GB" b="1" dirty="0" err="1">
                <a:solidFill>
                  <a:srgbClr val="74531F"/>
                </a:solidFill>
                <a:effectLst/>
                <a:latin typeface="Cascadia Mono" panose="020B0609020000020004" pitchFamily="49" charset="0"/>
              </a:rPr>
              <a:t>WriteLine</a:t>
            </a:r>
            <a:r>
              <a:rPr lang="en-GB" b="1" dirty="0">
                <a:solidFill>
                  <a:srgbClr val="000000"/>
                </a:solidFill>
                <a:effectLst/>
                <a:latin typeface="Cascadia Mono" panose="020B0609020000020004" pitchFamily="49" charset="0"/>
              </a:rPr>
              <a:t>(</a:t>
            </a:r>
            <a:r>
              <a:rPr lang="en-GB" b="1" dirty="0">
                <a:solidFill>
                  <a:srgbClr val="1F377F"/>
                </a:solidFill>
                <a:effectLst/>
                <a:latin typeface="Cascadia Mono" panose="020B0609020000020004" pitchFamily="49" charset="0"/>
              </a:rPr>
              <a:t>age</a:t>
            </a:r>
            <a:r>
              <a:rPr lang="en-GB" b="1" dirty="0">
                <a:solidFill>
                  <a:srgbClr val="000000"/>
                </a:solidFill>
                <a:effectLst/>
                <a:latin typeface="Cascadia Mono" panose="020B0609020000020004" pitchFamily="49" charset="0"/>
              </a:rPr>
              <a:t> + 1);</a:t>
            </a:r>
          </a:p>
          <a:p>
            <a:pPr>
              <a:lnSpc>
                <a:spcPct val="150000"/>
              </a:lnSpc>
              <a:buNone/>
            </a:pPr>
            <a:r>
              <a:rPr lang="en-GB" b="1" dirty="0">
                <a:solidFill>
                  <a:srgbClr val="000000"/>
                </a:solidFill>
                <a:effectLst/>
                <a:latin typeface="Cascadia Mono" panose="020B0609020000020004" pitchFamily="49" charset="0"/>
              </a:rPr>
              <a:t>}</a:t>
            </a:r>
          </a:p>
          <a:p>
            <a:pPr>
              <a:lnSpc>
                <a:spcPct val="150000"/>
              </a:lnSpc>
              <a:buNone/>
            </a:pPr>
            <a:r>
              <a:rPr lang="en-GB" b="1" dirty="0">
                <a:solidFill>
                  <a:srgbClr val="8F08C4"/>
                </a:solidFill>
                <a:effectLst/>
                <a:latin typeface="Cascadia Mono" panose="020B0609020000020004" pitchFamily="49" charset="0"/>
              </a:rPr>
              <a:t>else</a:t>
            </a:r>
            <a:endParaRPr lang="en-GB" b="1" dirty="0">
              <a:solidFill>
                <a:srgbClr val="000000"/>
              </a:solidFill>
              <a:effectLst/>
              <a:latin typeface="Cascadia Mono" panose="020B0609020000020004" pitchFamily="49" charset="0"/>
            </a:endParaRPr>
          </a:p>
          <a:p>
            <a:pPr>
              <a:lnSpc>
                <a:spcPct val="150000"/>
              </a:lnSpc>
              <a:buNone/>
            </a:pPr>
            <a:r>
              <a:rPr lang="en-GB" b="1" dirty="0">
                <a:solidFill>
                  <a:srgbClr val="000000"/>
                </a:solidFill>
                <a:effectLst/>
                <a:latin typeface="Cascadia Mono" panose="020B0609020000020004" pitchFamily="49" charset="0"/>
              </a:rPr>
              <a:t>{</a:t>
            </a:r>
          </a:p>
          <a:p>
            <a:pPr>
              <a:lnSpc>
                <a:spcPct val="150000"/>
              </a:lnSpc>
              <a:buNone/>
            </a:pPr>
            <a:r>
              <a:rPr lang="en-GB" b="1" dirty="0">
                <a:solidFill>
                  <a:srgbClr val="000000"/>
                </a:solidFill>
                <a:effectLst/>
                <a:latin typeface="Cascadia Mono" panose="020B0609020000020004" pitchFamily="49" charset="0"/>
              </a:rPr>
              <a:t>    </a:t>
            </a:r>
            <a:r>
              <a:rPr lang="en-GB" b="1" dirty="0" err="1">
                <a:solidFill>
                  <a:srgbClr val="2B91AF"/>
                </a:solidFill>
                <a:effectLst/>
                <a:latin typeface="Cascadia Mono" panose="020B0609020000020004" pitchFamily="49" charset="0"/>
              </a:rPr>
              <a:t>Console</a:t>
            </a:r>
            <a:r>
              <a:rPr lang="en-GB" b="1" dirty="0" err="1">
                <a:solidFill>
                  <a:srgbClr val="000000"/>
                </a:solidFill>
                <a:effectLst/>
                <a:latin typeface="Cascadia Mono" panose="020B0609020000020004" pitchFamily="49" charset="0"/>
              </a:rPr>
              <a:t>.</a:t>
            </a:r>
            <a:r>
              <a:rPr lang="en-GB" b="1" dirty="0" err="1">
                <a:solidFill>
                  <a:srgbClr val="74531F"/>
                </a:solidFill>
                <a:effectLst/>
                <a:latin typeface="Cascadia Mono" panose="020B0609020000020004" pitchFamily="49" charset="0"/>
              </a:rPr>
              <a:t>WriteLine</a:t>
            </a:r>
            <a:r>
              <a:rPr lang="en-GB" b="1" dirty="0">
                <a:solidFill>
                  <a:srgbClr val="000000"/>
                </a:solidFill>
                <a:effectLst/>
                <a:latin typeface="Cascadia Mono" panose="020B0609020000020004" pitchFamily="49" charset="0"/>
              </a:rPr>
              <a:t>(</a:t>
            </a:r>
            <a:r>
              <a:rPr lang="en-GB" b="1" dirty="0">
                <a:solidFill>
                  <a:srgbClr val="A31515"/>
                </a:solidFill>
                <a:effectLst/>
                <a:latin typeface="Cascadia Mono" panose="020B0609020000020004" pitchFamily="49" charset="0"/>
              </a:rPr>
              <a:t>"Please enter a valid integer"</a:t>
            </a:r>
            <a:r>
              <a:rPr lang="en-GB" b="1" dirty="0">
                <a:solidFill>
                  <a:srgbClr val="000000"/>
                </a:solidFill>
                <a:effectLst/>
                <a:latin typeface="Cascadia Mono" panose="020B0609020000020004" pitchFamily="49" charset="0"/>
              </a:rPr>
              <a:t>);</a:t>
            </a:r>
          </a:p>
          <a:p>
            <a:pPr>
              <a:lnSpc>
                <a:spcPct val="150000"/>
              </a:lnSpc>
              <a:buNone/>
            </a:pPr>
            <a:r>
              <a:rPr lang="en-GB" b="1" dirty="0">
                <a:solidFill>
                  <a:srgbClr val="000000"/>
                </a:solidFill>
                <a:effectLst/>
                <a:latin typeface="Cascadia Mono" panose="020B0609020000020004" pitchFamily="49" charset="0"/>
              </a:rPr>
              <a:t>}</a:t>
            </a:r>
          </a:p>
        </p:txBody>
      </p:sp>
    </p:spTree>
    <p:extLst>
      <p:ext uri="{BB962C8B-B14F-4D97-AF65-F5344CB8AC3E}">
        <p14:creationId xmlns:p14="http://schemas.microsoft.com/office/powerpoint/2010/main" val="34511741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12D0D30-0F9B-26F4-0CEF-0E430C994B76}"/>
              </a:ext>
            </a:extLst>
          </p:cNvPr>
          <p:cNvSpPr>
            <a:spLocks noGrp="1"/>
          </p:cNvSpPr>
          <p:nvPr>
            <p:ph type="body" sz="quarter" idx="15"/>
          </p:nvPr>
        </p:nvSpPr>
        <p:spPr>
          <a:xfrm>
            <a:off x="5037138" y="3207812"/>
            <a:ext cx="5803900" cy="754587"/>
          </a:xfrm>
        </p:spPr>
        <p:txBody>
          <a:bodyPr/>
          <a:lstStyle/>
          <a:p>
            <a:r>
              <a:rPr lang="en-US" sz="3600" b="1" dirty="0"/>
              <a:t>Conditionals</a:t>
            </a:r>
            <a:endParaRPr lang="en-GB" b="1" dirty="0"/>
          </a:p>
        </p:txBody>
      </p:sp>
    </p:spTree>
    <p:extLst>
      <p:ext uri="{BB962C8B-B14F-4D97-AF65-F5344CB8AC3E}">
        <p14:creationId xmlns:p14="http://schemas.microsoft.com/office/powerpoint/2010/main" val="59293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0470" name="Rectangle 6"/>
          <p:cNvSpPr>
            <a:spLocks noChangeArrowheads="1"/>
          </p:cNvSpPr>
          <p:nvPr/>
        </p:nvSpPr>
        <p:spPr bwMode="auto">
          <a:xfrm>
            <a:off x="866828" y="1535435"/>
            <a:ext cx="5505013" cy="1751762"/>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eaLnBrk="0" hangingPunct="0">
              <a:defRPr/>
            </a:pPr>
            <a:r>
              <a:rPr lang="en-GB" dirty="0">
                <a:solidFill>
                  <a:srgbClr val="0000C8"/>
                </a:solidFill>
                <a:latin typeface="Lucida Console" pitchFamily="49" charset="0"/>
              </a:rPr>
              <a:t>int </a:t>
            </a:r>
            <a:r>
              <a:rPr lang="en-GB" dirty="0">
                <a:latin typeface="Lucida Console" pitchFamily="49" charset="0"/>
              </a:rPr>
              <a:t>age = </a:t>
            </a:r>
            <a:r>
              <a:rPr lang="en-GB" dirty="0" err="1">
                <a:latin typeface="Lucida Console" pitchFamily="49" charset="0"/>
              </a:rPr>
              <a:t>getAge</a:t>
            </a:r>
            <a:r>
              <a:rPr lang="en-GB" dirty="0">
                <a:latin typeface="Lucida Console" pitchFamily="49" charset="0"/>
              </a:rPr>
              <a:t>();</a:t>
            </a:r>
          </a:p>
          <a:p>
            <a:pPr eaLnBrk="0" hangingPunct="0">
              <a:defRPr/>
            </a:pPr>
            <a:endParaRPr lang="en-GB" dirty="0">
              <a:solidFill>
                <a:srgbClr val="0000C8"/>
              </a:solidFill>
              <a:latin typeface="Lucida Console" pitchFamily="49" charset="0"/>
            </a:endParaRPr>
          </a:p>
          <a:p>
            <a:pPr eaLnBrk="0" hangingPunct="0">
              <a:defRPr/>
            </a:pPr>
            <a:r>
              <a:rPr lang="en-GB" dirty="0">
                <a:solidFill>
                  <a:srgbClr val="0000C8"/>
                </a:solidFill>
                <a:latin typeface="Lucida Console" pitchFamily="49" charset="0"/>
              </a:rPr>
              <a:t>if</a:t>
            </a:r>
            <a:r>
              <a:rPr lang="en-GB" dirty="0">
                <a:latin typeface="Lucida Console" pitchFamily="49" charset="0"/>
              </a:rPr>
              <a:t> </a:t>
            </a:r>
            <a:r>
              <a:rPr lang="en-GB" dirty="0">
                <a:solidFill>
                  <a:srgbClr val="000000"/>
                </a:solidFill>
                <a:latin typeface="Lucida Console" pitchFamily="49" charset="0"/>
              </a:rPr>
              <a:t>( age &gt; 18 )</a:t>
            </a:r>
            <a:br>
              <a:rPr lang="en-GB" dirty="0">
                <a:solidFill>
                  <a:srgbClr val="000000"/>
                </a:solidFill>
                <a:latin typeface="Lucida Console" pitchFamily="49" charset="0"/>
              </a:rPr>
            </a:br>
            <a:r>
              <a:rPr lang="en-GB" dirty="0">
                <a:solidFill>
                  <a:srgbClr val="000000"/>
                </a:solidFill>
                <a:latin typeface="Lucida Console" pitchFamily="49" charset="0"/>
              </a:rPr>
              <a:t>{ </a:t>
            </a:r>
          </a:p>
          <a:p>
            <a:pPr eaLnBrk="0" hangingPunct="0">
              <a:defRPr/>
            </a:pPr>
            <a:r>
              <a:rPr lang="en-GB" dirty="0">
                <a:solidFill>
                  <a:srgbClr val="000000"/>
                </a:solidFill>
                <a:latin typeface="Lucida Console" pitchFamily="49" charset="0"/>
              </a:rPr>
              <a:t> </a:t>
            </a:r>
            <a:r>
              <a:rPr lang="en-GB" dirty="0">
                <a:solidFill>
                  <a:schemeClr val="accent2">
                    <a:lumMod val="25000"/>
                  </a:schemeClr>
                </a:solidFill>
                <a:latin typeface="Lucida Console" pitchFamily="49" charset="0"/>
              </a:rPr>
              <a:t>// code for when over 18 years old</a:t>
            </a:r>
            <a:br>
              <a:rPr lang="en-GB" dirty="0">
                <a:solidFill>
                  <a:srgbClr val="000000"/>
                </a:solidFill>
                <a:latin typeface="Lucida Console" pitchFamily="49" charset="0"/>
              </a:rPr>
            </a:br>
            <a:r>
              <a:rPr lang="en-GB" dirty="0">
                <a:solidFill>
                  <a:srgbClr val="000000"/>
                </a:solidFill>
                <a:latin typeface="Lucida Console" pitchFamily="49" charset="0"/>
              </a:rPr>
              <a:t>}</a:t>
            </a:r>
          </a:p>
        </p:txBody>
      </p:sp>
      <p:sp>
        <p:nvSpPr>
          <p:cNvPr id="16387" name="Rectangle 2"/>
          <p:cNvSpPr>
            <a:spLocks noGrp="1" noChangeArrowheads="1"/>
          </p:cNvSpPr>
          <p:nvPr>
            <p:ph type="title"/>
          </p:nvPr>
        </p:nvSpPr>
        <p:spPr/>
        <p:txBody>
          <a:bodyPr/>
          <a:lstStyle/>
          <a:p>
            <a:pPr eaLnBrk="1" hangingPunct="1"/>
            <a:r>
              <a:rPr lang="en-GB" dirty="0"/>
              <a:t>Introducing ‘if’</a:t>
            </a:r>
          </a:p>
        </p:txBody>
      </p:sp>
      <p:sp>
        <p:nvSpPr>
          <p:cNvPr id="3" name="Rectangle 2">
            <a:extLst>
              <a:ext uri="{FF2B5EF4-FFF2-40B4-BE49-F238E27FC236}">
                <a16:creationId xmlns:a16="http://schemas.microsoft.com/office/drawing/2014/main" id="{4B99FD42-3C44-6164-D3D5-8A8B2BB14C73}"/>
              </a:ext>
            </a:extLst>
          </p:cNvPr>
          <p:cNvSpPr/>
          <p:nvPr/>
        </p:nvSpPr>
        <p:spPr>
          <a:xfrm>
            <a:off x="866828" y="3570804"/>
            <a:ext cx="6478168" cy="2862322"/>
          </a:xfrm>
          <a:prstGeom prst="rect">
            <a:avLst/>
          </a:prstGeom>
          <a:solidFill>
            <a:srgbClr val="FFFFCC"/>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pPr eaLnBrk="0" hangingPunct="0">
              <a:defRPr/>
            </a:pPr>
            <a:r>
              <a:rPr lang="en-GB" b="1" dirty="0" err="1">
                <a:solidFill>
                  <a:srgbClr val="0000C8"/>
                </a:solidFill>
                <a:latin typeface="Lucida Console" pitchFamily="49" charset="0"/>
              </a:rPr>
              <a:t>int</a:t>
            </a:r>
            <a:r>
              <a:rPr lang="en-GB" b="1" dirty="0">
                <a:solidFill>
                  <a:srgbClr val="0000C8"/>
                </a:solidFill>
                <a:latin typeface="Lucida Console" pitchFamily="49" charset="0"/>
              </a:rPr>
              <a:t> </a:t>
            </a:r>
            <a:r>
              <a:rPr lang="en-GB" b="1" dirty="0">
                <a:latin typeface="Lucida Console" pitchFamily="49" charset="0"/>
              </a:rPr>
              <a:t>age = </a:t>
            </a:r>
            <a:r>
              <a:rPr lang="en-GB" b="1" dirty="0" err="1">
                <a:latin typeface="Lucida Console" pitchFamily="49" charset="0"/>
              </a:rPr>
              <a:t>getAge</a:t>
            </a:r>
            <a:r>
              <a:rPr lang="en-GB" b="1" dirty="0">
                <a:latin typeface="Lucida Console" pitchFamily="49" charset="0"/>
              </a:rPr>
              <a:t>();</a:t>
            </a:r>
          </a:p>
          <a:p>
            <a:pPr eaLnBrk="0" hangingPunct="0">
              <a:defRPr/>
            </a:pPr>
            <a:br>
              <a:rPr lang="en-GB" b="1" dirty="0">
                <a:solidFill>
                  <a:srgbClr val="0000C8"/>
                </a:solidFill>
                <a:latin typeface="Lucida Console" pitchFamily="49" charset="0"/>
              </a:rPr>
            </a:br>
            <a:r>
              <a:rPr lang="en-GB" b="1" dirty="0">
                <a:solidFill>
                  <a:srgbClr val="0000C8"/>
                </a:solidFill>
                <a:latin typeface="Lucida Console" pitchFamily="49" charset="0"/>
              </a:rPr>
              <a:t>if</a:t>
            </a:r>
            <a:r>
              <a:rPr lang="en-GB" b="1" dirty="0">
                <a:latin typeface="Lucida Console" pitchFamily="49" charset="0"/>
              </a:rPr>
              <a:t> </a:t>
            </a:r>
            <a:r>
              <a:rPr lang="en-GB" b="1" dirty="0">
                <a:solidFill>
                  <a:srgbClr val="000000"/>
                </a:solidFill>
                <a:latin typeface="Lucida Console" pitchFamily="49" charset="0"/>
              </a:rPr>
              <a:t>( age &lt; 18) { </a:t>
            </a:r>
          </a:p>
          <a:p>
            <a:pPr eaLnBrk="0" hangingPunct="0">
              <a:defRPr/>
            </a:pPr>
            <a:r>
              <a:rPr lang="en-GB" b="1" dirty="0">
                <a:solidFill>
                  <a:srgbClr val="000000"/>
                </a:solidFill>
                <a:latin typeface="Lucida Console" pitchFamily="49" charset="0"/>
              </a:rPr>
              <a:t>  </a:t>
            </a:r>
            <a:r>
              <a:rPr lang="en-GB" b="1" dirty="0">
                <a:solidFill>
                  <a:schemeClr val="accent2">
                    <a:lumMod val="50000"/>
                  </a:schemeClr>
                </a:solidFill>
                <a:latin typeface="Lucida Console" pitchFamily="49" charset="0"/>
              </a:rPr>
              <a:t>// code for when under 18 years old</a:t>
            </a:r>
            <a:br>
              <a:rPr lang="en-GB" b="1" dirty="0">
                <a:solidFill>
                  <a:schemeClr val="accent2">
                    <a:lumMod val="25000"/>
                  </a:schemeClr>
                </a:solidFill>
                <a:latin typeface="Lucida Console" pitchFamily="49" charset="0"/>
              </a:rPr>
            </a:br>
            <a:br>
              <a:rPr lang="en-GB" b="1" dirty="0">
                <a:solidFill>
                  <a:srgbClr val="000000"/>
                </a:solidFill>
                <a:latin typeface="Lucida Console" pitchFamily="49" charset="0"/>
              </a:rPr>
            </a:br>
            <a:r>
              <a:rPr lang="en-GB" b="1" dirty="0">
                <a:solidFill>
                  <a:srgbClr val="000000"/>
                </a:solidFill>
                <a:latin typeface="Lucida Console" pitchFamily="49" charset="0"/>
              </a:rPr>
              <a:t>}</a:t>
            </a:r>
          </a:p>
          <a:p>
            <a:pPr eaLnBrk="0" hangingPunct="0">
              <a:defRPr/>
            </a:pPr>
            <a:r>
              <a:rPr lang="en-GB" b="1" dirty="0">
                <a:solidFill>
                  <a:srgbClr val="000000"/>
                </a:solidFill>
                <a:latin typeface="Lucida Console" pitchFamily="49" charset="0"/>
              </a:rPr>
              <a:t>else {</a:t>
            </a:r>
          </a:p>
          <a:p>
            <a:pPr eaLnBrk="0" hangingPunct="0">
              <a:defRPr/>
            </a:pPr>
            <a:r>
              <a:rPr lang="en-GB" b="1" dirty="0">
                <a:solidFill>
                  <a:srgbClr val="000000"/>
                </a:solidFill>
                <a:latin typeface="Lucida Console" pitchFamily="49" charset="0"/>
              </a:rPr>
              <a:t> </a:t>
            </a:r>
            <a:r>
              <a:rPr lang="en-GB" b="1" dirty="0">
                <a:solidFill>
                  <a:schemeClr val="accent2">
                    <a:lumMod val="50000"/>
                  </a:schemeClr>
                </a:solidFill>
                <a:latin typeface="Lucida Console" pitchFamily="49" charset="0"/>
              </a:rPr>
              <a:t>// code for when 18 or over</a:t>
            </a:r>
            <a:br>
              <a:rPr lang="en-GB" b="1" dirty="0">
                <a:solidFill>
                  <a:srgbClr val="000000"/>
                </a:solidFill>
                <a:latin typeface="Lucida Console" pitchFamily="49" charset="0"/>
              </a:rPr>
            </a:br>
            <a:endParaRPr lang="en-GB" b="1" dirty="0">
              <a:solidFill>
                <a:srgbClr val="000000"/>
              </a:solidFill>
              <a:latin typeface="Lucida Console" pitchFamily="49" charset="0"/>
            </a:endParaRPr>
          </a:p>
          <a:p>
            <a:pPr eaLnBrk="0" hangingPunct="0">
              <a:defRPr/>
            </a:pPr>
            <a:r>
              <a:rPr lang="en-GB" b="1" dirty="0">
                <a:solidFill>
                  <a:srgbClr val="000000"/>
                </a:solidFill>
                <a:latin typeface="Lucida Console" pitchFamily="49" charset="0"/>
              </a:rPr>
              <a:t>}</a:t>
            </a:r>
            <a:endParaRPr lang="en-GB" b="1" dirty="0"/>
          </a:p>
        </p:txBody>
      </p:sp>
      <p:grpSp>
        <p:nvGrpSpPr>
          <p:cNvPr id="4" name="Group 5">
            <a:extLst>
              <a:ext uri="{FF2B5EF4-FFF2-40B4-BE49-F238E27FC236}">
                <a16:creationId xmlns:a16="http://schemas.microsoft.com/office/drawing/2014/main" id="{F62DD9B3-DA4A-DCD9-E272-A8BDAE13EEB3}"/>
              </a:ext>
            </a:extLst>
          </p:cNvPr>
          <p:cNvGrpSpPr>
            <a:grpSpLocks/>
          </p:cNvGrpSpPr>
          <p:nvPr/>
        </p:nvGrpSpPr>
        <p:grpSpPr bwMode="auto">
          <a:xfrm>
            <a:off x="7715975" y="1499618"/>
            <a:ext cx="4063236" cy="1754796"/>
            <a:chOff x="724" y="964"/>
            <a:chExt cx="2824" cy="1240"/>
          </a:xfrm>
          <a:solidFill>
            <a:schemeClr val="bg1">
              <a:lumMod val="95000"/>
            </a:schemeClr>
          </a:solidFill>
          <a:effectLst>
            <a:outerShdw blurRad="50800" dist="38100" algn="l" rotWithShape="0">
              <a:prstClr val="black">
                <a:alpha val="40000"/>
              </a:prstClr>
            </a:outerShdw>
          </a:effectLst>
        </p:grpSpPr>
        <p:sp>
          <p:nvSpPr>
            <p:cNvPr id="5" name="Rectangle 6">
              <a:extLst>
                <a:ext uri="{FF2B5EF4-FFF2-40B4-BE49-F238E27FC236}">
                  <a16:creationId xmlns:a16="http://schemas.microsoft.com/office/drawing/2014/main" id="{84C304F1-15C5-4393-C8D1-C11B574CB62A}"/>
                </a:ext>
              </a:extLst>
            </p:cNvPr>
            <p:cNvSpPr>
              <a:spLocks noChangeArrowheads="1"/>
            </p:cNvSpPr>
            <p:nvPr/>
          </p:nvSpPr>
          <p:spPr bwMode="auto">
            <a:xfrm>
              <a:off x="724" y="964"/>
              <a:ext cx="2824" cy="1240"/>
            </a:xfrm>
            <a:prstGeom prst="rect">
              <a:avLst/>
            </a:prstGeom>
            <a:grpFill/>
            <a:ln w="19050">
              <a:noFill/>
              <a:miter lim="800000"/>
              <a:headEnd/>
              <a:tailEnd/>
            </a:ln>
            <a:effectLst>
              <a:outerShdw dist="107763" dir="2700000" algn="ctr" rotWithShape="0">
                <a:schemeClr val="bg2"/>
              </a:outerShdw>
            </a:effectLst>
          </p:spPr>
          <p:txBody>
            <a:bodyPr wrap="none" anchor="ctr"/>
            <a:lstStyle/>
            <a:p>
              <a:pPr eaLnBrk="0" hangingPunct="0">
                <a:spcBef>
                  <a:spcPct val="50000"/>
                </a:spcBef>
                <a:defRPr/>
              </a:pPr>
              <a:endParaRPr lang="en-GB" sz="1600"/>
            </a:p>
          </p:txBody>
        </p:sp>
        <p:sp>
          <p:nvSpPr>
            <p:cNvPr id="6" name="Rectangle 7">
              <a:extLst>
                <a:ext uri="{FF2B5EF4-FFF2-40B4-BE49-F238E27FC236}">
                  <a16:creationId xmlns:a16="http://schemas.microsoft.com/office/drawing/2014/main" id="{A7317D9D-DAD7-8AE3-8389-7563CF999EAB}"/>
                </a:ext>
              </a:extLst>
            </p:cNvPr>
            <p:cNvSpPr>
              <a:spLocks noChangeArrowheads="1"/>
            </p:cNvSpPr>
            <p:nvPr/>
          </p:nvSpPr>
          <p:spPr bwMode="auto">
            <a:xfrm>
              <a:off x="1168" y="964"/>
              <a:ext cx="2380" cy="1240"/>
            </a:xfrm>
            <a:prstGeom prst="rect">
              <a:avLst/>
            </a:prstGeom>
            <a:grpFill/>
            <a:ln w="19050">
              <a:noFill/>
              <a:miter lim="800000"/>
              <a:headEnd/>
              <a:tailEnd/>
            </a:ln>
          </p:spPr>
          <p:txBody>
            <a:bodyPr wrap="none" lIns="90488" tIns="44450" rIns="90488" bIns="44450"/>
            <a:lstStyle/>
            <a:p>
              <a:pPr defTabSz="739775" eaLnBrk="0" hangingPunct="0"/>
              <a:r>
                <a:rPr lang="en-GB" b="1" dirty="0"/>
                <a:t>greater than</a:t>
              </a:r>
            </a:p>
            <a:p>
              <a:pPr defTabSz="739775" eaLnBrk="0" hangingPunct="0"/>
              <a:r>
                <a:rPr lang="en-GB" b="1" dirty="0"/>
                <a:t>greater than or equal to</a:t>
              </a:r>
            </a:p>
            <a:p>
              <a:pPr defTabSz="739775" eaLnBrk="0" hangingPunct="0"/>
              <a:r>
                <a:rPr lang="en-GB" b="1" dirty="0"/>
                <a:t>less than</a:t>
              </a:r>
            </a:p>
            <a:p>
              <a:pPr defTabSz="739775" eaLnBrk="0" hangingPunct="0"/>
              <a:r>
                <a:rPr lang="en-GB" b="1" dirty="0"/>
                <a:t>less than or equal to</a:t>
              </a:r>
            </a:p>
            <a:p>
              <a:pPr defTabSz="739775" eaLnBrk="0" hangingPunct="0"/>
              <a:r>
                <a:rPr lang="en-GB" b="1" dirty="0"/>
                <a:t>equal to</a:t>
              </a:r>
            </a:p>
            <a:p>
              <a:pPr defTabSz="739775" eaLnBrk="0" hangingPunct="0"/>
              <a:r>
                <a:rPr lang="en-GB" b="1" dirty="0"/>
                <a:t>not equal to</a:t>
              </a:r>
            </a:p>
          </p:txBody>
        </p:sp>
        <p:sp>
          <p:nvSpPr>
            <p:cNvPr id="7" name="Rectangle 8">
              <a:extLst>
                <a:ext uri="{FF2B5EF4-FFF2-40B4-BE49-F238E27FC236}">
                  <a16:creationId xmlns:a16="http://schemas.microsoft.com/office/drawing/2014/main" id="{77B58119-0DEC-CFEE-6C45-55DE01F43ECD}"/>
                </a:ext>
              </a:extLst>
            </p:cNvPr>
            <p:cNvSpPr>
              <a:spLocks noChangeArrowheads="1"/>
            </p:cNvSpPr>
            <p:nvPr/>
          </p:nvSpPr>
          <p:spPr bwMode="auto">
            <a:xfrm>
              <a:off x="724" y="964"/>
              <a:ext cx="444" cy="1240"/>
            </a:xfrm>
            <a:prstGeom prst="rect">
              <a:avLst/>
            </a:prstGeom>
            <a:grpFill/>
            <a:ln w="19050">
              <a:noFill/>
              <a:miter lim="800000"/>
              <a:headEnd/>
              <a:tailEnd/>
            </a:ln>
          </p:spPr>
          <p:txBody>
            <a:bodyPr wrap="none" lIns="90488" tIns="44450" rIns="90488" bIns="44450"/>
            <a:lstStyle/>
            <a:p>
              <a:pPr defTabSz="739775" eaLnBrk="0" hangingPunct="0"/>
              <a:r>
                <a:rPr lang="en-GB" b="1" dirty="0">
                  <a:latin typeface="Courier New" pitchFamily="49" charset="0"/>
                </a:rPr>
                <a:t>&gt;</a:t>
              </a:r>
            </a:p>
            <a:p>
              <a:pPr defTabSz="739775" eaLnBrk="0" hangingPunct="0"/>
              <a:r>
                <a:rPr lang="en-GB" b="1" dirty="0">
                  <a:latin typeface="Courier New" pitchFamily="49" charset="0"/>
                </a:rPr>
                <a:t>&gt;=</a:t>
              </a:r>
            </a:p>
            <a:p>
              <a:pPr defTabSz="739775" eaLnBrk="0" hangingPunct="0"/>
              <a:r>
                <a:rPr lang="en-GB" b="1" dirty="0">
                  <a:latin typeface="Courier New" pitchFamily="49" charset="0"/>
                </a:rPr>
                <a:t>&lt;</a:t>
              </a:r>
            </a:p>
            <a:p>
              <a:pPr defTabSz="739775" eaLnBrk="0" hangingPunct="0"/>
              <a:r>
                <a:rPr lang="en-GB" b="1" dirty="0">
                  <a:latin typeface="Courier New" pitchFamily="49" charset="0"/>
                </a:rPr>
                <a:t>&lt;=</a:t>
              </a:r>
            </a:p>
            <a:p>
              <a:pPr defTabSz="739775" eaLnBrk="0" hangingPunct="0"/>
              <a:r>
                <a:rPr lang="en-GB" b="1" dirty="0">
                  <a:latin typeface="Courier New" pitchFamily="49" charset="0"/>
                </a:rPr>
                <a:t>=</a:t>
              </a:r>
              <a:r>
                <a:rPr lang="en-GB" sz="500" b="1" dirty="0">
                  <a:latin typeface="Courier New" pitchFamily="49" charset="0"/>
                </a:rPr>
                <a:t> </a:t>
              </a:r>
              <a:r>
                <a:rPr lang="en-GB" b="1" dirty="0">
                  <a:latin typeface="Courier New" pitchFamily="49" charset="0"/>
                </a:rPr>
                <a:t>=</a:t>
              </a:r>
            </a:p>
            <a:p>
              <a:pPr defTabSz="739775" eaLnBrk="0" hangingPunct="0"/>
              <a:r>
                <a:rPr lang="en-GB" b="1" dirty="0">
                  <a:latin typeface="Courier New" pitchFamily="49" charset="0"/>
                </a:rPr>
                <a:t>!=</a:t>
              </a:r>
            </a:p>
          </p:txBody>
        </p:sp>
      </p:grpSp>
    </p:spTree>
    <p:extLst>
      <p:ext uri="{BB962C8B-B14F-4D97-AF65-F5344CB8AC3E}">
        <p14:creationId xmlns:p14="http://schemas.microsoft.com/office/powerpoint/2010/main" val="6776311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pPr eaLnBrk="1" hangingPunct="1"/>
            <a:r>
              <a:rPr lang="en-GB" dirty="0"/>
              <a:t>Introducing ‘else if’(s)</a:t>
            </a:r>
          </a:p>
        </p:txBody>
      </p:sp>
      <p:sp>
        <p:nvSpPr>
          <p:cNvPr id="11" name="Rectangle 6"/>
          <p:cNvSpPr>
            <a:spLocks noChangeArrowheads="1"/>
          </p:cNvSpPr>
          <p:nvPr/>
        </p:nvSpPr>
        <p:spPr bwMode="auto">
          <a:xfrm>
            <a:off x="972766" y="1400287"/>
            <a:ext cx="5315239" cy="3967753"/>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eaLnBrk="0" hangingPunct="0">
              <a:defRPr/>
            </a:pPr>
            <a:r>
              <a:rPr lang="en-GB" b="1" dirty="0">
                <a:solidFill>
                  <a:srgbClr val="0000FF"/>
                </a:solidFill>
                <a:latin typeface="Consolas" panose="020B0609020204030204" pitchFamily="49" charset="0"/>
              </a:rPr>
              <a:t>int</a:t>
            </a:r>
            <a:r>
              <a:rPr lang="en-GB" dirty="0">
                <a:solidFill>
                  <a:srgbClr val="0000C8"/>
                </a:solidFill>
                <a:latin typeface="Lucida Console" pitchFamily="49" charset="0"/>
              </a:rPr>
              <a:t> </a:t>
            </a:r>
            <a:r>
              <a:rPr lang="en-GB" dirty="0">
                <a:solidFill>
                  <a:srgbClr val="004050"/>
                </a:solidFill>
                <a:latin typeface="Lucida Console" pitchFamily="49" charset="0"/>
              </a:rPr>
              <a:t>mark; . . .</a:t>
            </a:r>
            <a:br>
              <a:rPr lang="en-GB" dirty="0">
                <a:solidFill>
                  <a:srgbClr val="004050"/>
                </a:solidFill>
                <a:latin typeface="Lucida Console" pitchFamily="49" charset="0"/>
              </a:rPr>
            </a:br>
            <a:endParaRPr lang="en-GB" dirty="0">
              <a:solidFill>
                <a:srgbClr val="004050"/>
              </a:solidFill>
              <a:latin typeface="Lucida Console" pitchFamily="49" charset="0"/>
            </a:endParaRPr>
          </a:p>
          <a:p>
            <a:pPr eaLnBrk="0" hangingPunct="0">
              <a:defRPr/>
            </a:pPr>
            <a:r>
              <a:rPr lang="en-GB" dirty="0">
                <a:solidFill>
                  <a:srgbClr val="0000C8"/>
                </a:solidFill>
                <a:latin typeface="Lucida Console" pitchFamily="49" charset="0"/>
              </a:rPr>
              <a:t>if</a:t>
            </a:r>
            <a:r>
              <a:rPr lang="en-GB" dirty="0">
                <a:latin typeface="Lucida Console" pitchFamily="49" charset="0"/>
              </a:rPr>
              <a:t> </a:t>
            </a:r>
            <a:r>
              <a:rPr lang="en-GB" dirty="0">
                <a:solidFill>
                  <a:srgbClr val="000000"/>
                </a:solidFill>
                <a:latin typeface="Lucida Console" pitchFamily="49" charset="0"/>
              </a:rPr>
              <a:t>( mark &gt; 80</a:t>
            </a:r>
            <a:r>
              <a:rPr lang="en-GB" i="1" dirty="0">
                <a:solidFill>
                  <a:srgbClr val="000000"/>
                </a:solidFill>
                <a:latin typeface="Lucida Console" pitchFamily="49" charset="0"/>
              </a:rPr>
              <a:t> </a:t>
            </a:r>
            <a:r>
              <a:rPr lang="en-GB" dirty="0">
                <a:solidFill>
                  <a:srgbClr val="000000"/>
                </a:solidFill>
                <a:latin typeface="Lucida Console" pitchFamily="49" charset="0"/>
              </a:rPr>
              <a:t>){ </a:t>
            </a:r>
          </a:p>
          <a:p>
            <a:pPr eaLnBrk="0" hangingPunct="0">
              <a:defRPr/>
            </a:pPr>
            <a:r>
              <a:rPr lang="en-GB" dirty="0">
                <a:solidFill>
                  <a:srgbClr val="000000"/>
                </a:solidFill>
                <a:latin typeface="Lucida Console" pitchFamily="49" charset="0"/>
              </a:rPr>
              <a:t>   </a:t>
            </a: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a:t>
            </a:r>
            <a:r>
              <a:rPr lang="en-GB" dirty="0">
                <a:solidFill>
                  <a:srgbClr val="C00000"/>
                </a:solidFill>
                <a:latin typeface="Lucida Console" pitchFamily="49" charset="0"/>
              </a:rPr>
              <a:t>"Distinction"</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C8"/>
                </a:solidFill>
                <a:latin typeface="Lucida Console" pitchFamily="49" charset="0"/>
              </a:rPr>
              <a:t>else if</a:t>
            </a:r>
            <a:r>
              <a:rPr lang="en-GB" dirty="0">
                <a:solidFill>
                  <a:srgbClr val="000000"/>
                </a:solidFill>
                <a:latin typeface="Lucida Console" pitchFamily="49" charset="0"/>
              </a:rPr>
              <a:t>( mark &gt; 70 ) {</a:t>
            </a:r>
            <a:br>
              <a:rPr lang="en-GB" dirty="0">
                <a:solidFill>
                  <a:srgbClr val="000000"/>
                </a:solidFill>
                <a:latin typeface="Lucida Console" pitchFamily="49" charset="0"/>
              </a:rPr>
            </a:br>
            <a:r>
              <a:rPr lang="en-GB" dirty="0">
                <a:solidFill>
                  <a:srgbClr val="000000"/>
                </a:solidFill>
                <a:latin typeface="Lucida Console" pitchFamily="49" charset="0"/>
              </a:rPr>
              <a:t>   </a:t>
            </a: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a:t>
            </a:r>
            <a:r>
              <a:rPr lang="en-GB" dirty="0">
                <a:solidFill>
                  <a:srgbClr val="C00000"/>
                </a:solidFill>
                <a:latin typeface="Lucida Console" pitchFamily="49" charset="0"/>
              </a:rPr>
              <a:t>"Merit"</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C8"/>
                </a:solidFill>
                <a:latin typeface="Lucida Console" pitchFamily="49" charset="0"/>
              </a:rPr>
              <a:t>else if</a:t>
            </a:r>
            <a:r>
              <a:rPr lang="en-GB" dirty="0">
                <a:solidFill>
                  <a:srgbClr val="000000"/>
                </a:solidFill>
                <a:latin typeface="Lucida Console" pitchFamily="49" charset="0"/>
              </a:rPr>
              <a:t>( mark &gt; 60 ) {</a:t>
            </a:r>
            <a:br>
              <a:rPr lang="en-GB" dirty="0">
                <a:solidFill>
                  <a:srgbClr val="000000"/>
                </a:solidFill>
                <a:latin typeface="Lucida Console" pitchFamily="49" charset="0"/>
              </a:rPr>
            </a:br>
            <a:r>
              <a:rPr lang="en-GB" dirty="0">
                <a:solidFill>
                  <a:srgbClr val="000000"/>
                </a:solidFill>
                <a:latin typeface="Lucida Console" pitchFamily="49" charset="0"/>
              </a:rPr>
              <a:t>   </a:t>
            </a: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a:t>
            </a:r>
            <a:r>
              <a:rPr lang="en-GB" dirty="0">
                <a:solidFill>
                  <a:srgbClr val="C00000"/>
                </a:solidFill>
                <a:latin typeface="Lucida Console" pitchFamily="49" charset="0"/>
              </a:rPr>
              <a:t>"Pass"</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a:t>
            </a:r>
          </a:p>
          <a:p>
            <a:pPr eaLnBrk="0" hangingPunct="0">
              <a:defRPr/>
            </a:pPr>
            <a:r>
              <a:rPr lang="en-GB" dirty="0">
                <a:solidFill>
                  <a:srgbClr val="0000C8"/>
                </a:solidFill>
                <a:latin typeface="Lucida Console" pitchFamily="49" charset="0"/>
              </a:rPr>
              <a:t>else </a:t>
            </a:r>
            <a:r>
              <a:rPr lang="en-GB" dirty="0">
                <a:latin typeface="Lucida Console" pitchFamily="49" charset="0"/>
              </a:rPr>
              <a:t>{</a:t>
            </a:r>
          </a:p>
          <a:p>
            <a:pPr eaLnBrk="0" hangingPunct="0">
              <a:defRPr/>
            </a:pPr>
            <a:r>
              <a:rPr lang="en-GB" dirty="0">
                <a:solidFill>
                  <a:srgbClr val="000000"/>
                </a:solidFill>
                <a:latin typeface="Lucida Console" pitchFamily="49" charset="0"/>
              </a:rPr>
              <a:t>   </a:t>
            </a:r>
            <a:r>
              <a:rPr lang="en-GB" dirty="0" err="1">
                <a:solidFill>
                  <a:srgbClr val="000000"/>
                </a:solidFill>
                <a:latin typeface="Cascadia Mono" panose="020B0609020000020004" pitchFamily="49" charset="0"/>
              </a:rPr>
              <a:t>Console.WriteLine</a:t>
            </a:r>
            <a:r>
              <a:rPr lang="en-GB" dirty="0">
                <a:solidFill>
                  <a:srgbClr val="000000"/>
                </a:solidFill>
                <a:latin typeface="Lucida Console" pitchFamily="49" charset="0"/>
              </a:rPr>
              <a:t>(</a:t>
            </a:r>
            <a:r>
              <a:rPr lang="en-GB" dirty="0">
                <a:solidFill>
                  <a:srgbClr val="C00000"/>
                </a:solidFill>
                <a:latin typeface="Lucida Console" pitchFamily="49" charset="0"/>
              </a:rPr>
              <a:t>"Try again!"</a:t>
            </a:r>
            <a:r>
              <a:rPr lang="en-GB" dirty="0">
                <a:solidFill>
                  <a:srgbClr val="000000"/>
                </a:solidFill>
                <a:latin typeface="Lucida Console" pitchFamily="49" charset="0"/>
              </a:rPr>
              <a:t>);</a:t>
            </a:r>
            <a:br>
              <a:rPr lang="en-GB" dirty="0">
                <a:solidFill>
                  <a:srgbClr val="000000"/>
                </a:solidFill>
                <a:latin typeface="Lucida Console" pitchFamily="49" charset="0"/>
              </a:rPr>
            </a:br>
            <a:r>
              <a:rPr lang="en-GB" dirty="0">
                <a:solidFill>
                  <a:srgbClr val="000000"/>
                </a:solidFill>
                <a:latin typeface="Lucida Console" pitchFamily="49" charset="0"/>
              </a:rPr>
              <a:t>}</a:t>
            </a:r>
          </a:p>
        </p:txBody>
      </p:sp>
      <p:sp>
        <p:nvSpPr>
          <p:cNvPr id="2" name="Speech Bubble: Rectangle with Corners Rounded 1">
            <a:extLst>
              <a:ext uri="{FF2B5EF4-FFF2-40B4-BE49-F238E27FC236}">
                <a16:creationId xmlns:a16="http://schemas.microsoft.com/office/drawing/2014/main" id="{8889EDB8-500C-48C9-A090-60AD5A13BE82}"/>
              </a:ext>
            </a:extLst>
          </p:cNvPr>
          <p:cNvSpPr/>
          <p:nvPr/>
        </p:nvSpPr>
        <p:spPr>
          <a:xfrm>
            <a:off x="6741042" y="2072161"/>
            <a:ext cx="2892056" cy="506801"/>
          </a:xfrm>
          <a:prstGeom prst="wedgeRoundRectCallout">
            <a:avLst>
              <a:gd name="adj1" fmla="val -57598"/>
              <a:gd name="adj2" fmla="val -15827"/>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dirty="0">
                <a:solidFill>
                  <a:schemeClr val="bg1"/>
                </a:solidFill>
                <a:latin typeface="Lucida Console" pitchFamily="49" charset="0"/>
              </a:rPr>
              <a:t>'if'</a:t>
            </a:r>
            <a:r>
              <a:rPr lang="en-GB" dirty="0"/>
              <a:t> must come first</a:t>
            </a:r>
          </a:p>
        </p:txBody>
      </p:sp>
      <p:sp>
        <p:nvSpPr>
          <p:cNvPr id="10" name="Speech Bubble: Rectangle with Corners Rounded 9">
            <a:extLst>
              <a:ext uri="{FF2B5EF4-FFF2-40B4-BE49-F238E27FC236}">
                <a16:creationId xmlns:a16="http://schemas.microsoft.com/office/drawing/2014/main" id="{6B4A3769-A132-4FA7-9A2A-7970C3E2AD94}"/>
              </a:ext>
            </a:extLst>
          </p:cNvPr>
          <p:cNvSpPr/>
          <p:nvPr/>
        </p:nvSpPr>
        <p:spPr>
          <a:xfrm>
            <a:off x="6776482" y="3147783"/>
            <a:ext cx="3641841" cy="616822"/>
          </a:xfrm>
          <a:prstGeom prst="wedgeRoundRectCallout">
            <a:avLst>
              <a:gd name="adj1" fmla="val -57598"/>
              <a:gd name="adj2" fmla="val -15827"/>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eaLnBrk="0" hangingPunct="0">
              <a:spcBef>
                <a:spcPct val="50000"/>
              </a:spcBef>
            </a:pPr>
            <a:r>
              <a:rPr lang="en-GB" sz="1600" dirty="0"/>
              <a:t>as many </a:t>
            </a:r>
            <a:r>
              <a:rPr lang="en-GB" sz="1600" dirty="0">
                <a:solidFill>
                  <a:schemeClr val="bg1"/>
                </a:solidFill>
                <a:latin typeface="Lucida Console" pitchFamily="49" charset="0"/>
              </a:rPr>
              <a:t>‘else if'</a:t>
            </a:r>
            <a:r>
              <a:rPr lang="en-GB" sz="1600" dirty="0"/>
              <a:t>(s) as needed</a:t>
            </a:r>
          </a:p>
        </p:txBody>
      </p:sp>
      <p:sp>
        <p:nvSpPr>
          <p:cNvPr id="12" name="Speech Bubble: Rectangle with Corners Rounded 11">
            <a:extLst>
              <a:ext uri="{FF2B5EF4-FFF2-40B4-BE49-F238E27FC236}">
                <a16:creationId xmlns:a16="http://schemas.microsoft.com/office/drawing/2014/main" id="{7D67B51E-9EC0-4B8E-9680-9FB2A42DCF79}"/>
              </a:ext>
            </a:extLst>
          </p:cNvPr>
          <p:cNvSpPr/>
          <p:nvPr/>
        </p:nvSpPr>
        <p:spPr>
          <a:xfrm>
            <a:off x="6776483" y="4716881"/>
            <a:ext cx="2892056" cy="779399"/>
          </a:xfrm>
          <a:prstGeom prst="wedgeRoundRectCallout">
            <a:avLst>
              <a:gd name="adj1" fmla="val -57598"/>
              <a:gd name="adj2" fmla="val -15827"/>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dirty="0">
                <a:solidFill>
                  <a:schemeClr val="bg1"/>
                </a:solidFill>
                <a:latin typeface="Lucida Console" pitchFamily="49" charset="0"/>
              </a:rPr>
              <a:t>'else’</a:t>
            </a:r>
            <a:r>
              <a:rPr lang="en-GB" sz="1600" dirty="0"/>
              <a:t> </a:t>
            </a:r>
            <a:br>
              <a:rPr lang="en-GB" sz="1600" dirty="0"/>
            </a:br>
            <a:r>
              <a:rPr lang="en-GB" sz="1600" dirty="0"/>
              <a:t>(if needed) comes last</a:t>
            </a:r>
          </a:p>
        </p:txBody>
      </p:sp>
    </p:spTree>
    <p:extLst>
      <p:ext uri="{BB962C8B-B14F-4D97-AF65-F5344CB8AC3E}">
        <p14:creationId xmlns:p14="http://schemas.microsoft.com/office/powerpoint/2010/main" val="249692129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Logical operators AND </a:t>
            </a:r>
            <a:r>
              <a:rPr lang="en-GB" dirty="0" err="1"/>
              <a:t>and</a:t>
            </a:r>
            <a:r>
              <a:rPr lang="en-GB" dirty="0"/>
              <a:t> OR</a:t>
            </a:r>
          </a:p>
        </p:txBody>
      </p:sp>
      <p:sp>
        <p:nvSpPr>
          <p:cNvPr id="6" name="Rectangle 12"/>
          <p:cNvSpPr>
            <a:spLocks noChangeArrowheads="1"/>
          </p:cNvSpPr>
          <p:nvPr/>
        </p:nvSpPr>
        <p:spPr bwMode="auto">
          <a:xfrm>
            <a:off x="10371850" y="3183543"/>
            <a:ext cx="797004" cy="990600"/>
          </a:xfrm>
          <a:prstGeom prst="rect">
            <a:avLst/>
          </a:prstGeom>
          <a:solidFill>
            <a:schemeClr val="accent4">
              <a:lumMod val="20000"/>
              <a:lumOff val="80000"/>
            </a:schemeClr>
          </a:solidFill>
          <a:ln w="19050">
            <a:noFill/>
            <a:miter lim="800000"/>
            <a:headEnd/>
            <a:tailEnd/>
          </a:ln>
          <a:effectLst>
            <a:outerShdw blurRad="50800" dist="38100" algn="l" rotWithShape="0">
              <a:prstClr val="black">
                <a:alpha val="40000"/>
              </a:prstClr>
            </a:outerShdw>
          </a:effectLst>
        </p:spPr>
        <p:txBody>
          <a:bodyPr wrap="none" lIns="90488" tIns="44450" rIns="90488" bIns="44450"/>
          <a:lstStyle/>
          <a:p>
            <a:pPr defTabSz="739775" eaLnBrk="0" hangingPunct="0"/>
            <a:r>
              <a:rPr lang="en-GB" sz="2000" dirty="0"/>
              <a:t>AND</a:t>
            </a:r>
          </a:p>
          <a:p>
            <a:pPr defTabSz="739775" eaLnBrk="0" hangingPunct="0"/>
            <a:r>
              <a:rPr lang="en-GB" sz="2000" dirty="0"/>
              <a:t>OR</a:t>
            </a:r>
          </a:p>
          <a:p>
            <a:pPr defTabSz="739775" eaLnBrk="0" hangingPunct="0"/>
            <a:r>
              <a:rPr lang="en-GB" sz="2000" dirty="0"/>
              <a:t>NOT</a:t>
            </a:r>
          </a:p>
        </p:txBody>
      </p:sp>
      <p:sp>
        <p:nvSpPr>
          <p:cNvPr id="7" name="Rectangle 13"/>
          <p:cNvSpPr>
            <a:spLocks noChangeArrowheads="1"/>
          </p:cNvSpPr>
          <p:nvPr/>
        </p:nvSpPr>
        <p:spPr bwMode="auto">
          <a:xfrm>
            <a:off x="9547085" y="3183543"/>
            <a:ext cx="827623" cy="990600"/>
          </a:xfrm>
          <a:prstGeom prst="rect">
            <a:avLst/>
          </a:prstGeom>
          <a:solidFill>
            <a:schemeClr val="accent4">
              <a:lumMod val="20000"/>
              <a:lumOff val="80000"/>
            </a:schemeClr>
          </a:solidFill>
          <a:ln w="19050">
            <a:solidFill>
              <a:srgbClr val="004050"/>
            </a:solidFill>
            <a:miter lim="800000"/>
            <a:headEnd/>
            <a:tailEnd/>
          </a:ln>
        </p:spPr>
        <p:txBody>
          <a:bodyPr wrap="none" lIns="90488" tIns="44450" rIns="90488" bIns="44450"/>
          <a:lstStyle/>
          <a:p>
            <a:pPr defTabSz="739775" eaLnBrk="0" hangingPunct="0"/>
            <a:r>
              <a:rPr lang="en-GB" sz="2000" b="1" dirty="0">
                <a:latin typeface="Courier New" pitchFamily="49" charset="0"/>
              </a:rPr>
              <a:t>&amp;&amp;</a:t>
            </a:r>
          </a:p>
          <a:p>
            <a:pPr defTabSz="739775" eaLnBrk="0" hangingPunct="0"/>
            <a:r>
              <a:rPr lang="en-GB" sz="2000" b="1" dirty="0">
                <a:latin typeface="Courier New" pitchFamily="49" charset="0"/>
              </a:rPr>
              <a:t>||</a:t>
            </a:r>
          </a:p>
          <a:p>
            <a:pPr defTabSz="739775" eaLnBrk="0" hangingPunct="0"/>
            <a:r>
              <a:rPr lang="en-GB" sz="2000" b="1" dirty="0">
                <a:latin typeface="Courier New" pitchFamily="49" charset="0"/>
              </a:rPr>
              <a:t>!</a:t>
            </a:r>
          </a:p>
          <a:p>
            <a:pPr defTabSz="739775" eaLnBrk="0" latinLnBrk="1" hangingPunct="0"/>
            <a:endParaRPr lang="en-GB" sz="2000" b="1" dirty="0">
              <a:latin typeface="Courier New" pitchFamily="49" charset="0"/>
            </a:endParaRPr>
          </a:p>
        </p:txBody>
      </p:sp>
      <p:sp>
        <p:nvSpPr>
          <p:cNvPr id="9" name="Rectangle 15"/>
          <p:cNvSpPr>
            <a:spLocks noChangeArrowheads="1"/>
          </p:cNvSpPr>
          <p:nvPr/>
        </p:nvSpPr>
        <p:spPr bwMode="auto">
          <a:xfrm>
            <a:off x="1820150" y="1506030"/>
            <a:ext cx="7015215" cy="2121799"/>
          </a:xfrm>
          <a:prstGeom prst="rect">
            <a:avLst/>
          </a:prstGeom>
          <a:solidFill>
            <a:schemeClr val="accent5">
              <a:lumMod val="20000"/>
              <a:lumOff val="80000"/>
            </a:schemeClr>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lnSpc>
                <a:spcPct val="150000"/>
              </a:lnSpc>
              <a:defRPr/>
            </a:pPr>
            <a:r>
              <a:rPr lang="en-GB" b="1" dirty="0" err="1">
                <a:solidFill>
                  <a:srgbClr val="0000C8"/>
                </a:solidFill>
                <a:latin typeface="Lucida Console" pitchFamily="49" charset="0"/>
              </a:rPr>
              <a:t>int</a:t>
            </a:r>
            <a:r>
              <a:rPr lang="en-GB" b="1" dirty="0">
                <a:latin typeface="Lucida Console" pitchFamily="49" charset="0"/>
              </a:rPr>
              <a:t> var1 = 4, var2 = 2, var3 = 0;</a:t>
            </a:r>
          </a:p>
          <a:p>
            <a:pPr defTabSz="739775" eaLnBrk="0" hangingPunct="0">
              <a:lnSpc>
                <a:spcPct val="150000"/>
              </a:lnSpc>
              <a:defRPr/>
            </a:pPr>
            <a:r>
              <a:rPr lang="en-GB" b="1" dirty="0">
                <a:solidFill>
                  <a:srgbClr val="0000FF"/>
                </a:solidFill>
                <a:latin typeface="Lucida Console" pitchFamily="49" charset="0"/>
              </a:rPr>
              <a:t>if </a:t>
            </a:r>
            <a:r>
              <a:rPr lang="en-GB" b="1" dirty="0">
                <a:latin typeface="Lucida Console" pitchFamily="49" charset="0"/>
              </a:rPr>
              <a:t>(var1 &gt; var2 </a:t>
            </a:r>
            <a:r>
              <a:rPr lang="en-GB" b="1" dirty="0">
                <a:solidFill>
                  <a:schemeClr val="accent4">
                    <a:lumMod val="75000"/>
                  </a:schemeClr>
                </a:solidFill>
                <a:latin typeface="Lucida Console" pitchFamily="49" charset="0"/>
              </a:rPr>
              <a:t>&amp;&amp;</a:t>
            </a:r>
            <a:r>
              <a:rPr lang="en-GB" b="1" dirty="0">
                <a:latin typeface="Lucida Console" pitchFamily="49" charset="0"/>
              </a:rPr>
              <a:t> var3 == 0)</a:t>
            </a:r>
          </a:p>
          <a:p>
            <a:pPr defTabSz="739775" eaLnBrk="0" hangingPunct="0">
              <a:lnSpc>
                <a:spcPct val="150000"/>
              </a:lnSpc>
              <a:defRPr/>
            </a:pPr>
            <a:r>
              <a:rPr lang="en-GB" b="1" dirty="0">
                <a:latin typeface="Lucida Console" pitchFamily="49" charset="0"/>
              </a:rPr>
              <a:t>{</a:t>
            </a:r>
          </a:p>
          <a:p>
            <a:pPr defTabSz="739775" eaLnBrk="0" hangingPunct="0">
              <a:lnSpc>
                <a:spcPct val="150000"/>
              </a:lnSpc>
              <a:defRPr/>
            </a:pPr>
            <a:r>
              <a:rPr lang="en-GB" b="1" dirty="0">
                <a:latin typeface="Lucida Console" pitchFamily="49" charset="0"/>
              </a:rPr>
              <a:t>  	</a:t>
            </a:r>
            <a:r>
              <a:rPr lang="en-GB" sz="1800" b="1" dirty="0">
                <a:solidFill>
                  <a:srgbClr val="000000"/>
                </a:solidFill>
                <a:latin typeface="Consolas" panose="020B0609020204030204" pitchFamily="49" charset="0"/>
              </a:rPr>
              <a:t> </a:t>
            </a:r>
            <a:r>
              <a:rPr lang="en-GB" b="1" dirty="0" err="1">
                <a:solidFill>
                  <a:srgbClr val="000000"/>
                </a:solidFill>
                <a:latin typeface="Cascadia Mono" panose="020B0609020000020004" pitchFamily="49" charset="0"/>
              </a:rPr>
              <a:t>Console.WriteLine</a:t>
            </a:r>
            <a:r>
              <a:rPr lang="en-GB" b="1" dirty="0">
                <a:latin typeface="Lucida Console" pitchFamily="49" charset="0"/>
              </a:rPr>
              <a:t>( "Will we see this?" );</a:t>
            </a:r>
          </a:p>
          <a:p>
            <a:pPr defTabSz="739775" eaLnBrk="0" hangingPunct="0">
              <a:lnSpc>
                <a:spcPct val="150000"/>
              </a:lnSpc>
              <a:defRPr/>
            </a:pPr>
            <a:r>
              <a:rPr lang="en-GB" b="1" dirty="0">
                <a:latin typeface="Lucida Console" pitchFamily="49" charset="0"/>
              </a:rPr>
              <a:t>}</a:t>
            </a:r>
          </a:p>
        </p:txBody>
      </p:sp>
      <p:sp>
        <p:nvSpPr>
          <p:cNvPr id="12" name="Rectangle 15"/>
          <p:cNvSpPr>
            <a:spLocks noChangeArrowheads="1"/>
          </p:cNvSpPr>
          <p:nvPr/>
        </p:nvSpPr>
        <p:spPr bwMode="auto">
          <a:xfrm>
            <a:off x="1820150" y="4174143"/>
            <a:ext cx="7020470" cy="1706301"/>
          </a:xfrm>
          <a:prstGeom prst="rect">
            <a:avLst/>
          </a:prstGeom>
          <a:solidFill>
            <a:schemeClr val="bg1"/>
          </a:solidFill>
          <a:ln w="19050">
            <a:noFill/>
            <a:miter lim="800000"/>
            <a:headEnd/>
            <a:tailEnd/>
          </a:ln>
          <a:effectLst>
            <a:outerShdw blurRad="50800" dist="38100" algn="l" rotWithShape="0">
              <a:prstClr val="black">
                <a:alpha val="40000"/>
              </a:prstClr>
            </a:outerShdw>
          </a:effectLst>
        </p:spPr>
        <p:txBody>
          <a:bodyPr wrap="square" lIns="90488" tIns="44450" rIns="90488" bIns="44450">
            <a:spAutoFit/>
          </a:bodyPr>
          <a:lstStyle/>
          <a:p>
            <a:pPr defTabSz="739775" eaLnBrk="0" hangingPunct="0">
              <a:lnSpc>
                <a:spcPct val="150000"/>
              </a:lnSpc>
              <a:defRPr/>
            </a:pPr>
            <a:r>
              <a:rPr lang="en-GB" b="1" dirty="0">
                <a:solidFill>
                  <a:srgbClr val="0000FF"/>
                </a:solidFill>
                <a:latin typeface="Lucida Console" pitchFamily="49" charset="0"/>
              </a:rPr>
              <a:t>if </a:t>
            </a:r>
            <a:r>
              <a:rPr lang="en-GB" b="1" dirty="0">
                <a:latin typeface="Lucida Console" pitchFamily="49" charset="0"/>
              </a:rPr>
              <a:t>(var1 &gt; var2 </a:t>
            </a:r>
            <a:r>
              <a:rPr lang="en-GB" b="1" dirty="0">
                <a:solidFill>
                  <a:schemeClr val="accent4">
                    <a:lumMod val="75000"/>
                  </a:schemeClr>
                </a:solidFill>
                <a:latin typeface="Lucida Console" pitchFamily="49" charset="0"/>
              </a:rPr>
              <a:t>||</a:t>
            </a:r>
            <a:r>
              <a:rPr lang="en-GB" b="1" dirty="0">
                <a:latin typeface="Lucida Console" pitchFamily="49" charset="0"/>
              </a:rPr>
              <a:t> var3 == 0)</a:t>
            </a:r>
          </a:p>
          <a:p>
            <a:pPr defTabSz="739775" eaLnBrk="0" hangingPunct="0">
              <a:lnSpc>
                <a:spcPct val="150000"/>
              </a:lnSpc>
              <a:defRPr/>
            </a:pPr>
            <a:r>
              <a:rPr lang="en-GB" b="1" dirty="0">
                <a:latin typeface="Lucida Console" pitchFamily="49" charset="0"/>
              </a:rPr>
              <a:t>{</a:t>
            </a:r>
          </a:p>
          <a:p>
            <a:pPr defTabSz="739775" eaLnBrk="0" hangingPunct="0">
              <a:lnSpc>
                <a:spcPct val="150000"/>
              </a:lnSpc>
              <a:defRPr/>
            </a:pPr>
            <a:r>
              <a:rPr lang="en-GB" b="1" dirty="0">
                <a:latin typeface="Lucida Console" pitchFamily="49" charset="0"/>
              </a:rPr>
              <a:t> 	</a:t>
            </a:r>
            <a:r>
              <a:rPr lang="en-GB" b="1" dirty="0">
                <a:solidFill>
                  <a:srgbClr val="000000"/>
                </a:solidFill>
                <a:latin typeface="Cascadia Mono" panose="020B0609020000020004" pitchFamily="49" charset="0"/>
              </a:rPr>
              <a:t> </a:t>
            </a:r>
            <a:r>
              <a:rPr lang="en-GB" b="1" dirty="0" err="1">
                <a:solidFill>
                  <a:srgbClr val="000000"/>
                </a:solidFill>
                <a:latin typeface="Cascadia Mono" panose="020B0609020000020004" pitchFamily="49" charset="0"/>
              </a:rPr>
              <a:t>Console.WriteLine</a:t>
            </a:r>
            <a:r>
              <a:rPr lang="en-GB" b="1" dirty="0">
                <a:latin typeface="Lucida Console" pitchFamily="49" charset="0"/>
              </a:rPr>
              <a:t>( "Will we see this?" );</a:t>
            </a:r>
          </a:p>
          <a:p>
            <a:pPr defTabSz="739775" eaLnBrk="0" hangingPunct="0">
              <a:lnSpc>
                <a:spcPct val="150000"/>
              </a:lnSpc>
              <a:defRPr/>
            </a:pPr>
            <a:r>
              <a:rPr lang="en-GB" b="1" dirty="0">
                <a:latin typeface="Lucida Console" pitchFamily="49" charset="0"/>
              </a:rPr>
              <a:t>}</a:t>
            </a:r>
          </a:p>
        </p:txBody>
      </p:sp>
    </p:spTree>
    <p:extLst>
      <p:ext uri="{BB962C8B-B14F-4D97-AF65-F5344CB8AC3E}">
        <p14:creationId xmlns:p14="http://schemas.microsoft.com/office/powerpoint/2010/main" val="23658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2"/>
          </p:nvPr>
        </p:nvSpPr>
        <p:spPr/>
        <p:txBody>
          <a:bodyPr/>
          <a:lstStyle/>
          <a:p>
            <a:endParaRPr lang="en-IN"/>
          </a:p>
        </p:txBody>
      </p:sp>
      <p:sp>
        <p:nvSpPr>
          <p:cNvPr id="4" name="Title 3"/>
          <p:cNvSpPr>
            <a:spLocks noGrp="1"/>
          </p:cNvSpPr>
          <p:nvPr>
            <p:ph type="ctrTitle"/>
          </p:nvPr>
        </p:nvSpPr>
        <p:spPr>
          <a:xfrm>
            <a:off x="385301" y="1935395"/>
            <a:ext cx="3592020" cy="2277604"/>
          </a:xfrm>
        </p:spPr>
        <p:txBody>
          <a:bodyPr/>
          <a:lstStyle/>
          <a:p>
            <a:r>
              <a:rPr lang="en-US" dirty="0"/>
              <a:t>Methods</a:t>
            </a:r>
            <a:endParaRPr lang="en-IN" dirty="0"/>
          </a:p>
        </p:txBody>
      </p:sp>
    </p:spTree>
    <p:extLst>
      <p:ext uri="{BB962C8B-B14F-4D97-AF65-F5344CB8AC3E}">
        <p14:creationId xmlns:p14="http://schemas.microsoft.com/office/powerpoint/2010/main" val="2534931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39970" y="562058"/>
            <a:ext cx="11695011" cy="805001"/>
          </a:xfrm>
        </p:spPr>
        <p:txBody>
          <a:bodyPr>
            <a:noAutofit/>
          </a:bodyPr>
          <a:lstStyle/>
          <a:p>
            <a:r>
              <a:rPr lang="en-GB" sz="3400" dirty="0">
                <a:solidFill>
                  <a:schemeClr val="tx1"/>
                </a:solidFill>
              </a:rPr>
              <a:t>Example of a </a:t>
            </a:r>
            <a:r>
              <a:rPr lang="en-GB" sz="3400" dirty="0">
                <a:solidFill>
                  <a:srgbClr val="C00000"/>
                </a:solidFill>
              </a:rPr>
              <a:t>void </a:t>
            </a:r>
            <a:r>
              <a:rPr lang="en-GB" sz="3400" dirty="0">
                <a:solidFill>
                  <a:schemeClr val="tx1"/>
                </a:solidFill>
              </a:rPr>
              <a:t>method with two parameters</a:t>
            </a:r>
            <a:endParaRPr lang="en-GB" sz="3400" dirty="0"/>
          </a:p>
        </p:txBody>
      </p:sp>
      <p:sp>
        <p:nvSpPr>
          <p:cNvPr id="17" name="Rectangle 16"/>
          <p:cNvSpPr/>
          <p:nvPr/>
        </p:nvSpPr>
        <p:spPr>
          <a:xfrm>
            <a:off x="1846145" y="1378176"/>
            <a:ext cx="8457770" cy="5033814"/>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pPr>
              <a:lnSpc>
                <a:spcPct val="150000"/>
              </a:lnSpc>
            </a:pPr>
            <a:r>
              <a:rPr lang="en-GB" b="1" dirty="0">
                <a:solidFill>
                  <a:srgbClr val="7F0055"/>
                </a:solidFill>
                <a:latin typeface="Consolas" panose="020B0609020204030204" pitchFamily="49" charset="0"/>
              </a:rPr>
              <a:t>public</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class</a:t>
            </a:r>
            <a:r>
              <a:rPr lang="en-GB" b="1" dirty="0">
                <a:solidFill>
                  <a:srgbClr val="000000"/>
                </a:solidFill>
                <a:latin typeface="Consolas" panose="020B0609020204030204" pitchFamily="49" charset="0"/>
              </a:rPr>
              <a:t> Program {</a:t>
            </a:r>
            <a:endParaRPr lang="en-GB" dirty="0">
              <a:latin typeface="Consolas" panose="020B0609020204030204" pitchFamily="49" charset="0"/>
            </a:endParaRPr>
          </a:p>
          <a:p>
            <a:pPr lvl="1">
              <a:lnSpc>
                <a:spcPct val="150000"/>
              </a:lnSpc>
            </a:pPr>
            <a:r>
              <a:rPr lang="en-GB" b="1" dirty="0">
                <a:solidFill>
                  <a:srgbClr val="7F0055"/>
                </a:solidFill>
                <a:latin typeface="Consolas" panose="020B0609020204030204" pitchFamily="49" charset="0"/>
              </a:rPr>
              <a:t>public</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static</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void</a:t>
            </a:r>
            <a:r>
              <a:rPr lang="en-GB" b="1" dirty="0">
                <a:solidFill>
                  <a:srgbClr val="000000"/>
                </a:solidFill>
                <a:latin typeface="Consolas" panose="020B0609020204030204" pitchFamily="49" charset="0"/>
              </a:rPr>
              <a:t> Main(string[] </a:t>
            </a:r>
            <a:r>
              <a:rPr lang="en-GB" b="1" dirty="0" err="1">
                <a:solidFill>
                  <a:srgbClr val="6A3E3E"/>
                </a:solidFill>
                <a:latin typeface="Consolas" panose="020B0609020204030204" pitchFamily="49" charset="0"/>
              </a:rPr>
              <a:t>args</a:t>
            </a:r>
            <a:r>
              <a:rPr lang="en-GB" b="1" dirty="0">
                <a:solidFill>
                  <a:srgbClr val="000000"/>
                </a:solidFill>
                <a:latin typeface="Consolas" panose="020B0609020204030204" pitchFamily="49" charset="0"/>
              </a:rPr>
              <a:t>) {</a:t>
            </a:r>
            <a:endParaRPr lang="en-GB" dirty="0">
              <a:latin typeface="Consolas" panose="020B0609020204030204" pitchFamily="49" charset="0"/>
            </a:endParaRPr>
          </a:p>
          <a:p>
            <a:pPr lvl="2">
              <a:lnSpc>
                <a:spcPct val="150000"/>
              </a:lnSpc>
            </a:pPr>
            <a:r>
              <a:rPr lang="es-ES" b="1" dirty="0" err="1">
                <a:solidFill>
                  <a:srgbClr val="7F0055"/>
                </a:solidFill>
                <a:latin typeface="Consolas" panose="020B0609020204030204" pitchFamily="49" charset="0"/>
              </a:rPr>
              <a:t>int</a:t>
            </a:r>
            <a:r>
              <a:rPr lang="es-ES" b="1" dirty="0">
                <a:solidFill>
                  <a:srgbClr val="000000"/>
                </a:solidFill>
                <a:latin typeface="Consolas" panose="020B0609020204030204" pitchFamily="49" charset="0"/>
              </a:rPr>
              <a:t> </a:t>
            </a:r>
            <a:r>
              <a:rPr lang="es-ES" b="1" dirty="0">
                <a:solidFill>
                  <a:srgbClr val="6A3E3E"/>
                </a:solidFill>
                <a:latin typeface="Consolas" panose="020B0609020204030204" pitchFamily="49" charset="0"/>
              </a:rPr>
              <a:t>x</a:t>
            </a:r>
            <a:r>
              <a:rPr lang="es-ES" b="1" dirty="0">
                <a:solidFill>
                  <a:srgbClr val="000000"/>
                </a:solidFill>
                <a:latin typeface="Consolas" panose="020B0609020204030204" pitchFamily="49" charset="0"/>
              </a:rPr>
              <a:t> = 1, </a:t>
            </a:r>
            <a:r>
              <a:rPr lang="es-ES" b="1" dirty="0">
                <a:solidFill>
                  <a:srgbClr val="6A3E3E"/>
                </a:solidFill>
                <a:latin typeface="Consolas" panose="020B0609020204030204" pitchFamily="49" charset="0"/>
              </a:rPr>
              <a:t>y</a:t>
            </a:r>
            <a:r>
              <a:rPr lang="es-ES" b="1" dirty="0">
                <a:solidFill>
                  <a:srgbClr val="000000"/>
                </a:solidFill>
                <a:latin typeface="Consolas" panose="020B0609020204030204" pitchFamily="49" charset="0"/>
              </a:rPr>
              <a:t> = 2;</a:t>
            </a:r>
          </a:p>
          <a:p>
            <a:pPr lvl="2">
              <a:lnSpc>
                <a:spcPct val="150000"/>
              </a:lnSpc>
            </a:pPr>
            <a:r>
              <a:rPr lang="en-GB" i="1" dirty="0">
                <a:solidFill>
                  <a:srgbClr val="000000"/>
                </a:solidFill>
                <a:latin typeface="Consolas" panose="020B0609020204030204" pitchFamily="49" charset="0"/>
              </a:rPr>
              <a:t>add(</a:t>
            </a:r>
            <a:r>
              <a:rPr lang="en-GB" i="1" dirty="0">
                <a:solidFill>
                  <a:srgbClr val="6A3E3E"/>
                </a:solidFill>
                <a:latin typeface="Consolas" panose="020B0609020204030204" pitchFamily="49" charset="0"/>
              </a:rPr>
              <a:t>x</a:t>
            </a:r>
            <a:r>
              <a:rPr lang="en-GB" i="1" dirty="0">
                <a:solidFill>
                  <a:srgbClr val="000000"/>
                </a:solidFill>
                <a:latin typeface="Consolas" panose="020B0609020204030204" pitchFamily="49" charset="0"/>
              </a:rPr>
              <a:t>, </a:t>
            </a:r>
            <a:r>
              <a:rPr lang="en-GB" i="1" dirty="0">
                <a:solidFill>
                  <a:srgbClr val="6A3E3E"/>
                </a:solidFill>
                <a:latin typeface="Consolas" panose="020B0609020204030204" pitchFamily="49" charset="0"/>
              </a:rPr>
              <a:t>y</a:t>
            </a:r>
            <a:r>
              <a:rPr lang="en-GB" i="1" dirty="0">
                <a:solidFill>
                  <a:srgbClr val="000000"/>
                </a:solidFill>
                <a:latin typeface="Consolas" panose="020B0609020204030204" pitchFamily="49" charset="0"/>
              </a:rPr>
              <a:t>);</a:t>
            </a:r>
          </a:p>
          <a:p>
            <a:pPr lvl="2">
              <a:lnSpc>
                <a:spcPct val="150000"/>
              </a:lnSpc>
            </a:pPr>
            <a:endParaRPr lang="en-GB" i="1" dirty="0">
              <a:solidFill>
                <a:srgbClr val="000000"/>
              </a:solidFill>
              <a:latin typeface="Consolas" panose="020B0609020204030204" pitchFamily="49" charset="0"/>
            </a:endParaRPr>
          </a:p>
          <a:p>
            <a:pPr lvl="2">
              <a:lnSpc>
                <a:spcPct val="150000"/>
              </a:lnSpc>
            </a:pPr>
            <a:r>
              <a:rPr lang="en-GB" i="1" dirty="0">
                <a:solidFill>
                  <a:srgbClr val="000000"/>
                </a:solidFill>
                <a:latin typeface="Consolas" panose="020B0609020204030204" pitchFamily="49" charset="0"/>
              </a:rPr>
              <a:t>add(</a:t>
            </a:r>
            <a:r>
              <a:rPr lang="en-GB" i="1" dirty="0">
                <a:solidFill>
                  <a:srgbClr val="6A3E3E"/>
                </a:solidFill>
                <a:latin typeface="Consolas" panose="020B0609020204030204" pitchFamily="49" charset="0"/>
              </a:rPr>
              <a:t>3</a:t>
            </a:r>
            <a:r>
              <a:rPr lang="en-GB" i="1" dirty="0">
                <a:solidFill>
                  <a:srgbClr val="000000"/>
                </a:solidFill>
                <a:latin typeface="Consolas" panose="020B0609020204030204" pitchFamily="49" charset="0"/>
              </a:rPr>
              <a:t>, </a:t>
            </a:r>
            <a:r>
              <a:rPr lang="en-GB" i="1" dirty="0">
                <a:solidFill>
                  <a:srgbClr val="6A3E3E"/>
                </a:solidFill>
                <a:latin typeface="Consolas" panose="020B0609020204030204" pitchFamily="49" charset="0"/>
              </a:rPr>
              <a:t>7</a:t>
            </a:r>
            <a:r>
              <a:rPr lang="en-GB" i="1" dirty="0">
                <a:solidFill>
                  <a:srgbClr val="000000"/>
                </a:solidFill>
                <a:latin typeface="Consolas" panose="020B0609020204030204" pitchFamily="49" charset="0"/>
              </a:rPr>
              <a:t>);</a:t>
            </a:r>
          </a:p>
          <a:p>
            <a:pPr lvl="1">
              <a:lnSpc>
                <a:spcPct val="150000"/>
              </a:lnSpc>
            </a:pPr>
            <a:r>
              <a:rPr lang="en-GB" dirty="0">
                <a:solidFill>
                  <a:srgbClr val="000000"/>
                </a:solidFill>
                <a:latin typeface="Consolas" panose="020B0609020204030204" pitchFamily="49" charset="0"/>
              </a:rPr>
              <a:t>}</a:t>
            </a:r>
          </a:p>
          <a:p>
            <a:pPr lvl="1">
              <a:lnSpc>
                <a:spcPct val="150000"/>
              </a:lnSpc>
            </a:pPr>
            <a:endParaRPr lang="en-GB" dirty="0">
              <a:latin typeface="Consolas" panose="020B0609020204030204" pitchFamily="49" charset="0"/>
            </a:endParaRPr>
          </a:p>
          <a:p>
            <a:pPr lvl="1">
              <a:lnSpc>
                <a:spcPct val="150000"/>
              </a:lnSpc>
            </a:pPr>
            <a:r>
              <a:rPr lang="en-GB" b="1" dirty="0">
                <a:solidFill>
                  <a:srgbClr val="7F0055"/>
                </a:solidFill>
                <a:latin typeface="Consolas" panose="020B0609020204030204" pitchFamily="49" charset="0"/>
              </a:rPr>
              <a:t>private</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static</a:t>
            </a:r>
            <a:r>
              <a:rPr lang="en-GB" b="1" dirty="0">
                <a:solidFill>
                  <a:srgbClr val="000000"/>
                </a:solidFill>
                <a:latin typeface="Consolas" panose="020B0609020204030204" pitchFamily="49" charset="0"/>
              </a:rPr>
              <a:t> </a:t>
            </a:r>
            <a:r>
              <a:rPr lang="en-GB" b="1" dirty="0">
                <a:solidFill>
                  <a:srgbClr val="7F0055"/>
                </a:solidFill>
                <a:latin typeface="Consolas" panose="020B0609020204030204" pitchFamily="49" charset="0"/>
              </a:rPr>
              <a:t>void</a:t>
            </a:r>
            <a:r>
              <a:rPr lang="en-GB" b="1" dirty="0">
                <a:solidFill>
                  <a:srgbClr val="000000"/>
                </a:solidFill>
                <a:latin typeface="Consolas" panose="020B0609020204030204" pitchFamily="49" charset="0"/>
              </a:rPr>
              <a:t> add(</a:t>
            </a:r>
            <a:r>
              <a:rPr lang="en-GB" b="1" dirty="0" err="1">
                <a:solidFill>
                  <a:srgbClr val="7F0055"/>
                </a:solidFill>
                <a:latin typeface="Consolas" panose="020B0609020204030204" pitchFamily="49" charset="0"/>
              </a:rPr>
              <a:t>int</a:t>
            </a:r>
            <a:r>
              <a:rPr lang="en-GB" b="1" dirty="0">
                <a:solidFill>
                  <a:srgbClr val="000000"/>
                </a:solidFill>
                <a:latin typeface="Consolas" panose="020B0609020204030204" pitchFamily="49" charset="0"/>
              </a:rPr>
              <a:t> </a:t>
            </a:r>
            <a:r>
              <a:rPr lang="en-GB" b="1" dirty="0">
                <a:solidFill>
                  <a:srgbClr val="6A3E3E"/>
                </a:solidFill>
                <a:latin typeface="Consolas" panose="020B0609020204030204" pitchFamily="49" charset="0"/>
              </a:rPr>
              <a:t>a</a:t>
            </a:r>
            <a:r>
              <a:rPr lang="en-GB" b="1" dirty="0">
                <a:solidFill>
                  <a:srgbClr val="000000"/>
                </a:solidFill>
                <a:latin typeface="Consolas" panose="020B0609020204030204" pitchFamily="49" charset="0"/>
              </a:rPr>
              <a:t>, </a:t>
            </a:r>
            <a:r>
              <a:rPr lang="en-GB" b="1" dirty="0" err="1">
                <a:solidFill>
                  <a:srgbClr val="7F0055"/>
                </a:solidFill>
                <a:latin typeface="Consolas" panose="020B0609020204030204" pitchFamily="49" charset="0"/>
              </a:rPr>
              <a:t>int</a:t>
            </a:r>
            <a:r>
              <a:rPr lang="en-GB" b="1" dirty="0">
                <a:solidFill>
                  <a:srgbClr val="000000"/>
                </a:solidFill>
                <a:latin typeface="Consolas" panose="020B0609020204030204" pitchFamily="49" charset="0"/>
              </a:rPr>
              <a:t> </a:t>
            </a:r>
            <a:r>
              <a:rPr lang="en-GB" b="1" dirty="0">
                <a:solidFill>
                  <a:srgbClr val="6A3E3E"/>
                </a:solidFill>
                <a:latin typeface="Consolas" panose="020B0609020204030204" pitchFamily="49" charset="0"/>
              </a:rPr>
              <a:t>b</a:t>
            </a:r>
            <a:r>
              <a:rPr lang="en-GB" b="1" dirty="0">
                <a:solidFill>
                  <a:srgbClr val="000000"/>
                </a:solidFill>
                <a:latin typeface="Consolas" panose="020B0609020204030204" pitchFamily="49" charset="0"/>
              </a:rPr>
              <a:t>) {</a:t>
            </a:r>
          </a:p>
          <a:p>
            <a:pPr lvl="1">
              <a:lnSpc>
                <a:spcPct val="150000"/>
              </a:lnSpc>
            </a:pPr>
            <a:r>
              <a:rPr lang="en-GB" dirty="0">
                <a:solidFill>
                  <a:srgbClr val="000000"/>
                </a:solidFill>
                <a:latin typeface="Consolas" panose="020B0609020204030204" pitchFamily="49" charset="0"/>
              </a:rPr>
              <a:t>	 </a:t>
            </a:r>
            <a:r>
              <a:rPr lang="en-GB" dirty="0" err="1">
                <a:solidFill>
                  <a:srgbClr val="000000"/>
                </a:solidFill>
                <a:latin typeface="Cascadia Mono" panose="020B0609020000020004" pitchFamily="49" charset="0"/>
              </a:rPr>
              <a:t>Console.WriteLine</a:t>
            </a:r>
            <a:r>
              <a:rPr lang="en-GB" b="1" i="1" dirty="0">
                <a:solidFill>
                  <a:srgbClr val="000000"/>
                </a:solidFill>
                <a:latin typeface="Consolas" panose="020B0609020204030204" pitchFamily="49" charset="0"/>
              </a:rPr>
              <a:t>(</a:t>
            </a:r>
            <a:r>
              <a:rPr lang="en-GB" b="1" i="1" dirty="0">
                <a:solidFill>
                  <a:srgbClr val="6A3E3E"/>
                </a:solidFill>
                <a:latin typeface="Consolas" panose="020B0609020204030204" pitchFamily="49" charset="0"/>
              </a:rPr>
              <a:t>a</a:t>
            </a:r>
            <a:r>
              <a:rPr lang="en-GB" b="1" i="1" dirty="0">
                <a:solidFill>
                  <a:srgbClr val="000000"/>
                </a:solidFill>
                <a:latin typeface="Consolas" panose="020B0609020204030204" pitchFamily="49" charset="0"/>
              </a:rPr>
              <a:t> + </a:t>
            </a:r>
            <a:r>
              <a:rPr lang="en-GB" b="1" i="1" dirty="0">
                <a:solidFill>
                  <a:srgbClr val="6A3E3E"/>
                </a:solidFill>
                <a:latin typeface="Consolas" panose="020B0609020204030204" pitchFamily="49" charset="0"/>
              </a:rPr>
              <a:t>b</a:t>
            </a:r>
            <a:r>
              <a:rPr lang="en-GB" b="1" i="1" dirty="0">
                <a:solidFill>
                  <a:srgbClr val="000000"/>
                </a:solidFill>
                <a:latin typeface="Consolas" panose="020B0609020204030204" pitchFamily="49" charset="0"/>
              </a:rPr>
              <a:t>);</a:t>
            </a:r>
          </a:p>
          <a:p>
            <a:pPr lvl="1">
              <a:lnSpc>
                <a:spcPct val="150000"/>
              </a:lnSpc>
            </a:pPr>
            <a:r>
              <a:rPr lang="en-GB" dirty="0">
                <a:solidFill>
                  <a:srgbClr val="000000"/>
                </a:solidFill>
                <a:latin typeface="Consolas" panose="020B0609020204030204" pitchFamily="49" charset="0"/>
              </a:rPr>
              <a:t>}</a:t>
            </a:r>
          </a:p>
          <a:p>
            <a:pPr>
              <a:lnSpc>
                <a:spcPct val="150000"/>
              </a:lnSpc>
            </a:pPr>
            <a:r>
              <a:rPr lang="en-GB" dirty="0">
                <a:solidFill>
                  <a:srgbClr val="000000"/>
                </a:solidFill>
                <a:latin typeface="Consolas" panose="020B0609020204030204" pitchFamily="49" charset="0"/>
              </a:rPr>
              <a:t>}</a:t>
            </a:r>
          </a:p>
        </p:txBody>
      </p:sp>
      <p:sp>
        <p:nvSpPr>
          <p:cNvPr id="2" name="Oval 1"/>
          <p:cNvSpPr/>
          <p:nvPr/>
        </p:nvSpPr>
        <p:spPr>
          <a:xfrm>
            <a:off x="4925575" y="3701842"/>
            <a:ext cx="395748" cy="331154"/>
          </a:xfrm>
          <a:prstGeom prst="ellipse">
            <a:avLst/>
          </a:prstGeom>
          <a:solidFill>
            <a:schemeClr val="accent1">
              <a:lumMod val="20000"/>
              <a:lumOff val="8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cs typeface="Arial" pitchFamily="34" charset="0"/>
              </a:rPr>
              <a:t>x</a:t>
            </a:r>
          </a:p>
        </p:txBody>
      </p:sp>
      <p:sp>
        <p:nvSpPr>
          <p:cNvPr id="10" name="Oval 9"/>
          <p:cNvSpPr/>
          <p:nvPr/>
        </p:nvSpPr>
        <p:spPr>
          <a:xfrm>
            <a:off x="5842440" y="3728014"/>
            <a:ext cx="349046" cy="319731"/>
          </a:xfrm>
          <a:prstGeom prst="ellipse">
            <a:avLst/>
          </a:prstGeom>
          <a:solidFill>
            <a:schemeClr val="accent1">
              <a:lumMod val="20000"/>
              <a:lumOff val="80000"/>
            </a:schemeClr>
          </a:solidFill>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cs typeface="Arial" pitchFamily="34" charset="0"/>
              </a:rPr>
              <a:t>y</a:t>
            </a:r>
          </a:p>
        </p:txBody>
      </p:sp>
      <p:cxnSp>
        <p:nvCxnSpPr>
          <p:cNvPr id="6" name="Straight Arrow Connector 5"/>
          <p:cNvCxnSpPr>
            <a:stCxn id="2" idx="4"/>
          </p:cNvCxnSpPr>
          <p:nvPr/>
        </p:nvCxnSpPr>
        <p:spPr>
          <a:xfrm>
            <a:off x="5123449" y="4032996"/>
            <a:ext cx="365036" cy="7331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0" idx="4"/>
          </p:cNvCxnSpPr>
          <p:nvPr/>
        </p:nvCxnSpPr>
        <p:spPr>
          <a:xfrm>
            <a:off x="6016963" y="4047744"/>
            <a:ext cx="292510" cy="7183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389996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r>
              <a:rPr lang="en-GB" dirty="0">
                <a:solidFill>
                  <a:schemeClr val="tx1"/>
                </a:solidFill>
              </a:rPr>
              <a:t>Example of method returning a value</a:t>
            </a:r>
            <a:endParaRPr lang="en-GB" dirty="0"/>
          </a:p>
        </p:txBody>
      </p:sp>
      <p:grpSp>
        <p:nvGrpSpPr>
          <p:cNvPr id="4" name="Group 3"/>
          <p:cNvGrpSpPr/>
          <p:nvPr/>
        </p:nvGrpSpPr>
        <p:grpSpPr>
          <a:xfrm>
            <a:off x="1853389" y="1531186"/>
            <a:ext cx="8457770" cy="4409745"/>
            <a:chOff x="329389" y="982755"/>
            <a:chExt cx="8457770" cy="4409745"/>
          </a:xfrm>
          <a:solidFill>
            <a:schemeClr val="accent5">
              <a:lumMod val="20000"/>
              <a:lumOff val="80000"/>
            </a:schemeClr>
          </a:solidFill>
          <a:effectLst>
            <a:outerShdw blurRad="50800" dist="38100" algn="l" rotWithShape="0">
              <a:prstClr val="black">
                <a:alpha val="40000"/>
              </a:prstClr>
            </a:outerShdw>
          </a:effectLst>
        </p:grpSpPr>
        <p:sp>
          <p:nvSpPr>
            <p:cNvPr id="16" name="Rectangle 15"/>
            <p:cNvSpPr/>
            <p:nvPr/>
          </p:nvSpPr>
          <p:spPr>
            <a:xfrm>
              <a:off x="329389" y="982755"/>
              <a:ext cx="8457770" cy="3539430"/>
            </a:xfrm>
            <a:prstGeom prst="rect">
              <a:avLst/>
            </a:prstGeom>
            <a:grpFill/>
            <a:ln w="19050">
              <a:noFill/>
            </a:ln>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Program {</a:t>
              </a:r>
              <a:endParaRPr lang="en-GB" sz="1600" b="1" dirty="0">
                <a:latin typeface="Consolas" panose="020B0609020204030204" pitchFamily="49" charset="0"/>
              </a:endParaRPr>
            </a:p>
            <a:p>
              <a:pPr lvl="1"/>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Main(string[] </a:t>
              </a:r>
              <a:r>
                <a:rPr lang="en-GB" sz="1600" b="1" dirty="0" err="1">
                  <a:solidFill>
                    <a:srgbClr val="6A3E3E"/>
                  </a:solidFill>
                  <a:latin typeface="Consolas" panose="020B0609020204030204" pitchFamily="49" charset="0"/>
                </a:rPr>
                <a:t>args</a:t>
              </a:r>
              <a:r>
                <a:rPr lang="en-GB" sz="1600" b="1" dirty="0">
                  <a:solidFill>
                    <a:srgbClr val="000000"/>
                  </a:solidFill>
                  <a:latin typeface="Consolas" panose="020B0609020204030204" pitchFamily="49" charset="0"/>
                </a:rPr>
                <a:t>) {</a:t>
              </a:r>
              <a:endParaRPr lang="en-GB" sz="1600" b="1" dirty="0">
                <a:latin typeface="Consolas" panose="020B0609020204030204" pitchFamily="49" charset="0"/>
              </a:endParaRPr>
            </a:p>
            <a:p>
              <a:pPr lvl="2"/>
              <a:r>
                <a:rPr lang="es-ES" sz="1600" b="1" dirty="0" err="1">
                  <a:solidFill>
                    <a:srgbClr val="7F0055"/>
                  </a:solidFill>
                  <a:latin typeface="Consolas" panose="020B0609020204030204" pitchFamily="49" charset="0"/>
                </a:rPr>
                <a:t>int</a:t>
              </a:r>
              <a:r>
                <a:rPr lang="es-ES" sz="1600" b="1" dirty="0">
                  <a:solidFill>
                    <a:srgbClr val="000000"/>
                  </a:solidFill>
                  <a:latin typeface="Consolas" panose="020B0609020204030204" pitchFamily="49" charset="0"/>
                </a:rPr>
                <a:t> </a:t>
              </a:r>
              <a:r>
                <a:rPr lang="es-ES" sz="1600" b="1" dirty="0">
                  <a:solidFill>
                    <a:srgbClr val="6A3E3E"/>
                  </a:solidFill>
                  <a:latin typeface="Consolas" panose="020B0609020204030204" pitchFamily="49" charset="0"/>
                </a:rPr>
                <a:t>x</a:t>
              </a:r>
              <a:r>
                <a:rPr lang="es-ES" sz="1600" b="1" dirty="0">
                  <a:solidFill>
                    <a:srgbClr val="000000"/>
                  </a:solidFill>
                  <a:latin typeface="Consolas" panose="020B0609020204030204" pitchFamily="49" charset="0"/>
                </a:rPr>
                <a:t> = 1, </a:t>
              </a:r>
              <a:r>
                <a:rPr lang="es-ES" sz="1600" b="1" dirty="0">
                  <a:solidFill>
                    <a:srgbClr val="6A3E3E"/>
                  </a:solidFill>
                  <a:latin typeface="Consolas" panose="020B0609020204030204" pitchFamily="49" charset="0"/>
                </a:rPr>
                <a:t>y</a:t>
              </a:r>
              <a:r>
                <a:rPr lang="es-ES" sz="1600" b="1" dirty="0">
                  <a:solidFill>
                    <a:srgbClr val="000000"/>
                  </a:solidFill>
                  <a:latin typeface="Consolas" panose="020B0609020204030204" pitchFamily="49" charset="0"/>
                </a:rPr>
                <a:t> = 2;</a:t>
              </a:r>
            </a:p>
            <a:p>
              <a:pPr lvl="2"/>
              <a:endParaRPr lang="en-GB" sz="1600" b="1" dirty="0">
                <a:solidFill>
                  <a:srgbClr val="7F0055"/>
                </a:solidFill>
                <a:latin typeface="Consolas" panose="020B0609020204030204" pitchFamily="49" charset="0"/>
              </a:endParaRPr>
            </a:p>
            <a:p>
              <a:pPr lvl="2"/>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result</a:t>
              </a:r>
              <a:r>
                <a:rPr lang="en-GB" sz="1600" b="1" dirty="0">
                  <a:solidFill>
                    <a:srgbClr val="000000"/>
                  </a:solidFill>
                  <a:latin typeface="Consolas" panose="020B0609020204030204" pitchFamily="49" charset="0"/>
                </a:rPr>
                <a:t> = </a:t>
              </a:r>
              <a:r>
                <a:rPr lang="en-GB" sz="1600" b="1" i="1" dirty="0" err="1">
                  <a:solidFill>
                    <a:srgbClr val="000000"/>
                  </a:solidFill>
                  <a:latin typeface="Consolas" panose="020B0609020204030204" pitchFamily="49" charset="0"/>
                </a:rPr>
                <a:t>getSum</a:t>
              </a:r>
              <a:r>
                <a:rPr lang="en-GB" sz="1600" b="1" i="1" dirty="0">
                  <a:solidFill>
                    <a:srgbClr val="000000"/>
                  </a:solidFill>
                  <a:latin typeface="Consolas" panose="020B0609020204030204" pitchFamily="49" charset="0"/>
                </a:rPr>
                <a:t>(</a:t>
              </a:r>
              <a:r>
                <a:rPr lang="en-GB" sz="1600" b="1" i="1" dirty="0">
                  <a:solidFill>
                    <a:srgbClr val="6A3E3E"/>
                  </a:solidFill>
                  <a:latin typeface="Consolas" panose="020B0609020204030204" pitchFamily="49" charset="0"/>
                </a:rPr>
                <a:t>x</a:t>
              </a:r>
              <a:r>
                <a:rPr lang="en-GB" sz="1600" b="1" i="1" dirty="0">
                  <a:solidFill>
                    <a:srgbClr val="000000"/>
                  </a:solidFill>
                  <a:latin typeface="Consolas" panose="020B0609020204030204" pitchFamily="49" charset="0"/>
                </a:rPr>
                <a:t>, </a:t>
              </a:r>
              <a:r>
                <a:rPr lang="en-GB" sz="1600" b="1" i="1" dirty="0">
                  <a:solidFill>
                    <a:srgbClr val="6A3E3E"/>
                  </a:solidFill>
                  <a:latin typeface="Consolas" panose="020B0609020204030204" pitchFamily="49" charset="0"/>
                </a:rPr>
                <a:t>y</a:t>
              </a:r>
              <a:r>
                <a:rPr lang="en-GB" sz="1600" b="1" i="1" dirty="0">
                  <a:solidFill>
                    <a:srgbClr val="000000"/>
                  </a:solidFill>
                  <a:latin typeface="Consolas" panose="020B0609020204030204" pitchFamily="49" charset="0"/>
                </a:rPr>
                <a:t>);</a:t>
              </a:r>
            </a:p>
            <a:p>
              <a:pPr lvl="2"/>
              <a:endParaRPr lang="en-GB" sz="1600" b="1" i="1" dirty="0">
                <a:solidFill>
                  <a:srgbClr val="000000"/>
                </a:solidFill>
                <a:latin typeface="Consolas" panose="020B0609020204030204" pitchFamily="49" charset="0"/>
              </a:endParaRPr>
            </a:p>
            <a:p>
              <a:pPr lvl="2"/>
              <a:r>
                <a:rPr lang="en-GB" sz="1600" dirty="0" err="1">
                  <a:solidFill>
                    <a:srgbClr val="000000"/>
                  </a:solidFill>
                  <a:latin typeface="Cascadia Mono" panose="020B0609020000020004" pitchFamily="49" charset="0"/>
                </a:rPr>
                <a:t>Console.WriteLine</a:t>
              </a:r>
              <a:r>
                <a:rPr lang="en-GB" sz="1600" b="1" i="1" dirty="0">
                  <a:solidFill>
                    <a:srgbClr val="000000"/>
                  </a:solidFill>
                  <a:latin typeface="Consolas" panose="020B0609020204030204" pitchFamily="49" charset="0"/>
                </a:rPr>
                <a:t>(</a:t>
              </a:r>
              <a:r>
                <a:rPr lang="en-GB" sz="1600" b="1" i="1" dirty="0">
                  <a:solidFill>
                    <a:srgbClr val="2A00FF"/>
                  </a:solidFill>
                  <a:latin typeface="Consolas" panose="020B0609020204030204" pitchFamily="49" charset="0"/>
                </a:rPr>
                <a:t>"Sum is = "</a:t>
              </a:r>
              <a:r>
                <a:rPr lang="en-GB" sz="1600" b="1" i="1" dirty="0">
                  <a:solidFill>
                    <a:srgbClr val="000000"/>
                  </a:solidFill>
                  <a:latin typeface="Consolas" panose="020B0609020204030204" pitchFamily="49" charset="0"/>
                </a:rPr>
                <a:t>, </a:t>
              </a:r>
              <a:r>
                <a:rPr lang="en-GB" sz="1600" b="1" i="1" dirty="0">
                  <a:solidFill>
                    <a:srgbClr val="6A3E3E"/>
                  </a:solidFill>
                  <a:latin typeface="Consolas" panose="020B0609020204030204" pitchFamily="49" charset="0"/>
                </a:rPr>
                <a:t>result</a:t>
              </a:r>
              <a:r>
                <a:rPr lang="en-GB" sz="1600" b="1" i="1" dirty="0">
                  <a:solidFill>
                    <a:srgbClr val="000000"/>
                  </a:solidFill>
                  <a:latin typeface="Consolas" panose="020B0609020204030204" pitchFamily="49" charset="0"/>
                </a:rPr>
                <a:t>);</a:t>
              </a:r>
            </a:p>
            <a:p>
              <a:pPr lvl="1"/>
              <a:r>
                <a:rPr lang="en-GB" sz="1600" b="1" dirty="0">
                  <a:solidFill>
                    <a:srgbClr val="000000"/>
                  </a:solidFill>
                  <a:latin typeface="Consolas" panose="020B0609020204030204" pitchFamily="49" charset="0"/>
                </a:rPr>
                <a:t>}</a:t>
              </a:r>
            </a:p>
            <a:p>
              <a:pPr lvl="1"/>
              <a:endParaRPr lang="en-GB" sz="1600" b="1" dirty="0">
                <a:latin typeface="Consolas" panose="020B0609020204030204" pitchFamily="49" charset="0"/>
              </a:endParaRPr>
            </a:p>
            <a:p>
              <a:pPr lvl="1"/>
              <a:r>
                <a:rPr lang="en-GB" sz="1600" b="1" dirty="0">
                  <a:solidFill>
                    <a:srgbClr val="7F0055"/>
                  </a:solidFill>
                  <a:latin typeface="Consolas" panose="020B0609020204030204" pitchFamily="49" charset="0"/>
                </a:rPr>
                <a:t>private</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getSum</a:t>
              </a:r>
              <a:r>
                <a:rPr lang="en-GB" sz="1600" b="1" dirty="0">
                  <a:solidFill>
                    <a:srgbClr val="000000"/>
                  </a:solidFill>
                  <a:latin typeface="Consolas" panose="020B0609020204030204" pitchFamily="49" charset="0"/>
                </a:rPr>
                <a:t>(</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a</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b</a:t>
              </a:r>
              <a:r>
                <a:rPr lang="en-GB" sz="1600" b="1" dirty="0">
                  <a:solidFill>
                    <a:srgbClr val="000000"/>
                  </a:solidFill>
                  <a:latin typeface="Consolas" panose="020B0609020204030204" pitchFamily="49" charset="0"/>
                </a:rPr>
                <a:t>) {</a:t>
              </a:r>
            </a:p>
            <a:p>
              <a:pPr lvl="1"/>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a</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b</a:t>
              </a:r>
              <a:r>
                <a:rPr lang="en-GB" sz="1600" b="1" dirty="0">
                  <a:solidFill>
                    <a:srgbClr val="000000"/>
                  </a:solidFill>
                  <a:latin typeface="Consolas" panose="020B0609020204030204" pitchFamily="49" charset="0"/>
                </a:rPr>
                <a:t>;</a:t>
              </a:r>
            </a:p>
            <a:p>
              <a:pPr lvl="1"/>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a:t>
              </a:r>
              <a:br>
                <a:rPr lang="en-GB" sz="1600" b="1" dirty="0">
                  <a:solidFill>
                    <a:srgbClr val="000000"/>
                  </a:solidFill>
                  <a:latin typeface="Consolas" panose="020B0609020204030204" pitchFamily="49" charset="0"/>
                </a:rPr>
              </a:br>
              <a:endParaRPr lang="en-GB" sz="1600" b="1" dirty="0">
                <a:solidFill>
                  <a:srgbClr val="000000"/>
                </a:solidFill>
                <a:latin typeface="Consolas" panose="020B0609020204030204" pitchFamily="49" charset="0"/>
              </a:endParaRPr>
            </a:p>
          </p:txBody>
        </p:sp>
        <p:sp>
          <p:nvSpPr>
            <p:cNvPr id="3" name="Rounded Rectangle 2"/>
            <p:cNvSpPr/>
            <p:nvPr/>
          </p:nvSpPr>
          <p:spPr>
            <a:xfrm>
              <a:off x="329389" y="4658367"/>
              <a:ext cx="8457770" cy="734133"/>
            </a:xfrm>
            <a:prstGeom prst="roundRect">
              <a:avLst>
                <a:gd name="adj" fmla="val 0"/>
              </a:avLst>
            </a:prstGeom>
            <a:solidFill>
              <a:schemeClr val="accent1">
                <a:lumMod val="10000"/>
                <a:lumOff val="90000"/>
              </a:schemeClr>
            </a:solidFill>
            <a:ln w="19050">
              <a:noFill/>
            </a:ln>
            <a:effectLst/>
          </p:spPr>
          <p:style>
            <a:lnRef idx="0">
              <a:schemeClr val="accent3"/>
            </a:lnRef>
            <a:fillRef idx="3">
              <a:schemeClr val="accent3"/>
            </a:fillRef>
            <a:effectRef idx="3">
              <a:schemeClr val="accent3"/>
            </a:effectRef>
            <a:fontRef idx="minor">
              <a:schemeClr val="lt1"/>
            </a:fontRef>
          </p:style>
          <p:txBody>
            <a:bodyPr rtlCol="0" anchor="ctr"/>
            <a:lstStyle/>
            <a:p>
              <a:pPr algn="ctr"/>
              <a:r>
                <a:rPr lang="en-GB" sz="1600" b="1" dirty="0">
                  <a:solidFill>
                    <a:schemeClr val="tx1"/>
                  </a:solidFill>
                  <a:cs typeface="Arial" pitchFamily="34" charset="0"/>
                </a:rPr>
                <a:t>A method can only return one thing</a:t>
              </a:r>
            </a:p>
          </p:txBody>
        </p:sp>
      </p:grpSp>
      <p:sp>
        <p:nvSpPr>
          <p:cNvPr id="2" name="Freeform 1"/>
          <p:cNvSpPr/>
          <p:nvPr/>
        </p:nvSpPr>
        <p:spPr>
          <a:xfrm>
            <a:off x="5815237" y="2696225"/>
            <a:ext cx="716639" cy="1082040"/>
          </a:xfrm>
          <a:custGeom>
            <a:avLst/>
            <a:gdLst>
              <a:gd name="connsiteX0" fmla="*/ 76200 w 716639"/>
              <a:gd name="connsiteY0" fmla="*/ 0 h 1082040"/>
              <a:gd name="connsiteX1" fmla="*/ 716280 w 716639"/>
              <a:gd name="connsiteY1" fmla="*/ 259080 h 1082040"/>
              <a:gd name="connsiteX2" fmla="*/ 0 w 716639"/>
              <a:gd name="connsiteY2" fmla="*/ 1082040 h 1082040"/>
              <a:gd name="connsiteX3" fmla="*/ 0 w 716639"/>
              <a:gd name="connsiteY3" fmla="*/ 1082040 h 1082040"/>
            </a:gdLst>
            <a:ahLst/>
            <a:cxnLst>
              <a:cxn ang="0">
                <a:pos x="connsiteX0" y="connsiteY0"/>
              </a:cxn>
              <a:cxn ang="0">
                <a:pos x="connsiteX1" y="connsiteY1"/>
              </a:cxn>
              <a:cxn ang="0">
                <a:pos x="connsiteX2" y="connsiteY2"/>
              </a:cxn>
              <a:cxn ang="0">
                <a:pos x="connsiteX3" y="connsiteY3"/>
              </a:cxn>
            </a:cxnLst>
            <a:rect l="l" t="t" r="r" b="b"/>
            <a:pathLst>
              <a:path w="716639" h="1082040">
                <a:moveTo>
                  <a:pt x="76200" y="0"/>
                </a:moveTo>
                <a:cubicBezTo>
                  <a:pt x="402590" y="39370"/>
                  <a:pt x="728980" y="78740"/>
                  <a:pt x="716280" y="259080"/>
                </a:cubicBezTo>
                <a:cubicBezTo>
                  <a:pt x="703580" y="439420"/>
                  <a:pt x="0" y="1082040"/>
                  <a:pt x="0" y="1082040"/>
                </a:cubicBezTo>
                <a:lnTo>
                  <a:pt x="0" y="1082040"/>
                </a:lnTo>
              </a:path>
            </a:pathLst>
          </a:custGeom>
          <a:ln w="95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
        <p:nvSpPr>
          <p:cNvPr id="7" name="Freeform 6"/>
          <p:cNvSpPr/>
          <p:nvPr/>
        </p:nvSpPr>
        <p:spPr>
          <a:xfrm rot="10446973">
            <a:off x="1852916" y="2887221"/>
            <a:ext cx="848157" cy="1276206"/>
          </a:xfrm>
          <a:custGeom>
            <a:avLst/>
            <a:gdLst>
              <a:gd name="connsiteX0" fmla="*/ 76200 w 716639"/>
              <a:gd name="connsiteY0" fmla="*/ 0 h 1082040"/>
              <a:gd name="connsiteX1" fmla="*/ 716280 w 716639"/>
              <a:gd name="connsiteY1" fmla="*/ 259080 h 1082040"/>
              <a:gd name="connsiteX2" fmla="*/ 0 w 716639"/>
              <a:gd name="connsiteY2" fmla="*/ 1082040 h 1082040"/>
              <a:gd name="connsiteX3" fmla="*/ 0 w 716639"/>
              <a:gd name="connsiteY3" fmla="*/ 1082040 h 1082040"/>
            </a:gdLst>
            <a:ahLst/>
            <a:cxnLst>
              <a:cxn ang="0">
                <a:pos x="connsiteX0" y="connsiteY0"/>
              </a:cxn>
              <a:cxn ang="0">
                <a:pos x="connsiteX1" y="connsiteY1"/>
              </a:cxn>
              <a:cxn ang="0">
                <a:pos x="connsiteX2" y="connsiteY2"/>
              </a:cxn>
              <a:cxn ang="0">
                <a:pos x="connsiteX3" y="connsiteY3"/>
              </a:cxn>
            </a:cxnLst>
            <a:rect l="l" t="t" r="r" b="b"/>
            <a:pathLst>
              <a:path w="716639" h="1082040">
                <a:moveTo>
                  <a:pt x="76200" y="0"/>
                </a:moveTo>
                <a:cubicBezTo>
                  <a:pt x="402590" y="39370"/>
                  <a:pt x="728980" y="78740"/>
                  <a:pt x="716280" y="259080"/>
                </a:cubicBezTo>
                <a:cubicBezTo>
                  <a:pt x="703580" y="439420"/>
                  <a:pt x="0" y="1082040"/>
                  <a:pt x="0" y="1082040"/>
                </a:cubicBezTo>
                <a:lnTo>
                  <a:pt x="0" y="1082040"/>
                </a:lnTo>
              </a:path>
            </a:pathLst>
          </a:custGeom>
          <a:ln w="9525"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GB"/>
          </a:p>
        </p:txBody>
      </p:sp>
    </p:spTree>
    <p:extLst>
      <p:ext uri="{BB962C8B-B14F-4D97-AF65-F5344CB8AC3E}">
        <p14:creationId xmlns:p14="http://schemas.microsoft.com/office/powerpoint/2010/main" val="214048704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a:bodyPr>
          <a:lstStyle/>
          <a:p>
            <a:pPr eaLnBrk="1" hangingPunct="1"/>
            <a:r>
              <a:rPr lang="en-GB" dirty="0"/>
              <a:t>Method overloading</a:t>
            </a:r>
          </a:p>
        </p:txBody>
      </p:sp>
      <p:sp>
        <p:nvSpPr>
          <p:cNvPr id="5" name="Rectangle 4"/>
          <p:cNvSpPr/>
          <p:nvPr/>
        </p:nvSpPr>
        <p:spPr>
          <a:xfrm>
            <a:off x="3627586" y="1362627"/>
            <a:ext cx="7687339" cy="4585871"/>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class</a:t>
            </a:r>
            <a:r>
              <a:rPr lang="en-GB" sz="1600" b="1" dirty="0">
                <a:solidFill>
                  <a:srgbClr val="000000"/>
                </a:solidFill>
                <a:latin typeface="Consolas" panose="020B0609020204030204" pitchFamily="49" charset="0"/>
              </a:rPr>
              <a:t> Program {</a:t>
            </a:r>
          </a:p>
          <a:p>
            <a:pPr lvl="1"/>
            <a:r>
              <a:rPr lang="en-GB" sz="1600" b="1" dirty="0">
                <a:solidFill>
                  <a:srgbClr val="7F0055"/>
                </a:solidFill>
                <a:latin typeface="Consolas" panose="020B0609020204030204" pitchFamily="49" charset="0"/>
              </a:rPr>
              <a:t>public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void</a:t>
            </a:r>
            <a:r>
              <a:rPr lang="en-GB" sz="1600" b="1" dirty="0">
                <a:solidFill>
                  <a:srgbClr val="000000"/>
                </a:solidFill>
                <a:latin typeface="Consolas" panose="020B0609020204030204" pitchFamily="49" charset="0"/>
              </a:rPr>
              <a:t> Main(string[] </a:t>
            </a:r>
            <a:r>
              <a:rPr lang="en-GB" sz="1600" b="1" dirty="0" err="1">
                <a:solidFill>
                  <a:srgbClr val="6A3E3E"/>
                </a:solidFill>
                <a:latin typeface="Consolas" panose="020B0609020204030204" pitchFamily="49" charset="0"/>
              </a:rPr>
              <a:t>args</a:t>
            </a:r>
            <a:r>
              <a:rPr lang="en-GB" sz="1600" b="1" dirty="0">
                <a:solidFill>
                  <a:srgbClr val="000000"/>
                </a:solidFill>
                <a:latin typeface="Consolas" panose="020B0609020204030204" pitchFamily="49" charset="0"/>
              </a:rPr>
              <a:t>) {</a:t>
            </a:r>
          </a:p>
          <a:p>
            <a:pPr lvl="1"/>
            <a:endParaRPr lang="en-GB" sz="1600" dirty="0">
              <a:latin typeface="Consolas" panose="020B0609020204030204" pitchFamily="49" charset="0"/>
            </a:endParaRPr>
          </a:p>
          <a:p>
            <a:pPr lvl="2"/>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result1</a:t>
            </a:r>
            <a:r>
              <a:rPr lang="en-GB" sz="1600" b="1" dirty="0">
                <a:solidFill>
                  <a:srgbClr val="000000"/>
                </a:solidFill>
                <a:latin typeface="Consolas" panose="020B0609020204030204" pitchFamily="49" charset="0"/>
              </a:rPr>
              <a:t> = </a:t>
            </a:r>
            <a:r>
              <a:rPr lang="en-GB" sz="1600" b="1" i="1" dirty="0" err="1">
                <a:solidFill>
                  <a:srgbClr val="000000"/>
                </a:solidFill>
                <a:latin typeface="Consolas" panose="020B0609020204030204" pitchFamily="49" charset="0"/>
              </a:rPr>
              <a:t>getTax</a:t>
            </a:r>
            <a:r>
              <a:rPr lang="en-GB" sz="1600" b="1" i="1" dirty="0">
                <a:solidFill>
                  <a:srgbClr val="000000"/>
                </a:solidFill>
                <a:latin typeface="Consolas" panose="020B0609020204030204" pitchFamily="49" charset="0"/>
              </a:rPr>
              <a:t>(2000);</a:t>
            </a:r>
          </a:p>
          <a:p>
            <a:pPr lvl="2"/>
            <a:r>
              <a:rPr lang="en-GB" sz="1600" dirty="0" err="1">
                <a:solidFill>
                  <a:srgbClr val="000000"/>
                </a:solidFill>
                <a:latin typeface="Cascadia Mono" panose="020B0609020000020004" pitchFamily="49" charset="0"/>
              </a:rPr>
              <a:t>Console.WriteLine</a:t>
            </a:r>
            <a:r>
              <a:rPr lang="en-GB" sz="1600" b="1" i="1" dirty="0">
                <a:solidFill>
                  <a:srgbClr val="000000"/>
                </a:solidFill>
                <a:latin typeface="Consolas" panose="020B0609020204030204" pitchFamily="49" charset="0"/>
              </a:rPr>
              <a:t>(</a:t>
            </a:r>
            <a:r>
              <a:rPr lang="en-GB" sz="1600" b="1" i="1" dirty="0">
                <a:solidFill>
                  <a:srgbClr val="6A3E3E"/>
                </a:solidFill>
                <a:latin typeface="Consolas" panose="020B0609020204030204" pitchFamily="49" charset="0"/>
              </a:rPr>
              <a:t>result1</a:t>
            </a:r>
            <a:r>
              <a:rPr lang="en-GB" sz="1600" b="1" i="1" dirty="0">
                <a:solidFill>
                  <a:srgbClr val="000000"/>
                </a:solidFill>
                <a:latin typeface="Consolas" panose="020B0609020204030204" pitchFamily="49" charset="0"/>
              </a:rPr>
              <a:t>);</a:t>
            </a:r>
          </a:p>
          <a:p>
            <a:pPr lvl="2"/>
            <a:endParaRPr lang="en-GB" sz="1600" dirty="0">
              <a:latin typeface="Consolas" panose="020B0609020204030204" pitchFamily="49" charset="0"/>
            </a:endParaRPr>
          </a:p>
          <a:p>
            <a:pPr lvl="2"/>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result2</a:t>
            </a:r>
            <a:r>
              <a:rPr lang="en-GB" sz="1600" b="1" dirty="0">
                <a:solidFill>
                  <a:srgbClr val="000000"/>
                </a:solidFill>
                <a:latin typeface="Consolas" panose="020B0609020204030204" pitchFamily="49" charset="0"/>
              </a:rPr>
              <a:t> = </a:t>
            </a:r>
            <a:r>
              <a:rPr lang="en-GB" sz="1600" b="1" i="1" dirty="0" err="1">
                <a:solidFill>
                  <a:srgbClr val="000000"/>
                </a:solidFill>
                <a:latin typeface="Consolas" panose="020B0609020204030204" pitchFamily="49" charset="0"/>
              </a:rPr>
              <a:t>getTax</a:t>
            </a:r>
            <a:r>
              <a:rPr lang="en-GB" sz="1600" b="1" i="1" dirty="0">
                <a:solidFill>
                  <a:srgbClr val="000000"/>
                </a:solidFill>
                <a:latin typeface="Consolas" panose="020B0609020204030204" pitchFamily="49" charset="0"/>
              </a:rPr>
              <a:t>(2000, 0.4);</a:t>
            </a:r>
          </a:p>
          <a:p>
            <a:pPr lvl="2"/>
            <a:r>
              <a:rPr lang="en-GB" sz="1600" dirty="0" err="1">
                <a:solidFill>
                  <a:srgbClr val="000000"/>
                </a:solidFill>
                <a:latin typeface="Cascadia Mono" panose="020B0609020000020004" pitchFamily="49" charset="0"/>
              </a:rPr>
              <a:t>Console.WriteLine</a:t>
            </a:r>
            <a:r>
              <a:rPr lang="en-GB" sz="1600" b="1" i="1" dirty="0">
                <a:solidFill>
                  <a:srgbClr val="000000"/>
                </a:solidFill>
                <a:latin typeface="Consolas" panose="020B0609020204030204" pitchFamily="49" charset="0"/>
              </a:rPr>
              <a:t>(</a:t>
            </a:r>
            <a:r>
              <a:rPr lang="en-GB" sz="1600" b="1" i="1" dirty="0">
                <a:solidFill>
                  <a:srgbClr val="6A3E3E"/>
                </a:solidFill>
                <a:latin typeface="Consolas" panose="020B0609020204030204" pitchFamily="49" charset="0"/>
              </a:rPr>
              <a:t>result2</a:t>
            </a:r>
            <a:r>
              <a:rPr lang="en-GB" sz="1600" b="1" i="1" dirty="0">
                <a:solidFill>
                  <a:srgbClr val="000000"/>
                </a:solidFill>
                <a:latin typeface="Consolas" panose="020B0609020204030204" pitchFamily="49" charset="0"/>
              </a:rPr>
              <a:t>);</a:t>
            </a:r>
          </a:p>
          <a:p>
            <a:pPr lvl="1"/>
            <a:r>
              <a:rPr lang="en-GB" sz="1600" dirty="0">
                <a:solidFill>
                  <a:srgbClr val="000000"/>
                </a:solidFill>
                <a:latin typeface="Consolas" panose="020B0609020204030204" pitchFamily="49" charset="0"/>
              </a:rPr>
              <a:t>}</a:t>
            </a:r>
          </a:p>
          <a:p>
            <a:pPr lvl="1"/>
            <a:endParaRPr lang="en-GB" sz="1600" dirty="0">
              <a:latin typeface="Consolas" panose="020B0609020204030204" pitchFamily="49" charset="0"/>
            </a:endParaRPr>
          </a:p>
          <a:p>
            <a:pPr lvl="1"/>
            <a:r>
              <a:rPr lang="en-GB" sz="1600" b="1" dirty="0">
                <a:solidFill>
                  <a:srgbClr val="7F0055"/>
                </a:solidFill>
                <a:latin typeface="Consolas" panose="020B0609020204030204" pitchFamily="49" charset="0"/>
              </a:rPr>
              <a:t>private</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getTax</a:t>
            </a:r>
            <a:r>
              <a:rPr lang="en-GB" sz="1600" b="1" dirty="0">
                <a:solidFill>
                  <a:srgbClr val="000000"/>
                </a:solidFill>
                <a:latin typeface="Consolas" panose="020B0609020204030204" pitchFamily="49" charset="0"/>
              </a:rPr>
              <a:t>(</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salary</a:t>
            </a:r>
            <a:r>
              <a:rPr lang="en-GB" sz="1600" b="1" dirty="0">
                <a:solidFill>
                  <a:srgbClr val="000000"/>
                </a:solidFill>
                <a:latin typeface="Consolas" panose="020B0609020204030204" pitchFamily="49" charset="0"/>
              </a:rPr>
              <a:t>) { </a:t>
            </a:r>
            <a:r>
              <a:rPr lang="en-GB" sz="1600" b="1" dirty="0">
                <a:solidFill>
                  <a:srgbClr val="7F0055"/>
                </a:solidFill>
                <a:highlight>
                  <a:srgbClr val="D4D4D4"/>
                </a:highlight>
                <a:latin typeface="Consolas" panose="020B0609020204030204" pitchFamily="49" charset="0"/>
              </a:rPr>
              <a:t>	</a:t>
            </a:r>
            <a:br>
              <a:rPr lang="en-GB" sz="1600" b="1" dirty="0">
                <a:solidFill>
                  <a:srgbClr val="7F0055"/>
                </a:solidFill>
                <a:highlight>
                  <a:srgbClr val="D4D4D4"/>
                </a:highlight>
                <a:latin typeface="Consolas" panose="020B0609020204030204" pitchFamily="49" charset="0"/>
              </a:rPr>
            </a:b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return</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salary</a:t>
            </a:r>
            <a:r>
              <a:rPr lang="en-GB" sz="1600" b="1" dirty="0">
                <a:solidFill>
                  <a:srgbClr val="000000"/>
                </a:solidFill>
                <a:latin typeface="Consolas" panose="020B0609020204030204" pitchFamily="49" charset="0"/>
              </a:rPr>
              <a:t> * 0.25;</a:t>
            </a:r>
            <a:endParaRPr lang="en-GB" sz="1600" b="1" dirty="0">
              <a:solidFill>
                <a:srgbClr val="000000"/>
              </a:solidFill>
              <a:highlight>
                <a:srgbClr val="D4D4D4"/>
              </a:highlight>
              <a:latin typeface="Consolas" panose="020B0609020204030204" pitchFamily="49" charset="0"/>
            </a:endParaRPr>
          </a:p>
          <a:p>
            <a:pPr lvl="1"/>
            <a:r>
              <a:rPr lang="en-GB" sz="1600" dirty="0">
                <a:solidFill>
                  <a:srgbClr val="000000"/>
                </a:solidFill>
                <a:latin typeface="Consolas" panose="020B0609020204030204" pitchFamily="49" charset="0"/>
              </a:rPr>
              <a:t>}</a:t>
            </a:r>
          </a:p>
          <a:p>
            <a:pPr lvl="1"/>
            <a:endParaRPr lang="en-GB" sz="1600" dirty="0">
              <a:latin typeface="Consolas" panose="020B0609020204030204" pitchFamily="49" charset="0"/>
            </a:endParaRPr>
          </a:p>
          <a:p>
            <a:pPr lvl="1"/>
            <a:r>
              <a:rPr lang="en-GB" sz="1600" b="1" dirty="0">
                <a:solidFill>
                  <a:srgbClr val="7F0055"/>
                </a:solidFill>
                <a:latin typeface="Consolas" panose="020B0609020204030204" pitchFamily="49" charset="0"/>
              </a:rPr>
              <a:t>private</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static</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getTax</a:t>
            </a:r>
            <a:r>
              <a:rPr lang="en-GB" sz="1600" b="1" dirty="0">
                <a:solidFill>
                  <a:srgbClr val="000000"/>
                </a:solidFill>
                <a:latin typeface="Consolas" panose="020B0609020204030204" pitchFamily="49" charset="0"/>
              </a:rPr>
              <a:t>(</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salary</a:t>
            </a:r>
            <a:r>
              <a:rPr lang="en-GB" sz="1600" b="1" dirty="0">
                <a:solidFill>
                  <a:srgbClr val="000000"/>
                </a:solidFill>
                <a:latin typeface="Consolas" panose="020B0609020204030204" pitchFamily="49" charset="0"/>
              </a:rPr>
              <a:t>, </a:t>
            </a:r>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rate</a:t>
            </a:r>
            <a:r>
              <a:rPr lang="en-GB" sz="1600" b="1" dirty="0">
                <a:solidFill>
                  <a:srgbClr val="000000"/>
                </a:solidFill>
                <a:latin typeface="Consolas" panose="020B0609020204030204" pitchFamily="49" charset="0"/>
              </a:rPr>
              <a:t>) {</a:t>
            </a:r>
          </a:p>
          <a:p>
            <a:pPr lvl="1"/>
            <a:r>
              <a:rPr lang="en-GB" sz="1600" b="1" dirty="0">
                <a:solidFill>
                  <a:srgbClr val="7F0055"/>
                </a:solidFill>
                <a:latin typeface="Consolas" panose="020B0609020204030204" pitchFamily="49" charset="0"/>
              </a:rPr>
              <a:t>	return</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salary</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rate</a:t>
            </a:r>
            <a:r>
              <a:rPr lang="en-GB" sz="1600" b="1" dirty="0">
                <a:solidFill>
                  <a:srgbClr val="000000"/>
                </a:solidFill>
                <a:latin typeface="Consolas" panose="020B0609020204030204" pitchFamily="49" charset="0"/>
              </a:rPr>
              <a:t>;</a:t>
            </a:r>
          </a:p>
          <a:p>
            <a:pPr lvl="1"/>
            <a:r>
              <a:rPr lang="en-GB" sz="1600" dirty="0">
                <a:solidFill>
                  <a:srgbClr val="000000"/>
                </a:solidFill>
                <a:latin typeface="Consolas" panose="020B0609020204030204" pitchFamily="49" charset="0"/>
              </a:rPr>
              <a:t>}</a:t>
            </a:r>
          </a:p>
          <a:p>
            <a:r>
              <a:rPr lang="en-GB" sz="1600" dirty="0">
                <a:solidFill>
                  <a:srgbClr val="000000"/>
                </a:solidFill>
                <a:latin typeface="Consolas" panose="020B0609020204030204" pitchFamily="49" charset="0"/>
              </a:rPr>
              <a:t>}</a:t>
            </a:r>
            <a:endParaRPr lang="en-GB" sz="1600" dirty="0"/>
          </a:p>
        </p:txBody>
      </p:sp>
      <p:sp>
        <p:nvSpPr>
          <p:cNvPr id="4" name="Rounded Rectangular Callout 3"/>
          <p:cNvSpPr/>
          <p:nvPr/>
        </p:nvSpPr>
        <p:spPr>
          <a:xfrm>
            <a:off x="8905033" y="2067032"/>
            <a:ext cx="1051767" cy="489098"/>
          </a:xfrm>
          <a:prstGeom prst="wedgeRoundRectCallout">
            <a:avLst>
              <a:gd name="adj1" fmla="val -65277"/>
              <a:gd name="adj2" fmla="val 14674"/>
              <a:gd name="adj3" fmla="val 16667"/>
            </a:avLst>
          </a:prstGeom>
          <a:solidFill>
            <a:schemeClr val="accent1">
              <a:lumMod val="20000"/>
              <a:lumOff val="80000"/>
            </a:schemeClr>
          </a:solidFill>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500</a:t>
            </a:r>
          </a:p>
        </p:txBody>
      </p:sp>
      <p:sp>
        <p:nvSpPr>
          <p:cNvPr id="8" name="Rounded Rectangular Callout 7"/>
          <p:cNvSpPr/>
          <p:nvPr/>
        </p:nvSpPr>
        <p:spPr>
          <a:xfrm>
            <a:off x="8905033" y="2870697"/>
            <a:ext cx="1051767" cy="489098"/>
          </a:xfrm>
          <a:prstGeom prst="wedgeRoundRectCallout">
            <a:avLst>
              <a:gd name="adj1" fmla="val -65277"/>
              <a:gd name="adj2" fmla="val 14674"/>
              <a:gd name="adj3" fmla="val 16667"/>
            </a:avLst>
          </a:prstGeom>
          <a:solidFill>
            <a:schemeClr val="accent1">
              <a:lumMod val="20000"/>
              <a:lumOff val="80000"/>
            </a:schemeClr>
          </a:solidFill>
          <a:effectLst>
            <a:innerShdw blurRad="63500" dist="50800" dir="10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cs typeface="Arial" pitchFamily="34" charset="0"/>
              </a:rPr>
              <a:t>800</a:t>
            </a:r>
          </a:p>
        </p:txBody>
      </p:sp>
      <p:sp>
        <p:nvSpPr>
          <p:cNvPr id="2" name="Rounded Rectangular Callout 1"/>
          <p:cNvSpPr/>
          <p:nvPr/>
        </p:nvSpPr>
        <p:spPr>
          <a:xfrm>
            <a:off x="548409" y="4649822"/>
            <a:ext cx="2870740" cy="1001949"/>
          </a:xfrm>
          <a:prstGeom prst="wedgeRoundRectCallout">
            <a:avLst>
              <a:gd name="adj1" fmla="val 60226"/>
              <a:gd name="adj2" fmla="val -17298"/>
              <a:gd name="adj3" fmla="val 16667"/>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GB" b="1" dirty="0"/>
              <a:t>Same name </a:t>
            </a:r>
            <a:br>
              <a:rPr lang="en-GB" b="1" dirty="0"/>
            </a:br>
            <a:r>
              <a:rPr lang="en-GB" b="1" dirty="0"/>
              <a:t>different parameters</a:t>
            </a:r>
          </a:p>
        </p:txBody>
      </p:sp>
    </p:spTree>
    <p:extLst>
      <p:ext uri="{BB962C8B-B14F-4D97-AF65-F5344CB8AC3E}">
        <p14:creationId xmlns:p14="http://schemas.microsoft.com/office/powerpoint/2010/main" val="315282857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p:cNvSpPr>
            <a:spLocks noGrp="1"/>
          </p:cNvSpPr>
          <p:nvPr>
            <p:ph type="body" sz="quarter" idx="12"/>
          </p:nvPr>
        </p:nvSpPr>
        <p:spPr/>
        <p:txBody>
          <a:bodyPr/>
          <a:lstStyle/>
          <a:p>
            <a:endParaRPr lang="en-IN" dirty="0"/>
          </a:p>
        </p:txBody>
      </p:sp>
      <p:sp>
        <p:nvSpPr>
          <p:cNvPr id="4" name="Title 3"/>
          <p:cNvSpPr>
            <a:spLocks noGrp="1"/>
          </p:cNvSpPr>
          <p:nvPr>
            <p:ph type="ctrTitle"/>
          </p:nvPr>
        </p:nvSpPr>
        <p:spPr/>
        <p:txBody>
          <a:bodyPr/>
          <a:lstStyle/>
          <a:p>
            <a:r>
              <a:rPr lang="en-US" dirty="0"/>
              <a:t>Arrays and Loops</a:t>
            </a:r>
            <a:endParaRPr lang="en-IN" dirty="0"/>
          </a:p>
        </p:txBody>
      </p:sp>
    </p:spTree>
    <p:extLst>
      <p:ext uri="{BB962C8B-B14F-4D97-AF65-F5344CB8AC3E}">
        <p14:creationId xmlns:p14="http://schemas.microsoft.com/office/powerpoint/2010/main" val="2651040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Introduction to Arrays</a:t>
            </a:r>
          </a:p>
        </p:txBody>
      </p:sp>
      <p:sp>
        <p:nvSpPr>
          <p:cNvPr id="3" name="Content Placeholder 2"/>
          <p:cNvSpPr>
            <a:spLocks noGrp="1"/>
          </p:cNvSpPr>
          <p:nvPr>
            <p:ph idx="1"/>
          </p:nvPr>
        </p:nvSpPr>
        <p:spPr>
          <a:xfrm>
            <a:off x="341272" y="1368256"/>
            <a:ext cx="10226175" cy="789231"/>
          </a:xfrm>
        </p:spPr>
        <p:txBody>
          <a:bodyPr/>
          <a:lstStyle/>
          <a:p>
            <a:pPr marL="342900" indent="-342900">
              <a:buFont typeface="Arial" panose="020B0604020202020204" pitchFamily="34" charset="0"/>
              <a:buChar char="•"/>
            </a:pPr>
            <a:r>
              <a:rPr lang="en-GB" b="1" dirty="0"/>
              <a:t>You can change array elements</a:t>
            </a:r>
          </a:p>
          <a:p>
            <a:pPr marL="342900" indent="-342900">
              <a:buFont typeface="Arial" panose="020B0604020202020204" pitchFamily="34" charset="0"/>
              <a:buChar char="•"/>
            </a:pPr>
            <a:r>
              <a:rPr lang="en-GB" b="1" dirty="0"/>
              <a:t>Appending, Inserting and removing an element is hard</a:t>
            </a:r>
          </a:p>
        </p:txBody>
      </p:sp>
      <p:sp>
        <p:nvSpPr>
          <p:cNvPr id="6" name="Arc 5"/>
          <p:cNvSpPr/>
          <p:nvPr/>
        </p:nvSpPr>
        <p:spPr>
          <a:xfrm>
            <a:off x="8206291" y="2636087"/>
            <a:ext cx="708844" cy="1616149"/>
          </a:xfrm>
          <a:prstGeom prst="arc">
            <a:avLst>
              <a:gd name="adj1" fmla="val 16411716"/>
              <a:gd name="adj2" fmla="val 0"/>
            </a:avLst>
          </a:prstGeom>
          <a:ln>
            <a:headEnd type="none" w="med" len="med"/>
            <a:tailEnd type="arrow" w="med" len="med"/>
          </a:ln>
        </p:spPr>
        <p:style>
          <a:lnRef idx="3">
            <a:schemeClr val="accent4"/>
          </a:lnRef>
          <a:fillRef idx="0">
            <a:schemeClr val="accent4"/>
          </a:fillRef>
          <a:effectRef idx="2">
            <a:schemeClr val="accent4"/>
          </a:effectRef>
          <a:fontRef idx="minor">
            <a:schemeClr val="tx1"/>
          </a:fontRef>
        </p:style>
        <p:txBody>
          <a:bodyPr rtlCol="0" anchor="ctr"/>
          <a:lstStyle/>
          <a:p>
            <a:pPr algn="ctr"/>
            <a:endParaRPr lang="en-GB"/>
          </a:p>
        </p:txBody>
      </p:sp>
      <p:sp>
        <p:nvSpPr>
          <p:cNvPr id="7" name="Rectangle 6"/>
          <p:cNvSpPr/>
          <p:nvPr/>
        </p:nvSpPr>
        <p:spPr>
          <a:xfrm>
            <a:off x="1008463" y="3000367"/>
            <a:ext cx="5752994" cy="3477875"/>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square">
            <a:spAutoFit/>
          </a:bodyPr>
          <a:lstStyle/>
          <a:p>
            <a:r>
              <a:rPr lang="en-GB" sz="2000" b="1" dirty="0">
                <a:solidFill>
                  <a:srgbClr val="7F0055"/>
                </a:solidFill>
                <a:latin typeface="Consolas" panose="020B0609020204030204" pitchFamily="49" charset="0"/>
              </a:rPr>
              <a:t>int</a:t>
            </a:r>
            <a:r>
              <a:rPr lang="en-GB" sz="2000" b="1" dirty="0">
                <a:solidFill>
                  <a:srgbClr val="000000"/>
                </a:solidFill>
                <a:latin typeface="Consolas" panose="020B0609020204030204" pitchFamily="49" charset="0"/>
              </a:rPr>
              <a:t>[] </a:t>
            </a:r>
            <a:r>
              <a:rPr lang="en-GB" sz="2000" b="1" dirty="0">
                <a:solidFill>
                  <a:srgbClr val="6A3E3E"/>
                </a:solidFill>
                <a:latin typeface="Consolas" panose="020B0609020204030204" pitchFamily="49" charset="0"/>
              </a:rPr>
              <a:t>numbers</a:t>
            </a:r>
            <a:r>
              <a:rPr lang="en-GB" sz="2000" b="1" dirty="0">
                <a:solidFill>
                  <a:srgbClr val="000000"/>
                </a:solidFill>
                <a:latin typeface="Consolas" panose="020B0609020204030204" pitchFamily="49" charset="0"/>
              </a:rPr>
              <a:t> = {1,2,3,4,5,6};</a:t>
            </a:r>
          </a:p>
          <a:p>
            <a:endParaRPr lang="en-GB" sz="2000" b="1" dirty="0">
              <a:solidFill>
                <a:srgbClr val="000000"/>
              </a:solidFill>
              <a:latin typeface="Consolas" panose="020B0609020204030204" pitchFamily="49" charset="0"/>
            </a:endParaRPr>
          </a:p>
          <a:p>
            <a:r>
              <a:rPr lang="en-GB" sz="2000" b="1" i="1" dirty="0">
                <a:solidFill>
                  <a:srgbClr val="6A3E3E"/>
                </a:solidFill>
                <a:latin typeface="Consolas" panose="020B0609020204030204" pitchFamily="49" charset="0"/>
              </a:rPr>
              <a:t>numbers</a:t>
            </a:r>
            <a:r>
              <a:rPr lang="en-GB" sz="2000" b="1" i="1" dirty="0">
                <a:solidFill>
                  <a:srgbClr val="000000"/>
                </a:solidFill>
                <a:latin typeface="Consolas" panose="020B0609020204030204" pitchFamily="49" charset="0"/>
              </a:rPr>
              <a:t>[1] = 22;</a:t>
            </a:r>
          </a:p>
          <a:p>
            <a:endParaRPr lang="en-GB" sz="2000" dirty="0">
              <a:solidFill>
                <a:srgbClr val="000000"/>
              </a:solidFill>
              <a:latin typeface="Consolas" panose="020B0609020204030204" pitchFamily="49" charset="0"/>
            </a:endParaRPr>
          </a:p>
          <a:p>
            <a:r>
              <a:rPr lang="en-GB" sz="2000" dirty="0" err="1">
                <a:solidFill>
                  <a:srgbClr val="000000"/>
                </a:solidFill>
                <a:latin typeface="Consolas" panose="020B0609020204030204" pitchFamily="49" charset="0"/>
              </a:rPr>
              <a:t>System.</a:t>
            </a:r>
            <a:r>
              <a:rPr lang="en-GB" sz="2000" b="1" i="1" dirty="0" err="1">
                <a:solidFill>
                  <a:srgbClr val="0000C0"/>
                </a:solidFill>
                <a:latin typeface="Consolas" panose="020B0609020204030204" pitchFamily="49" charset="0"/>
              </a:rPr>
              <a:t>out</a:t>
            </a:r>
            <a:r>
              <a:rPr lang="en-GB" sz="2000" b="1" i="1" dirty="0" err="1">
                <a:solidFill>
                  <a:srgbClr val="000000"/>
                </a:solidFill>
                <a:latin typeface="Consolas" panose="020B0609020204030204" pitchFamily="49" charset="0"/>
              </a:rPr>
              <a:t>.println</a:t>
            </a:r>
            <a:r>
              <a:rPr lang="en-GB" sz="2000" b="1" i="1" dirty="0">
                <a:solidFill>
                  <a:srgbClr val="000000"/>
                </a:solidFill>
                <a:latin typeface="Consolas" panose="020B0609020204030204" pitchFamily="49" charset="0"/>
              </a:rPr>
              <a:t>(</a:t>
            </a:r>
            <a:r>
              <a:rPr lang="en-GB" sz="2000" b="1" i="1" dirty="0">
                <a:solidFill>
                  <a:srgbClr val="6A3E3E"/>
                </a:solidFill>
                <a:latin typeface="Consolas" panose="020B0609020204030204" pitchFamily="49" charset="0"/>
              </a:rPr>
              <a:t>numbers</a:t>
            </a:r>
            <a:r>
              <a:rPr lang="en-GB" sz="2000" b="1" i="1" dirty="0">
                <a:solidFill>
                  <a:srgbClr val="000000"/>
                </a:solidFill>
                <a:latin typeface="Consolas" panose="020B0609020204030204" pitchFamily="49" charset="0"/>
              </a:rPr>
              <a:t>[1]);</a:t>
            </a:r>
          </a:p>
          <a:p>
            <a:endParaRPr lang="en-GB" sz="2000" b="1" i="1" dirty="0">
              <a:solidFill>
                <a:srgbClr val="000000"/>
              </a:solidFill>
              <a:latin typeface="Consolas" panose="020B0609020204030204" pitchFamily="49" charset="0"/>
            </a:endParaRPr>
          </a:p>
          <a:p>
            <a:endParaRPr lang="en-GB" sz="2000" b="1" i="1" dirty="0">
              <a:solidFill>
                <a:srgbClr val="000000"/>
              </a:solidFill>
              <a:latin typeface="Consolas" panose="020B0609020204030204" pitchFamily="49" charset="0"/>
            </a:endParaRPr>
          </a:p>
          <a:p>
            <a:endParaRPr lang="en-GB" sz="2000" b="1" i="1" dirty="0">
              <a:solidFill>
                <a:srgbClr val="000000"/>
              </a:solidFill>
              <a:latin typeface="Consolas" panose="020B0609020204030204" pitchFamily="49" charset="0"/>
            </a:endParaRPr>
          </a:p>
          <a:p>
            <a:endParaRPr lang="en-GB" sz="2000" b="1" i="1" dirty="0">
              <a:solidFill>
                <a:srgbClr val="000000"/>
              </a:solidFill>
              <a:latin typeface="Consolas" panose="020B0609020204030204" pitchFamily="49" charset="0"/>
            </a:endParaRPr>
          </a:p>
          <a:p>
            <a:r>
              <a:rPr lang="en-GB" sz="2000" b="1" dirty="0">
                <a:solidFill>
                  <a:srgbClr val="0000C8"/>
                </a:solidFill>
                <a:latin typeface="Lucida Console" pitchFamily="49" charset="0"/>
              </a:rPr>
              <a:t>int</a:t>
            </a:r>
            <a:r>
              <a:rPr lang="en-GB" sz="2000" b="1" dirty="0">
                <a:latin typeface="Lucida Console" pitchFamily="49" charset="0"/>
              </a:rPr>
              <a:t> </a:t>
            </a:r>
            <a:r>
              <a:rPr lang="en-GB" sz="2000" b="1" dirty="0" err="1">
                <a:latin typeface="Lucida Console" pitchFamily="49" charset="0"/>
              </a:rPr>
              <a:t>len</a:t>
            </a:r>
            <a:r>
              <a:rPr lang="en-GB" sz="2000" b="1" dirty="0">
                <a:latin typeface="Lucida Console" pitchFamily="49" charset="0"/>
              </a:rPr>
              <a:t> = </a:t>
            </a:r>
            <a:r>
              <a:rPr lang="en-GB" sz="2000" b="1" dirty="0" err="1">
                <a:solidFill>
                  <a:srgbClr val="6A3E3E"/>
                </a:solidFill>
                <a:latin typeface="Consolas" panose="020B0609020204030204" pitchFamily="49" charset="0"/>
              </a:rPr>
              <a:t>numbers</a:t>
            </a:r>
            <a:r>
              <a:rPr lang="en-GB" sz="2000" b="1" i="1" dirty="0" err="1">
                <a:solidFill>
                  <a:srgbClr val="000000"/>
                </a:solidFill>
                <a:latin typeface="Consolas" panose="020B0609020204030204" pitchFamily="49" charset="0"/>
              </a:rPr>
              <a:t>.Length</a:t>
            </a:r>
            <a:r>
              <a:rPr lang="en-GB" sz="2000" b="1" i="1" dirty="0">
                <a:solidFill>
                  <a:srgbClr val="000000"/>
                </a:solidFill>
                <a:latin typeface="Consolas" panose="020B0609020204030204" pitchFamily="49" charset="0"/>
              </a:rPr>
              <a:t>;</a:t>
            </a:r>
          </a:p>
          <a:p>
            <a:endParaRPr lang="en-GB" sz="2000" b="1" i="1" dirty="0">
              <a:solidFill>
                <a:srgbClr val="000000"/>
              </a:solidFill>
              <a:latin typeface="Consolas" panose="020B0609020204030204" pitchFamily="49" charset="0"/>
            </a:endParaRPr>
          </a:p>
        </p:txBody>
      </p:sp>
      <p:cxnSp>
        <p:nvCxnSpPr>
          <p:cNvPr id="9" name="Straight Arrow Connector 8"/>
          <p:cNvCxnSpPr>
            <a:cxnSpLocks/>
          </p:cNvCxnSpPr>
          <p:nvPr/>
        </p:nvCxnSpPr>
        <p:spPr>
          <a:xfrm>
            <a:off x="5626895" y="4101090"/>
            <a:ext cx="2269123" cy="0"/>
          </a:xfrm>
          <a:prstGeom prst="straightConnector1">
            <a:avLst/>
          </a:prstGeom>
          <a:ln w="38100" cap="flat" cmpd="sng" algn="ctr">
            <a:solidFill>
              <a:schemeClr val="accent3"/>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4" name="TextBox 13"/>
          <p:cNvSpPr txBox="1"/>
          <p:nvPr/>
        </p:nvSpPr>
        <p:spPr>
          <a:xfrm>
            <a:off x="5626896" y="4386420"/>
            <a:ext cx="492443" cy="400110"/>
          </a:xfrm>
          <a:prstGeom prst="rect">
            <a:avLst/>
          </a:prstGeom>
          <a:solidFill>
            <a:srgbClr val="004050"/>
          </a:solidFill>
          <a:effectLst/>
        </p:spPr>
        <p:style>
          <a:lnRef idx="0">
            <a:schemeClr val="accent1"/>
          </a:lnRef>
          <a:fillRef idx="3">
            <a:schemeClr val="accent1"/>
          </a:fillRef>
          <a:effectRef idx="3">
            <a:schemeClr val="accent1"/>
          </a:effectRef>
          <a:fontRef idx="minor">
            <a:schemeClr val="lt1"/>
          </a:fontRef>
        </p:style>
        <p:txBody>
          <a:bodyPr wrap="none" rtlCol="0">
            <a:spAutoFit/>
          </a:bodyPr>
          <a:lstStyle/>
          <a:p>
            <a:r>
              <a:rPr lang="en-GB" sz="2000" b="1" dirty="0">
                <a:latin typeface="Courier New" pitchFamily="49" charset="0"/>
                <a:cs typeface="Courier New" pitchFamily="49" charset="0"/>
              </a:rPr>
              <a:t>22</a:t>
            </a:r>
            <a:endParaRPr lang="en-GB" sz="1600" b="1" dirty="0">
              <a:latin typeface="Courier New" pitchFamily="49" charset="0"/>
              <a:cs typeface="Courier New" pitchFamily="49" charset="0"/>
            </a:endParaRPr>
          </a:p>
        </p:txBody>
      </p:sp>
      <p:sp>
        <p:nvSpPr>
          <p:cNvPr id="10" name="Rectangle 7">
            <a:extLst>
              <a:ext uri="{FF2B5EF4-FFF2-40B4-BE49-F238E27FC236}">
                <a16:creationId xmlns:a16="http://schemas.microsoft.com/office/drawing/2014/main" id="{42EEC2A3-A858-48C6-99DF-7CB5604EAB74}"/>
              </a:ext>
            </a:extLst>
          </p:cNvPr>
          <p:cNvSpPr>
            <a:spLocks noChangeArrowheads="1"/>
          </p:cNvSpPr>
          <p:nvPr/>
        </p:nvSpPr>
        <p:spPr bwMode="auto">
          <a:xfrm>
            <a:off x="8054010" y="5542580"/>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a:solidFill>
                  <a:srgbClr val="000000"/>
                </a:solidFill>
                <a:latin typeface="Lucida Console" pitchFamily="49" charset="0"/>
              </a:rPr>
              <a:t>[5]</a:t>
            </a:r>
          </a:p>
        </p:txBody>
      </p:sp>
      <p:sp>
        <p:nvSpPr>
          <p:cNvPr id="11" name="AutoShape 8">
            <a:extLst>
              <a:ext uri="{FF2B5EF4-FFF2-40B4-BE49-F238E27FC236}">
                <a16:creationId xmlns:a16="http://schemas.microsoft.com/office/drawing/2014/main" id="{178123DB-0F69-4738-87A9-0A5B1CC414C1}"/>
              </a:ext>
            </a:extLst>
          </p:cNvPr>
          <p:cNvSpPr>
            <a:spLocks noChangeArrowheads="1"/>
          </p:cNvSpPr>
          <p:nvPr/>
        </p:nvSpPr>
        <p:spPr bwMode="auto">
          <a:xfrm>
            <a:off x="8601699" y="5474316"/>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dirty="0">
                <a:latin typeface="Lucida Console" pitchFamily="49" charset="0"/>
              </a:rPr>
              <a:t> 6</a:t>
            </a:r>
          </a:p>
        </p:txBody>
      </p:sp>
      <p:sp>
        <p:nvSpPr>
          <p:cNvPr id="12" name="Rectangle 11">
            <a:extLst>
              <a:ext uri="{FF2B5EF4-FFF2-40B4-BE49-F238E27FC236}">
                <a16:creationId xmlns:a16="http://schemas.microsoft.com/office/drawing/2014/main" id="{7C6E93C5-0ACB-430C-BD0E-C09C20B65EE7}"/>
              </a:ext>
            </a:extLst>
          </p:cNvPr>
          <p:cNvSpPr>
            <a:spLocks noChangeArrowheads="1"/>
          </p:cNvSpPr>
          <p:nvPr/>
        </p:nvSpPr>
        <p:spPr bwMode="auto">
          <a:xfrm>
            <a:off x="8054010" y="5140942"/>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[4]</a:t>
            </a:r>
          </a:p>
        </p:txBody>
      </p:sp>
      <p:sp>
        <p:nvSpPr>
          <p:cNvPr id="13" name="AutoShape 12">
            <a:extLst>
              <a:ext uri="{FF2B5EF4-FFF2-40B4-BE49-F238E27FC236}">
                <a16:creationId xmlns:a16="http://schemas.microsoft.com/office/drawing/2014/main" id="{46EF380C-E619-4707-89A4-89F6EA9E4E68}"/>
              </a:ext>
            </a:extLst>
          </p:cNvPr>
          <p:cNvSpPr>
            <a:spLocks noChangeArrowheads="1"/>
          </p:cNvSpPr>
          <p:nvPr/>
        </p:nvSpPr>
        <p:spPr bwMode="auto">
          <a:xfrm>
            <a:off x="8601699" y="5072678"/>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dirty="0">
                <a:latin typeface="Lucida Console" pitchFamily="49" charset="0"/>
              </a:rPr>
              <a:t> 5</a:t>
            </a:r>
          </a:p>
        </p:txBody>
      </p:sp>
      <p:sp>
        <p:nvSpPr>
          <p:cNvPr id="15" name="Rectangle 14">
            <a:extLst>
              <a:ext uri="{FF2B5EF4-FFF2-40B4-BE49-F238E27FC236}">
                <a16:creationId xmlns:a16="http://schemas.microsoft.com/office/drawing/2014/main" id="{1CAD800E-AA31-4BF3-9CDA-55AB96B20723}"/>
              </a:ext>
            </a:extLst>
          </p:cNvPr>
          <p:cNvSpPr>
            <a:spLocks noChangeArrowheads="1"/>
          </p:cNvSpPr>
          <p:nvPr/>
        </p:nvSpPr>
        <p:spPr bwMode="auto">
          <a:xfrm>
            <a:off x="8054010" y="4739305"/>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[3]</a:t>
            </a:r>
          </a:p>
        </p:txBody>
      </p:sp>
      <p:sp>
        <p:nvSpPr>
          <p:cNvPr id="16" name="AutoShape 15">
            <a:extLst>
              <a:ext uri="{FF2B5EF4-FFF2-40B4-BE49-F238E27FC236}">
                <a16:creationId xmlns:a16="http://schemas.microsoft.com/office/drawing/2014/main" id="{EEBF9E4F-2688-4C17-AECE-1DBCAA026BBC}"/>
              </a:ext>
            </a:extLst>
          </p:cNvPr>
          <p:cNvSpPr>
            <a:spLocks noChangeArrowheads="1"/>
          </p:cNvSpPr>
          <p:nvPr/>
        </p:nvSpPr>
        <p:spPr bwMode="auto">
          <a:xfrm>
            <a:off x="8601699" y="4671041"/>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dirty="0">
                <a:latin typeface="Lucida Console" pitchFamily="49" charset="0"/>
              </a:rPr>
              <a:t> 4</a:t>
            </a:r>
          </a:p>
        </p:txBody>
      </p:sp>
      <p:sp>
        <p:nvSpPr>
          <p:cNvPr id="17" name="Rectangle 17">
            <a:extLst>
              <a:ext uri="{FF2B5EF4-FFF2-40B4-BE49-F238E27FC236}">
                <a16:creationId xmlns:a16="http://schemas.microsoft.com/office/drawing/2014/main" id="{2E696D68-81AF-4A88-BC77-49216E0D3094}"/>
              </a:ext>
            </a:extLst>
          </p:cNvPr>
          <p:cNvSpPr>
            <a:spLocks noChangeArrowheads="1"/>
          </p:cNvSpPr>
          <p:nvPr/>
        </p:nvSpPr>
        <p:spPr bwMode="auto">
          <a:xfrm>
            <a:off x="8054010" y="4336080"/>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[2]</a:t>
            </a:r>
          </a:p>
        </p:txBody>
      </p:sp>
      <p:sp>
        <p:nvSpPr>
          <p:cNvPr id="18" name="AutoShape 18">
            <a:extLst>
              <a:ext uri="{FF2B5EF4-FFF2-40B4-BE49-F238E27FC236}">
                <a16:creationId xmlns:a16="http://schemas.microsoft.com/office/drawing/2014/main" id="{FBCB80D4-2B3B-45C7-AB6E-E19E6C341411}"/>
              </a:ext>
            </a:extLst>
          </p:cNvPr>
          <p:cNvSpPr>
            <a:spLocks noChangeArrowheads="1"/>
          </p:cNvSpPr>
          <p:nvPr/>
        </p:nvSpPr>
        <p:spPr bwMode="auto">
          <a:xfrm>
            <a:off x="8601699" y="4267816"/>
            <a:ext cx="1046163" cy="469900"/>
          </a:xfrm>
          <a:prstGeom prst="cube">
            <a:avLst>
              <a:gd name="adj" fmla="val 25000"/>
            </a:avLst>
          </a:prstGeom>
          <a:solidFill>
            <a:srgbClr val="FFCCFF"/>
          </a:solidFill>
          <a:ln w="12700">
            <a:solidFill>
              <a:schemeClr val="tx1"/>
            </a:solidFill>
            <a:miter lim="800000"/>
            <a:headEnd/>
            <a:tailEnd/>
          </a:ln>
        </p:spPr>
        <p:txBody>
          <a:bodyPr wrap="none" anchor="ctr"/>
          <a:lstStyle/>
          <a:p>
            <a:pPr algn="ctr" eaLnBrk="0" hangingPunct="0"/>
            <a:r>
              <a:rPr lang="en-GB" sz="1600" dirty="0">
                <a:latin typeface="Lucida Console" pitchFamily="49" charset="0"/>
              </a:rPr>
              <a:t> 3</a:t>
            </a:r>
          </a:p>
        </p:txBody>
      </p:sp>
      <p:sp>
        <p:nvSpPr>
          <p:cNvPr id="19" name="Rectangle 18">
            <a:extLst>
              <a:ext uri="{FF2B5EF4-FFF2-40B4-BE49-F238E27FC236}">
                <a16:creationId xmlns:a16="http://schemas.microsoft.com/office/drawing/2014/main" id="{E62F3F67-B3DA-477E-83F2-9BD40CA298AB}"/>
              </a:ext>
            </a:extLst>
          </p:cNvPr>
          <p:cNvSpPr>
            <a:spLocks noChangeArrowheads="1"/>
          </p:cNvSpPr>
          <p:nvPr/>
        </p:nvSpPr>
        <p:spPr bwMode="auto">
          <a:xfrm>
            <a:off x="8054010" y="3934442"/>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a:solidFill>
                  <a:srgbClr val="000000"/>
                </a:solidFill>
                <a:latin typeface="Lucida Console" pitchFamily="49" charset="0"/>
              </a:rPr>
              <a:t>[1]</a:t>
            </a:r>
          </a:p>
        </p:txBody>
      </p:sp>
      <p:sp>
        <p:nvSpPr>
          <p:cNvPr id="20" name="AutoShape 21">
            <a:extLst>
              <a:ext uri="{FF2B5EF4-FFF2-40B4-BE49-F238E27FC236}">
                <a16:creationId xmlns:a16="http://schemas.microsoft.com/office/drawing/2014/main" id="{6DB79454-EFC0-4614-86BC-B9F6D9EF39C0}"/>
              </a:ext>
            </a:extLst>
          </p:cNvPr>
          <p:cNvSpPr>
            <a:spLocks noChangeArrowheads="1"/>
          </p:cNvSpPr>
          <p:nvPr/>
        </p:nvSpPr>
        <p:spPr bwMode="auto">
          <a:xfrm>
            <a:off x="8601699" y="3866178"/>
            <a:ext cx="1046163" cy="469900"/>
          </a:xfrm>
          <a:prstGeom prst="cube">
            <a:avLst>
              <a:gd name="adj" fmla="val 25000"/>
            </a:avLst>
          </a:prstGeom>
          <a:solidFill>
            <a:srgbClr val="FFCCFF"/>
          </a:solidFill>
          <a:ln w="12700">
            <a:solidFill>
              <a:srgbClr val="004050"/>
            </a:solidFill>
            <a:miter lim="800000"/>
            <a:headEnd/>
            <a:tailEnd/>
          </a:ln>
        </p:spPr>
        <p:txBody>
          <a:bodyPr wrap="none" anchor="ctr"/>
          <a:lstStyle/>
          <a:p>
            <a:pPr algn="ctr" eaLnBrk="0" hangingPunct="0"/>
            <a:r>
              <a:rPr lang="en-GB" sz="1600" dirty="0">
                <a:latin typeface="Lucida Console" pitchFamily="49" charset="0"/>
              </a:rPr>
              <a:t> </a:t>
            </a:r>
            <a:r>
              <a:rPr lang="en-GB" sz="1600" b="1" dirty="0">
                <a:latin typeface="Lucida Console" pitchFamily="49" charset="0"/>
              </a:rPr>
              <a:t>22</a:t>
            </a:r>
          </a:p>
        </p:txBody>
      </p:sp>
      <p:sp>
        <p:nvSpPr>
          <p:cNvPr id="21" name="Rectangle 23">
            <a:extLst>
              <a:ext uri="{FF2B5EF4-FFF2-40B4-BE49-F238E27FC236}">
                <a16:creationId xmlns:a16="http://schemas.microsoft.com/office/drawing/2014/main" id="{E880CB45-99E5-4B45-913E-24BDE8869430}"/>
              </a:ext>
            </a:extLst>
          </p:cNvPr>
          <p:cNvSpPr>
            <a:spLocks noChangeArrowheads="1"/>
          </p:cNvSpPr>
          <p:nvPr/>
        </p:nvSpPr>
        <p:spPr bwMode="auto">
          <a:xfrm>
            <a:off x="8054010" y="3531217"/>
            <a:ext cx="553038" cy="335989"/>
          </a:xfrm>
          <a:prstGeom prst="rect">
            <a:avLst/>
          </a:prstGeom>
          <a:noFill/>
          <a:ln w="12700">
            <a:noFill/>
            <a:miter lim="800000"/>
            <a:headEnd/>
            <a:tailEnd/>
          </a:ln>
        </p:spPr>
        <p:txBody>
          <a:bodyPr wrap="none" lIns="90488" tIns="44450" rIns="90488" bIns="44450">
            <a:spAutoFit/>
          </a:bodyPr>
          <a:lstStyle/>
          <a:p>
            <a:pPr defTabSz="739775" eaLnBrk="0" hangingPunct="0"/>
            <a:r>
              <a:rPr lang="en-GB" sz="1600" b="1" dirty="0">
                <a:solidFill>
                  <a:srgbClr val="000000"/>
                </a:solidFill>
                <a:latin typeface="Lucida Console" pitchFamily="49" charset="0"/>
              </a:rPr>
              <a:t>[0]</a:t>
            </a:r>
          </a:p>
        </p:txBody>
      </p:sp>
      <p:sp>
        <p:nvSpPr>
          <p:cNvPr id="22" name="AutoShape 24">
            <a:extLst>
              <a:ext uri="{FF2B5EF4-FFF2-40B4-BE49-F238E27FC236}">
                <a16:creationId xmlns:a16="http://schemas.microsoft.com/office/drawing/2014/main" id="{5395FB86-9BB0-4D99-9A34-BB4C16CB3D7C}"/>
              </a:ext>
            </a:extLst>
          </p:cNvPr>
          <p:cNvSpPr>
            <a:spLocks noChangeArrowheads="1"/>
          </p:cNvSpPr>
          <p:nvPr/>
        </p:nvSpPr>
        <p:spPr bwMode="auto">
          <a:xfrm>
            <a:off x="8601699" y="3462953"/>
            <a:ext cx="1046163" cy="469900"/>
          </a:xfrm>
          <a:prstGeom prst="cube">
            <a:avLst>
              <a:gd name="adj" fmla="val 25000"/>
            </a:avLst>
          </a:prstGeom>
          <a:solidFill>
            <a:srgbClr val="FFCCFF"/>
          </a:solidFill>
          <a:ln w="12700">
            <a:solidFill>
              <a:srgbClr val="004050"/>
            </a:solidFill>
            <a:miter lim="800000"/>
            <a:headEnd/>
            <a:tailEnd/>
          </a:ln>
        </p:spPr>
        <p:txBody>
          <a:bodyPr wrap="none" anchor="ctr"/>
          <a:lstStyle/>
          <a:p>
            <a:pPr algn="ctr" eaLnBrk="0" hangingPunct="0"/>
            <a:r>
              <a:rPr lang="en-GB" sz="1600" dirty="0">
                <a:latin typeface="Lucida Console" pitchFamily="49" charset="0"/>
              </a:rPr>
              <a:t>  1 </a:t>
            </a:r>
          </a:p>
        </p:txBody>
      </p:sp>
      <p:sp>
        <p:nvSpPr>
          <p:cNvPr id="28" name="Oval 27">
            <a:extLst>
              <a:ext uri="{FF2B5EF4-FFF2-40B4-BE49-F238E27FC236}">
                <a16:creationId xmlns:a16="http://schemas.microsoft.com/office/drawing/2014/main" id="{62BC5092-BE55-465E-AE61-12F631A4C452}"/>
              </a:ext>
            </a:extLst>
          </p:cNvPr>
          <p:cNvSpPr/>
          <p:nvPr/>
        </p:nvSpPr>
        <p:spPr>
          <a:xfrm>
            <a:off x="7928956" y="2101037"/>
            <a:ext cx="1921099" cy="680483"/>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GB" b="1" dirty="0">
                <a:solidFill>
                  <a:schemeClr val="tx1"/>
                </a:solidFill>
                <a:cs typeface="Arial" pitchFamily="34" charset="0"/>
              </a:rPr>
              <a:t>numbers</a:t>
            </a:r>
          </a:p>
        </p:txBody>
      </p:sp>
    </p:spTree>
    <p:extLst>
      <p:ext uri="{BB962C8B-B14F-4D97-AF65-F5344CB8AC3E}">
        <p14:creationId xmlns:p14="http://schemas.microsoft.com/office/powerpoint/2010/main" val="4287254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Create an empty array</a:t>
            </a:r>
            <a:endParaRPr lang="en-GB" dirty="0"/>
          </a:p>
        </p:txBody>
      </p:sp>
      <p:sp>
        <p:nvSpPr>
          <p:cNvPr id="4" name="Rectangle 3"/>
          <p:cNvSpPr/>
          <p:nvPr/>
        </p:nvSpPr>
        <p:spPr>
          <a:xfrm>
            <a:off x="2060714" y="1600533"/>
            <a:ext cx="4110421" cy="411261"/>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square">
            <a:spAutoFit/>
          </a:bodyPr>
          <a:lstStyle/>
          <a:p>
            <a:r>
              <a:rPr lang="en-GB" sz="2000" b="1" dirty="0" err="1">
                <a:solidFill>
                  <a:srgbClr val="7F0055"/>
                </a:solidFill>
                <a:latin typeface="Consolas" panose="020B0609020204030204" pitchFamily="49" charset="0"/>
              </a:rPr>
              <a:t>int</a:t>
            </a:r>
            <a:r>
              <a:rPr lang="en-GB" sz="2000" b="1" dirty="0">
                <a:solidFill>
                  <a:srgbClr val="000000"/>
                </a:solidFill>
                <a:latin typeface="Consolas" panose="020B0609020204030204" pitchFamily="49" charset="0"/>
              </a:rPr>
              <a:t>[] </a:t>
            </a:r>
            <a:r>
              <a:rPr lang="en-GB" sz="2000" b="1" dirty="0">
                <a:solidFill>
                  <a:srgbClr val="6A3E3E"/>
                </a:solidFill>
                <a:latin typeface="Consolas" panose="020B0609020204030204" pitchFamily="49" charset="0"/>
              </a:rPr>
              <a:t>numbers</a:t>
            </a:r>
            <a:r>
              <a:rPr lang="en-GB" sz="2000" b="1" dirty="0">
                <a:solidFill>
                  <a:srgbClr val="000000"/>
                </a:solidFill>
                <a:latin typeface="Consolas" panose="020B0609020204030204" pitchFamily="49" charset="0"/>
              </a:rPr>
              <a:t> = </a:t>
            </a:r>
            <a:r>
              <a:rPr lang="en-GB" sz="2000" b="1" dirty="0">
                <a:solidFill>
                  <a:srgbClr val="7F0055"/>
                </a:solidFill>
                <a:latin typeface="Consolas" panose="020B0609020204030204" pitchFamily="49" charset="0"/>
              </a:rPr>
              <a:t>new</a:t>
            </a:r>
            <a:r>
              <a:rPr lang="en-GB" sz="2000" b="1" dirty="0">
                <a:solidFill>
                  <a:srgbClr val="000000"/>
                </a:solidFill>
                <a:latin typeface="Consolas" panose="020B0609020204030204" pitchFamily="49" charset="0"/>
              </a:rPr>
              <a:t> </a:t>
            </a:r>
            <a:r>
              <a:rPr lang="en-GB" sz="2000" b="1" dirty="0" err="1">
                <a:solidFill>
                  <a:srgbClr val="7F0055"/>
                </a:solidFill>
                <a:latin typeface="Consolas" panose="020B0609020204030204" pitchFamily="49" charset="0"/>
              </a:rPr>
              <a:t>int</a:t>
            </a:r>
            <a:r>
              <a:rPr lang="en-GB" sz="2000" b="1" dirty="0">
                <a:solidFill>
                  <a:srgbClr val="000000"/>
                </a:solidFill>
                <a:latin typeface="Consolas" panose="020B0609020204030204" pitchFamily="49" charset="0"/>
              </a:rPr>
              <a:t>[5];</a:t>
            </a:r>
          </a:p>
        </p:txBody>
      </p:sp>
      <p:sp>
        <p:nvSpPr>
          <p:cNvPr id="5" name="Rectangle 4"/>
          <p:cNvSpPr/>
          <p:nvPr/>
        </p:nvSpPr>
        <p:spPr>
          <a:xfrm>
            <a:off x="2060714" y="3864085"/>
            <a:ext cx="4110421" cy="369332"/>
          </a:xfrm>
          <a:prstGeom prst="rect">
            <a:avLst/>
          </a:prstGeom>
          <a:solidFill>
            <a:schemeClr val="accent5">
              <a:lumMod val="20000"/>
              <a:lumOff val="80000"/>
            </a:schemeClr>
          </a:solidFill>
          <a:ln w="19050">
            <a:noFill/>
          </a:ln>
          <a:effectLst>
            <a:outerShdw blurRad="50800" dist="38100" algn="l" rotWithShape="0">
              <a:prstClr val="black">
                <a:alpha val="40000"/>
              </a:prstClr>
            </a:outerShdw>
          </a:effectLst>
        </p:spPr>
        <p:txBody>
          <a:bodyPr wrap="none">
            <a:spAutoFit/>
          </a:bodyPr>
          <a:lstStyle/>
          <a:p>
            <a:r>
              <a:rPr lang="en-GB" dirty="0">
                <a:solidFill>
                  <a:srgbClr val="000000"/>
                </a:solidFill>
                <a:latin typeface="Consolas" panose="020B0609020204030204" pitchFamily="49" charset="0"/>
              </a:rPr>
              <a:t>String[] </a:t>
            </a:r>
            <a:r>
              <a:rPr lang="en-GB" dirty="0">
                <a:solidFill>
                  <a:srgbClr val="6A3E3E"/>
                </a:solidFill>
                <a:latin typeface="Consolas" panose="020B0609020204030204" pitchFamily="49" charset="0"/>
              </a:rPr>
              <a:t>names</a:t>
            </a:r>
            <a:r>
              <a:rPr lang="en-GB" dirty="0">
                <a:solidFill>
                  <a:srgbClr val="000000"/>
                </a:solidFill>
                <a:latin typeface="Consolas" panose="020B0609020204030204" pitchFamily="49" charset="0"/>
              </a:rPr>
              <a:t> = </a:t>
            </a:r>
            <a:r>
              <a:rPr lang="en-GB" b="1" dirty="0">
                <a:solidFill>
                  <a:srgbClr val="7F0055"/>
                </a:solidFill>
                <a:latin typeface="Consolas" panose="020B0609020204030204" pitchFamily="49" charset="0"/>
              </a:rPr>
              <a:t>new</a:t>
            </a:r>
            <a:r>
              <a:rPr lang="en-GB" b="1" dirty="0">
                <a:solidFill>
                  <a:srgbClr val="000000"/>
                </a:solidFill>
                <a:latin typeface="Consolas" panose="020B0609020204030204" pitchFamily="49" charset="0"/>
              </a:rPr>
              <a:t> String[5];</a:t>
            </a:r>
          </a:p>
        </p:txBody>
      </p:sp>
      <p:graphicFrame>
        <p:nvGraphicFramePr>
          <p:cNvPr id="6" name="Table 5"/>
          <p:cNvGraphicFramePr>
            <a:graphicFrameLocks noGrp="1"/>
          </p:cNvGraphicFramePr>
          <p:nvPr/>
        </p:nvGraphicFramePr>
        <p:xfrm>
          <a:off x="6510046" y="1343387"/>
          <a:ext cx="878961" cy="1854200"/>
        </p:xfrm>
        <a:graphic>
          <a:graphicData uri="http://schemas.openxmlformats.org/drawingml/2006/table">
            <a:tbl>
              <a:tblPr firstRow="1" bandRow="1">
                <a:tableStyleId>{5940675A-B579-460E-94D1-54222C63F5DA}</a:tableStyleId>
              </a:tblPr>
              <a:tblGrid>
                <a:gridCol w="878961">
                  <a:extLst>
                    <a:ext uri="{9D8B030D-6E8A-4147-A177-3AD203B41FA5}">
                      <a16:colId xmlns:a16="http://schemas.microsoft.com/office/drawing/2014/main" val="20000"/>
                    </a:ext>
                  </a:extLst>
                </a:gridCol>
              </a:tblGrid>
              <a:tr h="370840">
                <a:tc>
                  <a:txBody>
                    <a:bodyPr/>
                    <a:lstStyle/>
                    <a:p>
                      <a:pPr algn="ctr"/>
                      <a:r>
                        <a:rPr lang="en-GB" b="1" dirty="0"/>
                        <a:t>0</a:t>
                      </a:r>
                    </a:p>
                  </a:txBody>
                  <a:tcPr/>
                </a:tc>
                <a:extLst>
                  <a:ext uri="{0D108BD9-81ED-4DB2-BD59-A6C34878D82A}">
                    <a16:rowId xmlns:a16="http://schemas.microsoft.com/office/drawing/2014/main" val="10000"/>
                  </a:ext>
                </a:extLst>
              </a:tr>
              <a:tr h="370840">
                <a:tc>
                  <a:txBody>
                    <a:bodyPr/>
                    <a:lstStyle/>
                    <a:p>
                      <a:pPr algn="ctr"/>
                      <a:r>
                        <a:rPr lang="en-GB" b="1" dirty="0"/>
                        <a:t>0</a:t>
                      </a:r>
                    </a:p>
                  </a:txBody>
                  <a:tcPr/>
                </a:tc>
                <a:extLst>
                  <a:ext uri="{0D108BD9-81ED-4DB2-BD59-A6C34878D82A}">
                    <a16:rowId xmlns:a16="http://schemas.microsoft.com/office/drawing/2014/main" val="10001"/>
                  </a:ext>
                </a:extLst>
              </a:tr>
              <a:tr h="370840">
                <a:tc>
                  <a:txBody>
                    <a:bodyPr/>
                    <a:lstStyle/>
                    <a:p>
                      <a:pPr algn="ctr"/>
                      <a:r>
                        <a:rPr lang="en-GB" b="1" dirty="0"/>
                        <a:t>0</a:t>
                      </a:r>
                    </a:p>
                  </a:txBody>
                  <a:tcPr/>
                </a:tc>
                <a:extLst>
                  <a:ext uri="{0D108BD9-81ED-4DB2-BD59-A6C34878D82A}">
                    <a16:rowId xmlns:a16="http://schemas.microsoft.com/office/drawing/2014/main" val="10002"/>
                  </a:ext>
                </a:extLst>
              </a:tr>
              <a:tr h="370840">
                <a:tc>
                  <a:txBody>
                    <a:bodyPr/>
                    <a:lstStyle/>
                    <a:p>
                      <a:pPr algn="ctr"/>
                      <a:r>
                        <a:rPr lang="en-GB" b="1" dirty="0"/>
                        <a:t>0</a:t>
                      </a:r>
                    </a:p>
                  </a:txBody>
                  <a:tcPr/>
                </a:tc>
                <a:extLst>
                  <a:ext uri="{0D108BD9-81ED-4DB2-BD59-A6C34878D82A}">
                    <a16:rowId xmlns:a16="http://schemas.microsoft.com/office/drawing/2014/main" val="10003"/>
                  </a:ext>
                </a:extLst>
              </a:tr>
              <a:tr h="370840">
                <a:tc>
                  <a:txBody>
                    <a:bodyPr/>
                    <a:lstStyle/>
                    <a:p>
                      <a:pPr algn="ctr"/>
                      <a:r>
                        <a:rPr lang="en-GB" b="1" dirty="0"/>
                        <a:t>0</a:t>
                      </a:r>
                    </a:p>
                  </a:txBody>
                  <a:tcPr/>
                </a:tc>
                <a:extLst>
                  <a:ext uri="{0D108BD9-81ED-4DB2-BD59-A6C34878D82A}">
                    <a16:rowId xmlns:a16="http://schemas.microsoft.com/office/drawing/2014/main" val="10004"/>
                  </a:ext>
                </a:extLst>
              </a:tr>
            </a:tbl>
          </a:graphicData>
        </a:graphic>
      </p:graphicFrame>
      <p:graphicFrame>
        <p:nvGraphicFramePr>
          <p:cNvPr id="7" name="Table 6"/>
          <p:cNvGraphicFramePr>
            <a:graphicFrameLocks noGrp="1"/>
          </p:cNvGraphicFramePr>
          <p:nvPr/>
        </p:nvGraphicFramePr>
        <p:xfrm>
          <a:off x="6549805" y="3922216"/>
          <a:ext cx="878961" cy="1854200"/>
        </p:xfrm>
        <a:graphic>
          <a:graphicData uri="http://schemas.openxmlformats.org/drawingml/2006/table">
            <a:tbl>
              <a:tblPr firstRow="1" bandRow="1">
                <a:tableStyleId>{5940675A-B579-460E-94D1-54222C63F5DA}</a:tableStyleId>
              </a:tblPr>
              <a:tblGrid>
                <a:gridCol w="878961">
                  <a:extLst>
                    <a:ext uri="{9D8B030D-6E8A-4147-A177-3AD203B41FA5}">
                      <a16:colId xmlns:a16="http://schemas.microsoft.com/office/drawing/2014/main" val="20000"/>
                    </a:ext>
                  </a:extLst>
                </a:gridCol>
              </a:tblGrid>
              <a:tr h="370840">
                <a:tc>
                  <a:txBody>
                    <a:bodyPr/>
                    <a:lstStyle/>
                    <a:p>
                      <a:pPr algn="ctr"/>
                      <a:r>
                        <a:rPr lang="en-GB" b="1" dirty="0"/>
                        <a:t>null</a:t>
                      </a:r>
                    </a:p>
                  </a:txBody>
                  <a:tcPr/>
                </a:tc>
                <a:extLst>
                  <a:ext uri="{0D108BD9-81ED-4DB2-BD59-A6C34878D82A}">
                    <a16:rowId xmlns:a16="http://schemas.microsoft.com/office/drawing/2014/main" val="10000"/>
                  </a:ext>
                </a:extLst>
              </a:tr>
              <a:tr h="370840">
                <a:tc>
                  <a:txBody>
                    <a:bodyPr/>
                    <a:lstStyle/>
                    <a:p>
                      <a:pPr algn="ctr"/>
                      <a:r>
                        <a:rPr lang="en-GB" b="1" dirty="0"/>
                        <a:t>null</a:t>
                      </a:r>
                    </a:p>
                  </a:txBody>
                  <a:tcPr/>
                </a:tc>
                <a:extLst>
                  <a:ext uri="{0D108BD9-81ED-4DB2-BD59-A6C34878D82A}">
                    <a16:rowId xmlns:a16="http://schemas.microsoft.com/office/drawing/2014/main" val="10001"/>
                  </a:ext>
                </a:extLst>
              </a:tr>
              <a:tr h="370840">
                <a:tc>
                  <a:txBody>
                    <a:bodyPr/>
                    <a:lstStyle/>
                    <a:p>
                      <a:pPr algn="ctr"/>
                      <a:r>
                        <a:rPr lang="en-GB" b="1" dirty="0"/>
                        <a:t>null</a:t>
                      </a:r>
                    </a:p>
                  </a:txBody>
                  <a:tcPr/>
                </a:tc>
                <a:extLst>
                  <a:ext uri="{0D108BD9-81ED-4DB2-BD59-A6C34878D82A}">
                    <a16:rowId xmlns:a16="http://schemas.microsoft.com/office/drawing/2014/main" val="10002"/>
                  </a:ext>
                </a:extLst>
              </a:tr>
              <a:tr h="370840">
                <a:tc>
                  <a:txBody>
                    <a:bodyPr/>
                    <a:lstStyle/>
                    <a:p>
                      <a:pPr algn="ctr"/>
                      <a:r>
                        <a:rPr lang="en-GB" b="1" dirty="0"/>
                        <a:t>null</a:t>
                      </a:r>
                    </a:p>
                  </a:txBody>
                  <a:tcPr/>
                </a:tc>
                <a:extLst>
                  <a:ext uri="{0D108BD9-81ED-4DB2-BD59-A6C34878D82A}">
                    <a16:rowId xmlns:a16="http://schemas.microsoft.com/office/drawing/2014/main" val="10003"/>
                  </a:ext>
                </a:extLst>
              </a:tr>
              <a:tr h="370840">
                <a:tc>
                  <a:txBody>
                    <a:bodyPr/>
                    <a:lstStyle/>
                    <a:p>
                      <a:pPr algn="ctr"/>
                      <a:r>
                        <a:rPr lang="en-GB" b="1" dirty="0"/>
                        <a:t>null</a:t>
                      </a:r>
                    </a:p>
                  </a:txBody>
                  <a:tcPr/>
                </a:tc>
                <a:extLst>
                  <a:ext uri="{0D108BD9-81ED-4DB2-BD59-A6C34878D82A}">
                    <a16:rowId xmlns:a16="http://schemas.microsoft.com/office/drawing/2014/main" val="10004"/>
                  </a:ext>
                </a:extLst>
              </a:tr>
            </a:tbl>
          </a:graphicData>
        </a:graphic>
      </p:graphicFrame>
      <p:sp>
        <p:nvSpPr>
          <p:cNvPr id="8" name="Rounded Rectangular Callout 7"/>
          <p:cNvSpPr/>
          <p:nvPr/>
        </p:nvSpPr>
        <p:spPr>
          <a:xfrm>
            <a:off x="7964559" y="1770771"/>
            <a:ext cx="2381224" cy="934277"/>
          </a:xfrm>
          <a:prstGeom prst="wedgeRoundRectCallout">
            <a:avLst>
              <a:gd name="adj1" fmla="val -58671"/>
              <a:gd name="adj2" fmla="val -29450"/>
              <a:gd name="adj3" fmla="val 16667"/>
            </a:avLst>
          </a:prstGeom>
          <a:solidFill>
            <a:schemeClr val="accent1">
              <a:lumMod val="20000"/>
              <a:lumOff val="80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cs typeface="Arial" pitchFamily="34" charset="0"/>
              </a:rPr>
              <a:t>Initialised to default values for </a:t>
            </a:r>
            <a:r>
              <a:rPr lang="en-GB" sz="1600" dirty="0" err="1">
                <a:solidFill>
                  <a:schemeClr val="tx1"/>
                </a:solidFill>
                <a:cs typeface="Arial" pitchFamily="34" charset="0"/>
              </a:rPr>
              <a:t>int</a:t>
            </a:r>
            <a:endParaRPr lang="en-GB" sz="1600" dirty="0">
              <a:solidFill>
                <a:schemeClr val="tx1"/>
              </a:solidFill>
              <a:cs typeface="Arial" pitchFamily="34" charset="0"/>
            </a:endParaRPr>
          </a:p>
        </p:txBody>
      </p:sp>
      <p:sp>
        <p:nvSpPr>
          <p:cNvPr id="9" name="Rounded Rectangular Callout 8"/>
          <p:cNvSpPr/>
          <p:nvPr/>
        </p:nvSpPr>
        <p:spPr>
          <a:xfrm>
            <a:off x="7964558" y="4291999"/>
            <a:ext cx="2524916" cy="934277"/>
          </a:xfrm>
          <a:prstGeom prst="wedgeRoundRectCallout">
            <a:avLst>
              <a:gd name="adj1" fmla="val -58671"/>
              <a:gd name="adj2" fmla="val -29450"/>
              <a:gd name="adj3" fmla="val 16667"/>
            </a:avLst>
          </a:prstGeom>
          <a:solidFill>
            <a:schemeClr val="accent1">
              <a:lumMod val="20000"/>
              <a:lumOff val="80000"/>
            </a:schemeClr>
          </a:solidFill>
          <a:ln>
            <a:noFill/>
          </a:ln>
          <a:effectLst>
            <a:innerShdw blurRad="63500" dist="50800" dir="162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cs typeface="Arial" pitchFamily="34" charset="0"/>
              </a:rPr>
              <a:t>Initialised to default values for String</a:t>
            </a:r>
          </a:p>
        </p:txBody>
      </p:sp>
    </p:spTree>
    <p:extLst>
      <p:ext uri="{BB962C8B-B14F-4D97-AF65-F5344CB8AC3E}">
        <p14:creationId xmlns:p14="http://schemas.microsoft.com/office/powerpoint/2010/main" val="4215381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0D8FDDD-9985-3F07-0EEB-B2CD5A14B5AF}"/>
              </a:ext>
            </a:extLst>
          </p:cNvPr>
          <p:cNvSpPr>
            <a:spLocks noGrp="1"/>
          </p:cNvSpPr>
          <p:nvPr>
            <p:ph type="sldNum" sz="quarter" idx="4"/>
          </p:nvPr>
        </p:nvSpPr>
        <p:spPr/>
        <p:txBody>
          <a:bodyPr/>
          <a:lstStyle/>
          <a:p>
            <a:fld id="{EF892D59-8F09-EF4B-AD6D-DA609442F868}" type="slidenum">
              <a:rPr lang="en-GB" smtClean="0"/>
              <a:pPr/>
              <a:t>22</a:t>
            </a:fld>
            <a:endParaRPr lang="en-GB" dirty="0"/>
          </a:p>
        </p:txBody>
      </p:sp>
      <p:sp>
        <p:nvSpPr>
          <p:cNvPr id="3" name="Title 2">
            <a:extLst>
              <a:ext uri="{FF2B5EF4-FFF2-40B4-BE49-F238E27FC236}">
                <a16:creationId xmlns:a16="http://schemas.microsoft.com/office/drawing/2014/main" id="{2F299E9D-CC6E-199A-A0D4-068B83782DD7}"/>
              </a:ext>
            </a:extLst>
          </p:cNvPr>
          <p:cNvSpPr>
            <a:spLocks noGrp="1"/>
          </p:cNvSpPr>
          <p:nvPr>
            <p:ph type="title"/>
          </p:nvPr>
        </p:nvSpPr>
        <p:spPr/>
        <p:txBody>
          <a:bodyPr/>
          <a:lstStyle/>
          <a:p>
            <a:r>
              <a:rPr lang="en-US" dirty="0"/>
              <a:t>Array parameter - Using while loop</a:t>
            </a:r>
            <a:endParaRPr lang="en-GB" dirty="0"/>
          </a:p>
        </p:txBody>
      </p:sp>
      <p:sp>
        <p:nvSpPr>
          <p:cNvPr id="5" name="TextBox 4">
            <a:extLst>
              <a:ext uri="{FF2B5EF4-FFF2-40B4-BE49-F238E27FC236}">
                <a16:creationId xmlns:a16="http://schemas.microsoft.com/office/drawing/2014/main" id="{55C50166-4BFE-249D-3F85-D3C27AE387D6}"/>
              </a:ext>
            </a:extLst>
          </p:cNvPr>
          <p:cNvSpPr txBox="1"/>
          <p:nvPr/>
        </p:nvSpPr>
        <p:spPr>
          <a:xfrm>
            <a:off x="1126192" y="1615360"/>
            <a:ext cx="9133914" cy="4847481"/>
          </a:xfrm>
          <a:prstGeom prst="rect">
            <a:avLst/>
          </a:prstGeom>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static</a:t>
            </a: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void</a:t>
            </a:r>
            <a:r>
              <a:rPr lang="en-GB" sz="1600" b="1" dirty="0">
                <a:solidFill>
                  <a:srgbClr val="000000"/>
                </a:solidFill>
                <a:effectLst/>
                <a:latin typeface="Cascadia Mono" panose="020B0609020000020004" pitchFamily="49" charset="0"/>
              </a:rPr>
              <a:t> </a:t>
            </a:r>
            <a:r>
              <a:rPr lang="en-GB" sz="1600" b="1" dirty="0">
                <a:solidFill>
                  <a:srgbClr val="74531F"/>
                </a:solidFill>
                <a:effectLst/>
                <a:latin typeface="Cascadia Mono" panose="020B0609020000020004" pitchFamily="49" charset="0"/>
              </a:rPr>
              <a:t>Main</a:t>
            </a:r>
            <a:r>
              <a:rPr lang="en-GB" sz="1600" b="1" dirty="0">
                <a:solidFill>
                  <a:srgbClr val="000000"/>
                </a:solidFill>
                <a:effectLst/>
                <a:latin typeface="Cascadia Mono" panose="020B0609020000020004" pitchFamily="49" charset="0"/>
              </a:rPr>
              <a:t>()</a:t>
            </a:r>
          </a:p>
          <a:p>
            <a:pPr>
              <a:buNone/>
            </a:pPr>
            <a:r>
              <a:rPr lang="en-GB" sz="1600" b="1" dirty="0">
                <a:solidFill>
                  <a:srgbClr val="000000"/>
                </a:solidFill>
                <a:effectLst/>
                <a:latin typeface="Cascadia Mono" panose="020B0609020000020004" pitchFamily="49" charset="0"/>
              </a:rPr>
              <a:t> {</a:t>
            </a:r>
          </a:p>
          <a:p>
            <a:pPr>
              <a:buNone/>
            </a:pPr>
            <a:endParaRPr lang="en-GB" sz="1600" b="1" dirty="0">
              <a:solidFill>
                <a:srgbClr val="000000"/>
              </a:solidFill>
              <a:effectLst/>
              <a:latin typeface="Cascadia Mono" panose="020B0609020000020004" pitchFamily="49" charset="0"/>
            </a:endParaRPr>
          </a:p>
          <a:p>
            <a:pPr>
              <a:lnSpc>
                <a:spcPct val="150000"/>
              </a:lnSpc>
              <a:buNone/>
            </a:pP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int</a:t>
            </a:r>
            <a:r>
              <a:rPr lang="en-GB" sz="1600" b="1" dirty="0">
                <a:solidFill>
                  <a:srgbClr val="000000"/>
                </a:solidFill>
                <a:effectLst/>
                <a:latin typeface="Cascadia Mono" panose="020B0609020000020004" pitchFamily="49" charset="0"/>
              </a:rPr>
              <a:t>[] </a:t>
            </a:r>
            <a:r>
              <a:rPr lang="en-GB" sz="1600" b="1" dirty="0">
                <a:solidFill>
                  <a:srgbClr val="1F377F"/>
                </a:solidFill>
                <a:effectLst/>
                <a:latin typeface="Cascadia Mono" panose="020B0609020000020004" pitchFamily="49" charset="0"/>
              </a:rPr>
              <a:t>ages</a:t>
            </a:r>
            <a:r>
              <a:rPr lang="en-GB" sz="1600" b="1" dirty="0">
                <a:solidFill>
                  <a:srgbClr val="000000"/>
                </a:solidFill>
                <a:effectLst/>
                <a:latin typeface="Cascadia Mono" panose="020B0609020000020004" pitchFamily="49" charset="0"/>
              </a:rPr>
              <a:t> = { 21, 16, 18, 32, 46, 75, 10 };</a:t>
            </a:r>
          </a:p>
          <a:p>
            <a:pPr>
              <a:lnSpc>
                <a:spcPct val="150000"/>
              </a:lnSpc>
              <a:buNone/>
            </a:pPr>
            <a:r>
              <a:rPr lang="en-GB" sz="1600" b="1" dirty="0">
                <a:solidFill>
                  <a:srgbClr val="000000"/>
                </a:solidFill>
                <a:effectLst/>
                <a:latin typeface="Cascadia Mono" panose="020B0609020000020004" pitchFamily="49" charset="0"/>
              </a:rPr>
              <a:t>      </a:t>
            </a:r>
            <a:r>
              <a:rPr lang="en-GB" b="1" dirty="0" err="1">
                <a:solidFill>
                  <a:srgbClr val="74531F"/>
                </a:solidFill>
                <a:effectLst/>
                <a:latin typeface="Cascadia Mono" panose="020B0609020000020004" pitchFamily="49" charset="0"/>
              </a:rPr>
              <a:t>filterNumbers</a:t>
            </a:r>
            <a:r>
              <a:rPr lang="en-GB" b="1" dirty="0">
                <a:solidFill>
                  <a:srgbClr val="000000"/>
                </a:solidFill>
                <a:effectLst/>
                <a:latin typeface="Cascadia Mono" panose="020B0609020000020004" pitchFamily="49" charset="0"/>
              </a:rPr>
              <a:t>(</a:t>
            </a:r>
            <a:r>
              <a:rPr lang="en-GB" b="1" dirty="0">
                <a:solidFill>
                  <a:srgbClr val="1F377F"/>
                </a:solidFill>
                <a:effectLst/>
                <a:latin typeface="Cascadia Mono" panose="020B0609020000020004" pitchFamily="49" charset="0"/>
              </a:rPr>
              <a:t>ages</a:t>
            </a:r>
            <a:r>
              <a:rPr lang="en-GB" b="1" dirty="0">
                <a:solidFill>
                  <a:srgbClr val="000000"/>
                </a:solidFill>
                <a:effectLst/>
                <a:latin typeface="Cascadia Mono" panose="020B0609020000020004" pitchFamily="49" charset="0"/>
              </a:rPr>
              <a:t>, 18);</a:t>
            </a:r>
          </a:p>
          <a:p>
            <a:pPr>
              <a:buNone/>
            </a:pPr>
            <a:r>
              <a:rPr lang="en-GB" sz="1600" b="1" dirty="0">
                <a:solidFill>
                  <a:srgbClr val="000000"/>
                </a:solidFill>
                <a:effectLst/>
                <a:latin typeface="Cascadia Mono" panose="020B0609020000020004" pitchFamily="49" charset="0"/>
              </a:rPr>
              <a:t> }</a:t>
            </a:r>
          </a:p>
          <a:p>
            <a:pPr>
              <a:buNone/>
            </a:pPr>
            <a:endParaRPr lang="en-GB" sz="1600" b="1" dirty="0">
              <a:solidFill>
                <a:srgbClr val="000000"/>
              </a:solidFill>
              <a:effectLst/>
              <a:latin typeface="Cascadia Mono" panose="020B0609020000020004" pitchFamily="49" charset="0"/>
            </a:endParaRPr>
          </a:p>
          <a:p>
            <a:pPr>
              <a:buNone/>
            </a:pP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private</a:t>
            </a: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static</a:t>
            </a: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void</a:t>
            </a:r>
            <a:r>
              <a:rPr lang="en-GB" sz="1600" b="1" dirty="0">
                <a:solidFill>
                  <a:srgbClr val="000000"/>
                </a:solidFill>
                <a:effectLst/>
                <a:latin typeface="Cascadia Mono" panose="020B0609020000020004" pitchFamily="49" charset="0"/>
              </a:rPr>
              <a:t> </a:t>
            </a:r>
            <a:r>
              <a:rPr lang="en-GB" sz="1600" b="1" dirty="0" err="1">
                <a:solidFill>
                  <a:srgbClr val="74531F"/>
                </a:solidFill>
                <a:effectLst/>
                <a:latin typeface="Cascadia Mono" panose="020B0609020000020004" pitchFamily="49" charset="0"/>
              </a:rPr>
              <a:t>filterNumbers</a:t>
            </a:r>
            <a:r>
              <a:rPr lang="en-GB" sz="1600" b="1" dirty="0">
                <a:solidFill>
                  <a:srgbClr val="000000"/>
                </a:solidFill>
                <a:effectLst/>
                <a:latin typeface="Cascadia Mono" panose="020B0609020000020004" pitchFamily="49" charset="0"/>
              </a:rPr>
              <a:t>(</a:t>
            </a:r>
            <a:r>
              <a:rPr lang="en-GB" b="1" dirty="0">
                <a:solidFill>
                  <a:srgbClr val="0000FF"/>
                </a:solidFill>
                <a:effectLst/>
                <a:latin typeface="Cascadia Mono" panose="020B0609020000020004" pitchFamily="49" charset="0"/>
              </a:rPr>
              <a:t>int</a:t>
            </a:r>
            <a:r>
              <a:rPr lang="en-GB" b="1" dirty="0">
                <a:solidFill>
                  <a:srgbClr val="000000"/>
                </a:solidFill>
                <a:effectLst/>
                <a:latin typeface="Cascadia Mono" panose="020B0609020000020004" pitchFamily="49" charset="0"/>
              </a:rPr>
              <a:t>[] </a:t>
            </a:r>
            <a:r>
              <a:rPr lang="en-GB" b="1" dirty="0">
                <a:solidFill>
                  <a:srgbClr val="1F377F"/>
                </a:solidFill>
                <a:effectLst/>
                <a:latin typeface="Cascadia Mono" panose="020B0609020000020004" pitchFamily="49" charset="0"/>
              </a:rPr>
              <a:t>numbers</a:t>
            </a: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int</a:t>
            </a:r>
            <a:r>
              <a:rPr lang="en-GB" sz="1600" b="1" dirty="0">
                <a:solidFill>
                  <a:srgbClr val="000000"/>
                </a:solidFill>
                <a:effectLst/>
                <a:latin typeface="Cascadia Mono" panose="020B0609020000020004" pitchFamily="49" charset="0"/>
              </a:rPr>
              <a:t> </a:t>
            </a:r>
            <a:r>
              <a:rPr lang="en-GB" sz="1600" b="1" dirty="0">
                <a:solidFill>
                  <a:srgbClr val="1F377F"/>
                </a:solidFill>
                <a:effectLst/>
                <a:latin typeface="Cascadia Mono" panose="020B0609020000020004" pitchFamily="49" charset="0"/>
              </a:rPr>
              <a:t>max</a:t>
            </a:r>
            <a:r>
              <a:rPr lang="en-GB" sz="1600" b="1" dirty="0">
                <a:solidFill>
                  <a:srgbClr val="000000"/>
                </a:solidFill>
                <a:effectLst/>
                <a:latin typeface="Cascadia Mono" panose="020B0609020000020004" pitchFamily="49" charset="0"/>
              </a:rPr>
              <a:t>)</a:t>
            </a:r>
          </a:p>
          <a:p>
            <a:pPr>
              <a:buNone/>
            </a:pPr>
            <a:r>
              <a:rPr lang="en-GB" sz="1600" b="1" dirty="0">
                <a:solidFill>
                  <a:srgbClr val="000000"/>
                </a:solidFill>
                <a:effectLst/>
                <a:latin typeface="Cascadia Mono" panose="020B0609020000020004" pitchFamily="49" charset="0"/>
              </a:rPr>
              <a:t> {</a:t>
            </a:r>
          </a:p>
          <a:p>
            <a:pPr>
              <a:buNone/>
            </a:pPr>
            <a:r>
              <a:rPr lang="en-GB" sz="1600" b="1" dirty="0">
                <a:solidFill>
                  <a:srgbClr val="000000"/>
                </a:solidFill>
                <a:effectLst/>
                <a:latin typeface="Cascadia Mono" panose="020B0609020000020004" pitchFamily="49" charset="0"/>
              </a:rPr>
              <a:t> 	</a:t>
            </a:r>
            <a:r>
              <a:rPr lang="en-GB" sz="1600" b="1" dirty="0">
                <a:solidFill>
                  <a:srgbClr val="0000FF"/>
                </a:solidFill>
                <a:latin typeface="Cascadia Mono" panose="020B0609020000020004" pitchFamily="49" charset="0"/>
              </a:rPr>
              <a:t>int</a:t>
            </a:r>
            <a:r>
              <a:rPr lang="en-GB" sz="1600" b="1" dirty="0">
                <a:solidFill>
                  <a:srgbClr val="000000"/>
                </a:solidFill>
                <a:latin typeface="Cascadia Mono" panose="020B0609020000020004" pitchFamily="49" charset="0"/>
              </a:rPr>
              <a:t> </a:t>
            </a:r>
            <a:r>
              <a:rPr lang="en-GB" sz="1600" b="1" dirty="0" err="1">
                <a:solidFill>
                  <a:srgbClr val="1F377F"/>
                </a:solidFill>
                <a:latin typeface="Cascadia Mono" panose="020B0609020000020004" pitchFamily="49" charset="0"/>
              </a:rPr>
              <a:t>i</a:t>
            </a:r>
            <a:r>
              <a:rPr lang="en-GB" sz="1600" b="1" dirty="0">
                <a:solidFill>
                  <a:srgbClr val="1F377F"/>
                </a:solidFill>
                <a:latin typeface="Cascadia Mono" panose="020B0609020000020004" pitchFamily="49" charset="0"/>
              </a:rPr>
              <a:t>=0; </a:t>
            </a:r>
          </a:p>
          <a:p>
            <a:pPr>
              <a:buNone/>
            </a:pPr>
            <a:r>
              <a:rPr lang="en-GB" sz="1600" b="1" dirty="0">
                <a:solidFill>
                  <a:srgbClr val="1F377F"/>
                </a:solidFill>
                <a:effectLst/>
                <a:latin typeface="Cascadia Mono" panose="020B0609020000020004" pitchFamily="49" charset="0"/>
              </a:rPr>
              <a:t>	</a:t>
            </a:r>
            <a:r>
              <a:rPr lang="en-GB" sz="1600" b="1" dirty="0">
                <a:solidFill>
                  <a:srgbClr val="8F08C4"/>
                </a:solidFill>
                <a:effectLst/>
                <a:latin typeface="Cascadia Mono" panose="020B0609020000020004" pitchFamily="49" charset="0"/>
              </a:rPr>
              <a:t>while</a:t>
            </a:r>
            <a:r>
              <a:rPr lang="en-GB" sz="1600" b="1" dirty="0">
                <a:solidFill>
                  <a:srgbClr val="000000"/>
                </a:solidFill>
                <a:effectLst/>
                <a:latin typeface="Cascadia Mono" panose="020B0609020000020004" pitchFamily="49" charset="0"/>
              </a:rPr>
              <a:t> (</a:t>
            </a:r>
            <a:r>
              <a:rPr lang="en-GB" sz="1600" b="1" dirty="0" err="1">
                <a:solidFill>
                  <a:srgbClr val="1F377F"/>
                </a:solidFill>
                <a:effectLst/>
                <a:latin typeface="Cascadia Mono" panose="020B0609020000020004" pitchFamily="49" charset="0"/>
              </a:rPr>
              <a:t>i</a:t>
            </a:r>
            <a:r>
              <a:rPr lang="en-GB" sz="1600" b="1" dirty="0">
                <a:solidFill>
                  <a:srgbClr val="1F377F"/>
                </a:solidFill>
                <a:effectLst/>
                <a:latin typeface="Cascadia Mono" panose="020B0609020000020004" pitchFamily="49" charset="0"/>
              </a:rPr>
              <a:t> &lt; </a:t>
            </a:r>
            <a:r>
              <a:rPr lang="en-GB" sz="1600" b="1" dirty="0" err="1">
                <a:solidFill>
                  <a:srgbClr val="1F377F"/>
                </a:solidFill>
                <a:effectLst/>
                <a:latin typeface="Cascadia Mono" panose="020B0609020000020004" pitchFamily="49" charset="0"/>
              </a:rPr>
              <a:t>numbers.Length</a:t>
            </a:r>
            <a:r>
              <a:rPr lang="en-GB" sz="1600" b="1" dirty="0">
                <a:solidFill>
                  <a:srgbClr val="000000"/>
                </a:solidFill>
                <a:effectLst/>
                <a:latin typeface="Cascadia Mono" panose="020B0609020000020004" pitchFamily="49" charset="0"/>
              </a:rPr>
              <a:t>)</a:t>
            </a:r>
          </a:p>
          <a:p>
            <a:pPr>
              <a:buNone/>
            </a:pPr>
            <a:r>
              <a:rPr lang="en-GB" sz="1600" b="1" dirty="0">
                <a:solidFill>
                  <a:srgbClr val="000000"/>
                </a:solidFill>
                <a:effectLst/>
                <a:latin typeface="Cascadia Mono" panose="020B0609020000020004" pitchFamily="49" charset="0"/>
              </a:rPr>
              <a:t>        {</a:t>
            </a:r>
          </a:p>
          <a:p>
            <a:pPr>
              <a:buNone/>
            </a:pPr>
            <a:r>
              <a:rPr lang="en-GB" sz="1600" b="1" dirty="0">
                <a:solidFill>
                  <a:srgbClr val="000000"/>
                </a:solidFill>
                <a:effectLst/>
                <a:latin typeface="Cascadia Mono" panose="020B0609020000020004" pitchFamily="49" charset="0"/>
              </a:rPr>
              <a:t>                </a:t>
            </a:r>
            <a:r>
              <a:rPr lang="en-GB" sz="1600" b="1" dirty="0">
                <a:solidFill>
                  <a:srgbClr val="8F08C4"/>
                </a:solidFill>
                <a:effectLst/>
                <a:latin typeface="Cascadia Mono" panose="020B0609020000020004" pitchFamily="49" charset="0"/>
              </a:rPr>
              <a:t>if</a:t>
            </a:r>
            <a:r>
              <a:rPr lang="en-GB" sz="1600" b="1" dirty="0">
                <a:solidFill>
                  <a:srgbClr val="000000"/>
                </a:solidFill>
                <a:effectLst/>
                <a:latin typeface="Cascadia Mono" panose="020B0609020000020004" pitchFamily="49" charset="0"/>
              </a:rPr>
              <a:t>(</a:t>
            </a:r>
            <a:r>
              <a:rPr lang="en-GB" sz="1600" b="1" dirty="0">
                <a:solidFill>
                  <a:srgbClr val="1F377F"/>
                </a:solidFill>
                <a:latin typeface="Cascadia Mono" panose="020B0609020000020004" pitchFamily="49" charset="0"/>
              </a:rPr>
              <a:t> numbers[</a:t>
            </a:r>
            <a:r>
              <a:rPr lang="en-GB" sz="1600" b="1" dirty="0" err="1">
                <a:solidFill>
                  <a:srgbClr val="1F377F"/>
                </a:solidFill>
                <a:latin typeface="Cascadia Mono" panose="020B0609020000020004" pitchFamily="49" charset="0"/>
              </a:rPr>
              <a:t>i</a:t>
            </a:r>
            <a:r>
              <a:rPr lang="en-GB" sz="1600" b="1" dirty="0">
                <a:solidFill>
                  <a:srgbClr val="1F377F"/>
                </a:solidFill>
                <a:latin typeface="Cascadia Mono" panose="020B0609020000020004" pitchFamily="49" charset="0"/>
              </a:rPr>
              <a:t>]</a:t>
            </a:r>
            <a:r>
              <a:rPr lang="en-GB" sz="1600" b="1" dirty="0">
                <a:solidFill>
                  <a:srgbClr val="000000"/>
                </a:solidFill>
                <a:effectLst/>
                <a:latin typeface="Cascadia Mono" panose="020B0609020000020004" pitchFamily="49" charset="0"/>
              </a:rPr>
              <a:t> &gt; </a:t>
            </a:r>
            <a:r>
              <a:rPr lang="en-GB" sz="1600" b="1" dirty="0">
                <a:solidFill>
                  <a:srgbClr val="1F377F"/>
                </a:solidFill>
                <a:effectLst/>
                <a:latin typeface="Cascadia Mono" panose="020B0609020000020004" pitchFamily="49" charset="0"/>
              </a:rPr>
              <a:t>max</a:t>
            </a:r>
            <a:r>
              <a:rPr lang="en-GB" sz="1600" b="1" dirty="0">
                <a:solidFill>
                  <a:srgbClr val="000000"/>
                </a:solidFill>
                <a:effectLst/>
                <a:latin typeface="Cascadia Mono" panose="020B0609020000020004" pitchFamily="49" charset="0"/>
              </a:rPr>
              <a:t>) </a:t>
            </a:r>
          </a:p>
          <a:p>
            <a:pPr>
              <a:buNone/>
            </a:pPr>
            <a:r>
              <a:rPr lang="en-GB" sz="1600" b="1" dirty="0">
                <a:solidFill>
                  <a:srgbClr val="000000"/>
                </a:solidFill>
                <a:effectLst/>
                <a:latin typeface="Cascadia Mono" panose="020B0609020000020004" pitchFamily="49" charset="0"/>
              </a:rPr>
              <a:t>                    </a:t>
            </a:r>
            <a:r>
              <a:rPr lang="en-GB" sz="1600" b="1" dirty="0" err="1">
                <a:solidFill>
                  <a:srgbClr val="2B91AF"/>
                </a:solidFill>
                <a:effectLst/>
                <a:latin typeface="Cascadia Mono" panose="020B0609020000020004" pitchFamily="49" charset="0"/>
              </a:rPr>
              <a:t>Console</a:t>
            </a:r>
            <a:r>
              <a:rPr lang="en-GB" sz="1600" b="1" dirty="0" err="1">
                <a:solidFill>
                  <a:srgbClr val="000000"/>
                </a:solidFill>
                <a:effectLst/>
                <a:latin typeface="Cascadia Mono" panose="020B0609020000020004" pitchFamily="49" charset="0"/>
              </a:rPr>
              <a:t>.</a:t>
            </a:r>
            <a:r>
              <a:rPr lang="en-GB" sz="1600" b="1" dirty="0" err="1">
                <a:solidFill>
                  <a:srgbClr val="74531F"/>
                </a:solidFill>
                <a:effectLst/>
                <a:latin typeface="Cascadia Mono" panose="020B0609020000020004" pitchFamily="49" charset="0"/>
              </a:rPr>
              <a:t>WriteLine</a:t>
            </a:r>
            <a:r>
              <a:rPr lang="en-GB" sz="1600" b="1" dirty="0">
                <a:solidFill>
                  <a:srgbClr val="000000"/>
                </a:solidFill>
                <a:effectLst/>
                <a:latin typeface="Cascadia Mono" panose="020B0609020000020004" pitchFamily="49" charset="0"/>
              </a:rPr>
              <a:t>(</a:t>
            </a:r>
            <a:r>
              <a:rPr lang="en-GB" sz="1600" b="1" dirty="0">
                <a:solidFill>
                  <a:srgbClr val="1F377F"/>
                </a:solidFill>
                <a:latin typeface="Cascadia Mono" panose="020B0609020000020004" pitchFamily="49" charset="0"/>
              </a:rPr>
              <a:t>numbers[</a:t>
            </a:r>
            <a:r>
              <a:rPr lang="en-GB" sz="1600" b="1" dirty="0" err="1">
                <a:solidFill>
                  <a:srgbClr val="1F377F"/>
                </a:solidFill>
                <a:latin typeface="Cascadia Mono" panose="020B0609020000020004" pitchFamily="49" charset="0"/>
              </a:rPr>
              <a:t>i</a:t>
            </a:r>
            <a:r>
              <a:rPr lang="en-GB" sz="1600" b="1" dirty="0">
                <a:solidFill>
                  <a:srgbClr val="1F377F"/>
                </a:solidFill>
                <a:latin typeface="Cascadia Mono" panose="020B0609020000020004" pitchFamily="49" charset="0"/>
              </a:rPr>
              <a:t>]</a:t>
            </a:r>
            <a:r>
              <a:rPr lang="en-GB" sz="1600" b="1" dirty="0">
                <a:solidFill>
                  <a:srgbClr val="000000"/>
                </a:solidFill>
                <a:effectLst/>
                <a:latin typeface="Cascadia Mono" panose="020B0609020000020004" pitchFamily="49" charset="0"/>
              </a:rPr>
              <a:t>);</a:t>
            </a:r>
          </a:p>
          <a:p>
            <a:pPr>
              <a:buNone/>
            </a:pPr>
            <a:endParaRPr lang="en-GB" sz="1600" b="1" dirty="0">
              <a:solidFill>
                <a:srgbClr val="000000"/>
              </a:solidFill>
              <a:effectLst/>
              <a:latin typeface="Cascadia Mono" panose="020B0609020000020004" pitchFamily="49" charset="0"/>
            </a:endParaRPr>
          </a:p>
          <a:p>
            <a:pPr>
              <a:buNone/>
            </a:pPr>
            <a:r>
              <a:rPr lang="en-GB" sz="1600" b="1" dirty="0">
                <a:solidFill>
                  <a:srgbClr val="000000"/>
                </a:solidFill>
                <a:latin typeface="Cascadia Mono" panose="020B0609020000020004" pitchFamily="49" charset="0"/>
              </a:rPr>
              <a:t>		</a:t>
            </a:r>
            <a:r>
              <a:rPr lang="en-GB" sz="1600" b="1" dirty="0" err="1">
                <a:solidFill>
                  <a:srgbClr val="000000"/>
                </a:solidFill>
                <a:latin typeface="Cascadia Mono" panose="020B0609020000020004" pitchFamily="49" charset="0"/>
              </a:rPr>
              <a:t>i</a:t>
            </a:r>
            <a:r>
              <a:rPr lang="en-GB" sz="1600" b="1" dirty="0">
                <a:solidFill>
                  <a:srgbClr val="000000"/>
                </a:solidFill>
                <a:latin typeface="Cascadia Mono" panose="020B0609020000020004" pitchFamily="49" charset="0"/>
              </a:rPr>
              <a:t>++;</a:t>
            </a:r>
            <a:endParaRPr lang="en-GB" sz="1600" b="1" dirty="0">
              <a:solidFill>
                <a:srgbClr val="000000"/>
              </a:solidFill>
              <a:effectLst/>
              <a:latin typeface="Cascadia Mono" panose="020B0609020000020004" pitchFamily="49" charset="0"/>
            </a:endParaRPr>
          </a:p>
          <a:p>
            <a:pPr>
              <a:buNone/>
            </a:pPr>
            <a:r>
              <a:rPr lang="en-GB" sz="1600" b="1" dirty="0">
                <a:solidFill>
                  <a:srgbClr val="000000"/>
                </a:solidFill>
                <a:effectLst/>
                <a:latin typeface="Cascadia Mono" panose="020B0609020000020004" pitchFamily="49" charset="0"/>
              </a:rPr>
              <a:t>        }</a:t>
            </a:r>
          </a:p>
          <a:p>
            <a:pPr>
              <a:buNone/>
            </a:pPr>
            <a:r>
              <a:rPr lang="en-GB" sz="1600" b="1" dirty="0">
                <a:solidFill>
                  <a:srgbClr val="000000"/>
                </a:solidFill>
                <a:effectLst/>
                <a:latin typeface="Cascadia Mono" panose="020B0609020000020004" pitchFamily="49" charset="0"/>
              </a:rPr>
              <a:t>}</a:t>
            </a:r>
            <a:endParaRPr lang="en-GB" sz="4000" b="1" dirty="0"/>
          </a:p>
        </p:txBody>
      </p:sp>
    </p:spTree>
    <p:extLst>
      <p:ext uri="{BB962C8B-B14F-4D97-AF65-F5344CB8AC3E}">
        <p14:creationId xmlns:p14="http://schemas.microsoft.com/office/powerpoint/2010/main" val="2468325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CB8FB-F27C-C1A4-1652-B5F01031A72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5E12C6A-FA4D-8F7F-2ADF-93ACF346652C}"/>
              </a:ext>
            </a:extLst>
          </p:cNvPr>
          <p:cNvSpPr>
            <a:spLocks noGrp="1"/>
          </p:cNvSpPr>
          <p:nvPr>
            <p:ph type="sldNum" sz="quarter" idx="4"/>
          </p:nvPr>
        </p:nvSpPr>
        <p:spPr/>
        <p:txBody>
          <a:bodyPr/>
          <a:lstStyle/>
          <a:p>
            <a:fld id="{EF892D59-8F09-EF4B-AD6D-DA609442F868}" type="slidenum">
              <a:rPr lang="en-GB" smtClean="0"/>
              <a:pPr/>
              <a:t>23</a:t>
            </a:fld>
            <a:endParaRPr lang="en-GB" dirty="0"/>
          </a:p>
        </p:txBody>
      </p:sp>
      <p:sp>
        <p:nvSpPr>
          <p:cNvPr id="3" name="Title 2">
            <a:extLst>
              <a:ext uri="{FF2B5EF4-FFF2-40B4-BE49-F238E27FC236}">
                <a16:creationId xmlns:a16="http://schemas.microsoft.com/office/drawing/2014/main" id="{5327B387-EDC5-74A9-7861-D26371D7B1A6}"/>
              </a:ext>
            </a:extLst>
          </p:cNvPr>
          <p:cNvSpPr>
            <a:spLocks noGrp="1"/>
          </p:cNvSpPr>
          <p:nvPr>
            <p:ph type="title"/>
          </p:nvPr>
        </p:nvSpPr>
        <p:spPr/>
        <p:txBody>
          <a:bodyPr/>
          <a:lstStyle/>
          <a:p>
            <a:r>
              <a:rPr lang="en-US" dirty="0"/>
              <a:t>Array as parameter – using for loop</a:t>
            </a:r>
            <a:endParaRPr lang="en-GB" dirty="0"/>
          </a:p>
        </p:txBody>
      </p:sp>
      <p:sp>
        <p:nvSpPr>
          <p:cNvPr id="5" name="TextBox 4">
            <a:extLst>
              <a:ext uri="{FF2B5EF4-FFF2-40B4-BE49-F238E27FC236}">
                <a16:creationId xmlns:a16="http://schemas.microsoft.com/office/drawing/2014/main" id="{D27893FE-A700-3976-A2C1-3BD429C8219D}"/>
              </a:ext>
            </a:extLst>
          </p:cNvPr>
          <p:cNvSpPr txBox="1"/>
          <p:nvPr/>
        </p:nvSpPr>
        <p:spPr>
          <a:xfrm>
            <a:off x="1126192" y="1615360"/>
            <a:ext cx="9133914" cy="4108817"/>
          </a:xfrm>
          <a:prstGeom prst="rect">
            <a:avLst/>
          </a:prstGeom>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static</a:t>
            </a: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void</a:t>
            </a:r>
            <a:r>
              <a:rPr lang="en-GB" sz="1600" b="1" dirty="0">
                <a:solidFill>
                  <a:srgbClr val="000000"/>
                </a:solidFill>
                <a:effectLst/>
                <a:latin typeface="Cascadia Mono" panose="020B0609020000020004" pitchFamily="49" charset="0"/>
              </a:rPr>
              <a:t> </a:t>
            </a:r>
            <a:r>
              <a:rPr lang="en-GB" sz="1600" b="1" dirty="0">
                <a:solidFill>
                  <a:srgbClr val="74531F"/>
                </a:solidFill>
                <a:effectLst/>
                <a:latin typeface="Cascadia Mono" panose="020B0609020000020004" pitchFamily="49" charset="0"/>
              </a:rPr>
              <a:t>Main</a:t>
            </a:r>
            <a:r>
              <a:rPr lang="en-GB" sz="1600" b="1" dirty="0">
                <a:solidFill>
                  <a:srgbClr val="000000"/>
                </a:solidFill>
                <a:effectLst/>
                <a:latin typeface="Cascadia Mono" panose="020B0609020000020004" pitchFamily="49" charset="0"/>
              </a:rPr>
              <a:t>()</a:t>
            </a:r>
          </a:p>
          <a:p>
            <a:pPr>
              <a:buNone/>
            </a:pPr>
            <a:r>
              <a:rPr lang="en-GB" sz="1600" b="1" dirty="0">
                <a:solidFill>
                  <a:srgbClr val="000000"/>
                </a:solidFill>
                <a:effectLst/>
                <a:latin typeface="Cascadia Mono" panose="020B0609020000020004" pitchFamily="49" charset="0"/>
              </a:rPr>
              <a:t> {</a:t>
            </a:r>
          </a:p>
          <a:p>
            <a:pPr>
              <a:buNone/>
            </a:pPr>
            <a:endParaRPr lang="en-GB" sz="1600" b="1" dirty="0">
              <a:solidFill>
                <a:srgbClr val="000000"/>
              </a:solidFill>
              <a:effectLst/>
              <a:latin typeface="Cascadia Mono" panose="020B0609020000020004" pitchFamily="49" charset="0"/>
            </a:endParaRPr>
          </a:p>
          <a:p>
            <a:pPr>
              <a:lnSpc>
                <a:spcPct val="150000"/>
              </a:lnSpc>
              <a:buNone/>
            </a:pP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int</a:t>
            </a:r>
            <a:r>
              <a:rPr lang="en-GB" sz="1600" b="1" dirty="0">
                <a:solidFill>
                  <a:srgbClr val="000000"/>
                </a:solidFill>
                <a:effectLst/>
                <a:latin typeface="Cascadia Mono" panose="020B0609020000020004" pitchFamily="49" charset="0"/>
              </a:rPr>
              <a:t>[] </a:t>
            </a:r>
            <a:r>
              <a:rPr lang="en-GB" sz="1600" b="1" dirty="0">
                <a:solidFill>
                  <a:srgbClr val="1F377F"/>
                </a:solidFill>
                <a:effectLst/>
                <a:latin typeface="Cascadia Mono" panose="020B0609020000020004" pitchFamily="49" charset="0"/>
              </a:rPr>
              <a:t>ages</a:t>
            </a:r>
            <a:r>
              <a:rPr lang="en-GB" sz="1600" b="1" dirty="0">
                <a:solidFill>
                  <a:srgbClr val="000000"/>
                </a:solidFill>
                <a:effectLst/>
                <a:latin typeface="Cascadia Mono" panose="020B0609020000020004" pitchFamily="49" charset="0"/>
              </a:rPr>
              <a:t> = { 21, 16, 18, 32, 46, 75, 10 };</a:t>
            </a:r>
          </a:p>
          <a:p>
            <a:pPr>
              <a:lnSpc>
                <a:spcPct val="150000"/>
              </a:lnSpc>
              <a:buNone/>
            </a:pPr>
            <a:r>
              <a:rPr lang="en-GB" sz="1600" b="1" dirty="0">
                <a:solidFill>
                  <a:srgbClr val="000000"/>
                </a:solidFill>
                <a:effectLst/>
                <a:latin typeface="Cascadia Mono" panose="020B0609020000020004" pitchFamily="49" charset="0"/>
              </a:rPr>
              <a:t>      </a:t>
            </a:r>
            <a:r>
              <a:rPr lang="en-GB" b="1" dirty="0" err="1">
                <a:solidFill>
                  <a:srgbClr val="74531F"/>
                </a:solidFill>
                <a:effectLst/>
                <a:latin typeface="Cascadia Mono" panose="020B0609020000020004" pitchFamily="49" charset="0"/>
              </a:rPr>
              <a:t>filterNumbers</a:t>
            </a:r>
            <a:r>
              <a:rPr lang="en-GB" b="1" dirty="0">
                <a:solidFill>
                  <a:srgbClr val="000000"/>
                </a:solidFill>
                <a:effectLst/>
                <a:latin typeface="Cascadia Mono" panose="020B0609020000020004" pitchFamily="49" charset="0"/>
              </a:rPr>
              <a:t>(</a:t>
            </a:r>
            <a:r>
              <a:rPr lang="en-GB" b="1" dirty="0">
                <a:solidFill>
                  <a:srgbClr val="1F377F"/>
                </a:solidFill>
                <a:effectLst/>
                <a:latin typeface="Cascadia Mono" panose="020B0609020000020004" pitchFamily="49" charset="0"/>
              </a:rPr>
              <a:t>ages</a:t>
            </a:r>
            <a:r>
              <a:rPr lang="en-GB" b="1" dirty="0">
                <a:solidFill>
                  <a:srgbClr val="000000"/>
                </a:solidFill>
                <a:effectLst/>
                <a:latin typeface="Cascadia Mono" panose="020B0609020000020004" pitchFamily="49" charset="0"/>
              </a:rPr>
              <a:t>, 18);</a:t>
            </a:r>
          </a:p>
          <a:p>
            <a:pPr>
              <a:buNone/>
            </a:pPr>
            <a:r>
              <a:rPr lang="en-GB" sz="1600" b="1" dirty="0">
                <a:solidFill>
                  <a:srgbClr val="000000"/>
                </a:solidFill>
                <a:effectLst/>
                <a:latin typeface="Cascadia Mono" panose="020B0609020000020004" pitchFamily="49" charset="0"/>
              </a:rPr>
              <a:t> }</a:t>
            </a:r>
          </a:p>
          <a:p>
            <a:pPr>
              <a:buNone/>
            </a:pPr>
            <a:endParaRPr lang="en-GB" sz="1600" b="1" dirty="0">
              <a:solidFill>
                <a:srgbClr val="000000"/>
              </a:solidFill>
              <a:effectLst/>
              <a:latin typeface="Cascadia Mono" panose="020B0609020000020004" pitchFamily="49" charset="0"/>
            </a:endParaRPr>
          </a:p>
          <a:p>
            <a:pPr>
              <a:buNone/>
            </a:pP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private</a:t>
            </a: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static</a:t>
            </a: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void</a:t>
            </a:r>
            <a:r>
              <a:rPr lang="en-GB" sz="1600" b="1" dirty="0">
                <a:solidFill>
                  <a:srgbClr val="000000"/>
                </a:solidFill>
                <a:effectLst/>
                <a:latin typeface="Cascadia Mono" panose="020B0609020000020004" pitchFamily="49" charset="0"/>
              </a:rPr>
              <a:t> </a:t>
            </a:r>
            <a:r>
              <a:rPr lang="en-GB" sz="1600" b="1" dirty="0" err="1">
                <a:solidFill>
                  <a:srgbClr val="74531F"/>
                </a:solidFill>
                <a:effectLst/>
                <a:latin typeface="Cascadia Mono" panose="020B0609020000020004" pitchFamily="49" charset="0"/>
              </a:rPr>
              <a:t>filterNumbers</a:t>
            </a:r>
            <a:r>
              <a:rPr lang="en-GB" sz="1600" b="1" dirty="0">
                <a:solidFill>
                  <a:srgbClr val="000000"/>
                </a:solidFill>
                <a:effectLst/>
                <a:latin typeface="Cascadia Mono" panose="020B0609020000020004" pitchFamily="49" charset="0"/>
              </a:rPr>
              <a:t>(</a:t>
            </a:r>
            <a:r>
              <a:rPr lang="en-GB" b="1" dirty="0">
                <a:solidFill>
                  <a:srgbClr val="0000FF"/>
                </a:solidFill>
                <a:effectLst/>
                <a:latin typeface="Cascadia Mono" panose="020B0609020000020004" pitchFamily="49" charset="0"/>
              </a:rPr>
              <a:t>int</a:t>
            </a:r>
            <a:r>
              <a:rPr lang="en-GB" b="1" dirty="0">
                <a:solidFill>
                  <a:srgbClr val="000000"/>
                </a:solidFill>
                <a:effectLst/>
                <a:latin typeface="Cascadia Mono" panose="020B0609020000020004" pitchFamily="49" charset="0"/>
              </a:rPr>
              <a:t>[] </a:t>
            </a:r>
            <a:r>
              <a:rPr lang="en-GB" b="1" dirty="0">
                <a:solidFill>
                  <a:srgbClr val="1F377F"/>
                </a:solidFill>
                <a:effectLst/>
                <a:latin typeface="Cascadia Mono" panose="020B0609020000020004" pitchFamily="49" charset="0"/>
              </a:rPr>
              <a:t>numbers</a:t>
            </a: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int</a:t>
            </a:r>
            <a:r>
              <a:rPr lang="en-GB" sz="1600" b="1" dirty="0">
                <a:solidFill>
                  <a:srgbClr val="000000"/>
                </a:solidFill>
                <a:effectLst/>
                <a:latin typeface="Cascadia Mono" panose="020B0609020000020004" pitchFamily="49" charset="0"/>
              </a:rPr>
              <a:t> </a:t>
            </a:r>
            <a:r>
              <a:rPr lang="en-GB" sz="1600" b="1" dirty="0">
                <a:solidFill>
                  <a:srgbClr val="1F377F"/>
                </a:solidFill>
                <a:effectLst/>
                <a:latin typeface="Cascadia Mono" panose="020B0609020000020004" pitchFamily="49" charset="0"/>
              </a:rPr>
              <a:t>max</a:t>
            </a:r>
            <a:r>
              <a:rPr lang="en-GB" sz="1600" b="1" dirty="0">
                <a:solidFill>
                  <a:srgbClr val="000000"/>
                </a:solidFill>
                <a:effectLst/>
                <a:latin typeface="Cascadia Mono" panose="020B0609020000020004" pitchFamily="49" charset="0"/>
              </a:rPr>
              <a:t>)</a:t>
            </a:r>
          </a:p>
          <a:p>
            <a:pPr>
              <a:buNone/>
            </a:pPr>
            <a:r>
              <a:rPr lang="en-GB" sz="1600" b="1" dirty="0">
                <a:solidFill>
                  <a:srgbClr val="000000"/>
                </a:solidFill>
                <a:effectLst/>
                <a:latin typeface="Cascadia Mono" panose="020B0609020000020004" pitchFamily="49" charset="0"/>
              </a:rPr>
              <a:t> {</a:t>
            </a:r>
          </a:p>
          <a:p>
            <a:pPr>
              <a:buNone/>
            </a:pPr>
            <a:r>
              <a:rPr lang="en-GB" sz="1600" b="1" dirty="0">
                <a:solidFill>
                  <a:srgbClr val="000000"/>
                </a:solidFill>
                <a:latin typeface="Cascadia Mono" panose="020B0609020000020004" pitchFamily="49" charset="0"/>
              </a:rPr>
              <a:t> 	</a:t>
            </a:r>
            <a:r>
              <a:rPr lang="en-GB" sz="1600" b="1" dirty="0">
                <a:solidFill>
                  <a:srgbClr val="8F08C4"/>
                </a:solidFill>
                <a:latin typeface="Cascadia Mono" panose="020B0609020000020004" pitchFamily="49" charset="0"/>
              </a:rPr>
              <a:t>for</a:t>
            </a:r>
            <a:r>
              <a:rPr lang="en-GB" sz="1600" b="1" dirty="0">
                <a:solidFill>
                  <a:srgbClr val="000000"/>
                </a:solidFill>
                <a:latin typeface="Cascadia Mono" panose="020B0609020000020004" pitchFamily="49" charset="0"/>
              </a:rPr>
              <a:t> (</a:t>
            </a:r>
            <a:r>
              <a:rPr lang="en-GB" sz="1600" b="1" dirty="0">
                <a:solidFill>
                  <a:srgbClr val="0000FF"/>
                </a:solidFill>
                <a:latin typeface="Cascadia Mono" panose="020B0609020000020004" pitchFamily="49" charset="0"/>
              </a:rPr>
              <a:t>int</a:t>
            </a:r>
            <a:r>
              <a:rPr lang="en-GB" sz="1600" b="1" dirty="0">
                <a:solidFill>
                  <a:srgbClr val="000000"/>
                </a:solidFill>
                <a:latin typeface="Cascadia Mono" panose="020B0609020000020004" pitchFamily="49" charset="0"/>
              </a:rPr>
              <a:t> </a:t>
            </a:r>
            <a:r>
              <a:rPr lang="en-GB" sz="1600" b="1" dirty="0" err="1">
                <a:solidFill>
                  <a:srgbClr val="1F377F"/>
                </a:solidFill>
                <a:latin typeface="Cascadia Mono" panose="020B0609020000020004" pitchFamily="49" charset="0"/>
              </a:rPr>
              <a:t>i</a:t>
            </a:r>
            <a:r>
              <a:rPr lang="en-GB" sz="1600" b="1" dirty="0">
                <a:solidFill>
                  <a:srgbClr val="1F377F"/>
                </a:solidFill>
                <a:latin typeface="Cascadia Mono" panose="020B0609020000020004" pitchFamily="49" charset="0"/>
              </a:rPr>
              <a:t>=0; </a:t>
            </a:r>
            <a:r>
              <a:rPr lang="en-GB" sz="1600" b="1" dirty="0" err="1">
                <a:solidFill>
                  <a:srgbClr val="1F377F"/>
                </a:solidFill>
                <a:latin typeface="Cascadia Mono" panose="020B0609020000020004" pitchFamily="49" charset="0"/>
              </a:rPr>
              <a:t>i</a:t>
            </a:r>
            <a:r>
              <a:rPr lang="en-GB" sz="1600" b="1" dirty="0">
                <a:solidFill>
                  <a:srgbClr val="1F377F"/>
                </a:solidFill>
                <a:latin typeface="Cascadia Mono" panose="020B0609020000020004" pitchFamily="49" charset="0"/>
              </a:rPr>
              <a:t> &lt; </a:t>
            </a:r>
            <a:r>
              <a:rPr lang="en-GB" sz="1600" b="1" dirty="0" err="1">
                <a:solidFill>
                  <a:srgbClr val="1F377F"/>
                </a:solidFill>
                <a:latin typeface="Cascadia Mono" panose="020B0609020000020004" pitchFamily="49" charset="0"/>
              </a:rPr>
              <a:t>numbers.Length</a:t>
            </a:r>
            <a:r>
              <a:rPr lang="en-GB" sz="1600" b="1" dirty="0">
                <a:solidFill>
                  <a:srgbClr val="1F377F"/>
                </a:solidFill>
                <a:latin typeface="Cascadia Mono" panose="020B0609020000020004" pitchFamily="49" charset="0"/>
              </a:rPr>
              <a:t>; </a:t>
            </a:r>
            <a:r>
              <a:rPr lang="en-GB" sz="1600" b="1" dirty="0" err="1">
                <a:solidFill>
                  <a:srgbClr val="1F377F"/>
                </a:solidFill>
                <a:latin typeface="Cascadia Mono" panose="020B0609020000020004" pitchFamily="49" charset="0"/>
              </a:rPr>
              <a:t>i</a:t>
            </a:r>
            <a:r>
              <a:rPr lang="en-GB" sz="1600" b="1" dirty="0">
                <a:solidFill>
                  <a:srgbClr val="1F377F"/>
                </a:solidFill>
                <a:latin typeface="Cascadia Mono" panose="020B0609020000020004" pitchFamily="49" charset="0"/>
              </a:rPr>
              <a:t>++</a:t>
            </a:r>
            <a:r>
              <a:rPr lang="en-GB" sz="1600" b="1" dirty="0">
                <a:solidFill>
                  <a:srgbClr val="000000"/>
                </a:solidFill>
                <a:latin typeface="Cascadia Mono" panose="020B0609020000020004" pitchFamily="49" charset="0"/>
              </a:rPr>
              <a:t>)</a:t>
            </a:r>
          </a:p>
          <a:p>
            <a:pPr>
              <a:buNone/>
            </a:pPr>
            <a:r>
              <a:rPr lang="en-GB" sz="1600" b="1" dirty="0">
                <a:solidFill>
                  <a:srgbClr val="000000"/>
                </a:solidFill>
                <a:latin typeface="Cascadia Mono" panose="020B0609020000020004" pitchFamily="49" charset="0"/>
              </a:rPr>
              <a:t>        {</a:t>
            </a:r>
          </a:p>
          <a:p>
            <a:pPr>
              <a:buNone/>
            </a:pPr>
            <a:r>
              <a:rPr lang="en-GB" sz="1600" b="1" dirty="0">
                <a:solidFill>
                  <a:srgbClr val="000000"/>
                </a:solidFill>
                <a:latin typeface="Cascadia Mono" panose="020B0609020000020004" pitchFamily="49" charset="0"/>
              </a:rPr>
              <a:t>                </a:t>
            </a:r>
            <a:r>
              <a:rPr lang="en-GB" sz="1600" b="1" dirty="0">
                <a:solidFill>
                  <a:srgbClr val="8F08C4"/>
                </a:solidFill>
                <a:latin typeface="Cascadia Mono" panose="020B0609020000020004" pitchFamily="49" charset="0"/>
              </a:rPr>
              <a:t>if</a:t>
            </a:r>
            <a:r>
              <a:rPr lang="en-GB" sz="1600" b="1" dirty="0">
                <a:solidFill>
                  <a:srgbClr val="000000"/>
                </a:solidFill>
                <a:latin typeface="Cascadia Mono" panose="020B0609020000020004" pitchFamily="49" charset="0"/>
              </a:rPr>
              <a:t>(</a:t>
            </a:r>
            <a:r>
              <a:rPr lang="en-GB" sz="1600" b="1" dirty="0">
                <a:solidFill>
                  <a:srgbClr val="1F377F"/>
                </a:solidFill>
                <a:latin typeface="Cascadia Mono" panose="020B0609020000020004" pitchFamily="49" charset="0"/>
              </a:rPr>
              <a:t> numbers[</a:t>
            </a:r>
            <a:r>
              <a:rPr lang="en-GB" sz="1600" b="1" dirty="0" err="1">
                <a:solidFill>
                  <a:srgbClr val="1F377F"/>
                </a:solidFill>
                <a:latin typeface="Cascadia Mono" panose="020B0609020000020004" pitchFamily="49" charset="0"/>
              </a:rPr>
              <a:t>i</a:t>
            </a:r>
            <a:r>
              <a:rPr lang="en-GB" sz="1600" b="1" dirty="0">
                <a:solidFill>
                  <a:srgbClr val="1F377F"/>
                </a:solidFill>
                <a:latin typeface="Cascadia Mono" panose="020B0609020000020004" pitchFamily="49" charset="0"/>
              </a:rPr>
              <a:t>]</a:t>
            </a:r>
            <a:r>
              <a:rPr lang="en-GB" sz="1600" b="1" dirty="0">
                <a:solidFill>
                  <a:srgbClr val="000000"/>
                </a:solidFill>
                <a:latin typeface="Cascadia Mono" panose="020B0609020000020004" pitchFamily="49" charset="0"/>
              </a:rPr>
              <a:t> &gt; </a:t>
            </a:r>
            <a:r>
              <a:rPr lang="en-GB" sz="1600" b="1" dirty="0">
                <a:solidFill>
                  <a:srgbClr val="1F377F"/>
                </a:solidFill>
                <a:latin typeface="Cascadia Mono" panose="020B0609020000020004" pitchFamily="49" charset="0"/>
              </a:rPr>
              <a:t>max</a:t>
            </a:r>
            <a:r>
              <a:rPr lang="en-GB" sz="1600" b="1" dirty="0">
                <a:solidFill>
                  <a:srgbClr val="000000"/>
                </a:solidFill>
                <a:latin typeface="Cascadia Mono" panose="020B0609020000020004" pitchFamily="49" charset="0"/>
              </a:rPr>
              <a:t>) </a:t>
            </a:r>
          </a:p>
          <a:p>
            <a:pPr>
              <a:buNone/>
            </a:pPr>
            <a:r>
              <a:rPr lang="en-GB" sz="1600" b="1" dirty="0">
                <a:solidFill>
                  <a:srgbClr val="000000"/>
                </a:solidFill>
                <a:latin typeface="Cascadia Mono" panose="020B0609020000020004" pitchFamily="49" charset="0"/>
              </a:rPr>
              <a:t>                    </a:t>
            </a:r>
            <a:r>
              <a:rPr lang="en-GB" sz="1600" b="1" dirty="0" err="1">
                <a:solidFill>
                  <a:srgbClr val="2B91AF"/>
                </a:solidFill>
                <a:latin typeface="Cascadia Mono" panose="020B0609020000020004" pitchFamily="49" charset="0"/>
              </a:rPr>
              <a:t>Console</a:t>
            </a:r>
            <a:r>
              <a:rPr lang="en-GB" sz="1600" b="1" dirty="0" err="1">
                <a:solidFill>
                  <a:srgbClr val="000000"/>
                </a:solidFill>
                <a:latin typeface="Cascadia Mono" panose="020B0609020000020004" pitchFamily="49" charset="0"/>
              </a:rPr>
              <a:t>.</a:t>
            </a:r>
            <a:r>
              <a:rPr lang="en-GB" sz="1600" b="1" dirty="0" err="1">
                <a:solidFill>
                  <a:srgbClr val="74531F"/>
                </a:solidFill>
                <a:latin typeface="Cascadia Mono" panose="020B0609020000020004" pitchFamily="49" charset="0"/>
              </a:rPr>
              <a:t>WriteLine</a:t>
            </a:r>
            <a:r>
              <a:rPr lang="en-GB" sz="1600" b="1" dirty="0">
                <a:solidFill>
                  <a:srgbClr val="000000"/>
                </a:solidFill>
                <a:latin typeface="Cascadia Mono" panose="020B0609020000020004" pitchFamily="49" charset="0"/>
              </a:rPr>
              <a:t>(</a:t>
            </a:r>
            <a:r>
              <a:rPr lang="en-GB" sz="1600" b="1" dirty="0">
                <a:solidFill>
                  <a:srgbClr val="1F377F"/>
                </a:solidFill>
                <a:latin typeface="Cascadia Mono" panose="020B0609020000020004" pitchFamily="49" charset="0"/>
              </a:rPr>
              <a:t>numbers[</a:t>
            </a:r>
            <a:r>
              <a:rPr lang="en-GB" sz="1600" b="1" dirty="0" err="1">
                <a:solidFill>
                  <a:srgbClr val="1F377F"/>
                </a:solidFill>
                <a:latin typeface="Cascadia Mono" panose="020B0609020000020004" pitchFamily="49" charset="0"/>
              </a:rPr>
              <a:t>i</a:t>
            </a:r>
            <a:r>
              <a:rPr lang="en-GB" sz="1600" b="1" dirty="0">
                <a:solidFill>
                  <a:srgbClr val="1F377F"/>
                </a:solidFill>
                <a:latin typeface="Cascadia Mono" panose="020B0609020000020004" pitchFamily="49" charset="0"/>
              </a:rPr>
              <a:t>]</a:t>
            </a:r>
            <a:r>
              <a:rPr lang="en-GB" sz="1600" b="1" dirty="0">
                <a:solidFill>
                  <a:srgbClr val="000000"/>
                </a:solidFill>
                <a:latin typeface="Cascadia Mono" panose="020B0609020000020004" pitchFamily="49" charset="0"/>
              </a:rPr>
              <a:t>);</a:t>
            </a:r>
          </a:p>
          <a:p>
            <a:pPr>
              <a:buNone/>
            </a:pPr>
            <a:r>
              <a:rPr lang="en-GB" sz="1600" b="1" dirty="0">
                <a:solidFill>
                  <a:srgbClr val="000000"/>
                </a:solidFill>
                <a:latin typeface="Cascadia Mono" panose="020B0609020000020004" pitchFamily="49" charset="0"/>
              </a:rPr>
              <a:t>        }</a:t>
            </a:r>
          </a:p>
          <a:p>
            <a:pPr>
              <a:buNone/>
            </a:pPr>
            <a:r>
              <a:rPr lang="en-GB" sz="1600" b="1" dirty="0">
                <a:solidFill>
                  <a:srgbClr val="000000"/>
                </a:solidFill>
                <a:effectLst/>
                <a:latin typeface="Cascadia Mono" panose="020B0609020000020004" pitchFamily="49" charset="0"/>
              </a:rPr>
              <a:t>}</a:t>
            </a:r>
            <a:endParaRPr lang="en-GB" sz="4000" b="1" dirty="0"/>
          </a:p>
        </p:txBody>
      </p:sp>
    </p:spTree>
    <p:extLst>
      <p:ext uri="{BB962C8B-B14F-4D97-AF65-F5344CB8AC3E}">
        <p14:creationId xmlns:p14="http://schemas.microsoft.com/office/powerpoint/2010/main" val="2609247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CE3BD-EC6F-B6BF-4C46-D04D732B465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7A8B0E-0D0D-F51A-611F-F2276B372F05}"/>
              </a:ext>
            </a:extLst>
          </p:cNvPr>
          <p:cNvSpPr>
            <a:spLocks noGrp="1"/>
          </p:cNvSpPr>
          <p:nvPr>
            <p:ph type="sldNum" sz="quarter" idx="4"/>
          </p:nvPr>
        </p:nvSpPr>
        <p:spPr/>
        <p:txBody>
          <a:bodyPr/>
          <a:lstStyle/>
          <a:p>
            <a:fld id="{EF892D59-8F09-EF4B-AD6D-DA609442F868}" type="slidenum">
              <a:rPr lang="en-GB" smtClean="0"/>
              <a:pPr/>
              <a:t>24</a:t>
            </a:fld>
            <a:endParaRPr lang="en-GB" dirty="0"/>
          </a:p>
        </p:txBody>
      </p:sp>
      <p:sp>
        <p:nvSpPr>
          <p:cNvPr id="3" name="Title 2">
            <a:extLst>
              <a:ext uri="{FF2B5EF4-FFF2-40B4-BE49-F238E27FC236}">
                <a16:creationId xmlns:a16="http://schemas.microsoft.com/office/drawing/2014/main" id="{A43DCF2E-CB06-818C-C1FB-1D1D7690D8C8}"/>
              </a:ext>
            </a:extLst>
          </p:cNvPr>
          <p:cNvSpPr>
            <a:spLocks noGrp="1"/>
          </p:cNvSpPr>
          <p:nvPr>
            <p:ph type="title"/>
          </p:nvPr>
        </p:nvSpPr>
        <p:spPr/>
        <p:txBody>
          <a:bodyPr/>
          <a:lstStyle/>
          <a:p>
            <a:r>
              <a:rPr lang="en-US" dirty="0"/>
              <a:t>Using foreach</a:t>
            </a:r>
            <a:endParaRPr lang="en-GB" dirty="0"/>
          </a:p>
        </p:txBody>
      </p:sp>
      <p:sp>
        <p:nvSpPr>
          <p:cNvPr id="5" name="TextBox 4">
            <a:extLst>
              <a:ext uri="{FF2B5EF4-FFF2-40B4-BE49-F238E27FC236}">
                <a16:creationId xmlns:a16="http://schemas.microsoft.com/office/drawing/2014/main" id="{3F520627-439C-F6BC-66C3-1EB55201EBA4}"/>
              </a:ext>
            </a:extLst>
          </p:cNvPr>
          <p:cNvSpPr txBox="1"/>
          <p:nvPr/>
        </p:nvSpPr>
        <p:spPr>
          <a:xfrm>
            <a:off x="1126192" y="1615360"/>
            <a:ext cx="9133914" cy="4108817"/>
          </a:xfrm>
          <a:prstGeom prst="rect">
            <a:avLst/>
          </a:prstGeom>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static</a:t>
            </a: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void</a:t>
            </a:r>
            <a:r>
              <a:rPr lang="en-GB" sz="1600" b="1" dirty="0">
                <a:solidFill>
                  <a:srgbClr val="000000"/>
                </a:solidFill>
                <a:effectLst/>
                <a:latin typeface="Cascadia Mono" panose="020B0609020000020004" pitchFamily="49" charset="0"/>
              </a:rPr>
              <a:t> </a:t>
            </a:r>
            <a:r>
              <a:rPr lang="en-GB" sz="1600" b="1" dirty="0">
                <a:solidFill>
                  <a:srgbClr val="74531F"/>
                </a:solidFill>
                <a:effectLst/>
                <a:latin typeface="Cascadia Mono" panose="020B0609020000020004" pitchFamily="49" charset="0"/>
              </a:rPr>
              <a:t>Main</a:t>
            </a:r>
            <a:r>
              <a:rPr lang="en-GB" sz="1600" b="1" dirty="0">
                <a:solidFill>
                  <a:srgbClr val="000000"/>
                </a:solidFill>
                <a:effectLst/>
                <a:latin typeface="Cascadia Mono" panose="020B0609020000020004" pitchFamily="49" charset="0"/>
              </a:rPr>
              <a:t>()</a:t>
            </a:r>
          </a:p>
          <a:p>
            <a:pPr>
              <a:buNone/>
            </a:pPr>
            <a:r>
              <a:rPr lang="en-GB" sz="1600" b="1" dirty="0">
                <a:solidFill>
                  <a:srgbClr val="000000"/>
                </a:solidFill>
                <a:effectLst/>
                <a:latin typeface="Cascadia Mono" panose="020B0609020000020004" pitchFamily="49" charset="0"/>
              </a:rPr>
              <a:t> {</a:t>
            </a:r>
          </a:p>
          <a:p>
            <a:pPr>
              <a:buNone/>
            </a:pPr>
            <a:endParaRPr lang="en-GB" sz="1600" b="1" dirty="0">
              <a:solidFill>
                <a:srgbClr val="000000"/>
              </a:solidFill>
              <a:effectLst/>
              <a:latin typeface="Cascadia Mono" panose="020B0609020000020004" pitchFamily="49" charset="0"/>
            </a:endParaRPr>
          </a:p>
          <a:p>
            <a:pPr>
              <a:lnSpc>
                <a:spcPct val="150000"/>
              </a:lnSpc>
              <a:buNone/>
            </a:pP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int</a:t>
            </a:r>
            <a:r>
              <a:rPr lang="en-GB" sz="1600" b="1" dirty="0">
                <a:solidFill>
                  <a:srgbClr val="000000"/>
                </a:solidFill>
                <a:effectLst/>
                <a:latin typeface="Cascadia Mono" panose="020B0609020000020004" pitchFamily="49" charset="0"/>
              </a:rPr>
              <a:t>[] </a:t>
            </a:r>
            <a:r>
              <a:rPr lang="en-GB" sz="1600" b="1" dirty="0">
                <a:solidFill>
                  <a:srgbClr val="1F377F"/>
                </a:solidFill>
                <a:effectLst/>
                <a:latin typeface="Cascadia Mono" panose="020B0609020000020004" pitchFamily="49" charset="0"/>
              </a:rPr>
              <a:t>ages</a:t>
            </a:r>
            <a:r>
              <a:rPr lang="en-GB" sz="1600" b="1" dirty="0">
                <a:solidFill>
                  <a:srgbClr val="000000"/>
                </a:solidFill>
                <a:effectLst/>
                <a:latin typeface="Cascadia Mono" panose="020B0609020000020004" pitchFamily="49" charset="0"/>
              </a:rPr>
              <a:t> = { 21, 16, 18, 32, 46, 75, 10 };</a:t>
            </a:r>
          </a:p>
          <a:p>
            <a:pPr>
              <a:lnSpc>
                <a:spcPct val="150000"/>
              </a:lnSpc>
              <a:buNone/>
            </a:pPr>
            <a:r>
              <a:rPr lang="en-GB" sz="1600" b="1" dirty="0">
                <a:solidFill>
                  <a:srgbClr val="000000"/>
                </a:solidFill>
                <a:effectLst/>
                <a:latin typeface="Cascadia Mono" panose="020B0609020000020004" pitchFamily="49" charset="0"/>
              </a:rPr>
              <a:t>      </a:t>
            </a:r>
            <a:r>
              <a:rPr lang="en-GB" b="1" dirty="0" err="1">
                <a:solidFill>
                  <a:srgbClr val="74531F"/>
                </a:solidFill>
                <a:effectLst/>
                <a:latin typeface="Cascadia Mono" panose="020B0609020000020004" pitchFamily="49" charset="0"/>
              </a:rPr>
              <a:t>filterNumbers</a:t>
            </a:r>
            <a:r>
              <a:rPr lang="en-GB" b="1" dirty="0">
                <a:solidFill>
                  <a:srgbClr val="000000"/>
                </a:solidFill>
                <a:effectLst/>
                <a:latin typeface="Cascadia Mono" panose="020B0609020000020004" pitchFamily="49" charset="0"/>
              </a:rPr>
              <a:t>(</a:t>
            </a:r>
            <a:r>
              <a:rPr lang="en-GB" b="1" dirty="0">
                <a:solidFill>
                  <a:srgbClr val="1F377F"/>
                </a:solidFill>
                <a:effectLst/>
                <a:latin typeface="Cascadia Mono" panose="020B0609020000020004" pitchFamily="49" charset="0"/>
              </a:rPr>
              <a:t>ages</a:t>
            </a:r>
            <a:r>
              <a:rPr lang="en-GB" b="1" dirty="0">
                <a:solidFill>
                  <a:srgbClr val="000000"/>
                </a:solidFill>
                <a:effectLst/>
                <a:latin typeface="Cascadia Mono" panose="020B0609020000020004" pitchFamily="49" charset="0"/>
              </a:rPr>
              <a:t>, 18);</a:t>
            </a:r>
          </a:p>
          <a:p>
            <a:pPr>
              <a:buNone/>
            </a:pPr>
            <a:r>
              <a:rPr lang="en-GB" sz="1600" b="1" dirty="0">
                <a:solidFill>
                  <a:srgbClr val="000000"/>
                </a:solidFill>
                <a:effectLst/>
                <a:latin typeface="Cascadia Mono" panose="020B0609020000020004" pitchFamily="49" charset="0"/>
              </a:rPr>
              <a:t> }</a:t>
            </a:r>
          </a:p>
          <a:p>
            <a:pPr>
              <a:buNone/>
            </a:pPr>
            <a:endParaRPr lang="en-GB" sz="1600" b="1" dirty="0">
              <a:solidFill>
                <a:srgbClr val="000000"/>
              </a:solidFill>
              <a:effectLst/>
              <a:latin typeface="Cascadia Mono" panose="020B0609020000020004" pitchFamily="49" charset="0"/>
            </a:endParaRPr>
          </a:p>
          <a:p>
            <a:pPr>
              <a:buNone/>
            </a:pP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private</a:t>
            </a: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static</a:t>
            </a: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void</a:t>
            </a:r>
            <a:r>
              <a:rPr lang="en-GB" sz="1600" b="1" dirty="0">
                <a:solidFill>
                  <a:srgbClr val="000000"/>
                </a:solidFill>
                <a:effectLst/>
                <a:latin typeface="Cascadia Mono" panose="020B0609020000020004" pitchFamily="49" charset="0"/>
              </a:rPr>
              <a:t> </a:t>
            </a:r>
            <a:r>
              <a:rPr lang="en-GB" sz="1600" b="1" dirty="0" err="1">
                <a:solidFill>
                  <a:srgbClr val="74531F"/>
                </a:solidFill>
                <a:effectLst/>
                <a:latin typeface="Cascadia Mono" panose="020B0609020000020004" pitchFamily="49" charset="0"/>
              </a:rPr>
              <a:t>filterNumbers</a:t>
            </a:r>
            <a:r>
              <a:rPr lang="en-GB" sz="1600" b="1" dirty="0">
                <a:solidFill>
                  <a:srgbClr val="000000"/>
                </a:solidFill>
                <a:effectLst/>
                <a:latin typeface="Cascadia Mono" panose="020B0609020000020004" pitchFamily="49" charset="0"/>
              </a:rPr>
              <a:t>(</a:t>
            </a:r>
            <a:r>
              <a:rPr lang="en-GB" b="1" dirty="0">
                <a:solidFill>
                  <a:srgbClr val="0000FF"/>
                </a:solidFill>
                <a:effectLst/>
                <a:latin typeface="Cascadia Mono" panose="020B0609020000020004" pitchFamily="49" charset="0"/>
              </a:rPr>
              <a:t>int</a:t>
            </a:r>
            <a:r>
              <a:rPr lang="en-GB" b="1" dirty="0">
                <a:solidFill>
                  <a:srgbClr val="000000"/>
                </a:solidFill>
                <a:effectLst/>
                <a:latin typeface="Cascadia Mono" panose="020B0609020000020004" pitchFamily="49" charset="0"/>
              </a:rPr>
              <a:t>[] </a:t>
            </a:r>
            <a:r>
              <a:rPr lang="en-GB" b="1" dirty="0">
                <a:solidFill>
                  <a:srgbClr val="1F377F"/>
                </a:solidFill>
                <a:effectLst/>
                <a:latin typeface="Cascadia Mono" panose="020B0609020000020004" pitchFamily="49" charset="0"/>
              </a:rPr>
              <a:t>numbers</a:t>
            </a: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int</a:t>
            </a:r>
            <a:r>
              <a:rPr lang="en-GB" sz="1600" b="1" dirty="0">
                <a:solidFill>
                  <a:srgbClr val="000000"/>
                </a:solidFill>
                <a:effectLst/>
                <a:latin typeface="Cascadia Mono" panose="020B0609020000020004" pitchFamily="49" charset="0"/>
              </a:rPr>
              <a:t> </a:t>
            </a:r>
            <a:r>
              <a:rPr lang="en-GB" sz="1600" b="1" dirty="0">
                <a:solidFill>
                  <a:srgbClr val="1F377F"/>
                </a:solidFill>
                <a:effectLst/>
                <a:latin typeface="Cascadia Mono" panose="020B0609020000020004" pitchFamily="49" charset="0"/>
              </a:rPr>
              <a:t>max</a:t>
            </a:r>
            <a:r>
              <a:rPr lang="en-GB" sz="1600" b="1" dirty="0">
                <a:solidFill>
                  <a:srgbClr val="000000"/>
                </a:solidFill>
                <a:effectLst/>
                <a:latin typeface="Cascadia Mono" panose="020B0609020000020004" pitchFamily="49" charset="0"/>
              </a:rPr>
              <a:t>)</a:t>
            </a:r>
          </a:p>
          <a:p>
            <a:pPr>
              <a:buNone/>
            </a:pPr>
            <a:r>
              <a:rPr lang="en-GB" sz="1600" b="1" dirty="0">
                <a:solidFill>
                  <a:srgbClr val="000000"/>
                </a:solidFill>
                <a:effectLst/>
                <a:latin typeface="Cascadia Mono" panose="020B0609020000020004" pitchFamily="49" charset="0"/>
              </a:rPr>
              <a:t> {</a:t>
            </a:r>
          </a:p>
          <a:p>
            <a:pPr>
              <a:buNone/>
            </a:pPr>
            <a:r>
              <a:rPr lang="en-GB" sz="1600" b="1" dirty="0">
                <a:solidFill>
                  <a:srgbClr val="000000"/>
                </a:solidFill>
                <a:effectLst/>
                <a:latin typeface="Cascadia Mono" panose="020B0609020000020004" pitchFamily="49" charset="0"/>
              </a:rPr>
              <a:t>        </a:t>
            </a:r>
            <a:r>
              <a:rPr lang="en-GB" sz="1600" b="1" dirty="0">
                <a:solidFill>
                  <a:srgbClr val="8F08C4"/>
                </a:solidFill>
                <a:effectLst/>
                <a:latin typeface="Cascadia Mono" panose="020B0609020000020004" pitchFamily="49" charset="0"/>
              </a:rPr>
              <a:t>foreach</a:t>
            </a:r>
            <a:r>
              <a:rPr lang="en-GB" sz="1600" b="1" dirty="0">
                <a:solidFill>
                  <a:srgbClr val="000000"/>
                </a:solidFill>
                <a:effectLst/>
                <a:latin typeface="Cascadia Mono" panose="020B0609020000020004" pitchFamily="49" charset="0"/>
              </a:rPr>
              <a:t> (</a:t>
            </a:r>
            <a:r>
              <a:rPr lang="en-GB" sz="1600" b="1" dirty="0">
                <a:solidFill>
                  <a:srgbClr val="0000FF"/>
                </a:solidFill>
                <a:effectLst/>
                <a:latin typeface="Cascadia Mono" panose="020B0609020000020004" pitchFamily="49" charset="0"/>
              </a:rPr>
              <a:t>int</a:t>
            </a:r>
            <a:r>
              <a:rPr lang="en-GB" sz="1600" b="1" dirty="0">
                <a:solidFill>
                  <a:srgbClr val="000000"/>
                </a:solidFill>
                <a:effectLst/>
                <a:latin typeface="Cascadia Mono" panose="020B0609020000020004" pitchFamily="49" charset="0"/>
              </a:rPr>
              <a:t> </a:t>
            </a:r>
            <a:r>
              <a:rPr lang="en-GB" sz="1600" b="1" dirty="0">
                <a:solidFill>
                  <a:srgbClr val="1F377F"/>
                </a:solidFill>
                <a:effectLst/>
                <a:latin typeface="Cascadia Mono" panose="020B0609020000020004" pitchFamily="49" charset="0"/>
              </a:rPr>
              <a:t>n</a:t>
            </a:r>
            <a:r>
              <a:rPr lang="en-GB" sz="1600" b="1" dirty="0">
                <a:solidFill>
                  <a:srgbClr val="000000"/>
                </a:solidFill>
                <a:effectLst/>
                <a:latin typeface="Cascadia Mono" panose="020B0609020000020004" pitchFamily="49" charset="0"/>
              </a:rPr>
              <a:t> </a:t>
            </a:r>
            <a:r>
              <a:rPr lang="en-GB" sz="1600" b="1" dirty="0">
                <a:solidFill>
                  <a:srgbClr val="8F08C4"/>
                </a:solidFill>
                <a:effectLst/>
                <a:latin typeface="Cascadia Mono" panose="020B0609020000020004" pitchFamily="49" charset="0"/>
              </a:rPr>
              <a:t>in</a:t>
            </a:r>
            <a:r>
              <a:rPr lang="en-GB" sz="1600" b="1" dirty="0">
                <a:solidFill>
                  <a:srgbClr val="000000"/>
                </a:solidFill>
                <a:effectLst/>
                <a:latin typeface="Cascadia Mono" panose="020B0609020000020004" pitchFamily="49" charset="0"/>
              </a:rPr>
              <a:t> </a:t>
            </a:r>
            <a:r>
              <a:rPr lang="en-GB" sz="1600" b="1" dirty="0">
                <a:solidFill>
                  <a:srgbClr val="1F377F"/>
                </a:solidFill>
                <a:effectLst/>
                <a:latin typeface="Cascadia Mono" panose="020B0609020000020004" pitchFamily="49" charset="0"/>
              </a:rPr>
              <a:t>numbers</a:t>
            </a:r>
            <a:r>
              <a:rPr lang="en-GB" sz="1600" b="1" dirty="0">
                <a:solidFill>
                  <a:srgbClr val="000000"/>
                </a:solidFill>
                <a:effectLst/>
                <a:latin typeface="Cascadia Mono" panose="020B0609020000020004" pitchFamily="49" charset="0"/>
              </a:rPr>
              <a:t>)</a:t>
            </a:r>
          </a:p>
          <a:p>
            <a:pPr>
              <a:buNone/>
            </a:pPr>
            <a:r>
              <a:rPr lang="en-GB" sz="1600" b="1" dirty="0">
                <a:solidFill>
                  <a:srgbClr val="000000"/>
                </a:solidFill>
                <a:effectLst/>
                <a:latin typeface="Cascadia Mono" panose="020B0609020000020004" pitchFamily="49" charset="0"/>
              </a:rPr>
              <a:t>        {</a:t>
            </a:r>
          </a:p>
          <a:p>
            <a:pPr>
              <a:buNone/>
            </a:pPr>
            <a:r>
              <a:rPr lang="en-GB" sz="1600" b="1" dirty="0">
                <a:solidFill>
                  <a:srgbClr val="000000"/>
                </a:solidFill>
                <a:effectLst/>
                <a:latin typeface="Cascadia Mono" panose="020B0609020000020004" pitchFamily="49" charset="0"/>
              </a:rPr>
              <a:t>                </a:t>
            </a:r>
            <a:r>
              <a:rPr lang="en-GB" sz="1600" b="1" dirty="0">
                <a:solidFill>
                  <a:srgbClr val="8F08C4"/>
                </a:solidFill>
                <a:effectLst/>
                <a:latin typeface="Cascadia Mono" panose="020B0609020000020004" pitchFamily="49" charset="0"/>
              </a:rPr>
              <a:t>if</a:t>
            </a:r>
            <a:r>
              <a:rPr lang="en-GB" sz="1600" b="1" dirty="0">
                <a:solidFill>
                  <a:srgbClr val="000000"/>
                </a:solidFill>
                <a:effectLst/>
                <a:latin typeface="Cascadia Mono" panose="020B0609020000020004" pitchFamily="49" charset="0"/>
              </a:rPr>
              <a:t>(</a:t>
            </a:r>
            <a:r>
              <a:rPr lang="en-GB" sz="1600" b="1" dirty="0">
                <a:solidFill>
                  <a:srgbClr val="1F377F"/>
                </a:solidFill>
                <a:effectLst/>
                <a:latin typeface="Cascadia Mono" panose="020B0609020000020004" pitchFamily="49" charset="0"/>
              </a:rPr>
              <a:t>n</a:t>
            </a:r>
            <a:r>
              <a:rPr lang="en-GB" sz="1600" b="1" dirty="0">
                <a:solidFill>
                  <a:srgbClr val="000000"/>
                </a:solidFill>
                <a:effectLst/>
                <a:latin typeface="Cascadia Mono" panose="020B0609020000020004" pitchFamily="49" charset="0"/>
              </a:rPr>
              <a:t> &gt; </a:t>
            </a:r>
            <a:r>
              <a:rPr lang="en-GB" sz="1600" b="1" dirty="0">
                <a:solidFill>
                  <a:srgbClr val="1F377F"/>
                </a:solidFill>
                <a:effectLst/>
                <a:latin typeface="Cascadia Mono" panose="020B0609020000020004" pitchFamily="49" charset="0"/>
              </a:rPr>
              <a:t>max</a:t>
            </a:r>
            <a:r>
              <a:rPr lang="en-GB" sz="1600" b="1" dirty="0">
                <a:solidFill>
                  <a:srgbClr val="000000"/>
                </a:solidFill>
                <a:effectLst/>
                <a:latin typeface="Cascadia Mono" panose="020B0609020000020004" pitchFamily="49" charset="0"/>
              </a:rPr>
              <a:t>) </a:t>
            </a:r>
          </a:p>
          <a:p>
            <a:pPr>
              <a:buNone/>
            </a:pPr>
            <a:r>
              <a:rPr lang="en-GB" sz="1600" b="1" dirty="0">
                <a:solidFill>
                  <a:srgbClr val="000000"/>
                </a:solidFill>
                <a:effectLst/>
                <a:latin typeface="Cascadia Mono" panose="020B0609020000020004" pitchFamily="49" charset="0"/>
              </a:rPr>
              <a:t>                    </a:t>
            </a:r>
            <a:r>
              <a:rPr lang="en-GB" sz="1600" b="1" dirty="0" err="1">
                <a:solidFill>
                  <a:srgbClr val="2B91AF"/>
                </a:solidFill>
                <a:effectLst/>
                <a:latin typeface="Cascadia Mono" panose="020B0609020000020004" pitchFamily="49" charset="0"/>
              </a:rPr>
              <a:t>Console</a:t>
            </a:r>
            <a:r>
              <a:rPr lang="en-GB" sz="1600" b="1" dirty="0" err="1">
                <a:solidFill>
                  <a:srgbClr val="000000"/>
                </a:solidFill>
                <a:effectLst/>
                <a:latin typeface="Cascadia Mono" panose="020B0609020000020004" pitchFamily="49" charset="0"/>
              </a:rPr>
              <a:t>.</a:t>
            </a:r>
            <a:r>
              <a:rPr lang="en-GB" sz="1600" b="1" dirty="0" err="1">
                <a:solidFill>
                  <a:srgbClr val="74531F"/>
                </a:solidFill>
                <a:effectLst/>
                <a:latin typeface="Cascadia Mono" panose="020B0609020000020004" pitchFamily="49" charset="0"/>
              </a:rPr>
              <a:t>WriteLine</a:t>
            </a:r>
            <a:r>
              <a:rPr lang="en-GB" sz="1600" b="1" dirty="0">
                <a:solidFill>
                  <a:srgbClr val="000000"/>
                </a:solidFill>
                <a:effectLst/>
                <a:latin typeface="Cascadia Mono" panose="020B0609020000020004" pitchFamily="49" charset="0"/>
              </a:rPr>
              <a:t>(</a:t>
            </a:r>
            <a:r>
              <a:rPr lang="en-GB" sz="1600" b="1" dirty="0">
                <a:solidFill>
                  <a:srgbClr val="1F377F"/>
                </a:solidFill>
                <a:effectLst/>
                <a:latin typeface="Cascadia Mono" panose="020B0609020000020004" pitchFamily="49" charset="0"/>
              </a:rPr>
              <a:t>n</a:t>
            </a:r>
            <a:r>
              <a:rPr lang="en-GB" sz="1600" b="1" dirty="0">
                <a:solidFill>
                  <a:srgbClr val="000000"/>
                </a:solidFill>
                <a:effectLst/>
                <a:latin typeface="Cascadia Mono" panose="020B0609020000020004" pitchFamily="49" charset="0"/>
              </a:rPr>
              <a:t>);</a:t>
            </a:r>
          </a:p>
          <a:p>
            <a:pPr>
              <a:buNone/>
            </a:pPr>
            <a:r>
              <a:rPr lang="en-GB" sz="1600" b="1" dirty="0">
                <a:solidFill>
                  <a:srgbClr val="000000"/>
                </a:solidFill>
                <a:effectLst/>
                <a:latin typeface="Cascadia Mono" panose="020B0609020000020004" pitchFamily="49" charset="0"/>
              </a:rPr>
              <a:t>        }</a:t>
            </a:r>
          </a:p>
          <a:p>
            <a:pPr>
              <a:buNone/>
            </a:pPr>
            <a:r>
              <a:rPr lang="en-GB" sz="1600" b="1" dirty="0">
                <a:solidFill>
                  <a:srgbClr val="000000"/>
                </a:solidFill>
                <a:effectLst/>
                <a:latin typeface="Cascadia Mono" panose="020B0609020000020004" pitchFamily="49" charset="0"/>
              </a:rPr>
              <a:t>}</a:t>
            </a:r>
            <a:endParaRPr lang="en-GB" sz="4000" b="1" dirty="0"/>
          </a:p>
        </p:txBody>
      </p:sp>
    </p:spTree>
    <p:extLst>
      <p:ext uri="{BB962C8B-B14F-4D97-AF65-F5344CB8AC3E}">
        <p14:creationId xmlns:p14="http://schemas.microsoft.com/office/powerpoint/2010/main" val="14068628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GB" dirty="0"/>
              <a:t>Using break to exit a any loop</a:t>
            </a:r>
          </a:p>
        </p:txBody>
      </p:sp>
      <p:sp>
        <p:nvSpPr>
          <p:cNvPr id="2" name="Rectangle 1"/>
          <p:cNvSpPr/>
          <p:nvPr/>
        </p:nvSpPr>
        <p:spPr>
          <a:xfrm>
            <a:off x="802541" y="1711200"/>
            <a:ext cx="8827051" cy="3785652"/>
          </a:xfrm>
          <a:prstGeom prst="rect">
            <a:avLst/>
          </a:prstGeom>
          <a:ln>
            <a:solidFill>
              <a:schemeClr val="bg1">
                <a:lumMod val="95000"/>
              </a:schemeClr>
            </a:solidFill>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600" b="1" dirty="0">
                <a:solidFill>
                  <a:srgbClr val="7F0055"/>
                </a:solidFill>
                <a:latin typeface="Consolas" panose="020B0609020204030204" pitchFamily="49" charset="0"/>
              </a:rPr>
              <a:t>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money</a:t>
            </a:r>
            <a:r>
              <a:rPr lang="en-GB" sz="1600" b="1" dirty="0">
                <a:solidFill>
                  <a:srgbClr val="000000"/>
                </a:solidFill>
                <a:latin typeface="Consolas" panose="020B0609020204030204" pitchFamily="49" charset="0"/>
              </a:rPr>
              <a:t> = 50; 	</a:t>
            </a:r>
            <a:r>
              <a:rPr lang="en-GB" sz="1600" b="1" dirty="0">
                <a:solidFill>
                  <a:srgbClr val="3F7F5F"/>
                </a:solidFill>
                <a:latin typeface="Consolas" panose="020B0609020204030204" pitchFamily="49" charset="0"/>
              </a:rPr>
              <a:t>// £ pounds</a:t>
            </a:r>
          </a:p>
          <a:p>
            <a:endParaRPr lang="en-GB" sz="1600" b="1" dirty="0">
              <a:latin typeface="Consolas" panose="020B0609020204030204" pitchFamily="49" charset="0"/>
            </a:endParaRPr>
          </a:p>
          <a:p>
            <a:r>
              <a:rPr lang="en-GB" sz="1600" b="1" dirty="0">
                <a:solidFill>
                  <a:srgbClr val="7F0055"/>
                </a:solidFill>
                <a:latin typeface="Consolas" panose="020B0609020204030204" pitchFamily="49" charset="0"/>
              </a:rPr>
              <a:t>for</a:t>
            </a:r>
            <a:r>
              <a:rPr lang="en-GB" sz="1600" b="1" dirty="0">
                <a:solidFill>
                  <a:srgbClr val="000000"/>
                </a:solidFill>
                <a:latin typeface="Consolas" panose="020B0609020204030204" pitchFamily="49" charset="0"/>
              </a:rPr>
              <a:t> (</a:t>
            </a:r>
            <a:r>
              <a:rPr lang="en-GB" sz="1600" b="1" dirty="0" err="1">
                <a:solidFill>
                  <a:srgbClr val="7F0055"/>
                </a:solidFill>
                <a:latin typeface="Consolas" panose="020B0609020204030204" pitchFamily="49" charset="0"/>
              </a:rPr>
              <a:t>int</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years</a:t>
            </a:r>
            <a:r>
              <a:rPr lang="en-GB" sz="1600" b="1" dirty="0">
                <a:solidFill>
                  <a:srgbClr val="000000"/>
                </a:solidFill>
                <a:latin typeface="Consolas" panose="020B0609020204030204" pitchFamily="49" charset="0"/>
              </a:rPr>
              <a:t> = 1; </a:t>
            </a:r>
            <a:r>
              <a:rPr lang="en-GB" sz="1600" b="1" dirty="0">
                <a:solidFill>
                  <a:srgbClr val="6A3E3E"/>
                </a:solidFill>
                <a:latin typeface="Consolas" panose="020B0609020204030204" pitchFamily="49" charset="0"/>
              </a:rPr>
              <a:t>money</a:t>
            </a:r>
            <a:r>
              <a:rPr lang="en-GB" sz="1600" b="1" dirty="0">
                <a:solidFill>
                  <a:srgbClr val="000000"/>
                </a:solidFill>
                <a:latin typeface="Consolas" panose="020B0609020204030204" pitchFamily="49" charset="0"/>
              </a:rPr>
              <a:t> &lt; 1000; </a:t>
            </a:r>
            <a:r>
              <a:rPr lang="en-GB" sz="1600" b="1" dirty="0">
                <a:solidFill>
                  <a:srgbClr val="6A3E3E"/>
                </a:solidFill>
                <a:latin typeface="Consolas" panose="020B0609020204030204" pitchFamily="49" charset="0"/>
              </a:rPr>
              <a:t>years</a:t>
            </a:r>
            <a:r>
              <a:rPr lang="en-GB" sz="1600" b="1" dirty="0">
                <a:solidFill>
                  <a:srgbClr val="000000"/>
                </a:solidFill>
                <a:latin typeface="Consolas" panose="020B0609020204030204" pitchFamily="49" charset="0"/>
              </a:rPr>
              <a:t>++) {</a:t>
            </a:r>
          </a:p>
          <a:p>
            <a:pPr lvl="1"/>
            <a:r>
              <a:rPr lang="en-GB" sz="1600" b="1" dirty="0">
                <a:solidFill>
                  <a:srgbClr val="6A3E3E"/>
                </a:solidFill>
                <a:latin typeface="Consolas" panose="020B0609020204030204" pitchFamily="49" charset="0"/>
              </a:rPr>
              <a:t>	</a:t>
            </a:r>
          </a:p>
          <a:p>
            <a:pPr lvl="1"/>
            <a:r>
              <a:rPr lang="en-GB" sz="1600" b="1" dirty="0">
                <a:solidFill>
                  <a:srgbClr val="6A3E3E"/>
                </a:solidFill>
                <a:latin typeface="Consolas" panose="020B0609020204030204" pitchFamily="49" charset="0"/>
              </a:rPr>
              <a:t>	money</a:t>
            </a:r>
            <a:r>
              <a:rPr lang="en-GB" sz="1600" b="1" dirty="0">
                <a:solidFill>
                  <a:srgbClr val="000000"/>
                </a:solidFill>
                <a:latin typeface="Consolas" panose="020B0609020204030204" pitchFamily="49" charset="0"/>
              </a:rPr>
              <a:t> += 100;</a:t>
            </a:r>
          </a:p>
          <a:p>
            <a:r>
              <a:rPr lang="en-GB" sz="1600" b="1" dirty="0">
                <a:solidFill>
                  <a:srgbClr val="000000"/>
                </a:solidFill>
                <a:latin typeface="Cascadia Mono" panose="020B0609020000020004" pitchFamily="49" charset="0"/>
              </a:rPr>
              <a:t>	</a:t>
            </a:r>
          </a:p>
          <a:p>
            <a:r>
              <a:rPr lang="en-GB" sz="1600" b="1" dirty="0">
                <a:solidFill>
                  <a:srgbClr val="000000"/>
                </a:solidFill>
                <a:latin typeface="Cascadia Mono" panose="020B0609020000020004" pitchFamily="49" charset="0"/>
              </a:rPr>
              <a:t>	</a:t>
            </a:r>
            <a:r>
              <a:rPr lang="en-GB" sz="1600" b="1" dirty="0" err="1">
                <a:solidFill>
                  <a:srgbClr val="000000"/>
                </a:solidFill>
                <a:latin typeface="Cascadia Mono" panose="020B0609020000020004" pitchFamily="49" charset="0"/>
              </a:rPr>
              <a:t>Console.WriteLine</a:t>
            </a:r>
            <a:r>
              <a:rPr lang="en-GB" sz="1600" b="1" dirty="0">
                <a:solidFill>
                  <a:srgbClr val="000000"/>
                </a:solidFill>
                <a:latin typeface="Cascadia Mono" panose="020B0609020000020004" pitchFamily="49" charset="0"/>
              </a:rPr>
              <a:t>(</a:t>
            </a:r>
            <a:r>
              <a:rPr lang="en-GB" sz="1600" b="1" dirty="0">
                <a:solidFill>
                  <a:srgbClr val="A31515"/>
                </a:solidFill>
                <a:latin typeface="Cascadia Mono" panose="020B0609020000020004" pitchFamily="49" charset="0"/>
              </a:rPr>
              <a:t>$"Year </a:t>
            </a:r>
            <a:r>
              <a:rPr lang="en-GB" sz="1600" b="1" dirty="0">
                <a:solidFill>
                  <a:srgbClr val="000000"/>
                </a:solidFill>
                <a:latin typeface="Cascadia Mono" panose="020B0609020000020004" pitchFamily="49" charset="0"/>
              </a:rPr>
              <a:t>{years}</a:t>
            </a:r>
            <a:r>
              <a:rPr lang="en-GB" sz="1600" b="1" dirty="0">
                <a:solidFill>
                  <a:srgbClr val="A31515"/>
                </a:solidFill>
                <a:latin typeface="Cascadia Mono" panose="020B0609020000020004" pitchFamily="49" charset="0"/>
              </a:rPr>
              <a:t>:\t </a:t>
            </a:r>
            <a:r>
              <a:rPr lang="en-GB" sz="1600" b="1" dirty="0">
                <a:solidFill>
                  <a:srgbClr val="000000"/>
                </a:solidFill>
                <a:latin typeface="Cascadia Mono" panose="020B0609020000020004" pitchFamily="49" charset="0"/>
              </a:rPr>
              <a:t>{money}</a:t>
            </a:r>
            <a:r>
              <a:rPr lang="en-GB" sz="1600" b="1" dirty="0">
                <a:solidFill>
                  <a:srgbClr val="A31515"/>
                </a:solidFill>
                <a:latin typeface="Cascadia Mono" panose="020B0609020000020004" pitchFamily="49" charset="0"/>
              </a:rPr>
              <a:t>"</a:t>
            </a:r>
            <a:r>
              <a:rPr lang="en-GB" sz="1600" b="1" dirty="0">
                <a:solidFill>
                  <a:srgbClr val="000000"/>
                </a:solidFill>
                <a:latin typeface="Cascadia Mono" panose="020B0609020000020004" pitchFamily="49" charset="0"/>
              </a:rPr>
              <a:t>);</a:t>
            </a:r>
            <a:endParaRPr lang="en-GB" sz="1600" b="1" dirty="0"/>
          </a:p>
          <a:p>
            <a:pPr lvl="1"/>
            <a:endParaRPr lang="en-GB" sz="1600" b="1" dirty="0">
              <a:latin typeface="Consolas" panose="020B0609020204030204" pitchFamily="49" charset="0"/>
            </a:endParaRPr>
          </a:p>
          <a:p>
            <a:pPr lvl="1"/>
            <a:r>
              <a:rPr lang="en-GB" sz="1600" b="1" dirty="0">
                <a:solidFill>
                  <a:srgbClr val="7F0055"/>
                </a:solidFill>
                <a:latin typeface="Consolas" panose="020B0609020204030204" pitchFamily="49" charset="0"/>
              </a:rPr>
              <a:t>	double</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tax</a:t>
            </a:r>
            <a:r>
              <a:rPr lang="en-GB" sz="1600" b="1" dirty="0">
                <a:solidFill>
                  <a:srgbClr val="000000"/>
                </a:solidFill>
                <a:latin typeface="Consolas" panose="020B0609020204030204" pitchFamily="49" charset="0"/>
              </a:rPr>
              <a:t> = </a:t>
            </a:r>
            <a:r>
              <a:rPr lang="en-GB" sz="1600" b="1" dirty="0">
                <a:solidFill>
                  <a:srgbClr val="6A3E3E"/>
                </a:solidFill>
                <a:latin typeface="Consolas" panose="020B0609020204030204" pitchFamily="49" charset="0"/>
              </a:rPr>
              <a:t>money</a:t>
            </a:r>
            <a:r>
              <a:rPr lang="en-GB" sz="1600" b="1" dirty="0">
                <a:solidFill>
                  <a:srgbClr val="000000"/>
                </a:solidFill>
                <a:latin typeface="Consolas" panose="020B0609020204030204" pitchFamily="49" charset="0"/>
              </a:rPr>
              <a:t> * 0.40;</a:t>
            </a:r>
            <a:endParaRPr lang="en-GB" sz="1600" b="1" dirty="0">
              <a:latin typeface="Consolas" panose="020B0609020204030204" pitchFamily="49" charset="0"/>
            </a:endParaRPr>
          </a:p>
          <a:p>
            <a:pPr lvl="1"/>
            <a:r>
              <a:rPr lang="en-GB" sz="1600" b="1" dirty="0">
                <a:solidFill>
                  <a:srgbClr val="7F0055"/>
                </a:solidFill>
                <a:latin typeface="Consolas" panose="020B0609020204030204" pitchFamily="49" charset="0"/>
              </a:rPr>
              <a:t>	</a:t>
            </a:r>
          </a:p>
          <a:p>
            <a:pPr lvl="1"/>
            <a:r>
              <a:rPr lang="en-GB" sz="1600" b="1" dirty="0">
                <a:solidFill>
                  <a:srgbClr val="7F0055"/>
                </a:solidFill>
                <a:latin typeface="Consolas" panose="020B0609020204030204" pitchFamily="49" charset="0"/>
              </a:rPr>
              <a:t>	if</a:t>
            </a:r>
            <a:r>
              <a:rPr lang="en-GB" sz="1600" b="1" dirty="0">
                <a:solidFill>
                  <a:srgbClr val="000000"/>
                </a:solidFill>
                <a:latin typeface="Consolas" panose="020B0609020204030204" pitchFamily="49" charset="0"/>
              </a:rPr>
              <a:t> (</a:t>
            </a:r>
            <a:r>
              <a:rPr lang="en-GB" sz="1600" b="1" dirty="0">
                <a:solidFill>
                  <a:srgbClr val="6A3E3E"/>
                </a:solidFill>
                <a:latin typeface="Consolas" panose="020B0609020204030204" pitchFamily="49" charset="0"/>
              </a:rPr>
              <a:t>tax</a:t>
            </a:r>
            <a:r>
              <a:rPr lang="en-GB" sz="1600" b="1" dirty="0">
                <a:solidFill>
                  <a:srgbClr val="000000"/>
                </a:solidFill>
                <a:latin typeface="Consolas" panose="020B0609020204030204" pitchFamily="49" charset="0"/>
              </a:rPr>
              <a:t> &gt; 100) {</a:t>
            </a:r>
          </a:p>
          <a:p>
            <a:pPr lvl="2"/>
            <a:r>
              <a:rPr lang="en-GB" sz="1600" b="1" dirty="0">
                <a:latin typeface="Lucida Console" pitchFamily="49" charset="0"/>
              </a:rPr>
              <a:t>	</a:t>
            </a:r>
            <a:r>
              <a:rPr lang="en-GB" sz="1600" b="1" dirty="0" err="1">
                <a:latin typeface="Lucida Console" pitchFamily="49" charset="0"/>
              </a:rPr>
              <a:t>Console.WriteLine</a:t>
            </a:r>
            <a:r>
              <a:rPr lang="en-GB" sz="1600" b="1" i="1" dirty="0">
                <a:solidFill>
                  <a:srgbClr val="000000"/>
                </a:solidFill>
                <a:latin typeface="Consolas" panose="020B0609020204030204" pitchFamily="49" charset="0"/>
              </a:rPr>
              <a:t>(</a:t>
            </a:r>
            <a:r>
              <a:rPr lang="en-GB" sz="1600" b="1" i="1" dirty="0">
                <a:solidFill>
                  <a:srgbClr val="2A00FF"/>
                </a:solidFill>
                <a:latin typeface="Consolas" panose="020B0609020204030204" pitchFamily="49" charset="0"/>
              </a:rPr>
              <a:t>"Tax is &gt; 100"</a:t>
            </a:r>
            <a:r>
              <a:rPr lang="en-GB" sz="1600" b="1" i="1" dirty="0">
                <a:solidFill>
                  <a:srgbClr val="000000"/>
                </a:solidFill>
                <a:latin typeface="Consolas" panose="020B0609020204030204" pitchFamily="49" charset="0"/>
              </a:rPr>
              <a:t>);</a:t>
            </a:r>
          </a:p>
          <a:p>
            <a:pPr lvl="2"/>
            <a:r>
              <a:rPr lang="en-GB" sz="1600" b="1" dirty="0">
                <a:solidFill>
                  <a:srgbClr val="7F0055"/>
                </a:solidFill>
                <a:latin typeface="Consolas" panose="020B0609020204030204" pitchFamily="49" charset="0"/>
              </a:rPr>
              <a:t>	break</a:t>
            </a:r>
            <a:r>
              <a:rPr lang="en-GB" sz="1600" b="1" dirty="0">
                <a:solidFill>
                  <a:srgbClr val="000000"/>
                </a:solidFill>
                <a:latin typeface="Consolas" panose="020B0609020204030204" pitchFamily="49" charset="0"/>
              </a:rPr>
              <a:t>;</a:t>
            </a:r>
          </a:p>
          <a:p>
            <a:pPr lvl="1"/>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a:t>
            </a:r>
          </a:p>
        </p:txBody>
      </p:sp>
      <p:sp>
        <p:nvSpPr>
          <p:cNvPr id="4" name="Rounded Rectangular Callout 3"/>
          <p:cNvSpPr/>
          <p:nvPr/>
        </p:nvSpPr>
        <p:spPr>
          <a:xfrm>
            <a:off x="5216066" y="4767348"/>
            <a:ext cx="2982321" cy="437321"/>
          </a:xfrm>
          <a:prstGeom prst="wedgeRoundRectCallout">
            <a:avLst>
              <a:gd name="adj1" fmla="val -59593"/>
              <a:gd name="adj2" fmla="val -38523"/>
              <a:gd name="adj3" fmla="val 166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a:solidFill>
                  <a:schemeClr val="tx1"/>
                </a:solidFill>
                <a:cs typeface="Arial" pitchFamily="34" charset="0"/>
              </a:rPr>
              <a:t>Break out of the current loop</a:t>
            </a:r>
          </a:p>
        </p:txBody>
      </p:sp>
      <p:sp>
        <p:nvSpPr>
          <p:cNvPr id="9" name="TextBox 8">
            <a:extLst>
              <a:ext uri="{FF2B5EF4-FFF2-40B4-BE49-F238E27FC236}">
                <a16:creationId xmlns:a16="http://schemas.microsoft.com/office/drawing/2014/main" id="{AED6F14B-562F-2C69-2911-DE40413450AA}"/>
              </a:ext>
            </a:extLst>
          </p:cNvPr>
          <p:cNvSpPr txBox="1"/>
          <p:nvPr/>
        </p:nvSpPr>
        <p:spPr>
          <a:xfrm>
            <a:off x="8334192" y="2830328"/>
            <a:ext cx="1866900" cy="1077218"/>
          </a:xfrm>
          <a:prstGeom prst="rect">
            <a:avLst/>
          </a:prstGeom>
        </p:spPr>
        <p:style>
          <a:lnRef idx="3">
            <a:schemeClr val="lt1"/>
          </a:lnRef>
          <a:fillRef idx="1">
            <a:schemeClr val="dk1"/>
          </a:fillRef>
          <a:effectRef idx="1">
            <a:schemeClr val="dk1"/>
          </a:effectRef>
          <a:fontRef idx="minor">
            <a:schemeClr val="lt1"/>
          </a:fontRef>
        </p:style>
        <p:txBody>
          <a:bodyPr wrap="square">
            <a:spAutoFit/>
          </a:bodyPr>
          <a:lstStyle/>
          <a:p>
            <a:r>
              <a:rPr lang="en-GB" sz="1600" b="1" dirty="0"/>
              <a:t>Year 1:  150</a:t>
            </a:r>
          </a:p>
          <a:p>
            <a:r>
              <a:rPr lang="en-GB" sz="1600" b="1" dirty="0"/>
              <a:t>Year 2:  250</a:t>
            </a:r>
          </a:p>
          <a:p>
            <a:r>
              <a:rPr lang="en-GB" sz="1600" b="1" dirty="0"/>
              <a:t>Year 3:  350</a:t>
            </a:r>
          </a:p>
          <a:p>
            <a:r>
              <a:rPr lang="en-GB" sz="1600" b="1" dirty="0"/>
              <a:t>Tax is &gt; 100</a:t>
            </a:r>
          </a:p>
        </p:txBody>
      </p:sp>
    </p:spTree>
    <p:extLst>
      <p:ext uri="{BB962C8B-B14F-4D97-AF65-F5344CB8AC3E}">
        <p14:creationId xmlns:p14="http://schemas.microsoft.com/office/powerpoint/2010/main" val="299549757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C9B83F-EE2C-7F94-D034-DC91CCEA9986}"/>
              </a:ext>
            </a:extLst>
          </p:cNvPr>
          <p:cNvSpPr>
            <a:spLocks noGrp="1"/>
          </p:cNvSpPr>
          <p:nvPr>
            <p:ph type="body" sz="quarter" idx="16"/>
          </p:nvPr>
        </p:nvSpPr>
        <p:spPr/>
        <p:txBody>
          <a:bodyPr/>
          <a:lstStyle/>
          <a:p>
            <a:r>
              <a:rPr lang="en-GB" dirty="0"/>
              <a:t>End of Review</a:t>
            </a:r>
          </a:p>
        </p:txBody>
      </p:sp>
    </p:spTree>
    <p:extLst>
      <p:ext uri="{BB962C8B-B14F-4D97-AF65-F5344CB8AC3E}">
        <p14:creationId xmlns:p14="http://schemas.microsoft.com/office/powerpoint/2010/main" val="414346231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Courseware" ma:contentTypeID="0x010100F0967B7CEE8D417F966757887D9466FB00B3EF5B1D149FDF49B1880C030D548140" ma:contentTypeVersion="0" ma:contentTypeDescription="Base content type which represents courseware documents" ma:contentTypeScope="" ma:versionID="ab0d7ca79e0ea5a537b031f986da336c">
  <xsd:schema xmlns:xsd="http://www.w3.org/2001/XMLSchema" xmlns:xs="http://www.w3.org/2001/XMLSchema" xmlns:p="http://schemas.microsoft.com/office/2006/metadata/properties" xmlns:ns2="6794D9DE-4FDF-4DC0-8B2C-5438320C69D5" targetNamespace="http://schemas.microsoft.com/office/2006/metadata/properties" ma:root="true" ma:fieldsID="7ff8e7c62cc10108c036e94c947d8fb9" ns2:_="">
    <xsd:import namespace="6794D9DE-4FDF-4DC0-8B2C-5438320C69D5"/>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94D9DE-4FDF-4DC0-8B2C-5438320C69D5"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equenceNumber xmlns="6794D9DE-4FDF-4DC0-8B2C-5438320C69D5" xsi:nil="true"/>
    <IsBuildFile xmlns="6794D9DE-4FDF-4DC0-8B2C-5438320C69D5" xsi:nil="true"/>
    <BookTypeField0 xmlns="6794D9DE-4FDF-4DC0-8B2C-5438320C69D5">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A14162-CCCA-4690-8872-03DEB983220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794D9DE-4FDF-4DC0-8B2C-5438320C69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A8F143C-5F8F-4F12-A25E-E0CFB4EDDD8F}">
  <ds:schemaRefs>
    <ds:schemaRef ds:uri="http://purl.org/dc/elements/1.1/"/>
    <ds:schemaRef ds:uri="http://purl.org/dc/terms/"/>
    <ds:schemaRef ds:uri="http://purl.org/dc/dcmitype/"/>
    <ds:schemaRef ds:uri="http://www.w3.org/XML/1998/namespace"/>
    <ds:schemaRef ds:uri="http://schemas.microsoft.com/office/2006/documentManagement/types"/>
    <ds:schemaRef ds:uri="6794D9DE-4FDF-4DC0-8B2C-5438320C69D5"/>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E72A4E4C-4430-4993-B430-D45066C7803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50</TotalTime>
  <Words>3071</Words>
  <Application>Microsoft Office PowerPoint</Application>
  <PresentationFormat>Widescreen</PresentationFormat>
  <Paragraphs>385</Paragraphs>
  <Slides>26</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Calibri</vt:lpstr>
      <vt:lpstr>Cascadia Mono</vt:lpstr>
      <vt:lpstr>Consolas</vt:lpstr>
      <vt:lpstr>Courier New</vt:lpstr>
      <vt:lpstr>Krana Fat B</vt:lpstr>
      <vt:lpstr>Lucida Console</vt:lpstr>
      <vt:lpstr>Montserrat</vt:lpstr>
      <vt:lpstr>Master</vt:lpstr>
      <vt:lpstr>  C# Basics – revision of Day 1</vt:lpstr>
      <vt:lpstr>namespaces - Used to group types and avoid naming conflicts  </vt:lpstr>
      <vt:lpstr>The using statement</vt:lpstr>
      <vt:lpstr>The using statement in .NET 6</vt:lpstr>
      <vt:lpstr>Variables</vt:lpstr>
      <vt:lpstr>Compound Operators</vt:lpstr>
      <vt:lpstr>Pre &amp; Post-fix ++ and -- Operators</vt:lpstr>
      <vt:lpstr>Casting</vt:lpstr>
      <vt:lpstr>Casting strings</vt:lpstr>
      <vt:lpstr>Casting strings - TryParse methods</vt:lpstr>
      <vt:lpstr>PowerPoint Presentation</vt:lpstr>
      <vt:lpstr>Introducing ‘if’</vt:lpstr>
      <vt:lpstr>Introducing ‘else if’(s)</vt:lpstr>
      <vt:lpstr>Logical operators AND and OR</vt:lpstr>
      <vt:lpstr>Methods</vt:lpstr>
      <vt:lpstr>Example of a void method with two parameters</vt:lpstr>
      <vt:lpstr>Example of method returning a value</vt:lpstr>
      <vt:lpstr>Method overloading</vt:lpstr>
      <vt:lpstr>Arrays and Loops</vt:lpstr>
      <vt:lpstr>Introduction to Arrays</vt:lpstr>
      <vt:lpstr>Create an empty array</vt:lpstr>
      <vt:lpstr>Array parameter - Using while loop</vt:lpstr>
      <vt:lpstr>Array as parameter – using for loop</vt:lpstr>
      <vt:lpstr>Using foreach</vt:lpstr>
      <vt:lpstr>Using break to exit a any loop</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user1 .net</cp:lastModifiedBy>
  <cp:revision>1026</cp:revision>
  <cp:lastPrinted>2019-07-03T09:46:41Z</cp:lastPrinted>
  <dcterms:created xsi:type="dcterms:W3CDTF">2019-09-05T08:17:12Z</dcterms:created>
  <dcterms:modified xsi:type="dcterms:W3CDTF">2026-09-14T20:39:21Z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300</vt:r8>
  </property>
  <property fmtid="{D5CDD505-2E9C-101B-9397-08002B2CF9AE}" pid="3" name="Chapter">
    <vt:lpwstr>1</vt:lpwstr>
  </property>
  <property fmtid="{D5CDD505-2E9C-101B-9397-08002B2CF9AE}" pid="4" name="ContentTypeId">
    <vt:lpwstr>0x010100F0967B7CEE8D417F966757887D9466FB00B3EF5B1D149FDF49B1880C030D548140</vt:lpwstr>
  </property>
  <property fmtid="{D5CDD505-2E9C-101B-9397-08002B2CF9AE}" pid="5" name="BookType">
    <vt:lpwstr>7</vt:lpwstr>
  </property>
</Properties>
</file>